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This is Day 4's evaluation anchor — per Day 1's cross-day table and Day 2's "Where eval shows up" list, both already committed. Day 3 evaluated one agent's tool contract; today extends the same discipline to a chain of agents and the workflow's own final outcome.
• GROUNDING SOURCE: https://learn.microsoft.com/azure/foundry/concepts/evaluation-evaluators/agent-evaluators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This is the Foundry agent-evaluators doc's own framing, reproduced directly. System evaluation applies to the main orchestrator or the final agent responsible for task completion in a multi-agent system; process evaluation applies to each step along the way.
• GROUNDING SOURCE: https://learn.microsoft.com/azure/foundry/concepts/evaluation-evaluators/agent-evaluators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This table is reproduced from the Foundry agent-evaluators doc, trimmed to the categories most relevant to a workflow-level check. All are (preview) except Task Navigation Efficiency, which is generally available and needs ground truth.
• GROUNDING SOURCE: https://learn.microsoft.com/azure/foundry/concepts/evaluation-evaluators/agent-evaluators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This is the evaluator that directly generalizes Day 3's tool_calls_present/tool_call_args_match to a multi-step trajectory — it needs ground-truth expected_actions, same discipline as Day 3's ExpectedToolCall. exact_match requires the same order and content; in_order_match/any_order_match tolerate extra steps.
• GROUNDING SOURCE: https://learn.microsoft.com/azure/foundry/concepts/evaluation-evaluators/agent-evaluators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These are the same category Day 3 Module 7's "Available Foundry evaluators" table already listed under Tool usage — this module applies them across the whole multi-agent trajectory instead of one agent's calls.
• GROUNDING SOURCE: https://learn.microsoft.com/azure/foundry/concepts/evaluation-evaluators/agent-evaluators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Ground the abstract word "trajectory" concretely: it's the ordered list of actions (function_call content items) across every agent in the workflow, not just one agent's tool calls. This is the multi-agent extension of Day 3's single-agent tool contract.
• GROUNDING SOURCE: https://learn.microsoft.com/azure/foundry/concepts/evaluation-evaluators/agent-evaluators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Extends Day 3 Part E's 3-case golden set to workflow scale. Matches the lab's own current golden_set.jsonl and README exactly (8 cases across 4 branches) — updated from an earlier ~15-question, 3-branch spec after the lab's restructure; evaluate.py's own comment explains the 8-case count (8 cases x 3 repetitions x 3 parts is already ~72 workflow runs).
• GROUNDING SOURCE: https://learn.microsoft.com/en-us/agent-framework/agents/evaluation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This is what "cost per successful outcome" is actually computed from — OpenTelemetry GenAI semantic-convention metrics the framework already emits per model call, summed across every agent in the workflow, divided by the count of golden-set cases that passed.
• GROUNDING SOURCE: https://learn.microsoft.com/en-us/agent-framework/agents/observability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This is the lab's own "introduce a small change (e.g., swap orchestration pattern), rerun the eval, quantify the delta" step, generalized into a repeatable discipline — this workshop's "regression harness" is this loop run consistently, not a separate named API.
• GROUNDING SOURCE: https://learn.microsoft.com/en-us/agent-framework/agents/evaluation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Placeholder marker slide — the runbook has full narration, setup, and fallback plan. Self-contained, deliberately small (a tiny 2-agent researcher -&gt; writer workflow via SequentialBuilder, one local dict-backed tool) — same spirit as Day 3 Module 7's evaluation demo, not the full lab harness.
• GROUNDING SOURCE: https://learn.microsoft.com/azure/foundry/concepts/evaluation-evaluators/agent-evaluators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Direct extension of Day 3 Module 7's num_repetitions slide — multi-agent workflows have MORE nondeterminism sources than a single agent (every agent's own model call, plus the orchestrator's routing decisions), so this matters even more, not less.
• GROUNDING SOURCE: https://learn.microsoft.com/en-us/agent-framework/agents/evaluation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Ask attendees which evaluator would catch a Planner that never assigns work to the Retriever at all. Answer: Task Navigation Efficiency (or Tool Selection at the process level) — not Task Completion, which only checks the final deliverable and could be fooled by a lucky final answer.
• GROUNDING SOURCE: https://learn.microsoft.com/azure/foundry/concepts/evaluation-evaluators/agent-evaluators
• GROUNDING SOURCE: https://learn.microsoft.com/en-us/agent-framework/agents/observability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MODULE 5 · 45 MIN · EVALUATION ANCHOR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Multi-Agent Systems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evaluation anchor — trajectory, cost, and regression, not just a single response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AI Apps and Agents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4224528"/>
            <a:ext cx="8412480" cy="0"/>
          </a:xfrm>
          <a:prstGeom prst="line">
            <a:avLst/>
          </a:prstGeom>
          <a:noFill/>
          <a:ln w="635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27024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https://learn.microsoft.com/azure/foundry/concepts/evaluation-evaluators/agent-evaluators</a:t>
            </a:r>
            <a:endParaRPr lang="en-US" sz="8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Module 5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evaluation angles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4114800" cy="3493008"/>
          </a:xfrm>
          <a:prstGeom prst="roundRect">
            <a:avLst/>
          </a:prstGeom>
          <a:solidFill>
            <a:srgbClr val="F3F4F6"/>
          </a:solidFill>
          <a:ln w="1143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298448"/>
            <a:ext cx="3712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evaluation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94360" y="1828800"/>
            <a:ext cx="3639312" cy="2395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Examines the end-to-end outcome of the whole workflow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to the orchestrator, or the final agent responsible for completion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078992"/>
            <a:ext cx="4114800" cy="3493008"/>
          </a:xfrm>
          <a:prstGeom prst="roundRect">
            <a:avLst/>
          </a:prstGeom>
          <a:solidFill>
            <a:srgbClr val="CADCFC"/>
          </a:solidFill>
          <a:ln w="1143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64608" y="1298448"/>
            <a:ext cx="3712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evaluation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892040" y="1828800"/>
            <a:ext cx="3639312" cy="2395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Examines the quality and efficiency of each step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Focuses on the tool calls executed along the way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https://learn.microsoft.com/azure/foundry/concepts/evaluation-evaluators/agent-evaluators</a:t>
            </a:r>
            <a:endParaRPr lang="en-US" sz="8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Module 5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evaluation: the outcome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78992"/>
          <a:ext cx="8412480" cy="914400"/>
        </p:xfrm>
        <a:graphic>
          <a:graphicData uri="http://schemas.openxmlformats.org/drawingml/2006/table">
            <a:tbl>
              <a:tblPr/>
              <a:tblGrid>
                <a:gridCol w="2643922"/>
                <a:gridCol w="5768558"/>
              </a:tblGrid>
              <a:tr h="586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Completion *(preview)*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Did the agent complete the requested task with a usable deliverable?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Adherence *(preview)*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Did the agent follow its assigned rules and constraints?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Navigation Efficiency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Did the agent take an efficient path, compared to a known-good sequence?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Intent Resolution *(preview)*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Did the agent correctly identify what the user actually wanted?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Satisfaction *(preview)*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satisfied would a user be, across helpfulness, clarity, resolution?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https://learn.microsoft.com/azure/foundry/concepts/evaluation-evaluators/agent-evaluators</a:t>
            </a:r>
            <a:endParaRPr lang="en-US" sz="8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Module 5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Navigation Efficiency in code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2560320"/>
          </a:xfrm>
          <a:prstGeom prst="rect">
            <a:avLst/>
          </a:prstGeom>
          <a:solidFill>
            <a:srgbClr val="1D1E22"/>
          </a:solidFill>
          <a:ln w="9525">
            <a:solidFill>
              <a:srgbClr val="2A2B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07008"/>
            <a:ext cx="8138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280" dirty="0">
                <a:solidFill>
                  <a:srgbClr val="E4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"type"</a:t>
            </a:r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280" dirty="0">
                <a:solidFill>
                  <a:srgbClr val="E4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"azure_ai_evaluator"</a:t>
            </a:r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280" dirty="0">
                <a:solidFill>
                  <a:srgbClr val="E4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"name"</a:t>
            </a:r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280" dirty="0">
                <a:solidFill>
                  <a:srgbClr val="E4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"task_navigation_efficiency"</a:t>
            </a:r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280" dirty="0">
                <a:solidFill>
                  <a:srgbClr val="E4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"evaluator_name"</a:t>
            </a:r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280" dirty="0">
                <a:solidFill>
                  <a:srgbClr val="E4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"builtin.task_navigation_efficiency"</a:t>
            </a:r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280" dirty="0">
                <a:solidFill>
                  <a:srgbClr val="E4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"initialization_parameters"</a:t>
            </a:r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{</a:t>
            </a:r>
            <a:pPr indent="0" marL="0">
              <a:buNone/>
            </a:pPr>
            <a:r>
              <a:rPr lang="en-US" sz="1280" dirty="0">
                <a:solidFill>
                  <a:srgbClr val="E4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"matching_mode"</a:t>
            </a:r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280" dirty="0">
                <a:solidFill>
                  <a:srgbClr val="E4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"in_order_match"</a:t>
            </a:r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280" dirty="0">
                <a:solidFill>
                  <a:srgbClr val="E4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"data_mapping"</a:t>
            </a:r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{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280" dirty="0">
                <a:solidFill>
                  <a:srgbClr val="E4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"actions"</a:t>
            </a:r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280" dirty="0">
                <a:solidFill>
                  <a:srgbClr val="E4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"{{item.actions}}"</a:t>
            </a:r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280" dirty="0">
                <a:solidFill>
                  <a:srgbClr val="E4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"expected_actions"</a:t>
            </a:r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280" dirty="0">
                <a:solidFill>
                  <a:srgbClr val="E4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"{{item.expected_actions}}"</a:t>
            </a:r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80" dirty="0"/>
          </a:p>
        </p:txBody>
      </p:sp>
      <p:sp>
        <p:nvSpPr>
          <p:cNvPr id="7" name="Text 5"/>
          <p:cNvSpPr/>
          <p:nvPr/>
        </p:nvSpPr>
        <p:spPr>
          <a:xfrm>
            <a:off x="365760" y="3925443"/>
            <a:ext cx="8412480" cy="7837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matching_mode is exact_match (order and content), in_order_match (extra steps allowed, order preserved), or any_order_match (extra steps allowed, any order) — the same "extras OK" trade-off Day 3's tool_calls_present made for a single agent.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https://learn.microsoft.com/azure/foundry/concepts/evaluation-evaluators/agent-evaluators</a:t>
            </a:r>
            <a:endParaRPr lang="en-US" sz="8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Module 5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evaluation: the steps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78992"/>
          <a:ext cx="8412480" cy="914400"/>
        </p:xfrm>
        <a:graphic>
          <a:graphicData uri="http://schemas.openxmlformats.org/drawingml/2006/table">
            <a:tbl>
              <a:tblPr/>
              <a:tblGrid>
                <a:gridCol w="1758973"/>
                <a:gridCol w="6653507"/>
              </a:tblGrid>
              <a:tr h="586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Call 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Right tool calls, correct parameters, no redundancy?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Selection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 and necessary tools chosen, nothing extra?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Input 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 all tool-call parameters correct — groundedness, type, format, required/unexpected?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Output Utilization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Did the agent actually use the tool's result correctly downstream?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Call Success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Did the tool calls succeed, or hit technical errors?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https://learn.microsoft.com/azure/foundry/concepts/evaluation-evaluators/agent-evaluators</a:t>
            </a:r>
            <a:endParaRPr lang="en-US" sz="8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Module 5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"trajectory" means here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170432"/>
            <a:ext cx="79552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trajectory is the ordered sequence of actions taken across the whole workflow — every agent's tool calls, in the order they happened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lab: Planner's decomposition, Retriever's lookups, Critic's accept/loop decision, and (if triggered) the loop back through Planner again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Navigation Efficiency's actions field is exactly this: a list of function_call messages, compared against a known-good expected_actions list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https://learn.microsoft.com/azure/foundry/concepts/evaluation-evaluators/agent-evaluators</a:t>
            </a:r>
            <a:endParaRPr lang="en-US" sz="8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Module 5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golden set for a workflow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170432"/>
            <a:ext cx="79552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discipline as Day 3 Part E, at workflow scale: real queries, expected outcomes, not synthetic passes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lab's own golden set: 8 cases across 4 branches — small on purpose, since every case runs against all 3 parts × 3 repetitions (~72 workflow runs already)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the workflow's real branches: grounded (clean single-document lookup), revision (spans documents, needs a Critic-triggered loop), no_retrieval (general knowledge, no tools), and partial (the corpus answers half — naming the gap is correct, inventing the rest is a failure)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https://learn.microsoft.com/en-us/agent-framework/agents/evaluation</a:t>
            </a:r>
            <a:endParaRPr lang="en-US" sz="8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Module 5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successful outcome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170432"/>
            <a:ext cx="79552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 emits gen_ai.client.token.usage (a histogram metric) and gen_ai.usage.input_tokens/output_tokens (span attributes) for every model call, automatically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successful outcome = sum of tokens across every agent's model calls in a run, divided by the count of golden-set cases that actually passed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3-agent workflow that succeeds cheaply beats a 3-agent workflow that succeeds expensively — this metric is how you tell them apart, not just pass/fail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https://learn.microsoft.com/en-us/agent-framework/agents/observability</a:t>
            </a:r>
            <a:endParaRPr lang="en-US" sz="8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Module 5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eval → change → re-eval loop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16152"/>
            <a:ext cx="2633472" cy="1572768"/>
          </a:xfrm>
          <a:prstGeom prst="roundRect">
            <a:avLst>
              <a:gd name="adj" fmla="val 3488"/>
            </a:avLst>
          </a:prstGeom>
          <a:solidFill>
            <a:srgbClr val="CADCFC"/>
          </a:solidFill>
          <a:ln w="1016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1335024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1385316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96112" y="1335024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12064" y="1719072"/>
            <a:ext cx="234086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golden set, record trajectory pass rate and cost per successful outcome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035808" y="1892808"/>
            <a:ext cx="164592" cy="219456"/>
          </a:xfrm>
          <a:prstGeom prst="chevron">
            <a:avLst/>
          </a:prstGeom>
          <a:solidFill>
            <a:srgbClr val="E8A87C"/>
          </a:solidFill>
          <a:ln/>
        </p:spPr>
      </p:sp>
      <p:sp>
        <p:nvSpPr>
          <p:cNvPr id="11" name="Shape 9"/>
          <p:cNvSpPr/>
          <p:nvPr/>
        </p:nvSpPr>
        <p:spPr>
          <a:xfrm>
            <a:off x="3255264" y="1216152"/>
            <a:ext cx="2633472" cy="1572768"/>
          </a:xfrm>
          <a:prstGeom prst="roundRect">
            <a:avLst>
              <a:gd name="adj" fmla="val 3488"/>
            </a:avLst>
          </a:prstGeom>
          <a:solidFill>
            <a:srgbClr val="F3F4F6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64992" y="1335024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3364992" y="1385316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785616" y="1335024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one thing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01568" y="1719072"/>
            <a:ext cx="234086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e.g., swap an orchestration pattern, adjust an instruction, add a tool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25312" y="1892808"/>
            <a:ext cx="164592" cy="219456"/>
          </a:xfrm>
          <a:prstGeom prst="chevron">
            <a:avLst/>
          </a:prstGeom>
          <a:solidFill>
            <a:srgbClr val="E8A87C"/>
          </a:solidFill>
          <a:ln/>
        </p:spPr>
      </p:sp>
      <p:sp>
        <p:nvSpPr>
          <p:cNvPr id="17" name="Shape 15"/>
          <p:cNvSpPr/>
          <p:nvPr/>
        </p:nvSpPr>
        <p:spPr>
          <a:xfrm>
            <a:off x="6144768" y="1216152"/>
            <a:ext cx="2633472" cy="1572768"/>
          </a:xfrm>
          <a:prstGeom prst="roundRect">
            <a:avLst>
              <a:gd name="adj" fmla="val 3488"/>
            </a:avLst>
          </a:prstGeom>
          <a:solidFill>
            <a:srgbClr val="F3F4F6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54496" y="1335024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254496" y="1385316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675120" y="1335024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91072" y="1719072"/>
            <a:ext cx="234086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golden set, same evaluators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65760" y="3044952"/>
            <a:ext cx="2633472" cy="1572768"/>
          </a:xfrm>
          <a:prstGeom prst="roundRect">
            <a:avLst>
              <a:gd name="adj" fmla="val 3488"/>
            </a:avLst>
          </a:prstGeom>
          <a:solidFill>
            <a:srgbClr val="F3F4F6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" y="3163824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" y="3214116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96112" y="3163824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the delta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12064" y="3547872"/>
            <a:ext cx="234086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pass rate change? Did cost per successful outcome change?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035808" y="3721608"/>
            <a:ext cx="164592" cy="219456"/>
          </a:xfrm>
          <a:prstGeom prst="chevron">
            <a:avLst/>
          </a:prstGeom>
          <a:solidFill>
            <a:srgbClr val="E8A87C"/>
          </a:solidFill>
          <a:ln/>
        </p:spPr>
      </p:sp>
      <p:sp>
        <p:nvSpPr>
          <p:cNvPr id="28" name="Shape 26"/>
          <p:cNvSpPr/>
          <p:nvPr/>
        </p:nvSpPr>
        <p:spPr>
          <a:xfrm>
            <a:off x="3255264" y="3044952"/>
            <a:ext cx="2633472" cy="1572768"/>
          </a:xfrm>
          <a:prstGeom prst="roundRect">
            <a:avLst>
              <a:gd name="adj" fmla="val 3488"/>
            </a:avLst>
          </a:prstGeom>
          <a:solidFill>
            <a:srgbClr val="CADCFC"/>
          </a:solidFill>
          <a:ln w="10160">
            <a:solidFill>
              <a:srgbClr val="1E276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64992" y="3163824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3364992" y="3214116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785616" y="3163824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3401568" y="3547872"/>
            <a:ext cx="234086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this discipline every time the workflow changes, and it becomes your regression harness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https://learn.microsoft.com/en-us/agent-framework/agents/evaluation</a:t>
            </a:r>
            <a:endParaRPr lang="en-US" sz="8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AD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Module 5 · Demo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8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Trajectory, cost, and the eval → change → re-eval loop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583680" y="10515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 min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SAME 2-agent workflow twice: BEFORE, the researcher's instructions are vague and it may skip its one tool — process eval and system eval both at risk of failing. AFTER, one sentence is added requiring the tool call — nothing else changes. Compare trajectory (process eval), the final answer (system eval), and total tokens (cost) across the two runs: this IS the loop the slide just named, run live.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Runbook: demos/day4/module-5-demo-1-trajectory-and-cost.md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https://learn.microsoft.com/azure/foundry/concepts/evaluation-evaluators/agent-evaluators</a:t>
            </a:r>
            <a:endParaRPr lang="en-US" sz="8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Module 5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Repetitions still matter at workflow scale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170432"/>
            <a:ext cx="79552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agent's model call is a fresh source of nondeterminism — a 3-agent workflow has three (or more) independent chances to vary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num_repetitions still applies: run each golden-set case multiple times, observe the pass-rate distribution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invent a universal pass threshold — set acceptance criteria from your own risk tolerance and observed variance, same discipline as Day 3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https://learn.microsoft.com/en-us/agent-framework/agents/evaluation</a:t>
            </a:r>
            <a:endParaRPr lang="en-US" sz="8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Module 5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8138160" cy="585216"/>
          </a:xfrm>
          <a:prstGeom prst="round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512" y="1225296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" y="1252728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2416" y="1207008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evaluate the workflow's end-to-end outcome (System evaluation) separately from the quality of each step (Process evaluation).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755648"/>
            <a:ext cx="8138160" cy="585216"/>
          </a:xfrm>
          <a:prstGeom prst="round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" y="1883664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" y="1911096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42416" y="1865376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Navigation Efficiency generalizes Day 3's tool_calls_present/tool_call_args_match to a full multi-agent trajectory.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2414016"/>
            <a:ext cx="8138160" cy="585216"/>
          </a:xfrm>
          <a:prstGeom prst="round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7512" y="2542032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" y="2569464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42416" y="2523744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successful outcome comes from the framework's own token-usage telemetry, not a separate cost API.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3072384"/>
            <a:ext cx="8138160" cy="585216"/>
          </a:xfrm>
          <a:prstGeom prst="round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7512" y="3200400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" y="3227832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42416" y="3182112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"regression harness" is the eval → change → re-eval loop, run consistently every time the workflow changes.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2920" y="3730752"/>
            <a:ext cx="8138160" cy="585216"/>
          </a:xfrm>
          <a:prstGeom prst="round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7512" y="3858768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" y="3886200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42416" y="3840480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Repetitions matter more, not less, with multiple agents — more model calls means more sources of variance.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https://learn.microsoft.com/azure/foundry/concepts/evaluation-evaluators/agent-evaluators  ·  +1 in notes</a:t>
            </a:r>
            <a:endParaRPr lang="en-US" sz="8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Building AI Apps and Agents Workshop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Evaluating Multi-Agent Systems</dc:title>
  <dc:subject>Day 4 — Multi-Agent Patterns + Evaluation Anchor</dc:subject>
  <dc:creator>Building AI Apps and Agents Workshop</dc:creator>
  <cp:lastModifiedBy>Building AI Apps and Agents Workshop</cp:lastModifiedBy>
  <cp:revision>1</cp:revision>
  <dcterms:created xsi:type="dcterms:W3CDTF">2026-09-02T12:20:31Z</dcterms:created>
  <dcterms:modified xsi:type="dcterms:W3CDTF">2026-09-02T12:20:31Z</dcterms:modified>
</cp:coreProperties>
</file>