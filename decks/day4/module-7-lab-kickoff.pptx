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lab composes every module from today: workflow primitives (3), orchestration patterns (2), memory contracts (4), and a trajectory evaluation with a cost metric (5), plus the guardrail from Module 6 — now a required deliverable, not a stretch goal. Note for presenters: the lab's own part order (basics, then orchestrations, then eval) deliberately runs opposite to today's lecture order (orchestration patterns in Module 2, before workflow fundamentals in Module 3) — build it by hand first, then appreciate the shortcut, is the lab's own teaching sequence. Part naming matches labs/day4/README.md exactly: A, B1, B2, C — not the three-part A/B/C shape an earlier lab draft used.
• GROUNDING SOURCE: https://learn.microsoft.com/en-us/agent-framework/concepts/workflows/
• GROUNDING SOURCE: https://learn.microsoft.com/azure/foundry/concepts/evaluation-evaluators/agent-evaluators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Same Planner/Retriever/Critic roles across all four parts — the roles don't change, only what runs them does. The Summarizer role from an earlier draft was folded into the Critic to keep this lab digestible — the Critic both judges and produces the final answer.
• GROUNDING SOURCE: https://learn.microsoft.com/en-us/agent-framework/concepts/workflows/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Matches labs/day4/python/part_a_sequential.py's own docstring almost verbatim -- that file IS the ceiling narrative, not a paraphrase of it. No golden set in this part; that's Part C's job once there's something worth comparing (evaluate.py's docstring: "no scoring in this part").
• GROUNDING SOURCE: https://learn.microsoft.com/en-us/agent-framework/workflows/orchestrations/sequential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Rebuilding with a custom WorkflowBuilder graph is a genuine rewrite of the orchestration plumbing, not a small diff on Part A's code — set that expectation directly with attendees, per part_b_graph.py's own docstring ("This is a genuine rewrite, not a diff on Part A").
• GROUNDING SOURCE: https://learn.microsoft.com/en-us/agent-framework/workflows/orchestrations/sequential
• GROUNDING SOURCE: https://learn.microsoft.com/en-us/agent-framework/concepts/workflows/edges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GroupChatBuilder's orchestrator_agent parameter is a real Agent, not a plain function — it decides who speaks next by reading the shared conversation, not by evaluating a Python condition. Matches part_c_group_chat.py's own docstring and TODO comments, including the termination_condition example (8 assistant turns). Card titles kept short on purpose — longer titles here used to overflow into the body text below (a real rendering bug in addCard, fixed at the theme level for every deck, not just worked around by shortening these).
• GROUNDING SOURCE: https://learn.microsoft.com/en-us/agent-framework/workflows/orchestrations/group-chat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Grounded directly in tests/test_guardrail.py's own docstring and the three tests it specifies. MAX_REVISIONS=2 and the capped=True field name are the lab's actual code, not illustrative — confirmed against workflow_nodes.py and the test file.
• GROUNDING SOURCE: https://learn.microsoft.com/en-us/agent-framework/agents/looping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evaluate.py imports build_sequential_workflow / build_graph_workflow / build_group_chat_workflow from three separate files (part_a_sequential.py, part_b_graph.py, part_c_group_chat.py) — one function per part, not "Part B's three functions", which was this slide's old (inaccurate) framing. The comparison table's actual columns, per evaluate.py's own report() function, are pass rate, cost/success, and a raw revisions count — there is no separate "guardrail-trip rate" column.
• GROUNDING SOURCE: https://learn.microsoft.com/en-us/agent-framework/agents/evaluation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Same discipline as Day 3 Part E, at workflow scale — Module 5's own framing. Matches the lab's own current golden_set.jsonl and README exactly (8 cases across 4 branches) — updated from an earlier ~15-question, 3-branch spec after the lab's restructure. Parts A and B1/B2's own demos use one hand-picked question each, not the golden set — the golden set's job is Part C's statistical comparison.
• GROUNDING SOURCE: https://learn.microsoft.com/en-us/agent-framework/agents/evaluation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Rewritten to match evaluate.py's own "WHAT IT MEASURES" docstring exactly — all four of these ARE implemented and printed, deterministic and local, no judge model required for the core comparison. The previous version of this slide claimed cost-per-outcome was "not implemented" — it is; PartResult.cost_per_success is real, working code. --foundry is an optional extra pass that also sends the same trajectories to Foundry's cloud evaluators.
• GROUNDING SOURCE: https://learn.microsoft.com/azure/foundry/concepts/evaluation-evaluators/agent-evaluators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Mirrors Day 3 Module 9's prerequisites-card style. Matches labs/day4/README.md's own prerequisites list, including the Foundry judge model being for the optional --foundry cloud pass only — the core comparison (pass rate, cost/success, revisions) is local and deterministic, no judge model required. The ADO MCP path is only needed for the optional Ticket agent stretch, not the core lab.
• GROUNDING SOURCE: https://learn.microsoft.com/en-us/agent-framework/agents/evaluation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Reworded for the A/B1/B2/C structure — each row now matches labs/day4/README.md's own per-part "Definition of done" bullets almost verbatim, rather than paraphrasing a since-superseded 3-part (A/B/C) shape. The Part B2 guardrail is a required deliverable, not a stretch goal.
• GROUNDING SOURCE: https://learn.microsoft.com/en-us/agent-framework/agents/evaluation
• GROUNDING SOURCE: https://learn.microsoft.com/en-us/agent-framework/agents/looping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Close the core Day 4 live time here. Learners have every primitive from Modules 1-6 before starting the lab. Reworded for the A/B1/B2/C structure — Part B2's guardrail is test-driven, a distinct authoring mode from Parts A/B1/C's TODOs, worth naming explicitly.
• GROUNDING SOURCE: https://learn.microsoft.com/en-us/agent-framework/concepts/workflows/
• GROUNDING SOURCE: https://learn.microsoft.com/azure/foundry/concepts/evaluation-evaluators/agent-evaluators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rtlCol="0" anchor="ctr"/>
          <a:lstStyle/>
          <a:p>
            <a:pPr indent="0" marL="0">
              <a:buNone/>
            </a:pPr>
            <a:r>
              <a:rPr lang="en-US" sz="1000" spc="400" kern="0" dirty="0">
                <a:solidFill>
                  <a:srgbClr val="CADCFC"/>
                </a:solidFill>
                <a:latin typeface="Calibri" pitchFamily="34" charset="0"/>
                <a:ea typeface="Calibri" pitchFamily="34" charset="-122"/>
                <a:cs typeface="Calibri" pitchFamily="34" charset="-120"/>
              </a:rPr>
              <a:t>DAY 4 · MODULE 7 · 25 MIN</a:t>
            </a:r>
            <a:endParaRPr lang="en-US" sz="1000" dirty="0"/>
          </a:p>
        </p:txBody>
      </p:sp>
      <p:sp>
        <p:nvSpPr>
          <p:cNvPr id="3" name="Text 1"/>
          <p:cNvSpPr/>
          <p:nvPr/>
        </p:nvSpPr>
        <p:spPr>
          <a:xfrm>
            <a:off x="548640" y="1737360"/>
            <a:ext cx="8046720" cy="12801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Day 4 Lab Kickoff</a:t>
            </a:r>
            <a:endParaRPr lang="en-US" sz="4000" dirty="0"/>
          </a:p>
        </p:txBody>
      </p:sp>
      <p:sp>
        <p:nvSpPr>
          <p:cNvPr id="4" name="Text 2"/>
          <p:cNvSpPr/>
          <p:nvPr/>
        </p:nvSpPr>
        <p:spPr>
          <a:xfrm>
            <a:off x="548640" y="3017520"/>
            <a:ext cx="8046720" cy="64008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Four parts, one scenario — Sequential's ceiling, the graph that fixes it, bound the loop, then measure Group Chat against both</a:t>
            </a:r>
            <a:endParaRPr lang="en-US" sz="1800" dirty="0"/>
          </a:p>
        </p:txBody>
      </p:sp>
      <p:sp>
        <p:nvSpPr>
          <p:cNvPr id="5" name="Text 3"/>
          <p:cNvSpPr/>
          <p:nvPr/>
        </p:nvSpPr>
        <p:spPr>
          <a:xfrm>
            <a:off x="548640" y="4572000"/>
            <a:ext cx="8046720" cy="36576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Building AI Apps and Agents</a:t>
            </a:r>
            <a:endParaRPr lang="en-US" sz="1000" dirty="0"/>
          </a:p>
        </p:txBody>
      </p:sp>
      <p:sp>
        <p:nvSpPr>
          <p:cNvPr id="6" name="Shape 4"/>
          <p:cNvSpPr/>
          <p:nvPr/>
        </p:nvSpPr>
        <p:spPr>
          <a:xfrm>
            <a:off x="365760" y="4224528"/>
            <a:ext cx="8412480" cy="0"/>
          </a:xfrm>
          <a:prstGeom prst="line">
            <a:avLst/>
          </a:prstGeom>
          <a:noFill/>
          <a:ln w="6350">
            <a:solidFill>
              <a:srgbClr val="CADCFC"/>
            </a:solidFill>
            <a:prstDash val="solid"/>
          </a:ln>
        </p:spPr>
      </p:sp>
      <p:sp>
        <p:nvSpPr>
          <p:cNvPr id="7" name="Text 5"/>
          <p:cNvSpPr/>
          <p:nvPr/>
        </p:nvSpPr>
        <p:spPr>
          <a:xfrm>
            <a:off x="384048" y="4270248"/>
            <a:ext cx="8275320" cy="182880"/>
          </a:xfrm>
          <a:prstGeom prst="rect">
            <a:avLst/>
          </a:prstGeom>
          <a:noFill/>
          <a:ln/>
        </p:spPr>
        <p:txBody>
          <a:bodyPr wrap="square" lIns="0" tIns="0" rIns="0" bIns="0" rtlCol="0" anchor="ctr">
            <a:normAutofit/>
          </a:bodyPr>
          <a:lstStyle/>
          <a:p>
            <a:pPr indent="0" marL="0">
              <a:buNone/>
            </a:pPr>
            <a:r>
              <a:rPr lang="en-US" sz="820" dirty="0">
                <a:solidFill>
                  <a:srgbClr val="CADCFC"/>
                </a:solidFill>
                <a:latin typeface="Calibri" pitchFamily="34" charset="0"/>
                <a:ea typeface="Calibri" pitchFamily="34" charset="-122"/>
                <a:cs typeface="Calibri" pitchFamily="34" charset="-120"/>
              </a:rPr>
              <a:t>Source: https://learn.microsoft.com/en-us/agent-framework/concepts/workflows/  ·  +1 in notes</a:t>
            </a:r>
            <a:endParaRPr lang="en-US" sz="8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4 · Module 7</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What you'll build</a:t>
            </a:r>
            <a:endParaRPr lang="en-US" sz="28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The same three roles — Planner, Retriever, Critic:</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Part A — SequentialBuilder's one-line shortcut, and the ceiling it runs into</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Part B1 — a custom WorkflowBuilder graph with a conditional edge that fixes it</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Part B2 — bound that loop, test-driven: a failing spec is the requirement, not a TODO comment</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Part C — the same roles a third way, GroupChatBuilder, then measure all three constructions against one golden set</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Optional stretch</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a Ticket agent that files a real Azure DevOps work item (Day 3's MCP path) when the Critic flags a documentation gap</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https://learn.microsoft.com/en-us/agent-framework/concepts/workflows/</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4 · Module 7</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Part A — Sequential, and its ceiling</a:t>
            </a:r>
            <a:endParaRPr lang="en-US" sz="25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SequentialBuilder(participants=[planner, retriever, critic]).build() — the three roles, wired in one line</a:t>
            </a:r>
            <a:endParaRPr lang="en-US" sz="1600" dirty="0"/>
          </a:p>
          <a:p>
            <a:pPr marL="342900" indent="-3429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Run 1 (a single-document question): Planner, Retriever, Critic each run once, in order — clean</a:t>
            </a:r>
            <a:endParaRPr lang="en-US" sz="1600" dirty="0"/>
          </a:p>
          <a:p>
            <a:pPr marL="342900" indent="-3429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Run 2 (a question spanning two documents): the Critic says approved=false with a precise reason — and the workflow ends anyway</a:t>
            </a:r>
            <a:endParaRPr lang="en-US" sz="1600" dirty="0"/>
          </a:p>
          <a:p>
            <a:pPr marL="342900" indent="-3429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The ceiling: Sequential is forward-only — there's no edge from the Critic back to the Planner, so a correct rejection has nowhere to go. Part B1 fixes exactly this.</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https://learn.microsoft.com/en-us/agent-framework/workflows/orchestrations/sequential</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4 · Module 7</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Part B1 — The graph that fixes it</a:t>
            </a:r>
            <a:endParaRPr lang="en-US" sz="2800" dirty="0"/>
          </a:p>
        </p:txBody>
      </p:sp>
      <p:sp>
        <p:nvSpPr>
          <p:cNvPr id="5" name="Shape 3"/>
          <p:cNvSpPr/>
          <p:nvPr/>
        </p:nvSpPr>
        <p:spPr>
          <a:xfrm>
            <a:off x="365760" y="1115568"/>
            <a:ext cx="8412480" cy="2139696"/>
          </a:xfrm>
          <a:prstGeom prst="rect">
            <a:avLst/>
          </a:prstGeom>
          <a:solidFill>
            <a:srgbClr val="1D1E22"/>
          </a:solidFill>
          <a:ln w="9525">
            <a:solidFill>
              <a:srgbClr val="2A2B2E"/>
            </a:solidFill>
            <a:prstDash val="solid"/>
          </a:ln>
        </p:spPr>
      </p:sp>
      <p:sp>
        <p:nvSpPr>
          <p:cNvPr id="6" name="Text 4"/>
          <p:cNvSpPr/>
          <p:nvPr/>
        </p:nvSpPr>
        <p:spPr>
          <a:xfrm>
            <a:off x="502920" y="1207008"/>
            <a:ext cx="8138160" cy="1956816"/>
          </a:xfrm>
          <a:prstGeom prst="rect">
            <a:avLst/>
          </a:prstGeom>
          <a:noFill/>
          <a:ln/>
        </p:spPr>
        <p:txBody>
          <a:bodyPr wrap="square" lIns="0" tIns="0" rIns="0" bIns="0" rtlCol="0" anchor="t">
            <a:normAutofit/>
          </a:bodyPr>
          <a:lstStyle/>
          <a:p>
            <a:pPr indent="0" marL="0">
              <a:buNone/>
            </a:pPr>
            <a:r>
              <a:rPr lang="en-US" sz="1280" i="1" dirty="0">
                <a:solidFill>
                  <a:srgbClr val="666666"/>
                </a:solidFill>
                <a:latin typeface="Consolas" pitchFamily="34" charset="0"/>
                <a:ea typeface="Consolas" pitchFamily="34" charset="-122"/>
                <a:cs typeface="Consolas" pitchFamily="34" charset="-120"/>
              </a:rPr>
              <a:t># Part A's shortcut — the ceiling this fixes</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SequentialBuilder(participants=[planner, retriever, critic]).build()</a:t>
            </a:r>
            <a:endParaRPr lang="en-US" sz="1280" dirty="0"/>
          </a:p>
          <a:p>
            <a:pPr indent="0" marL="0">
              <a:buNone/>
            </a:pPr>
            <a:endParaRPr lang="en-US" sz="1280" dirty="0"/>
          </a:p>
          <a:p>
            <a:pPr indent="0" marL="0">
              <a:buNone/>
            </a:pPr>
            <a:r>
              <a:rPr lang="en-US" sz="1280" i="1" dirty="0">
                <a:solidFill>
                  <a:srgbClr val="666666"/>
                </a:solidFill>
                <a:latin typeface="Consolas" pitchFamily="34" charset="0"/>
                <a:ea typeface="Consolas" pitchFamily="34" charset="-122"/>
                <a:cs typeface="Consolas" pitchFamily="34" charset="-120"/>
              </a:rPr>
              <a:t># Part B1 — a custom graph with a loop-back edge</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builder = WorkflowBuilder(start_executor=planner)</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builder.add_edge(planner, retriever)</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builder.add_edge(retriever, critic)</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builder.add_edge(critic, planner, condition=</a:t>
            </a:r>
            <a:pPr indent="0" marL="0">
              <a:buNone/>
            </a:pPr>
            <a:r>
              <a:rPr lang="en-US" sz="1280" dirty="0">
                <a:solidFill>
                  <a:srgbClr val="A996B6"/>
                </a:solidFill>
                <a:latin typeface="Consolas" pitchFamily="34" charset="0"/>
                <a:ea typeface="Consolas" pitchFamily="34" charset="-122"/>
                <a:cs typeface="Consolas" pitchFamily="34" charset="-120"/>
              </a:rPr>
              <a:t>lambda</a:t>
            </a:r>
            <a:pPr indent="0" marL="0">
              <a:buNone/>
            </a:pPr>
            <a:r>
              <a:rPr lang="en-US" sz="1280" dirty="0">
                <a:solidFill>
                  <a:srgbClr val="FFFFFF"/>
                </a:solidFill>
                <a:latin typeface="Consolas" pitchFamily="34" charset="0"/>
                <a:ea typeface="Consolas" pitchFamily="34" charset="-122"/>
                <a:cs typeface="Consolas" pitchFamily="34" charset="-120"/>
              </a:rPr>
              <a:t> result: </a:t>
            </a:r>
            <a:pPr indent="0" marL="0">
              <a:buNone/>
            </a:pPr>
            <a:r>
              <a:rPr lang="en-US" sz="1280" dirty="0">
                <a:solidFill>
                  <a:srgbClr val="A996B6"/>
                </a:solidFill>
                <a:latin typeface="Consolas" pitchFamily="34" charset="0"/>
                <a:ea typeface="Consolas" pitchFamily="34" charset="-122"/>
                <a:cs typeface="Consolas" pitchFamily="34" charset="-120"/>
              </a:rPr>
              <a:t>not</a:t>
            </a:r>
            <a:pPr indent="0" marL="0">
              <a:buNone/>
            </a:pPr>
            <a:r>
              <a:rPr lang="en-US" sz="1280" dirty="0">
                <a:solidFill>
                  <a:srgbClr val="FFFFFF"/>
                </a:solidFill>
                <a:latin typeface="Consolas" pitchFamily="34" charset="0"/>
                <a:ea typeface="Consolas" pitchFamily="34" charset="-122"/>
                <a:cs typeface="Consolas" pitchFamily="34" charset="-120"/>
              </a:rPr>
              <a:t> result.approved)</a:t>
            </a:r>
            <a:endParaRPr lang="en-US" sz="1280" dirty="0"/>
          </a:p>
        </p:txBody>
      </p:sp>
      <p:sp>
        <p:nvSpPr>
          <p:cNvPr id="7" name="Text 5"/>
          <p:cNvSpPr/>
          <p:nvPr/>
        </p:nvSpPr>
        <p:spPr>
          <a:xfrm>
            <a:off x="365760" y="4131818"/>
            <a:ext cx="8412480" cy="577342"/>
          </a:xfrm>
          <a:prstGeom prst="rect">
            <a:avLst/>
          </a:prstGeom>
          <a:noFill/>
          <a:ln/>
        </p:spPr>
        <p:txBody>
          <a:bodyPr wrap="square" lIns="0" tIns="0" rIns="0" bIns="0" rtlCol="0" anchor="t">
            <a:normAutofit/>
          </a:bodyPr>
          <a:lstStyle/>
          <a:p>
            <a:pPr indent="0" marL="0">
              <a:spcAft>
                <a:spcPts val="800"/>
              </a:spcAft>
              <a:buNone/>
            </a:pPr>
            <a:r>
              <a:rPr lang="en-US" sz="1300" dirty="0">
                <a:solidFill>
                  <a:srgbClr val="6B7280"/>
                </a:solidFill>
                <a:latin typeface="Calibri" pitchFamily="34" charset="0"/>
                <a:ea typeface="Calibri" pitchFamily="34" charset="-122"/>
                <a:cs typeface="Calibri" pitchFamily="34" charset="-120"/>
              </a:rPr>
              <a:t>Same three roles, same shape — one new edge. When the Critic doesn't approve, the graph now has somewhere to send that verdict: back to the Planner.</a:t>
            </a:r>
            <a:endParaRPr lang="en-US" sz="1300" dirty="0"/>
          </a:p>
        </p:txBody>
      </p:sp>
      <p:sp>
        <p:nvSpPr>
          <p:cNvPr id="8" name="Shape 6"/>
          <p:cNvSpPr/>
          <p:nvPr/>
        </p:nvSpPr>
        <p:spPr>
          <a:xfrm>
            <a:off x="365760" y="4773168"/>
            <a:ext cx="8412480" cy="0"/>
          </a:xfrm>
          <a:prstGeom prst="line">
            <a:avLst/>
          </a:prstGeom>
          <a:noFill/>
          <a:ln w="6350">
            <a:solidFill>
              <a:srgbClr val="D1D5DB"/>
            </a:solidFill>
            <a:prstDash val="solid"/>
          </a:ln>
        </p:spPr>
      </p:sp>
      <p:sp>
        <p:nvSpPr>
          <p:cNvPr id="9" name="Text 7"/>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https://learn.microsoft.com/en-us/agent-framework/workflows/orchestrations/sequential  ·  +1 in notes</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4 · Module 7</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Part C — Group Chat, and bound it too</a:t>
            </a:r>
            <a:endParaRPr lang="en-US" sz="2500" dirty="0"/>
          </a:p>
        </p:txBody>
      </p:sp>
      <p:sp>
        <p:nvSpPr>
          <p:cNvPr id="5" name="Shape 3"/>
          <p:cNvSpPr/>
          <p:nvPr/>
        </p:nvSpPr>
        <p:spPr>
          <a:xfrm>
            <a:off x="365760" y="1216152"/>
            <a:ext cx="1911096" cy="2148840"/>
          </a:xfrm>
          <a:prstGeom prst="roundRect">
            <a:avLst>
              <a:gd name="adj" fmla="val 2871"/>
            </a:avLst>
          </a:prstGeom>
          <a:solidFill>
            <a:srgbClr val="CADCFC"/>
          </a:solidFill>
          <a:ln w="10160">
            <a:solidFill>
              <a:srgbClr val="1E2761"/>
            </a:solidFill>
            <a:prstDash val="solid"/>
          </a:ln>
        </p:spPr>
      </p:sp>
      <p:sp>
        <p:nvSpPr>
          <p:cNvPr id="6" name="Shape 4"/>
          <p:cNvSpPr/>
          <p:nvPr/>
        </p:nvSpPr>
        <p:spPr>
          <a:xfrm>
            <a:off x="475488" y="1335024"/>
            <a:ext cx="320040" cy="320040"/>
          </a:xfrm>
          <a:prstGeom prst="ellipse">
            <a:avLst/>
          </a:prstGeom>
          <a:solidFill>
            <a:srgbClr val="1E2761"/>
          </a:solidFill>
          <a:ln/>
        </p:spPr>
      </p:sp>
      <p:sp>
        <p:nvSpPr>
          <p:cNvPr id="7" name="Text 5"/>
          <p:cNvSpPr/>
          <p:nvPr/>
        </p:nvSpPr>
        <p:spPr>
          <a:xfrm>
            <a:off x="475488"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6"/>
          <p:cNvSpPr/>
          <p:nvPr/>
        </p:nvSpPr>
        <p:spPr>
          <a:xfrm>
            <a:off x="896112" y="1335024"/>
            <a:ext cx="125272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Rebuild</a:t>
            </a:r>
            <a:endParaRPr lang="en-US" sz="1500" dirty="0"/>
          </a:p>
        </p:txBody>
      </p:sp>
      <p:sp>
        <p:nvSpPr>
          <p:cNvPr id="9" name="Text 7"/>
          <p:cNvSpPr/>
          <p:nvPr/>
        </p:nvSpPr>
        <p:spPr>
          <a:xfrm>
            <a:off x="512064" y="1701165"/>
            <a:ext cx="1618488" cy="1572387"/>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same three roles as plain participants, now with GroupChatBuilder(participants=[...], orchestrator_agent=..., termination_condition=...)</a:t>
            </a:r>
            <a:endParaRPr lang="en-US" sz="1150" dirty="0"/>
          </a:p>
        </p:txBody>
      </p:sp>
      <p:sp>
        <p:nvSpPr>
          <p:cNvPr id="10" name="Shape 8"/>
          <p:cNvSpPr/>
          <p:nvPr/>
        </p:nvSpPr>
        <p:spPr>
          <a:xfrm>
            <a:off x="2313432" y="2180844"/>
            <a:ext cx="164592" cy="219456"/>
          </a:xfrm>
          <a:prstGeom prst="chevron">
            <a:avLst/>
          </a:prstGeom>
          <a:solidFill>
            <a:srgbClr val="E8A87C"/>
          </a:solidFill>
          <a:ln/>
        </p:spPr>
      </p:sp>
      <p:sp>
        <p:nvSpPr>
          <p:cNvPr id="11" name="Shape 9"/>
          <p:cNvSpPr/>
          <p:nvPr/>
        </p:nvSpPr>
        <p:spPr>
          <a:xfrm>
            <a:off x="2532888" y="1216152"/>
            <a:ext cx="1911096" cy="2148840"/>
          </a:xfrm>
          <a:prstGeom prst="roundRect">
            <a:avLst>
              <a:gd name="adj" fmla="val 2871"/>
            </a:avLst>
          </a:prstGeom>
          <a:solidFill>
            <a:srgbClr val="F3F4F6"/>
          </a:solidFill>
          <a:ln w="10160">
            <a:solidFill>
              <a:srgbClr val="D1D5DB"/>
            </a:solidFill>
            <a:prstDash val="solid"/>
          </a:ln>
        </p:spPr>
      </p:sp>
      <p:sp>
        <p:nvSpPr>
          <p:cNvPr id="12" name="Shape 10"/>
          <p:cNvSpPr/>
          <p:nvPr/>
        </p:nvSpPr>
        <p:spPr>
          <a:xfrm>
            <a:off x="2642616" y="1335024"/>
            <a:ext cx="320040" cy="320040"/>
          </a:xfrm>
          <a:prstGeom prst="ellipse">
            <a:avLst/>
          </a:prstGeom>
          <a:solidFill>
            <a:srgbClr val="1E2761"/>
          </a:solidFill>
          <a:ln/>
        </p:spPr>
      </p:sp>
      <p:sp>
        <p:nvSpPr>
          <p:cNvPr id="13" name="Text 11"/>
          <p:cNvSpPr/>
          <p:nvPr/>
        </p:nvSpPr>
        <p:spPr>
          <a:xfrm>
            <a:off x="2642616"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3063240" y="1335024"/>
            <a:ext cx="1252728" cy="549402"/>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Orchestrator picks</a:t>
            </a:r>
            <a:endParaRPr lang="en-US" sz="1500" dirty="0"/>
          </a:p>
        </p:txBody>
      </p:sp>
      <p:sp>
        <p:nvSpPr>
          <p:cNvPr id="15" name="Text 13"/>
          <p:cNvSpPr/>
          <p:nvPr/>
        </p:nvSpPr>
        <p:spPr>
          <a:xfrm>
            <a:off x="2679192" y="1939290"/>
            <a:ext cx="1618488" cy="133426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an LLM agent reads the shared conversation and picks who speaks next; no condition function to write</a:t>
            </a:r>
            <a:endParaRPr lang="en-US" sz="1150" dirty="0"/>
          </a:p>
        </p:txBody>
      </p:sp>
      <p:sp>
        <p:nvSpPr>
          <p:cNvPr id="16" name="Shape 14"/>
          <p:cNvSpPr/>
          <p:nvPr/>
        </p:nvSpPr>
        <p:spPr>
          <a:xfrm>
            <a:off x="4480560" y="2180844"/>
            <a:ext cx="164592" cy="219456"/>
          </a:xfrm>
          <a:prstGeom prst="chevron">
            <a:avLst/>
          </a:prstGeom>
          <a:solidFill>
            <a:srgbClr val="E8A87C"/>
          </a:solidFill>
          <a:ln/>
        </p:spPr>
      </p:sp>
      <p:sp>
        <p:nvSpPr>
          <p:cNvPr id="17" name="Shape 15"/>
          <p:cNvSpPr/>
          <p:nvPr/>
        </p:nvSpPr>
        <p:spPr>
          <a:xfrm>
            <a:off x="4700016" y="1216152"/>
            <a:ext cx="1911096" cy="2148840"/>
          </a:xfrm>
          <a:prstGeom prst="roundRect">
            <a:avLst>
              <a:gd name="adj" fmla="val 2871"/>
            </a:avLst>
          </a:prstGeom>
          <a:solidFill>
            <a:srgbClr val="F3F4F6"/>
          </a:solidFill>
          <a:ln w="10160">
            <a:solidFill>
              <a:srgbClr val="D1D5DB"/>
            </a:solidFill>
            <a:prstDash val="solid"/>
          </a:ln>
        </p:spPr>
      </p:sp>
      <p:sp>
        <p:nvSpPr>
          <p:cNvPr id="18" name="Shape 16"/>
          <p:cNvSpPr/>
          <p:nvPr/>
        </p:nvSpPr>
        <p:spPr>
          <a:xfrm>
            <a:off x="4809744" y="1335024"/>
            <a:ext cx="320040" cy="320040"/>
          </a:xfrm>
          <a:prstGeom prst="ellipse">
            <a:avLst/>
          </a:prstGeom>
          <a:solidFill>
            <a:srgbClr val="1E2761"/>
          </a:solidFill>
          <a:ln/>
        </p:spPr>
      </p:sp>
      <p:sp>
        <p:nvSpPr>
          <p:cNvPr id="19" name="Text 17"/>
          <p:cNvSpPr/>
          <p:nvPr/>
        </p:nvSpPr>
        <p:spPr>
          <a:xfrm>
            <a:off x="4809744"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0" name="Text 18"/>
          <p:cNvSpPr/>
          <p:nvPr/>
        </p:nvSpPr>
        <p:spPr>
          <a:xfrm>
            <a:off x="5230368" y="1335024"/>
            <a:ext cx="1252728" cy="549402"/>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Shared context</a:t>
            </a:r>
            <a:endParaRPr lang="en-US" sz="1500" dirty="0"/>
          </a:p>
        </p:txBody>
      </p:sp>
      <p:sp>
        <p:nvSpPr>
          <p:cNvPr id="21" name="Text 19"/>
          <p:cNvSpPr/>
          <p:nvPr/>
        </p:nvSpPr>
        <p:spPr>
          <a:xfrm>
            <a:off x="4846320" y="1939290"/>
            <a:ext cx="1618488" cy="133426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the Planner already sees the Critic's rejection when re-selected, because the whole conversation is shared — no manual to_revision adapter needed</a:t>
            </a:r>
            <a:endParaRPr lang="en-US" sz="1150" dirty="0"/>
          </a:p>
        </p:txBody>
      </p:sp>
      <p:sp>
        <p:nvSpPr>
          <p:cNvPr id="22" name="Shape 20"/>
          <p:cNvSpPr/>
          <p:nvPr/>
        </p:nvSpPr>
        <p:spPr>
          <a:xfrm>
            <a:off x="6647688" y="2180844"/>
            <a:ext cx="164592" cy="219456"/>
          </a:xfrm>
          <a:prstGeom prst="chevron">
            <a:avLst/>
          </a:prstGeom>
          <a:solidFill>
            <a:srgbClr val="E8A87C"/>
          </a:solidFill>
          <a:ln/>
        </p:spPr>
      </p:sp>
      <p:sp>
        <p:nvSpPr>
          <p:cNvPr id="23" name="Shape 21"/>
          <p:cNvSpPr/>
          <p:nvPr/>
        </p:nvSpPr>
        <p:spPr>
          <a:xfrm>
            <a:off x="6867144" y="1216152"/>
            <a:ext cx="1911096" cy="2148840"/>
          </a:xfrm>
          <a:prstGeom prst="roundRect">
            <a:avLst>
              <a:gd name="adj" fmla="val 2871"/>
            </a:avLst>
          </a:prstGeom>
          <a:solidFill>
            <a:srgbClr val="CADCFC"/>
          </a:solidFill>
          <a:ln w="10160">
            <a:solidFill>
              <a:srgbClr val="1E2761"/>
            </a:solidFill>
            <a:prstDash val="solid"/>
          </a:ln>
        </p:spPr>
      </p:sp>
      <p:sp>
        <p:nvSpPr>
          <p:cNvPr id="24" name="Shape 22"/>
          <p:cNvSpPr/>
          <p:nvPr/>
        </p:nvSpPr>
        <p:spPr>
          <a:xfrm>
            <a:off x="6976872" y="1335024"/>
            <a:ext cx="320040" cy="320040"/>
          </a:xfrm>
          <a:prstGeom prst="ellipse">
            <a:avLst/>
          </a:prstGeom>
          <a:solidFill>
            <a:srgbClr val="1E2761"/>
          </a:solidFill>
          <a:ln/>
        </p:spPr>
      </p:sp>
      <p:sp>
        <p:nvSpPr>
          <p:cNvPr id="25" name="Text 23"/>
          <p:cNvSpPr/>
          <p:nvPr/>
        </p:nvSpPr>
        <p:spPr>
          <a:xfrm>
            <a:off x="6976872"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6" name="Text 24"/>
          <p:cNvSpPr/>
          <p:nvPr/>
        </p:nvSpPr>
        <p:spPr>
          <a:xfrm>
            <a:off x="7397496" y="1335024"/>
            <a:ext cx="125272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Bound it too</a:t>
            </a:r>
            <a:endParaRPr lang="en-US" sz="1500" dirty="0"/>
          </a:p>
        </p:txBody>
      </p:sp>
      <p:sp>
        <p:nvSpPr>
          <p:cNvPr id="27" name="Text 25"/>
          <p:cNvSpPr/>
          <p:nvPr/>
        </p:nvSpPr>
        <p:spPr>
          <a:xfrm>
            <a:off x="7013448" y="1701165"/>
            <a:ext cx="1618488" cy="1572387"/>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termination_condition is required for the same reason Part B2's was: stop once there have been 8 assistant turns, a reasonable ceiling for three roles and up to two revision passes</a:t>
            </a:r>
            <a:endParaRPr lang="en-US" sz="1150" dirty="0"/>
          </a:p>
        </p:txBody>
      </p:sp>
      <p:sp>
        <p:nvSpPr>
          <p:cNvPr id="28" name="Shape 26"/>
          <p:cNvSpPr/>
          <p:nvPr/>
        </p:nvSpPr>
        <p:spPr>
          <a:xfrm>
            <a:off x="365760" y="4773168"/>
            <a:ext cx="8412480" cy="0"/>
          </a:xfrm>
          <a:prstGeom prst="line">
            <a:avLst/>
          </a:prstGeom>
          <a:noFill/>
          <a:ln w="6350">
            <a:solidFill>
              <a:srgbClr val="D1D5DB"/>
            </a:solidFill>
            <a:prstDash val="solid"/>
          </a:ln>
        </p:spPr>
      </p:sp>
      <p:sp>
        <p:nvSpPr>
          <p:cNvPr id="29" name="Text 27"/>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https://learn.microsoft.com/en-us/agent-framework/workflows/orchestrations/group-chat</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4 · Module 7</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Part B2 — Bound the loop</a:t>
            </a:r>
            <a:endParaRPr lang="en-US" sz="28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Part B1's gate loops whenever approved is false — for a Critic that never approves (a genuinely ungroundable question), that's forever</a:t>
            </a:r>
            <a:endParaRPr lang="en-US" sz="1600" dirty="0"/>
          </a:p>
          <a:p>
            <a:pPr marL="342900" indent="-3429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Test-driven, not authored from scratch: tests/test_guardrail.py ships failing — it IS the specification; edit RevisionGate.decide in workflow_nodes.py until all three tests pass</a:t>
            </a:r>
            <a:endParaRPr lang="en-US" sz="1600" dirty="0"/>
          </a:p>
          <a:p>
            <a:pPr marL="342900" indent="-3429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The bound: stop at MAX_REVISIONS (2 revisions), stop gracefully — a low-confidence Answer with capped=True, never an exception — and a Critic that DOES approve still short-circuits immediately</a:t>
            </a:r>
            <a:endParaRPr lang="en-US" sz="1600" dirty="0"/>
          </a:p>
          <a:p>
            <a:pPr marL="342900" indent="-3429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Not the same job as WorkflowBuilder(max_iterations=...): that's a whole-graph backstop (defaults to 100 supersteps, and simply stops with no answer); this is a domain rule that ends the run deliberately, with an answer a caller can use. Keep both.</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https://learn.microsoft.com/en-us/agent-framework/agents/looping</a:t>
            </a:r>
            <a:endParaRPr lang="en-US" sz="8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4 · Module 7</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Part C — Evaluate and compare</a:t>
            </a:r>
            <a:endParaRPr lang="en-US" sz="28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Imports one build_*_workflow() function each from part_a_sequential.py, part_b_graph.py, and part_c_group_chat.py — no new orchestration code</a:t>
            </a:r>
            <a:endParaRPr lang="en-US" sz="1600" dirty="0"/>
          </a:p>
          <a:p>
            <a:pPr marL="342900" indent="-3429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Runs the SAME golden-set slice against all three constructions: Sequential, custom graph, Group Chat</a:t>
            </a:r>
            <a:endParaRPr lang="en-US" sz="1600" dirty="0"/>
          </a:p>
          <a:p>
            <a:pPr marL="342900" indent="-3429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Reports a comparison table: pass rate (as a range across repetitions), cost per success, and total revisions — side by side for all three</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Reflect</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which approach fit best, and why — write it down, it's part of Done</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https://learn.microsoft.com/en-us/agent-framework/agents/evaluation</a:t>
            </a:r>
            <a:endParaRPr lang="en-US" sz="8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4 · Module 7</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Build one golden set, use it for Part C</a:t>
            </a:r>
            <a:endParaRPr lang="en-US" sz="25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Same discipline as Day 3 Part E, at workflow scale: real queries, expected outcomes, not synthetic passes</a:t>
            </a:r>
            <a:endParaRPr lang="en-US" sz="1600" dirty="0"/>
          </a:p>
          <a:p>
            <a:pPr marL="342900" indent="-3429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The lab's own golden set: 8 cases across 4 branches — small on purpose, since every case runs against all 3 constructions × 3 repetitions (~72 workflow runs already)</a:t>
            </a:r>
            <a:endParaRPr lang="en-US" sz="1600" dirty="0"/>
          </a:p>
          <a:p>
            <a:pPr marL="342900" indent="-3429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Cover the workflow's real branches: grounded (clean single-document lookup), revision (spans documents, needs the loop), no_retrieval (general knowledge, no tools), and partial (corpus answers half — naming the gap is correct, inventing the rest is a failure)</a:t>
            </a:r>
            <a:endParaRPr lang="en-US" sz="1600" dirty="0"/>
          </a:p>
          <a:p>
            <a:pPr marL="342900" indent="-3429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Build it once, before Part C — every construction runs against the exact same set, so the comparison means something</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https://learn.microsoft.com/en-us/agent-framework/agents/evaluation</a:t>
            </a:r>
            <a:endParaRPr lang="en-US" sz="8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4 · Module 7</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Run the trajectory evaluation</a:t>
            </a:r>
            <a:endParaRPr lang="en-US" sz="28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Task success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deterministic, local, no judge model: the answer contains what must_mention requires and cites what expected_citations requires</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Citation accuracy</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did it cite the documents the answer actually needs (and cite NOTHING on a no-retrieval question)?</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Trajectory</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the ordered tool calls against expected_actions; the same ground truth Foundry's Task Navigation Efficiency evaluator consumes when you add --foundry</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Cost per success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total tokens across every agent, divided by the cases that passed; a construction that succeeds cheaply beats one that succeeds expensively at the same pass rate</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https://learn.microsoft.com/azure/foundry/concepts/evaluation-evaluators/agent-evaluators</a:t>
            </a:r>
            <a:endParaRPr lang="en-US" sz="8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4 · Module 7</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Prerequisites</a:t>
            </a:r>
            <a:endParaRPr lang="en-US" sz="28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Day 3 lab complete</a:t>
            </a:r>
            <a:endParaRPr lang="en-US" sz="1500" dirty="0"/>
          </a:p>
        </p:txBody>
      </p:sp>
      <p:sp>
        <p:nvSpPr>
          <p:cNvPr id="7" name="Text 5"/>
          <p:cNvSpPr/>
          <p:nvPr/>
        </p:nvSpPr>
        <p:spPr>
          <a:xfrm>
            <a:off x="512064" y="1564005"/>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 working single agent with memory, streaming, structured outputs, and MCP</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Bundled reference docs</a:t>
            </a:r>
            <a:endParaRPr lang="en-US" sz="1500" dirty="0"/>
          </a:p>
        </p:txBody>
      </p:sp>
      <p:sp>
        <p:nvSpPr>
          <p:cNvPr id="10" name="Text 8"/>
          <p:cNvSpPr/>
          <p:nvPr/>
        </p:nvSpPr>
        <p:spPr>
          <a:xfrm>
            <a:off x="4818888" y="1564005"/>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included in the repo (labs/day4/python/data/docs/); nothing to provision, no live knowledge base required</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 Foundry judge model deployment</a:t>
            </a:r>
            <a:endParaRPr lang="en-US" sz="1500" dirty="0"/>
          </a:p>
        </p:txBody>
      </p:sp>
      <p:sp>
        <p:nvSpPr>
          <p:cNvPr id="13" name="Text 11"/>
          <p:cNvSpPr/>
          <p:nvPr/>
        </p:nvSpPr>
        <p:spPr>
          <a:xfrm>
            <a:off x="512064" y="3420237"/>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optional: only for evaluate.py --foundry's cloud evaluator pass; the core comparison is local and deterministic</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(Optional stretch only)</a:t>
            </a:r>
            <a:endParaRPr lang="en-US" sz="1500" dirty="0"/>
          </a:p>
        </p:txBody>
      </p:sp>
      <p:sp>
        <p:nvSpPr>
          <p:cNvPr id="16" name="Text 14"/>
          <p:cNvSpPr/>
          <p:nvPr/>
        </p:nvSpPr>
        <p:spPr>
          <a:xfrm>
            <a:off x="4818888" y="3420237"/>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Day 3's Azure DevOps MCP path, for the Ticket agent</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https://learn.microsoft.com/en-us/agent-framework/agents/evaluation</a:t>
            </a:r>
            <a:endParaRPr lang="en-US" sz="8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4 · Module 7</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Definition of done</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1188720"/>
                <a:gridCol w="7223760"/>
              </a:tblGrid>
              <a:tr h="5029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Area</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Done when</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Part A</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Both runs complete and print a trace you can read; you can explain why Run 2 ends without fixing itself</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Part B1</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The graph runs end-to-end and the Mermaid diagram shows the loop-back edge; you can point to the one line that closes the cycle</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Part B2</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All of tests/test_guardrail.py passes — required, not stretch</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Part C</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The GroupChatBuilder construction runs end-to-end with a working termination bound; you've run the 3-repetition comparison</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Reflection</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Which construction you'd actually ship, and why — committed to the repo</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Stretch</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Ticket agent files a real ADO work item when the Critic flags a gap</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https://learn.microsoft.com/en-us/agent-framework/agents/evaluation  ·  +1 in notes</a:t>
            </a:r>
            <a:endParaRPr lang="en-US" sz="8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4 · Module 7</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Takeaways</a:t>
            </a:r>
            <a:endParaRPr lang="en-US" sz="2800" dirty="0"/>
          </a:p>
        </p:txBody>
      </p:sp>
      <p:sp>
        <p:nvSpPr>
          <p:cNvPr id="5" name="Shape 3"/>
          <p:cNvSpPr/>
          <p:nvPr/>
        </p:nvSpPr>
        <p:spPr>
          <a:xfrm>
            <a:off x="502920" y="1097280"/>
            <a:ext cx="8138160" cy="585216"/>
          </a:xfrm>
          <a:prstGeom prst="roundRect">
            <a:avLst/>
          </a:prstGeom>
          <a:solidFill>
            <a:srgbClr val="F3F4F6"/>
          </a:solidFill>
          <a:ln w="6350">
            <a:solidFill>
              <a:srgbClr val="D1D5DB"/>
            </a:solidFill>
            <a:prstDash val="solid"/>
          </a:ln>
        </p:spPr>
      </p:sp>
      <p:sp>
        <p:nvSpPr>
          <p:cNvPr id="6" name="Shape 4"/>
          <p:cNvSpPr/>
          <p:nvPr/>
        </p:nvSpPr>
        <p:spPr>
          <a:xfrm>
            <a:off x="667512" y="1225296"/>
            <a:ext cx="256032" cy="256032"/>
          </a:xfrm>
          <a:prstGeom prst="ellipse">
            <a:avLst/>
          </a:prstGeom>
          <a:solidFill>
            <a:srgbClr val="1E2761"/>
          </a:solidFill>
          <a:ln/>
        </p:spPr>
      </p:sp>
      <p:sp>
        <p:nvSpPr>
          <p:cNvPr id="7" name="Text 5"/>
          <p:cNvSpPr/>
          <p:nvPr/>
        </p:nvSpPr>
        <p:spPr>
          <a:xfrm>
            <a:off x="667512" y="1252728"/>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8" name="Text 6"/>
          <p:cNvSpPr/>
          <p:nvPr/>
        </p:nvSpPr>
        <p:spPr>
          <a:xfrm>
            <a:off x="1042416" y="1207008"/>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start with the fastest correct orchestration and find its ceiling before you fix it — Part A's SequentialBuilder, then Part B1's custom graph, deliberately in that order.</a:t>
            </a:r>
            <a:endParaRPr lang="en-US" sz="1300" dirty="0"/>
          </a:p>
        </p:txBody>
      </p:sp>
      <p:sp>
        <p:nvSpPr>
          <p:cNvPr id="9" name="Shape 7"/>
          <p:cNvSpPr/>
          <p:nvPr/>
        </p:nvSpPr>
        <p:spPr>
          <a:xfrm>
            <a:off x="502920" y="1755648"/>
            <a:ext cx="8138160" cy="585216"/>
          </a:xfrm>
          <a:prstGeom prst="roundRect">
            <a:avLst/>
          </a:prstGeom>
          <a:solidFill>
            <a:srgbClr val="F3F4F6"/>
          </a:solidFill>
          <a:ln w="6350">
            <a:solidFill>
              <a:srgbClr val="D1D5DB"/>
            </a:solidFill>
            <a:prstDash val="solid"/>
          </a:ln>
        </p:spPr>
      </p:sp>
      <p:sp>
        <p:nvSpPr>
          <p:cNvPr id="10" name="Shape 8"/>
          <p:cNvSpPr/>
          <p:nvPr/>
        </p:nvSpPr>
        <p:spPr>
          <a:xfrm>
            <a:off x="667512" y="1883664"/>
            <a:ext cx="256032" cy="256032"/>
          </a:xfrm>
          <a:prstGeom prst="ellipse">
            <a:avLst/>
          </a:prstGeom>
          <a:solidFill>
            <a:srgbClr val="1E2761"/>
          </a:solidFill>
          <a:ln/>
        </p:spPr>
      </p:sp>
      <p:sp>
        <p:nvSpPr>
          <p:cNvPr id="11" name="Text 9"/>
          <p:cNvSpPr/>
          <p:nvPr/>
        </p:nvSpPr>
        <p:spPr>
          <a:xfrm>
            <a:off x="667512" y="1911096"/>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2" name="Text 10"/>
          <p:cNvSpPr/>
          <p:nvPr/>
        </p:nvSpPr>
        <p:spPr>
          <a:xfrm>
            <a:off x="1042416" y="1865376"/>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build the same three roles three different ways — Sequential, a custom graph, Group Chat — and watch the same limitation get fixed two different ways.</a:t>
            </a:r>
            <a:endParaRPr lang="en-US" sz="1300" dirty="0"/>
          </a:p>
        </p:txBody>
      </p:sp>
      <p:sp>
        <p:nvSpPr>
          <p:cNvPr id="13" name="Shape 11"/>
          <p:cNvSpPr/>
          <p:nvPr/>
        </p:nvSpPr>
        <p:spPr>
          <a:xfrm>
            <a:off x="502920" y="2414016"/>
            <a:ext cx="8138160" cy="585216"/>
          </a:xfrm>
          <a:prstGeom prst="roundRect">
            <a:avLst/>
          </a:prstGeom>
          <a:solidFill>
            <a:srgbClr val="F3F4F6"/>
          </a:solidFill>
          <a:ln w="6350">
            <a:solidFill>
              <a:srgbClr val="D1D5DB"/>
            </a:solidFill>
            <a:prstDash val="solid"/>
          </a:ln>
        </p:spPr>
      </p:sp>
      <p:sp>
        <p:nvSpPr>
          <p:cNvPr id="14" name="Shape 12"/>
          <p:cNvSpPr/>
          <p:nvPr/>
        </p:nvSpPr>
        <p:spPr>
          <a:xfrm>
            <a:off x="667512" y="2542032"/>
            <a:ext cx="256032" cy="256032"/>
          </a:xfrm>
          <a:prstGeom prst="ellipse">
            <a:avLst/>
          </a:prstGeom>
          <a:solidFill>
            <a:srgbClr val="1E2761"/>
          </a:solidFill>
          <a:ln/>
        </p:spPr>
      </p:sp>
      <p:sp>
        <p:nvSpPr>
          <p:cNvPr id="15" name="Text 13"/>
          <p:cNvSpPr/>
          <p:nvPr/>
        </p:nvSpPr>
        <p:spPr>
          <a:xfrm>
            <a:off x="667512" y="2569464"/>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042416" y="2523744"/>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build the guardrail Module 6 argued for as a test-driven spec, not an afterthought — Part B2's failing test IS the requirement, required for both loops this lab can trigger.</a:t>
            </a:r>
            <a:endParaRPr lang="en-US" sz="1300" dirty="0"/>
          </a:p>
        </p:txBody>
      </p:sp>
      <p:sp>
        <p:nvSpPr>
          <p:cNvPr id="17" name="Shape 15"/>
          <p:cNvSpPr/>
          <p:nvPr/>
        </p:nvSpPr>
        <p:spPr>
          <a:xfrm>
            <a:off x="502920" y="3072384"/>
            <a:ext cx="8138160" cy="585216"/>
          </a:xfrm>
          <a:prstGeom prst="roundRect">
            <a:avLst/>
          </a:prstGeom>
          <a:solidFill>
            <a:srgbClr val="F3F4F6"/>
          </a:solidFill>
          <a:ln w="6350">
            <a:solidFill>
              <a:srgbClr val="D1D5DB"/>
            </a:solidFill>
            <a:prstDash val="solid"/>
          </a:ln>
        </p:spPr>
      </p:sp>
      <p:sp>
        <p:nvSpPr>
          <p:cNvPr id="18" name="Shape 16"/>
          <p:cNvSpPr/>
          <p:nvPr/>
        </p:nvSpPr>
        <p:spPr>
          <a:xfrm>
            <a:off x="667512" y="3200400"/>
            <a:ext cx="256032" cy="256032"/>
          </a:xfrm>
          <a:prstGeom prst="ellipse">
            <a:avLst/>
          </a:prstGeom>
          <a:solidFill>
            <a:srgbClr val="1E2761"/>
          </a:solidFill>
          <a:ln/>
        </p:spPr>
      </p:sp>
      <p:sp>
        <p:nvSpPr>
          <p:cNvPr id="19" name="Text 17"/>
          <p:cNvSpPr/>
          <p:nvPr/>
        </p:nvSpPr>
        <p:spPr>
          <a:xfrm>
            <a:off x="667512" y="3227832"/>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042416" y="3182112"/>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measure every construction against the same golden set in one dedicated evaluation pass, so the differences you see are real, not noise.</a:t>
            </a:r>
            <a:endParaRPr lang="en-US" sz="1300" dirty="0"/>
          </a:p>
        </p:txBody>
      </p:sp>
      <p:sp>
        <p:nvSpPr>
          <p:cNvPr id="21" name="Shape 19"/>
          <p:cNvSpPr/>
          <p:nvPr/>
        </p:nvSpPr>
        <p:spPr>
          <a:xfrm>
            <a:off x="365760" y="4773168"/>
            <a:ext cx="8412480" cy="0"/>
          </a:xfrm>
          <a:prstGeom prst="line">
            <a:avLst/>
          </a:prstGeom>
          <a:noFill/>
          <a:ln w="6350">
            <a:solidFill>
              <a:srgbClr val="D1D5DB"/>
            </a:solidFill>
            <a:prstDash val="solid"/>
          </a:ln>
        </p:spPr>
      </p:sp>
      <p:sp>
        <p:nvSpPr>
          <p:cNvPr id="22" name="Text 2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https://learn.microsoft.com/en-us/agent-framework/concepts/workflows/  ·  +1 in notes</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Day 4 Lab Kickoff</dc:title>
  <dc:subject>Day 4 — Multi-Agent Patterns + Evaluation Anchor</dc:subject>
  <dc:creator>Building AI Apps and Agents Workshop</dc:creator>
  <cp:lastModifiedBy>Building AI Apps and Agents Workshop</cp:lastModifiedBy>
  <cp:revision>1</cp:revision>
  <dcterms:created xsi:type="dcterms:W3CDTF">2026-09-02T15:32:59Z</dcterms:created>
  <dcterms:modified xsi:type="dcterms:W3CDTF">2026-09-02T15:32:59Z</dcterms:modified>
</cp:coreProperties>
</file>