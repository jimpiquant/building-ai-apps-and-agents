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Five prebuilt workflow templates for common multi-agent coordination scenarios. Each removes the boilerplate of wiring agents together for one well-defined shape.
• GROUNDING SOURCE: https://learn.microsoft.com/en-us/agent-framework/workflows/orchestrations/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the framework's own "when to use it" table from the journey page, reproduced verbatim. Use it as the day's map — the rest of this module walks each row in order.
• GROUNDING SOURCE: https://learn.microsoft.com/agent-framework/journey/workflows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Ideal for document review, data pipelines, multi-stage reasoning. By default each agent sees the full prior conversation; chain_only_agent_responses=True narrows that to just the previous agent's response — useful for translation pipelines and progressive refinement. Diagram reproduced verbatim from the official Sequential orchestration Learn page.
• GROUNDING SOURCE: https://learn.microsoft.com/en-us/agent-framework/workflows/orchestrations/sequential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SequentialBuilder is the simplest orchestration builder — a flat participants list. The terminal output is the last participant's AgentResponse; intermediate_output_from surfaces earlier participants' output too.
• GROUNDING SOURCE: https://learn.microsoft.com/en-us/agent-framework/workflows/orchestrations/sequential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All agents run the same input independently and simultaneously — good for brainstorming, ensemble reasoning, voting. The superstep model (Module 3) is what actually runs them concurrently. Diagram reproduced verbatim from the official Concurrent orchestration Learn page.
• GROUNDING SOURCE: https://learn.microsoft.com/en-us/agent-framework/workflows/orchestrations/concurrent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ConcurrentBuilder is as flat as SequentialBuilder — same participants list, different edge topology (fan-out/fan-in) under the hood.
• GROUNDING SOURCE: https://learn.microsoft.com/en-us/agent-framework/workflows/orchestrations/concurrent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Placeholder marker slide — the runbook has full narration, setup, and fallback plan. Grounded in the official concurrent_agents.py sample (same researcher/marketer/legal agents and eBike prompt), adapted with a timing middleware and a sequential comparison to prove the overlap live instead of asserting it.
• GROUNDING SOURCE: https://github.com/microsoft/agent-framework/blob/main/python/samples/03-workflows/orchestrations/concurrent_agents.py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the framework's own contrast, worth dwelling on since Module 1 already covered agents-as-tools — attendees will otherwise conflate the two. Handoff has no central orchestrator; agents connect directly in a mesh so every agent shares context with every other.
• GROUNDING SOURCE: https://learn.microsoft.com/en-us/agent-framework/workflows/orchestrations/handoff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 dedicated shape slide, separate from the previous compare slide's agents-as-tools contrast — Handoff's mesh topology (every agent connects to every other, no central orchestrator) is easiest to see as a picture rather than another bullet. Diagram reproduced verbatim from the official Handoff orchestration Learn page.
• GROUNDING SOURCE: https://learn.microsoft.com/en-us/agent-framework/workflows/orchestrations/handoff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add_handoff restricts routing (by default every agent can hand off to every other); the mesh topology for context-sharing stays intact regardless — restricting handoff rules only governs who can take over next, not who sees the conversation. Interactive by default: when an agent responds without handing off, control returns to the user for the next input.
• GROUNDING SOURCE: https://learn.microsoft.com/en-us/agent-framework/workflows/orchestrations/handoff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Star topology with an orchestrator in the middle — the key contrast with Handoff's mesh, no-orchestrator design. Context Synchronization is worth stating precisely: agents do NOT share one AgentSession instance (different agent types may implement it differently); the orchestrator broadcasts each response so every agent's own session stays in sync before its next turn. Diagram reproduced verbatim from the official Group Chat orchestration Learn page.
• GROUNDING SOURCE: https://learn.microsoft.com/en-us/agent-framework/workflows/orchestrations/group-chat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"consider alternatives" list is the framework's own — reproduced verbatim rather than paraphrased, since it's a direct decision aid.
• GROUNDING SOURCE: https://learn.microsoft.com/en-us/agent-framework/workflows/orchestrations/group-chat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Same star-topology architecture as Group Chat, but the manager plans and tracks progress rather than just picking a speaker. Based on AutoGen's Magentic-One design. The docs' own caveat about untested generalization is worth stating plainly, not softening.
• GROUNDING SOURCE: https://learn.microsoft.com/en-us/agent-framework/workflows/orchestrations/magentic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Full-width, not paired with bullets — this diagram (task ledger, progress ledger, stall-count decision, replan loop) has far more detail and smaller text than the other four patterns' diagrams, and would be illegible if squeezed into the same narrow list-image column. Reproduced verbatim from the official Magentic orchestration Learn page; note its visual style (flat decision-diamond flowchart) differs from the other four patterns' hand-drawn diagrams — it comes from the Magentic-One design, not the same source illustration set.
• GROUNDING SOURCE: https://learn.microsoft.com/en-us/agent-framework/workflows/orchestrations/magentic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a genuinely useful bridge into Module 6 — Magentic ships with its own bounded-loop parameters and a stall-detection/replan mechanism, the most concrete built-in example of the guardrails Module 6 discusses generically.
• GROUNDING SOURCE: https://learn.microsoft.com/en-us/agent-framework/workflows/orchestrations/magentic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table synthesizes the mechanics from every pattern page above plus the superstep execution model (Module 3) — it is this workshop's own engineering judgment, not a verbatim framework table. Flag that explicitly if asked: cost/latency direction is reasoned from documented behavior (parallel supersteps, full-context broadcasts, bounded rounds), not a quoted benchmark.
• GROUNDING SOURCE: https://learn.microsoft.com/en-us/agent-framework/workflows/orchestrations/
• GROUNDING SOURCE: https://learn.microsoft.com/en-us/agent-framework/concepts/workflows/builder-and-execution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Ask attendees which pattern the lab's Planner/Retriever/Critic revision loop maps to. The honest answer, per Module 3: none of them directly — Sequential can't loop back, so the lab builds a custom graph. That's the bridge into Module 3.
• GROUNDING SOURCE: https://learn.microsoft.com/en-us/agent-framework/workflows/orchestrations/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2 · 40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Patterns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built-in ways to coordinate multiple agents — and when each earns its cost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Apps and Agents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4224528"/>
            <a:ext cx="841248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27024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https://learn.microsoft.com/en-us/agent-framework/workflows/orchestrations/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patterns, five shapes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78992"/>
          <a:ext cx="84124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223760"/>
              </a:tblGrid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use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execute one after another in a defined order — each builds on the previous agent's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execute in parallel — useful when tasks are independent and you want to reduce latency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transfer control to each other based on context — good for routing to specialists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Chat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collaborate in a shared conversation — useful for debate, review, or brainstorming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Magentic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manager agent dynamically coordinates specialized agents — balances structure with flexibility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https://learn.microsoft.com/agent-framework/journey/workflows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— a pipeline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4023360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run one after another; each builds on the previous agent's output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default, each agent consumes the full prior conversation (input + every response so far)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chain_only_agent_responses=True narrows this to just the previous agent's response — useful for translation pipelines and progressive refinement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Matters: agents execute strictly in the order given — there is no built-in way to route back to an earlier agent</a:t>
            </a:r>
            <a:endParaRPr lang="en-US" sz="1600" dirty="0"/>
          </a:p>
        </p:txBody>
      </p:sp>
      <p:pic>
        <p:nvPicPr>
          <p:cNvPr id="6" name="Image 0" descr="[object Object]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4959" y="1078992"/>
            <a:ext cx="2071763" cy="36301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https://learn.microsoft.com/en-us/agent-framework/workflows/orchestrations/sequential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in code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1719072"/>
          </a:xfrm>
          <a:prstGeom prst="rect">
            <a:avLst/>
          </a:prstGeom>
          <a:solidFill>
            <a:srgbClr val="1D1E22"/>
          </a:solidFill>
          <a:ln w="9525">
            <a:solidFill>
              <a:srgbClr val="2A2B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81381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agent_framework.orchestrations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SequentialBuilder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= SequentialBuilder(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participants=[drafter, editor, finalizer]).build()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workflow.run(</a:t>
            </a:r>
            <a:pPr indent="0" marL="0">
              <a:buNone/>
            </a:pPr>
            <a:r>
              <a:rPr lang="en-US" sz="95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"Write a brief introduction to artificial intelligence."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4131818"/>
            <a:ext cx="8412480" cy="577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terminal output is the last participant's response; pass intermediate_output_from=[...] to also surface earlier agents' output as observational events.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https://learn.microsoft.com/en-us/agent-framework/workflows/orchestrations/sequential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— parallel perspectives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4023360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processes the same input independently, at the same time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suited to diverse perspectives: brainstorming, ensemble reasoning, voting systems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aggregator returns one AgentResponse with one assistant message per participant — no synthesis, just collection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the aggregator when you need domain-specific synthesis of the parallel results</a:t>
            </a:r>
            <a:endParaRPr lang="en-US" sz="1600" dirty="0"/>
          </a:p>
        </p:txBody>
      </p:sp>
      <p:pic>
        <p:nvPicPr>
          <p:cNvPr id="6" name="Image 0" descr="[object Object]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606982"/>
            <a:ext cx="4114800" cy="25741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https://learn.microsoft.com/en-us/agent-framework/workflows/orchestrations/concurrent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in code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1929384"/>
          </a:xfrm>
          <a:prstGeom prst="rect">
            <a:avLst/>
          </a:prstGeom>
          <a:solidFill>
            <a:srgbClr val="1D1E22"/>
          </a:solidFill>
          <a:ln w="9525">
            <a:solidFill>
              <a:srgbClr val="2A2B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81381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agent_framework.orchestrations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ConcurrentBuilder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= ConcurrentBuilder(participants=[researcher, marketer, legal]).build()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 = (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workflow.run(</a:t>
            </a:r>
            <a:pPr indent="0" marL="0">
              <a:buNone/>
            </a:pPr>
            <a:r>
              <a:rPr lang="en-US" sz="95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"Launch plan for a budget electric bike."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)).get_outputs()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msg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outputs[0].messages: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</a:t>
            </a:r>
            <a:pPr indent="0" marL="0">
              <a:buNone/>
            </a:pPr>
            <a:r>
              <a:rPr lang="en-US" sz="95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f"[{msg.author_name}]: {msg.text}"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https://learn.microsoft.com/en-us/agent-framework/workflows/orchestrations/concurrent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AD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2 ·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8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ConcurrentBuilder proves it, wall-clock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0" y="1051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previous slide's code prints three agents' responses one after another, which LOOKS sequential on the page. This demo times it for real: a small AgentMiddleware timestamps each agent's start/finish under ConcurrentBuilder and draws an ASCII overlap timeline, then the SAME three agents run again with plain sequential await agent.run(...) calls. Concurrent's total wall-clock lands close to one agent's own time; sequential lands close to the sum of all three — that gap is the proof.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Runbook: demos/day4/module-2-demo-1-concurrent-parallelism.md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https://github.com/microsoft/agent-framework/blob/main/python/samples/03-workflows/orchestrations/concurrent_agents.py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— control transfers, not delegation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14800" cy="3493008"/>
          </a:xfrm>
          <a:prstGeom prst="roundRect">
            <a:avLst/>
          </a:prstGeom>
          <a:solidFill>
            <a:srgbClr val="F3F4F6"/>
          </a:solidFill>
          <a:ln w="1143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as tools (Module 1 recap)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as tools (Module 1 recap)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agent keeps ownership; delegates a subtask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returns to the outer agent when the inner agent finishes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78992"/>
            <a:ext cx="4114800" cy="3493008"/>
          </a:xfrm>
          <a:prstGeom prst="roundRect">
            <a:avLst/>
          </a:prstGeom>
          <a:solidFill>
            <a:srgbClr val="CADCFC"/>
          </a:solidFill>
          <a:ln w="1143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9204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receiving agent takes full ownership of the task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orchestrator — agents connect directly in a mesh topology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customer support, expert systems, dynamic routing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https://learn.microsoft.com/en-us/agent-framework/workflows/orchestrations/handoff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— a mesh, not a hierarchy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4023360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connect directly to each other — a mesh, not a star with a middle orchestrator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agent can hand the conversation fully to another agent it's configured to reach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conversation history travels with the handoff — the receiving agent has complete context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by default: control returns to the user whenever an agent responds without handing off</a:t>
            </a:r>
            <a:endParaRPr lang="en-US" sz="1600" dirty="0"/>
          </a:p>
        </p:txBody>
      </p:sp>
      <p:pic>
        <p:nvPicPr>
          <p:cNvPr id="6" name="Image 0" descr="[object Object]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705271"/>
            <a:ext cx="4114800" cy="237761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https://learn.microsoft.com/en-us/agent-framework/workflows/orchestrations/handoff</a:t>
            </a:r>
            <a:endParaRPr lang="en-US" sz="8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in code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2888234"/>
          </a:xfrm>
          <a:prstGeom prst="rect">
            <a:avLst/>
          </a:prstGeom>
          <a:solidFill>
            <a:srgbClr val="1D1E22"/>
          </a:solidFill>
          <a:ln w="9525">
            <a:solidFill>
              <a:srgbClr val="2A2B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8138160" cy="270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agent_framework.orchestrations </a:t>
            </a:r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HandoffBuilder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= (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HandoffBuilder(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name=</a:t>
            </a:r>
            <a:pPr indent="0" marL="0">
              <a:buNone/>
            </a:pPr>
            <a:r>
              <a:rPr lang="en-US" sz="128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"customer_support"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participants=[triage_agent, refund_agent, order_agent, return_agent],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.with_start_agent(triage_agent)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.add_handoff(triage_agent, [order_agent, return_agent])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.add_handoff(return_agent, [refund_agent])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.build()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365760" y="4131818"/>
            <a:ext cx="8412480" cy="577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is interactive by default — when an agent responds without handing off, control returns to the user for the next input.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https://learn.microsoft.com/en-us/agent-framework/workflows/orchestrations/handoff</a:t>
            </a:r>
            <a:endParaRPr lang="en-US" sz="8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Chat — a coordinated conversation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4023360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topology: an orchestrator in the middle selects who speaks next (round-robin, prompt-based, or custom logic)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review and build on each other's responses across multiple rounds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Synchronization: agents do NOT share one AgentSession instance — the orchestrator broadcasts each response so every agent's own session stays current before its next turn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by a maximum round/iteration count</a:t>
            </a:r>
            <a:endParaRPr lang="en-US" sz="1600" dirty="0"/>
          </a:p>
        </p:txBody>
      </p:sp>
      <p:pic>
        <p:nvPicPr>
          <p:cNvPr id="6" name="Image 0" descr="[object Object]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788529"/>
            <a:ext cx="4114800" cy="221109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https://learn.microsoft.com/en-us/agent-framework/workflows/orchestrations/group-chat</a:t>
            </a:r>
            <a:endParaRPr lang="en-US" sz="8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Group Chat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14800" cy="3493008"/>
          </a:xfrm>
          <a:prstGeom prst="roundRect">
            <a:avLst/>
          </a:prstGeom>
          <a:solidFill>
            <a:srgbClr val="F3F4F6"/>
          </a:solidFill>
          <a:ln w="1143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refinement across multiple rounds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problem-solving, multi-perspective analysis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Writer-reviewer content creation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78992"/>
            <a:ext cx="4114800" cy="3493008"/>
          </a:xfrm>
          <a:prstGeom prst="roundRect">
            <a:avLst/>
          </a:prstGeom>
          <a:solidFill>
            <a:srgbClr val="CADCFC"/>
          </a:solidFill>
          <a:ln w="1143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an alternative when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9204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strict sequential processing → Sequential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should work fully independently → Concurrent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direct agent-to-agent handoffs → Handoff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complex dynamic planning → Magentic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https://learn.microsoft.com/en-us/agent-framework/workflows/orchestrations/group-chat</a:t>
            </a:r>
            <a:endParaRPr lang="en-US" sz="8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Magentic — a planning manager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7955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star-topology architecture as Group Chat, with a more powerful, planning-based manager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AutoGen's Magentic-One design; well suited to open-ended tasks where the solution path isn't known in advance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Framework's own caveat: *"it is untested how well the Magentic orchestration will perform outside of the original Magentic-One design"*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scenario doesn't need complex planning, the docs themselves recommend Group Chat instead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https://learn.microsoft.com/en-us/agent-framework/workflows/orchestrations/magentic</a:t>
            </a:r>
            <a:endParaRPr lang="en-US" sz="8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Magentic — task and progress ledgers</a:t>
            </a:r>
            <a:endParaRPr lang="en-US" sz="2500" dirty="0"/>
          </a:p>
        </p:txBody>
      </p:sp>
      <p:pic>
        <p:nvPicPr>
          <p:cNvPr id="5" name="Image 0" descr="[object Object]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0804" y="1078992"/>
            <a:ext cx="5502391" cy="36301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https://learn.microsoft.com/en-us/agent-framework/workflows/orchestrations/magentic</a:t>
            </a:r>
            <a:endParaRPr lang="en-US" sz="8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Magentic's built-in guardrails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2350008"/>
          </a:xfrm>
          <a:prstGeom prst="rect">
            <a:avLst/>
          </a:prstGeom>
          <a:solidFill>
            <a:srgbClr val="1D1E22"/>
          </a:solidFill>
          <a:ln w="9525">
            <a:solidFill>
              <a:srgbClr val="2A2B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813816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agent_framework.orchestrations </a:t>
            </a:r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MagenticBuilder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= MagenticBuilder(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participants=[researcher_agent, coder_agent],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manager_agent=manager_agent,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max_round_count=10,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max_stall_count=3,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max_reset_count=2,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).build()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365760" y="3719068"/>
            <a:ext cx="8412480" cy="990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progress ledger tracks whether the team is making progress; consecutive non-progressing rounds increment a stall counter, and exceeding max_stall_count triggers an automatic reset and replan (up to max_reset_count times) — a concrete, built-in instance of the guardrail pattern Module 6 covers generically.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https://learn.microsoft.com/en-us/agent-framework/workflows/orchestrations/magentic</a:t>
            </a:r>
            <a:endParaRPr lang="en-US" sz="8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Strengths, weaknesses, and cost profile</a:t>
            </a:r>
            <a:endParaRPr lang="en-US" sz="2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78992"/>
          <a:ext cx="84124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095442"/>
                <a:gridCol w="5128318"/>
              </a:tblGrid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cost driver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fixed order every 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every agent's tokens; grows if full context is chained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all agents always 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every agent's tokens, but latency is the slowest agent, not the sum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— path depends on the conversation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Scales with how many handoffs actually occur; hard to predict up front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Chat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— bounded by max rounds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Grows with round count; every round re-broadcasts full context to every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Magentic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— planning can replan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and least predictable; planning/replanning adds overhead beyond the specialist 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https://learn.microsoft.com/en-us/agent-framework/workflows/orchestrations/  ·  +1 in notes</a:t>
            </a:r>
            <a:endParaRPr lang="en-US" sz="8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225296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25272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" y="120700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pick a pattern by asking who controls the next step and whether the path is fixed or dynamic.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755648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1883664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191109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42416" y="186537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and Concurrent are predictable and cheap to reason about; Handoff, Group Chat, and Magentic trade predictability for flexibility.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414016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" y="2542032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2569464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42416" y="252374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cannot loop back to an earlier agent — that gap is exactly what Module 3's custom workflow graphs are for.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072384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" y="3200400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" y="3227832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318211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Magentic's max_round_count/max_stall_count/max_reset_count are a real, shipped example of the guardrails Module 6 covers next.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https://learn.microsoft.com/en-us/agent-framework/workflows/orchestrations/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Building AI Apps and Agents Workshop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Orchestration Patterns</dc:title>
  <dc:subject>Day 4 — Multi-Agent Patterns + Evaluation Anchor</dc:subject>
  <dc:creator>Building AI Apps and Agents Workshop</dc:creator>
  <cp:lastModifiedBy>Building AI Apps and Agents Workshop</cp:lastModifiedBy>
  <cp:revision>1</cp:revision>
  <dcterms:created xsi:type="dcterms:W3CDTF">2026-09-02T15:32:59Z</dcterms:created>
  <dcterms:modified xsi:type="dcterms:W3CDTF">2026-09-02T15:32:59Z</dcterms:modified>
</cp:coreProperties>
</file>