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module teaches the graph API (WorkflowBuilder) that every orchestration pattern from Module 2 is built on top of, plus human-in-the-loop and checkpointing. Module 2's patterns are templates; this module is what you reach for when no template fits — exactly the lab's Planner/Retriever/Critic revision loop.
• GROUNDING SOURCE: https://learn.microsoft.com/en-us/agent-framework/concepts/workflows/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An executor can be custom logic or an agent — Module 1's "workflow with agent executors" row on the intelligence spectrum. Handlers are type-annotated; the workflow validates the graph against those declared types.
• GROUNDING SOURCE: https://learn.microsoft.com/en-us/agent-framework/concepts/workflows/executors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framework's own minimal example. @handler methods must be type-annotated; the annotation on ctx (WorkflowContext[str]) declares the output type this handler can send.
• GROUNDING SOURCE: https://learn.microsoft.com/en-us/agent-framework/concepts/workflows/executors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framework's own edge-type table. Conditional edges are the mechanic that matters most today — they're the only way to route a message back to an earlier executor, which none of Module 2's prebuilt patterns support.
• GROUNDING SOURCE: https://learn.microsoft.com/en-us/agent-framework/concepts/workflows/edges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exact mechanic a custom revision loop (like the lab's Critic to Planner) is built from — a conditional edge back to an earlier executor. No prebuilt orchestration pattern from Module 2 supports this; Sequential is strictly forward-only.
• GROUNDING SOURCE: https://learn.microsoft.com/en-us/agent-framework/concepts/workflows/edges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genuinely good live-demo moment for the lab's own Planner/Retriever/Critic graph — render it and show the room, including the conditional loop-back edge. No extra dependency for the text formats (Mermaid, DOT); pip install graphviz only for image export.
• GROUNDING SOURCE: https://learn.microsoft.com/en-us/agent-framework/workflows/visualization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modified Pregel model (Bulk Synchronous Parallel). This is why Concurrent's parallel agents actually run at the same time, and why checkpoints are reliable — they only need to capture state at these well-defined boundaries.
• GROUNDING SOURCE: https://learn.microsoft.com/en-us/agent-framework/concepts/workflows/builder-and-execution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concrete guarantees the BSP model buys you. The fan-out caveat is worth stating: a long-running branch blocks the whole superstep from advancing, even if a parallel branch finished quickly — consolidate sequential steps into one executor if you need truly independent timing.
• GROUNDING SOURCE: https://learn.microsoft.com/en-us/agent-framework/concepts/workflows/builder-and-execution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workflow event uses a unified WorkflowEvent class with a type discriminator in Python. request_info is the human-in-the-loop hook covered next. Custom events (WorkflowEvent(type=..., data=...)) let executors emit domain-specific signals.
• GROUNDING SOURCE: https://learn.microsoft.com/en-us/agent-framework/concepts/workflows/events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Distinct from the WorkflowEvent stream on the previous slide — this is OpenTelemetry span-based tracing (workflow.build, workflow.run, executor.process, edge_group.process, message.send) for external tools like Aspire Dashboard or Application Insights, not something you consume programmatically in your own workflow code. edge_group.delivery_status is the practical payoff for today's lab: it tells you exactly why a message didn't arrive — including a conditional edge whose condition evaluated false.
• GROUNDING SOURCE: https://learn.microsoft.com/en-us/agent-framework/workflows/observability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mechanism Module 4 builds its "per-agent vs. shared memory" content on top of. State isolation matters: reusing one workflow-builder/executor instance across unrelated runs leaks state between them — wrap construction in a helper function so each run gets fresh instances.
• GROUNDING SOURCE: https://learn.microsoft.com/en-us/agent-framework/concepts/workflows/state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ctx.request_info() pauses the workflow and emits a request_info event; the framework routes the eventual response back to the same executor's @response_handler automatically, matched by request/response type annotations.
• GROUNDING SOURCE: https://learn.microsoft.com/en-us/agent-framework/workflows/human-in-the-loop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multi-agent-workflow version of Day 3's single-agent approval_mode — same underlying request/response mechanism, now surfacing through a workflow's event stream instead of a single agent.run() loop.
• GROUNDING SOURCE: https://learn.microsoft.com/en-us/agent-framework/workflows/human-in-the-loop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Created at the end of every superstep — this is exactly why the superstep model matters. A checkpoint captures everything needed to resume, including in-flight human-in-the-loop requests.
• GROUNDING SOURCE: https://learn.microsoft.com/en-us/agent-framework/workflows/checkpoints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Flag the version-specific behavior clearly since it changes what "replayable" means in earlier Python releases — worth a note if attendees are on an older version.
• GROUNDING SOURCE: https://learn.microsoft.com/en-us/agent-framework/workflows/checkpoints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Per this workshop's decision: teach WorkflowBuilder as primary; mention the functional API honestly, including its experimental status, and flag it as worth revisiting once it's no longer experimental. Do not build the lab on it.
• GROUNDING SOURCE: https://learn.microsoft.com/en-us/agent-framework/concepts/workflows/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Flag this the same way Day 3 flagged Agent Hooks — real, documented, and deliberately out of scope for a code-first week. Mention only; do not teach YAML syntax or build any lab content on it.
• GROUNDING SOURCE: https://learn.microsoft.com/en-us/agent-framework/workflows/declarative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attendees to name the two building blocks a Critic-to-Planner revision loop needs. Answer: a conditional edge (this module) plus a counter in workflow state (also this module) — no prebuilt orchestration pattern from Module 2 supports the loop-back directly.
• GROUNDING SOURCE: https://learn.microsoft.com/en-us/agent-framework/concepts/workflows/
• GROUNDING SOURCE: https://learn.microsoft.com/en-us/agent-framework/workflows/human-in-the-loop
• GROUNDING SOURCE: https://learn.microsoft.com/en-us/agent-framework/workflows/checkpoints
• GROUNDING SOURCE: https://learn.microsoft.com/en-us/agent-framework/workflows/visualization
• GROUNDING SOURCE: https://learn.microsoft.com/en-us/agent-framework/workflows/observability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 · 55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Workflows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Executors, edges, events, and state — the graph primitives everything else builds 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Executors: the processing units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 receive typed messages, do work, and produce output messages or events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kinds: custom logic components, or AI agents (Module 1's "workflow with agent executors")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handler's type annotations declare what it can send and yield — the workflow validates the graph against these at build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WorkflowContext.send_message(...) forwards to connected executors; ctx.yield_output(...) produces a workflow output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https://learn.microsoft.com/en-us/agent-framework/concepts/workflows/executors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executor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719072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Executor, WorkflowContext, handler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UpperCase(Executor):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@handler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to_upper_case(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text: str, ctx: WorkflowContext[str]) -&gt;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ctx.send_message(text.upper())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https://learn.microsoft.com/en-us/agent-framework/concepts/workflows/executors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how messages flow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2311121"/>
                <a:gridCol w="3882683"/>
                <a:gridCol w="2218676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one-to-one 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pipelines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based on a condition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routing (if/else)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Switch-Case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Routes to different executors by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Multi-branch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Multi-Selection (Fan-out)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executor sends to multiple targets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executors send to one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https://learn.microsoft.com/en-us/agent-framework/concepts/workflows/edges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in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929384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= WorkflowBuilder(start_executor=planner)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builder.add_edge(planner, retriever)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builder.add_edge(retriever, critic)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back to the planner when the critic isn't satisfied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builder.add_edge(critic, planner, condition=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result: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result.approved)</a:t>
            </a:r>
            <a:endParaRPr lang="en-US" sz="1280" dirty="0"/>
          </a:p>
          <a:p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...and a separate edge to wherever the workflow's approved path continues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338193"/>
            <a:ext cx="8412480" cy="370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mechanic behind any revision loop a prebuilt orchestration pattern can't express.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https://learn.microsoft.com/en-us/agent-framework/concepts/workflows/edges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graph you just built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1929384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pPr indent="0" marL="0">
              <a:buNone/>
            </a:pPr>
            <a:r>
              <a:rPr lang="en-US" sz="128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WorkflowViz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 = WorkflowViz(workflow)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print(viz.to_mermaid())   </a:t>
            </a:r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paste into any Mermaid renderer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print(viz.to_digraph())   </a:t>
            </a:r>
            <a:pPr indent="0" marL="0">
              <a:buNone/>
            </a:pPr>
            <a:r>
              <a:rPr lang="en-US" sz="128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Graphviz DOT format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viz.save_svg(</a:t>
            </a:r>
            <a:pPr indent="0" marL="0">
              <a:buNone/>
            </a:pPr>
            <a:r>
              <a:rPr lang="en-US" sz="128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"workflow.svg"</a:t>
            </a:r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365760" y="4131818"/>
            <a:ext cx="8412480" cy="5773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render as dashed arrows labeled "conditional" — the lab's Critic → Planner loop-back is visually obvious, not just implied by the code.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https://learn.microsoft.com/en-us/agent-framework/workflows/visualization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superstep execution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all pending messages from the previous superstep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35808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1" name="Shape 9"/>
          <p:cNvSpPr/>
          <p:nvPr/>
        </p:nvSpPr>
        <p:spPr>
          <a:xfrm>
            <a:off x="3255264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4992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01568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messages to target executors based on edges and conditions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25312" y="18928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2161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3350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13853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3350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target executors concurrently within this superstep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F3F4F6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96112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2064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every executor to finish (a barrier) before advancing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35808" y="3721608"/>
            <a:ext cx="164592" cy="219456"/>
          </a:xfrm>
          <a:prstGeom prst="chevron">
            <a:avLst/>
          </a:prstGeom>
          <a:solidFill>
            <a:srgbClr val="E8A87C"/>
          </a:solidFill>
          <a:ln/>
        </p:spPr>
      </p:sp>
      <p:sp>
        <p:nvSpPr>
          <p:cNvPr id="28" name="Shape 26"/>
          <p:cNvSpPr/>
          <p:nvPr/>
        </p:nvSpPr>
        <p:spPr>
          <a:xfrm>
            <a:off x="3255264" y="3044952"/>
            <a:ext cx="2633472" cy="1572768"/>
          </a:xfrm>
          <a:prstGeom prst="roundRect">
            <a:avLst>
              <a:gd name="adj" fmla="val 3488"/>
            </a:avLst>
          </a:prstGeom>
          <a:solidFill>
            <a:srgbClr val="CADCFC"/>
          </a:solidFill>
          <a:ln w="10160">
            <a:solidFill>
              <a:srgbClr val="1E27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4992" y="316382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32141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85616" y="3163824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401568" y="3547872"/>
            <a:ext cx="23408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messages emitted this superstep wait for the next one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https://learn.microsoft.com/en-us/agent-framework/concepts/workflows/builder-and-execution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supersteps matter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execution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same input always executes in the same order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checkpointing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state can be saved at superstep boundaries with no ambiguity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reasoning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 race conditions between supersteps; every executor sees a consistent view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the barrier means one slow executor blocks the whole superstep — consolidate sequential logic into one executor if independent branches need independent timing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https://learn.microsoft.com/en-us/agent-framework/concepts/workflows/builder-and-execution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give you observability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3891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/ intermediate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vs. observational workflow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executor_invoked / executor_completed / executor_failed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Per-executor lifecycle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superstep_started / superstep_completed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Superstep boundaries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request_info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executor is requesting external input (human-in-the-loop)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https://learn.microsoft.com/en-us/agent-framework/concepts/workflows/events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with edge delivery status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2996226"/>
                <a:gridCol w="5416254"/>
              </a:tblGrid>
              <a:tr h="543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edge_group.delivery_status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3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reached the target executor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condition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conditional edge's condition evaluated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3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type mismatch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executor can't handle this message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3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Waiting on more messages to arrive for a fan-in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925443"/>
            <a:ext cx="8412480" cy="78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decision in the graph — including the lab's own Critic → Planner condition — shows up here, on a span you can inspect with the same OpenTelemetry tooling from Day 3's observability content.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https://learn.microsoft.com/en-us/agent-framework/workflows/observability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per-executor by default, shared on request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ctx.set_state(key, value) / ctx.get_state(key) — private to the writing executor by default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consistent key (or shared scope) across executors to exchange state that isn't a direct message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are visible to the writer immediately; other executors see them starting the next superstep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risk: reusing one workflow/executor instance across unrelated runs leaks state between them — build fresh instances per run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https://learn.microsoft.com/en-us/agent-framework/concepts/workflows/state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request and response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ctx.request_info(request_data=..., response_type=...) pauses the workflow and emits a request_info event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the response with a @response_handler method — the framework matches responses to handlers by type annotation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mechanism a human reviewer, an approval system, or any external system plugs into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request/response channel — different payload — is how tool approval works inside a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https://learn.microsoft.com/en-us/agent-framework/workflows/human-in-the-loop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approval reuses the same channel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350008"/>
          </a:xfrm>
          <a:prstGeom prst="rect">
            <a:avLst/>
          </a:prstGeom>
          <a:solidFill>
            <a:srgbClr val="1D1E22"/>
          </a:solidFill>
          <a:ln w="9525">
            <a:solidFill>
              <a:srgbClr val="2A2B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81381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(approval_mode=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"always_require"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execute_database_query(query: str) -&gt; str: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f"Query executed successfully: {query}"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workflow pauses and emits a request_info event carrying a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function_approval_request payload when the agent tries to call 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event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stream: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event.type ==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"request_info"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event.data.type == </a:t>
            </a:r>
            <a:pPr indent="0" marL="0">
              <a:buNone/>
            </a:pPr>
            <a:r>
              <a:rPr lang="en-US" sz="950" dirty="0">
                <a:solidFill>
                  <a:srgbClr val="E4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"function_approval_request"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responses[event.request_id] = event.data.to_function_approval_response(approved=</a:t>
            </a:r>
            <a:pPr indent="0" marL="0">
              <a:buNone/>
            </a:pPr>
            <a:r>
              <a:rPr lang="en-US" sz="950" dirty="0">
                <a:solidFill>
                  <a:srgbClr val="A996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https://learn.microsoft.com/en-us/agent-framework/workflows/human-in-the-loop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Checkpoints: save and resume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 is created at the end of every superstep, after all its executors finish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Captures: executor state, pending messages for the next superstep, pending requests and responses, and shared state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human-in-the-loop requests are re-emitted as request_info events when you restore — you never lose an outstanding approval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long-running workflows, pause/resume across process restarts, audit/compliance snapshots, migrating a run across environments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https://learn.microsoft.com/en-us/agent-framework/workflows/checkpoints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Replay: Python 1.13+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workflows (1.13.0+) also create an entry checkpoint before the first superstep, recording the original input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entry checkpoint is created when responses to a request_info event are delivered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make a complete workflow run replayable from the start — not just resumable from the last superstep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https://learn.microsoft.com/en-us/agent-framework/workflows/checkpoints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functional API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WorkflowBuilder (today's focus)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edges and conditions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graphs, fan-out/fan-in, type-validated routing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Python, C#, and Go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@workflow — Python only, EXPERIMENTAL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Python control flow: if, while, asyncio.gather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simplify a custom revision loop to a plain while — worth revisiting once it's no longer experimental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for today's lab while it remains experimental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alternative: declarative workflows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(today's focus)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WorkflowBuilder in Python, C#, or Go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flexibility; integrates directly with existing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today's lab is built 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— OUT OF SCOPE THIS WEEK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graph in YAML instead of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Docs' own guidance: prefer it for standard patterns, frequently-changing workflows, or non-developer maintainers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and documented — just not this workshop's focus, since the week is code-first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https://learn.microsoft.com/en-us/agent-framework/workflows/declarative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5626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executors from typed message handlers, and connect them with direct, conditional, switch-case, or fan-in/fan-out edges.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26692"/>
            <a:ext cx="8138160" cy="55626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547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882140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36420"/>
            <a:ext cx="73152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are what a revision loop needs — no prebuilt orchestration pattern supports routing back to an earlier agent.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356104"/>
            <a:ext cx="8138160" cy="55626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48412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1155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465832"/>
            <a:ext cx="73152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superstep (Pregel/BSP) model is why parallel execution is real, checkpointing is reliable, and execution is deterministic.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985516"/>
            <a:ext cx="8138160" cy="55626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1135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1409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095244"/>
            <a:ext cx="73152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and tool approval share one request/response mechanism; checkpoints preserve pending requests across a restore.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3614928"/>
            <a:ext cx="8138160" cy="55626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74294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77037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" y="3724656"/>
            <a:ext cx="73152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render any graph you build with WorkflowViz, and diagnose a silent edge with edge_group.delivery_status — both work on the lab's own conditional edge.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244340"/>
            <a:ext cx="8138160" cy="556260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437235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39978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" y="4354068"/>
            <a:ext cx="7315200" cy="373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WorkflowBuilder is today's tool; the functional @workflow API and declarative YAML workflows are both real alternatives worth a second look outside this week's scope.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https://learn.microsoft.com/en-us/agent-framework/concepts/workflows/  ·  +4 in notes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 Workflows</dc:title>
  <dc:subject>Day 4 — Multi-Agent Patterns + Evaluation Anchor</dc:subject>
  <dc:creator>Building AI Apps and Agents Workshop</dc:creator>
  <cp:lastModifiedBy>Building AI Apps and Agents Workshop</cp:lastModifiedBy>
  <cp:revision>1</cp:revision>
  <dcterms:created xsi:type="dcterms:W3CDTF">2026-08-31T15:43:25Z</dcterms:created>
  <dcterms:modified xsi:type="dcterms:W3CDTF">2026-08-31T15:43:25Z</dcterms:modified>
</cp:coreProperties>
</file>