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This module teaches the graph API (WorkflowBuilder) that every orchestration pattern from Module 2 is built on top of, plus human-in-the-loop and checkpointing. Module 2's patterns are templates; this module is what you reach for when no template fits — exactly the lab's Planner/Retriever/Critic revision loop.
• GROUNDING SOURCE: https://learn.microsoft.com/en-us/agent-framework/concepts/workflows/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An executor can be custom logic or an agent — Module 1's "workflow with agent executors" row on the intelligence spectrum. Handlers are type-annotated; the workflow validates the graph against those declared types.
• GROUNDING SOURCE: https://learn.microsoft.com/en-us/agent-framework/concepts/workflows/executors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This is the framework's own minimal example. @handler methods must be type-annotated; the annotation on ctx (WorkflowContext[str]) declares the output type this handler can send.
• GROUNDING SOURCE: https://learn.microsoft.com/en-us/agent-framework/concepts/workflows/executors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This is the framework's own edge-type table. Conditional edges are the mechanic that matters most today — they're the only way to route a message back to an earlier executor, which none of Module 2's prebuilt patterns support.
• GROUNDING SOURCE: https://learn.microsoft.com/en-us/agent-framework/concepts/workflows/edges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This is the exact mechanic a custom revision loop (like the lab's Critic to Planner) is built from — a conditional edge back to an earlier executor. No prebuilt orchestration pattern from Module 2 supports this; Sequential is strictly forward-only.
• GROUNDING SOURCE: https://learn.microsoft.com/en-us/agent-framework/concepts/workflows/edges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A genuinely good live-demo moment for the lab's own Planner/Retriever/Critic graph — render it and show the room, including the conditional loop-back edge. No extra dependency for the text formats (Mermaid, DOT); pip install graphviz only for image export.
• GROUNDING SOURCE: https://learn.microsoft.com/en-us/agent-framework/workflows/visualization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Placeholder marker slide — the runbook has full narration, setup, and fallback plan. Graph-building code is copied (not imported) from labs/day4/python/solutions/part_b_graph.py, the worked answer to this afternoon's Part B1 exercise, with the Part B2 guardrail fix already applied so the optional live run is safe.
• GROUNDING SOURCE: https://learn.microsoft.com/en-us/agent-framework/workflows/visualization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A modified Pregel model (Bulk Synchronous Parallel). This is why Concurrent's parallel agents actually run at the same time, and why checkpoints are reliable — they only need to capture state at these well-defined boundaries.
• GROUNDING SOURCE: https://learn.microsoft.com/en-us/agent-framework/concepts/workflows/builder-and-execution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Three concrete guarantees the BSP model buys you. The fan-out caveat is worth stating: a long-running branch blocks the whole superstep from advancing, even if a parallel branch finished quickly — consolidate sequential steps into one executor if you need truly independent timing.
• GROUNDING SOURCE: https://learn.microsoft.com/en-us/agent-framework/concepts/workflows/builder-and-execution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Every workflow event uses a unified WorkflowEvent class with a type discriminator in Python. request_info is the human-in-the-loop hook covered next. Custom events (WorkflowEvent(type=..., data=...)) let executors emit domain-specific signals.
• GROUNDING SOURCE: https://learn.microsoft.com/en-us/agent-framework/concepts/workflows/events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Distinct from the WorkflowEvent stream on the previous slide — this is OpenTelemetry span-based tracing (workflow.build, workflow.run, executor.process, edge_group.process, message.send) for external tools like Aspire Dashboard or Application Insights, not something you consume programmatically in your own workflow code. edge_group.delivery_status is the practical payoff for today's lab: it tells you exactly why a message didn't arrive — including a conditional edge whose condition evaluated false.
• GROUNDING SOURCE: https://learn.microsoft.com/en-us/agent-framework/workflows/observability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This is the mechanism Module 4 builds its "per-agent vs. shared memory" content on top of. State isolation matters: reusing one workflow-builder/executor instance across unrelated runs leaks state between them — wrap construction in a helper function so each run gets fresh instances.
• GROUNDING SOURCE: https://learn.microsoft.com/en-us/agent-framework/concepts/workflows/state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ctx.request_info() pauses the workflow and emits a request_info event; the framework routes the eventual response back to the same executor's @response_handler automatically, matched by request/response type annotations.
• GROUNDING SOURCE: https://learn.microsoft.com/en-us/agent-framework/workflows/human-in-the-loop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This is the multi-agent-workflow version of Day 3's single-agent approval_mode — same underlying request/response mechanism, now surfacing through a workflow's event stream instead of a single agent.run() loop.
• GROUNDING SOURCE: https://learn.microsoft.com/en-us/agent-framework/workflows/human-in-the-loop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Created at the end of every superstep — this is exactly why the superstep model matters. A checkpoint captures everything needed to resume, including in-flight human-in-the-loop requests.
• GROUNDING SOURCE: https://learn.microsoft.com/en-us/agent-framework/workflows/checkpoints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Per this workshop's decision: teach WorkflowBuilder as primary; mention the functional API honestly, including its experimental status, and flag it as worth revisiting once it's no longer experimental. Do not build the lab on it.
• GROUNDING SOURCE: https://learn.microsoft.com/en-us/agent-framework/concepts/workflows/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Supersedes this deck's earlier one-slide "mention only, out of scope" stub — the workshop now teaches this content directly rather than just flagging its existence, matching the doc's own Overview section (key-benefit labels are verbatim). Still not built into today's lab, which stays WorkflowBuilder-based.
• GROUNDING SOURCE: https://learn.microsoft.com/en-us/agent-framework/workflows/declarative?pivots=programming-language-python#overview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Verbatim table from the doc. Today's lab sits squarely in the Programmatic column ("integration with existing Python code," "complex custom logic") — worth naming explicitly when this table is on screen.
• GROUNDING SOURCE: https://learn.microsoft.com/en-us/agent-framework/workflows/declarative?pivots=programming-language-python#when-to-use-declarative-vs-programmatic-workflows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Verbatim skeleton from the doc's Python zone. The doc's own follow-on Structure Elements table (name/description/inputs/actions, required or not) is compressed into the one-line caption below rather than reproduced as a second table.
• GROUNDING SOURCE: https://learn.microsoft.com/en-us/agent-framework/workflows/declarative?pivots=programming-language-python#python-yaml-structure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Ask attendees to name the two building blocks a Critic-to-Planner revision loop needs. Answer: a conditional edge (this module) plus a counter in workflow state (also this module) — no prebuilt orchestration pattern from Module 2 supports the loop-back directly.
• GROUNDING SOURCE: https://learn.microsoft.com/en-us/agent-framework/concepts/workflows/
• GROUNDING SOURCE: https://learn.microsoft.com/en-us/agent-framework/workflows/human-in-the-loop
• GROUNDING SOURCE: https://learn.microsoft.com/en-us/agent-framework/workflows/checkpoints
• GROUNDING SOURCE: https://learn.microsoft.com/en-us/agent-framework/workflows/visualization
• GROUNDING SOURCE: https://learn.microsoft.com/en-us/agent-framework/workflows/observability
• GROUNDING SOURCE: https://learn.microsoft.com/en-us/agent-framework/workflows/declarative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4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3 · 55 MIN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1737360"/>
            <a:ext cx="80467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MAF Workflows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301752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Executors, edges, events, and state — the graph primitives everything else builds on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45720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Building AI Apps and Agents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365760" y="4224528"/>
            <a:ext cx="8412480" cy="0"/>
          </a:xfrm>
          <a:prstGeom prst="line">
            <a:avLst/>
          </a:prstGeom>
          <a:noFill/>
          <a:ln w="6350">
            <a:solidFill>
              <a:srgbClr val="CADCF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84048" y="427024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https://learn.microsoft.com/en-us/agent-framework/concepts/workflows/</a:t>
            </a:r>
            <a:endParaRPr lang="en-US" sz="82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3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Executors: the processing units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502920" y="1170432"/>
            <a:ext cx="7955280" cy="3520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Executors receive typed messages, do work, and produce output messages or events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kinds:</a:t>
            </a:r>
            <a:endParaRPr lang="en-US" sz="1600" dirty="0"/>
          </a:p>
          <a:p>
            <a:pPr lvl="1" marL="457200" indent="-2286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 logic components</a:t>
            </a:r>
            <a:endParaRPr lang="en-US" sz="1600" dirty="0"/>
          </a:p>
          <a:p>
            <a:pPr lvl="1" marL="457200" indent="-2286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agents (Module 1's "workflow with agent executors")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handler's type annotations declare what it can send and yield — the workflow validates the graph against these at build time</a:t>
            </a:r>
            <a:endParaRPr lang="en-US" sz="1600" dirty="0"/>
          </a:p>
          <a:p>
            <a:pPr lvl="1" marL="457200" indent="-2286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WorkflowContext.send_message(...) forwards to connected executors</a:t>
            </a:r>
            <a:endParaRPr lang="en-US" sz="1600" dirty="0"/>
          </a:p>
          <a:p>
            <a:pPr lvl="1" marL="457200" indent="-2286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ctx.yield_output(...) produces a workflow output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https://learn.microsoft.com/en-us/agent-framework/concepts/workflows/executors</a:t>
            </a:r>
            <a:endParaRPr lang="en-US" sz="82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3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minimal executor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115568"/>
            <a:ext cx="8412480" cy="1719072"/>
          </a:xfrm>
          <a:prstGeom prst="rect">
            <a:avLst/>
          </a:prstGeom>
          <a:solidFill>
            <a:srgbClr val="1D1E22"/>
          </a:solidFill>
          <a:ln w="9525">
            <a:solidFill>
              <a:srgbClr val="2A2B2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1207008"/>
            <a:ext cx="8138160" cy="15361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8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</a:t>
            </a:r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agent_framework </a:t>
            </a:r>
            <a:pPr indent="0" marL="0">
              <a:buNone/>
            </a:pPr>
            <a:r>
              <a:rPr lang="en-US" sz="128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</a:t>
            </a:r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Executor, WorkflowContext, handler</a:t>
            </a:r>
            <a:endParaRPr lang="en-US" sz="1280" dirty="0"/>
          </a:p>
          <a:p>
            <a:pPr indent="0" marL="0">
              <a:buNone/>
            </a:pP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class</a:t>
            </a:r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UpperCase(Executor):</a:t>
            </a: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buNone/>
            </a:pPr>
            <a:r>
              <a:rPr lang="en-US" sz="128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@handler</a:t>
            </a: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buNone/>
            </a:pPr>
            <a:r>
              <a:rPr lang="en-US" sz="128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async</a:t>
            </a:r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28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</a:t>
            </a:r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to_upper_case(</a:t>
            </a:r>
            <a:pPr indent="0" marL="0">
              <a:buNone/>
            </a:pPr>
            <a:r>
              <a:rPr lang="en-US" sz="128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self</a:t>
            </a:r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 text: str, ctx: WorkflowContext[str]) -&gt; </a:t>
            </a:r>
            <a:pPr indent="0" marL="0">
              <a:buNone/>
            </a:pPr>
            <a:r>
              <a:rPr lang="en-US" sz="128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None</a:t>
            </a:r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</a:t>
            </a:r>
            <a:pPr indent="0" marL="0">
              <a:buNone/>
            </a:pPr>
            <a:r>
              <a:rPr lang="en-US" sz="128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await</a:t>
            </a:r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ctx.send_message(text.upper())</a:t>
            </a:r>
            <a:endParaRPr lang="en-US" sz="1280" dirty="0"/>
          </a:p>
        </p:txBody>
      </p:sp>
      <p:sp>
        <p:nvSpPr>
          <p:cNvPr id="7" name="Shape 5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https://learn.microsoft.com/en-us/agent-framework/concepts/workflows/executors</a:t>
            </a:r>
            <a:endParaRPr lang="en-US" sz="82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3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Edges: how messages flow</a:t>
            </a:r>
            <a:endParaRPr lang="en-US" sz="28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078992"/>
          <a:ext cx="8412480" cy="914400"/>
        </p:xfrm>
        <a:graphic>
          <a:graphicData uri="http://schemas.openxmlformats.org/drawingml/2006/table">
            <a:tbl>
              <a:tblPr/>
              <a:tblGrid>
                <a:gridCol w="2311121"/>
                <a:gridCol w="3882683"/>
                <a:gridCol w="2218676"/>
              </a:tblGrid>
              <a:tr h="5867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Type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Description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Use case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5867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Direct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Simple one-to-one connection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 pipelines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867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Conditional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Routes based on a condition function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Binary routing (if/else)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5867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Switch-Case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Routes to different executors by condition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Multi-branch routing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867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Multi-Selection (Fan-out)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One executor sends to multiple targets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Parallel processing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5867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Fan-in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Multiple executors send to one target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Aggregation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https://learn.microsoft.com/en-us/agent-framework/concepts/workflows/edges</a:t>
            </a:r>
            <a:endParaRPr lang="en-US" sz="82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3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Conditional edges in code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115568"/>
            <a:ext cx="8412480" cy="1929384"/>
          </a:xfrm>
          <a:prstGeom prst="rect">
            <a:avLst/>
          </a:prstGeom>
          <a:solidFill>
            <a:srgbClr val="1D1E22"/>
          </a:solidFill>
          <a:ln w="9525">
            <a:solidFill>
              <a:srgbClr val="2A2B2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1207008"/>
            <a:ext cx="8138160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builder = WorkflowBuilder(start_executor=planner)</a:t>
            </a: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builder.add_edge(planner, retriever)</a:t>
            </a: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builder.add_edge(retriever, critic)</a:t>
            </a:r>
            <a:endParaRPr lang="en-US" sz="1280" dirty="0"/>
          </a:p>
          <a:p>
            <a:pPr indent="0" marL="0">
              <a:buNone/>
            </a:pPr>
            <a:endParaRPr lang="en-US" sz="1280" dirty="0"/>
          </a:p>
          <a:p>
            <a:pPr indent="0" marL="0">
              <a:buNone/>
            </a:pPr>
            <a:r>
              <a:rPr lang="en-US" sz="1280" i="1" dirty="0">
                <a:solidFill>
                  <a:srgbClr val="66666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Loop back to the planner when the critic isn't satisfied</a:t>
            </a: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builder.add_edge(critic, planner, condition=</a:t>
            </a:r>
            <a:pPr indent="0" marL="0">
              <a:buNone/>
            </a:pPr>
            <a:r>
              <a:rPr lang="en-US" sz="128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lambda</a:t>
            </a:r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result: </a:t>
            </a:r>
            <a:pPr indent="0" marL="0">
              <a:buNone/>
            </a:pPr>
            <a:r>
              <a:rPr lang="en-US" sz="128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not</a:t>
            </a:r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result.approved)</a:t>
            </a:r>
            <a:endParaRPr lang="en-US" sz="1280" dirty="0"/>
          </a:p>
          <a:p>
            <a:pPr indent="0" marL="0">
              <a:buNone/>
            </a:pPr>
            <a:r>
              <a:rPr lang="en-US" sz="1280" i="1" dirty="0">
                <a:solidFill>
                  <a:srgbClr val="66666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...and a separate edge to wherever the workflow's approved path continues</a:t>
            </a:r>
            <a:endParaRPr lang="en-US" sz="1280" dirty="0"/>
          </a:p>
        </p:txBody>
      </p:sp>
      <p:sp>
        <p:nvSpPr>
          <p:cNvPr id="7" name="Text 5"/>
          <p:cNvSpPr/>
          <p:nvPr/>
        </p:nvSpPr>
        <p:spPr>
          <a:xfrm>
            <a:off x="365760" y="4338193"/>
            <a:ext cx="8412480" cy="37096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the mechanic behind any revision loop a prebuilt orchestration pattern can't express.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https://learn.microsoft.com/en-us/agent-framework/concepts/workflows/edges</a:t>
            </a:r>
            <a:endParaRPr lang="en-US" sz="82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3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Visualize the graph you just built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115568"/>
            <a:ext cx="8412480" cy="1929384"/>
          </a:xfrm>
          <a:prstGeom prst="rect">
            <a:avLst/>
          </a:prstGeom>
          <a:solidFill>
            <a:srgbClr val="1D1E22"/>
          </a:solidFill>
          <a:ln w="9525">
            <a:solidFill>
              <a:srgbClr val="2A2B2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1207008"/>
            <a:ext cx="8138160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8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</a:t>
            </a:r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agent_framework </a:t>
            </a:r>
            <a:pPr indent="0" marL="0">
              <a:buNone/>
            </a:pPr>
            <a:r>
              <a:rPr lang="en-US" sz="128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</a:t>
            </a:r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WorkflowViz</a:t>
            </a:r>
            <a:endParaRPr lang="en-US" sz="1280" dirty="0"/>
          </a:p>
          <a:p>
            <a:pPr indent="0" marL="0">
              <a:buNone/>
            </a:pP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viz = WorkflowViz(workflow)</a:t>
            </a:r>
            <a:endParaRPr lang="en-US" sz="1280" dirty="0"/>
          </a:p>
          <a:p>
            <a:pPr indent="0" marL="0">
              <a:buNone/>
            </a:pP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print(viz.to_mermaid())   </a:t>
            </a:r>
            <a:pPr indent="0" marL="0">
              <a:buNone/>
            </a:pPr>
            <a:r>
              <a:rPr lang="en-US" sz="1280" i="1" dirty="0">
                <a:solidFill>
                  <a:srgbClr val="66666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paste into any Mermaid renderer</a:t>
            </a: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print(viz.to_digraph())   </a:t>
            </a:r>
            <a:pPr indent="0" marL="0">
              <a:buNone/>
            </a:pPr>
            <a:r>
              <a:rPr lang="en-US" sz="1280" i="1" dirty="0">
                <a:solidFill>
                  <a:srgbClr val="66666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Graphviz DOT format</a:t>
            </a: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viz.save_svg(</a:t>
            </a:r>
            <a:pPr indent="0" marL="0">
              <a:buNone/>
            </a:pPr>
            <a:r>
              <a:rPr lang="en-US" sz="1280" dirty="0">
                <a:solidFill>
                  <a:srgbClr val="E4C9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"workflow.svg"</a:t>
            </a:r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280" dirty="0"/>
          </a:p>
        </p:txBody>
      </p:sp>
      <p:sp>
        <p:nvSpPr>
          <p:cNvPr id="7" name="Text 5"/>
          <p:cNvSpPr/>
          <p:nvPr/>
        </p:nvSpPr>
        <p:spPr>
          <a:xfrm>
            <a:off x="365760" y="4131818"/>
            <a:ext cx="8412480" cy="57734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Conditional edges render as dashed arrows labeled "conditional" — the lab's Critic → Planner loop-back is visually obvious, not just implied by the code.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https://learn.microsoft.com/en-us/agent-framework/workflows/visualization</a:t>
            </a:r>
            <a:endParaRPr lang="en-US" sz="82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CADC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3 · Demo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1051560"/>
            <a:ext cx="5486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spc="800" kern="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548640" y="1691640"/>
            <a:ext cx="8046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Visualize the graph you're about to build yourself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6583680" y="105156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~5 min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548640" y="2788920"/>
            <a:ext cx="80467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Render the same three-executor, conditional-loop graph attendees are about to build by hand this afternoon — Planner → Retriever → Critic, with a conditional edge back to the Planner when the Critic doesn't approve. Paste the printed Mermaid into mermaid.live live, then optionally run it for real on a question that usually needs a revision pass, so the loop-back edge fires in an actual trace, not just on the diagram.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48640" y="443484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Runbook: demos/day4/module-3-demo-1-visualize-graph.md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https://learn.microsoft.com/en-us/agent-framework/workflows/visualization</a:t>
            </a:r>
            <a:endParaRPr lang="en-US" sz="82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3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superstep execution model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216152"/>
            <a:ext cx="2633472" cy="1572768"/>
          </a:xfrm>
          <a:prstGeom prst="roundRect">
            <a:avLst>
              <a:gd name="adj" fmla="val 3488"/>
            </a:avLst>
          </a:prstGeom>
          <a:solidFill>
            <a:srgbClr val="CADCFC"/>
          </a:solidFill>
          <a:ln w="10160">
            <a:solidFill>
              <a:srgbClr val="1E276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75488" y="1335024"/>
            <a:ext cx="320040" cy="32004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7" name="Text 5"/>
          <p:cNvSpPr/>
          <p:nvPr/>
        </p:nvSpPr>
        <p:spPr>
          <a:xfrm>
            <a:off x="475488" y="1385316"/>
            <a:ext cx="320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896112" y="1335024"/>
            <a:ext cx="1975104" cy="31127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Collect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512064" y="1701165"/>
            <a:ext cx="2340864" cy="99631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gather all pending messages from the previous superstep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3035808" y="1892808"/>
            <a:ext cx="164592" cy="219456"/>
          </a:xfrm>
          <a:prstGeom prst="chevron">
            <a:avLst/>
          </a:prstGeom>
          <a:solidFill>
            <a:srgbClr val="E8A87C"/>
          </a:solidFill>
          <a:ln/>
        </p:spPr>
      </p:sp>
      <p:sp>
        <p:nvSpPr>
          <p:cNvPr id="11" name="Shape 9"/>
          <p:cNvSpPr/>
          <p:nvPr/>
        </p:nvSpPr>
        <p:spPr>
          <a:xfrm>
            <a:off x="3255264" y="1216152"/>
            <a:ext cx="2633472" cy="1572768"/>
          </a:xfrm>
          <a:prstGeom prst="roundRect">
            <a:avLst>
              <a:gd name="adj" fmla="val 3488"/>
            </a:avLst>
          </a:prstGeom>
          <a:solidFill>
            <a:srgbClr val="F3F4F6"/>
          </a:solidFill>
          <a:ln w="10160">
            <a:solidFill>
              <a:srgbClr val="D1D5D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364992" y="1335024"/>
            <a:ext cx="320040" cy="32004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3" name="Text 11"/>
          <p:cNvSpPr/>
          <p:nvPr/>
        </p:nvSpPr>
        <p:spPr>
          <a:xfrm>
            <a:off x="3364992" y="1385316"/>
            <a:ext cx="320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3785616" y="1335024"/>
            <a:ext cx="1975104" cy="31127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3401568" y="1701165"/>
            <a:ext cx="2340864" cy="99631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dispatch messages to target executors based on edges and conditions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925312" y="1892808"/>
            <a:ext cx="164592" cy="219456"/>
          </a:xfrm>
          <a:prstGeom prst="chevron">
            <a:avLst/>
          </a:prstGeom>
          <a:solidFill>
            <a:srgbClr val="E8A87C"/>
          </a:solidFill>
          <a:ln/>
        </p:spPr>
      </p:sp>
      <p:sp>
        <p:nvSpPr>
          <p:cNvPr id="17" name="Shape 15"/>
          <p:cNvSpPr/>
          <p:nvPr/>
        </p:nvSpPr>
        <p:spPr>
          <a:xfrm>
            <a:off x="6144768" y="1216152"/>
            <a:ext cx="2633472" cy="1572768"/>
          </a:xfrm>
          <a:prstGeom prst="roundRect">
            <a:avLst>
              <a:gd name="adj" fmla="val 3488"/>
            </a:avLst>
          </a:prstGeom>
          <a:solidFill>
            <a:srgbClr val="F3F4F6"/>
          </a:solidFill>
          <a:ln w="10160">
            <a:solidFill>
              <a:srgbClr val="D1D5D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254496" y="1335024"/>
            <a:ext cx="320040" cy="32004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9" name="Text 17"/>
          <p:cNvSpPr/>
          <p:nvPr/>
        </p:nvSpPr>
        <p:spPr>
          <a:xfrm>
            <a:off x="6254496" y="1385316"/>
            <a:ext cx="320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6675120" y="1335024"/>
            <a:ext cx="1975104" cy="31127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Execute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6291072" y="1701165"/>
            <a:ext cx="2340864" cy="99631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all target executors concurrently within this superstep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365760" y="3044952"/>
            <a:ext cx="2633472" cy="1572768"/>
          </a:xfrm>
          <a:prstGeom prst="roundRect">
            <a:avLst>
              <a:gd name="adj" fmla="val 3488"/>
            </a:avLst>
          </a:prstGeom>
          <a:solidFill>
            <a:srgbClr val="F3F4F6"/>
          </a:solidFill>
          <a:ln w="10160">
            <a:solidFill>
              <a:srgbClr val="D1D5DB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75488" y="3163824"/>
            <a:ext cx="320040" cy="32004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4" name="Text 22"/>
          <p:cNvSpPr/>
          <p:nvPr/>
        </p:nvSpPr>
        <p:spPr>
          <a:xfrm>
            <a:off x="475488" y="3214116"/>
            <a:ext cx="320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896112" y="3163824"/>
            <a:ext cx="1975104" cy="31127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Synchronize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512064" y="3529965"/>
            <a:ext cx="2340864" cy="99631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wait for every executor to finish (a barrier) before advancing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3035808" y="3721608"/>
            <a:ext cx="164592" cy="219456"/>
          </a:xfrm>
          <a:prstGeom prst="chevron">
            <a:avLst/>
          </a:prstGeom>
          <a:solidFill>
            <a:srgbClr val="E8A87C"/>
          </a:solidFill>
          <a:ln/>
        </p:spPr>
      </p:sp>
      <p:sp>
        <p:nvSpPr>
          <p:cNvPr id="28" name="Shape 26"/>
          <p:cNvSpPr/>
          <p:nvPr/>
        </p:nvSpPr>
        <p:spPr>
          <a:xfrm>
            <a:off x="3255264" y="3044952"/>
            <a:ext cx="2633472" cy="1572768"/>
          </a:xfrm>
          <a:prstGeom prst="roundRect">
            <a:avLst>
              <a:gd name="adj" fmla="val 3488"/>
            </a:avLst>
          </a:prstGeom>
          <a:solidFill>
            <a:srgbClr val="CADCFC"/>
          </a:solidFill>
          <a:ln w="10160">
            <a:solidFill>
              <a:srgbClr val="1E2761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364992" y="3163824"/>
            <a:ext cx="320040" cy="32004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30" name="Text 28"/>
          <p:cNvSpPr/>
          <p:nvPr/>
        </p:nvSpPr>
        <p:spPr>
          <a:xfrm>
            <a:off x="3364992" y="3214116"/>
            <a:ext cx="320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3785616" y="3163824"/>
            <a:ext cx="1975104" cy="31127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Queue</a:t>
            </a:r>
            <a:endParaRPr lang="en-US" sz="1500" dirty="0"/>
          </a:p>
        </p:txBody>
      </p:sp>
      <p:sp>
        <p:nvSpPr>
          <p:cNvPr id="32" name="Text 30"/>
          <p:cNvSpPr/>
          <p:nvPr/>
        </p:nvSpPr>
        <p:spPr>
          <a:xfrm>
            <a:off x="3401568" y="3529965"/>
            <a:ext cx="2340864" cy="99631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messages emitted this superstep wait for the next one</a:t>
            </a:r>
            <a:endParaRPr lang="en-US" sz="1150" dirty="0"/>
          </a:p>
        </p:txBody>
      </p:sp>
      <p:sp>
        <p:nvSpPr>
          <p:cNvPr id="33" name="Shape 31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https://learn.microsoft.com/en-us/agent-framework/concepts/workflows/builder-and-execution</a:t>
            </a:r>
            <a:endParaRPr lang="en-US" sz="82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3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supersteps matter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502920" y="1078992"/>
            <a:ext cx="7955280" cy="29248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Deterministic execution</a:t>
            </a:r>
            <a:pPr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 the same input always executes in the same order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Reliable checkpointing</a:t>
            </a:r>
            <a:pPr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 state can be saved at superstep boundaries with no ambiguity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Simpler reasoning</a:t>
            </a:r>
            <a:pPr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 no race conditions between supersteps; every executor sees a consistent view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365760" y="4131818"/>
            <a:ext cx="8412480" cy="57734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Caveat: the barrier means one slow executor blocks the whole superstep — consolidate sequential logic into one executor if independent branches need independent timing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https://learn.microsoft.com/en-us/agent-framework/concepts/workflows/builder-and-execution</a:t>
            </a:r>
            <a:endParaRPr lang="en-US" sz="82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3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Events give you observability</a:t>
            </a:r>
            <a:endParaRPr lang="en-US" sz="28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078992"/>
          <a:ext cx="8412480" cy="914400"/>
        </p:xfrm>
        <a:graphic>
          <a:graphicData uri="http://schemas.openxmlformats.org/drawingml/2006/table">
            <a:tbl>
              <a:tblPr/>
              <a:tblGrid>
                <a:gridCol w="4023360"/>
                <a:gridCol w="4389120"/>
              </a:tblGrid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Event type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Meaning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output / intermediate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Terminal vs. observational workflow output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executor_invoked / executor_completed / executor_failed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Per-executor lifecycle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superstep_started / superstep_completed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Superstep boundaries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request_info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 executor is requesting external input (human-in-the-loop)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https://learn.microsoft.com/en-us/agent-framework/concepts/workflows/events</a:t>
            </a:r>
            <a:endParaRPr lang="en-US" sz="82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3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Debugging with edge delivery status</a:t>
            </a:r>
            <a:endParaRPr lang="en-US" sz="25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078992"/>
          <a:ext cx="8412480" cy="914400"/>
        </p:xfrm>
        <a:graphic>
          <a:graphicData uri="http://schemas.openxmlformats.org/drawingml/2006/table">
            <a:tbl>
              <a:tblPr/>
              <a:tblGrid>
                <a:gridCol w="2996226"/>
                <a:gridCol w="5416254"/>
              </a:tblGrid>
              <a:tr h="54368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edge_group.delivery_status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Meaning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54368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delivered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Message reached the target executor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368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dropped condition false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conditional edge's condition evaluated false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54368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dropped type mismatch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Target executor can't handle this message type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368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buffered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Waiting on more messages to arrive for a fan-in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365760" y="3925443"/>
            <a:ext cx="8412480" cy="78371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edge decision in the graph — including the lab's own Critic → Planner condition — shows up here, on a span you can inspect with the same OpenTelemetry tooling from Day 3's observability content.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https://learn.microsoft.com/en-us/agent-framework/workflows/observability</a:t>
            </a:r>
            <a:endParaRPr lang="en-US" sz="82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3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State: access and share common data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502920" y="1170432"/>
            <a:ext cx="7955280" cy="3520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ctx.set_state(key, value) / ctx.get_state(key) — state that is available to downstream executors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a consistent key across executors to exchange state that isn't a direct message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Writes are visible to the writer immediately; other executors see them starting the next superstep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Isolation risk: reusing one workflow/executor instance across unrelated runs leaks state between them</a:t>
            </a:r>
            <a:endParaRPr lang="en-US" sz="1600" dirty="0"/>
          </a:p>
          <a:p>
            <a:pPr lvl="1" marL="457200" indent="-2286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fresh instances per run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https://learn.microsoft.com/en-us/agent-framework/concepts/workflows/state</a:t>
            </a:r>
            <a:endParaRPr lang="en-US" sz="82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3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Human-in-the-loop: request and response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502920" y="1170432"/>
            <a:ext cx="7955280" cy="3520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ctx.request_info(request_data=..., response_type=...) pauses the workflow and emits a request_info event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Handle the response with a @response_handler method — the framework matches responses to handlers by type annotation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the exact mechanism a human reviewer, an approval system, or any external system plugs into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request/response channel — different payload — is how tool approval works inside a workflow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https://learn.microsoft.com/en-us/agent-framework/workflows/human-in-the-loop</a:t>
            </a:r>
            <a:endParaRPr lang="en-US" sz="82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3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approval reuses the same channel</a:t>
            </a:r>
            <a:endParaRPr lang="en-US" sz="2500" dirty="0"/>
          </a:p>
        </p:txBody>
      </p:sp>
      <p:sp>
        <p:nvSpPr>
          <p:cNvPr id="5" name="Shape 3"/>
          <p:cNvSpPr/>
          <p:nvPr/>
        </p:nvSpPr>
        <p:spPr>
          <a:xfrm>
            <a:off x="365760" y="1115568"/>
            <a:ext cx="8412480" cy="2350008"/>
          </a:xfrm>
          <a:prstGeom prst="rect">
            <a:avLst/>
          </a:prstGeom>
          <a:solidFill>
            <a:srgbClr val="1D1E22"/>
          </a:solidFill>
          <a:ln w="9525">
            <a:solidFill>
              <a:srgbClr val="2A2B2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1207008"/>
            <a:ext cx="8138160" cy="21671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@tool</a:t>
            </a:r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(approval_mode=</a:t>
            </a:r>
            <a:pPr indent="0" marL="0">
              <a:buNone/>
            </a:pPr>
            <a:r>
              <a:rPr lang="en-US" sz="950" dirty="0">
                <a:solidFill>
                  <a:srgbClr val="E4C9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"always_require"</a:t>
            </a:r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</a:t>
            </a:r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execute_database_query(query: str) -&gt; str: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buNone/>
            </a:pPr>
            <a:r>
              <a:rPr lang="en-US" sz="95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return</a:t>
            </a:r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950" dirty="0">
                <a:solidFill>
                  <a:srgbClr val="E4C9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f"Query executed successfully: {query}"</a:t>
            </a:r>
            <a:endParaRPr lang="en-US" sz="950" dirty="0"/>
          </a:p>
          <a:p>
            <a:pPr indent="0" marL="0">
              <a:buNone/>
            </a:pPr>
            <a:endParaRPr lang="en-US" sz="950" dirty="0"/>
          </a:p>
          <a:p>
            <a:pPr indent="0" marL="0">
              <a:buNone/>
            </a:pPr>
            <a:r>
              <a:rPr lang="en-US" sz="950" i="1" dirty="0">
                <a:solidFill>
                  <a:srgbClr val="66666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The workflow pauses and emits a request_info event carrying a</a:t>
            </a:r>
            <a:endParaRPr lang="en-US" sz="950" dirty="0"/>
          </a:p>
          <a:p>
            <a:pPr indent="0" marL="0">
              <a:buNone/>
            </a:pPr>
            <a:r>
              <a:rPr lang="en-US" sz="950" i="1" dirty="0">
                <a:solidFill>
                  <a:srgbClr val="66666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function_approval_request payload when the agent tries to call it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async</a:t>
            </a:r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95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</a:t>
            </a:r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event </a:t>
            </a:r>
            <a:pPr indent="0" marL="0">
              <a:buNone/>
            </a:pPr>
            <a:r>
              <a:rPr lang="en-US" sz="95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</a:t>
            </a:r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stream: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buNone/>
            </a:pPr>
            <a:r>
              <a:rPr lang="en-US" sz="95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</a:t>
            </a:r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event.type == </a:t>
            </a:r>
            <a:pPr indent="0" marL="0">
              <a:buNone/>
            </a:pPr>
            <a:r>
              <a:rPr lang="en-US" sz="950" dirty="0">
                <a:solidFill>
                  <a:srgbClr val="E4C9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"request_info"</a:t>
            </a:r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95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and</a:t>
            </a:r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event.data.type == </a:t>
            </a:r>
            <a:pPr indent="0" marL="0">
              <a:buNone/>
            </a:pPr>
            <a:r>
              <a:rPr lang="en-US" sz="950" dirty="0">
                <a:solidFill>
                  <a:srgbClr val="E4C9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"function_approval_request"</a:t>
            </a:r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responses[event.request_id] = event.data.to_function_approval_response(approved=</a:t>
            </a:r>
            <a:pPr indent="0" marL="0">
              <a:buNone/>
            </a:pPr>
            <a:r>
              <a:rPr lang="en-US" sz="95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True</a:t>
            </a:r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https://learn.microsoft.com/en-us/agent-framework/workflows/human-in-the-loop</a:t>
            </a:r>
            <a:endParaRPr lang="en-US" sz="82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3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Checkpoints: save and resume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502920" y="1078992"/>
            <a:ext cx="7955280" cy="29248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checkpoint is created:</a:t>
            </a:r>
            <a:endParaRPr lang="en-US" sz="1600" dirty="0"/>
          </a:p>
          <a:p>
            <a:pPr lvl="1" marL="457200" indent="-2286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the start of the first superstep</a:t>
            </a:r>
            <a:endParaRPr lang="en-US" sz="1600" dirty="0"/>
          </a:p>
          <a:p>
            <a:pPr lvl="1" marL="457200" indent="-2286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the end of every superstep, after all its executors finish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Captures: executor state, pending messages for the next superstep, pending requests and responses, and shared state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Pending human-in-the-loop requests are re-emitted as request_info events when you restore — you never lose an outstanding approval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365760" y="4131818"/>
            <a:ext cx="8412480" cy="57734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cases: long-running workflows, pause/resume across process restarts, audit/compliance snapshots, migrating a run across environments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https://learn.microsoft.com/en-us/agent-framework/workflows/checkpoints</a:t>
            </a:r>
            <a:endParaRPr lang="en-US" sz="82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3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note on the functional API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4114800" cy="3493008"/>
          </a:xfrm>
          <a:prstGeom prst="roundRect">
            <a:avLst/>
          </a:prstGeom>
          <a:solidFill>
            <a:srgbClr val="F3F4F6"/>
          </a:solidFill>
          <a:ln w="11430">
            <a:solidFill>
              <a:srgbClr val="D1D5D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298448"/>
            <a:ext cx="37124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WorkflowBuilder (today's focus)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594360" y="1828800"/>
            <a:ext cx="3639312" cy="239572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Explicit edges and conditions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Fixed graphs, fan-out/fan-in, type-validated routing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Available in Python, C#, and Go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663440" y="1078992"/>
            <a:ext cx="4114800" cy="3493008"/>
          </a:xfrm>
          <a:prstGeom prst="roundRect">
            <a:avLst/>
          </a:prstGeom>
          <a:solidFill>
            <a:srgbClr val="CADCFC"/>
          </a:solidFill>
          <a:ln w="11430">
            <a:solidFill>
              <a:srgbClr val="1E276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864608" y="1298448"/>
            <a:ext cx="37124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@workflow — Python only, EXPERIMENTAL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4892040" y="1828800"/>
            <a:ext cx="3639312" cy="239572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Native Python control flow: if, while, asyncio.gather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Could simplify a custom revision loop to a plain while — worth revisiting once it's no longer experimental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used for today's lab while it remains experimental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https://learn.microsoft.com/en-us/agent-framework/concepts/workflows/</a:t>
            </a:r>
            <a:endParaRPr lang="en-US" sz="82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3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Declarative workflows: describe what, not how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502920" y="1170432"/>
            <a:ext cx="7955280" cy="3520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Declarative workflows define workflow logic in YAML instead of programmatic code — easier to read, modify, and share across teams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describe what the workflow should do, not how to implement it — the framework converts the YAML into an executable workflow graph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benefits:</a:t>
            </a:r>
            <a:endParaRPr lang="en-US" sz="1600" dirty="0"/>
          </a:p>
          <a:p>
            <a:pPr lvl="1" marL="457200" indent="-2286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Readable — YAML syntax is easy to understand, even for non-developers</a:t>
            </a:r>
            <a:endParaRPr lang="en-US" sz="1600" dirty="0"/>
          </a:p>
          <a:p>
            <a:pPr lvl="1" marL="457200" indent="-2286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Portable — definitions can be shared, versioned, and modified without code changes</a:t>
            </a:r>
            <a:endParaRPr lang="en-US" sz="1600" dirty="0"/>
          </a:p>
          <a:p>
            <a:pPr lvl="1" marL="457200" indent="-2286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Rapid iteration — modify workflow behavior by editing configuration files</a:t>
            </a:r>
            <a:endParaRPr lang="en-US" sz="1600" dirty="0"/>
          </a:p>
          <a:p>
            <a:pPr lvl="1" marL="457200" indent="-2286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Consistent structure — predefined action types keep workflows following best practices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https://learn.microsoft.com/en-us/agent-framework/workflows/declarative?pivots=programming-language-python#overview</a:t>
            </a:r>
            <a:endParaRPr lang="en-US" sz="82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3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to use declarative vs. programmatic workflows</a:t>
            </a:r>
            <a:endParaRPr lang="en-US" sz="23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078992"/>
          <a:ext cx="8412480" cy="914400"/>
        </p:xfrm>
        <a:graphic>
          <a:graphicData uri="http://schemas.openxmlformats.org/drawingml/2006/table">
            <a:tbl>
              <a:tblPr/>
              <a:tblGrid>
                <a:gridCol w="5560792"/>
                <a:gridCol w="2851688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Recommended Approach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Standard orchestration patterns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Declarative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Workflows that change frequently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Declarative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Non-developers need to modify workflows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Declarative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Complex custom logic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Programmatic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Maximum flexibility and control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Programmatic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Integration with existing Python code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Programmatic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https://learn.microsoft.com/en-us/agent-framework/workflows/declarative?pivots=programming-language-python#when-to-use-declarative-vs-programmatic-workflows</a:t>
            </a:r>
            <a:endParaRPr lang="en-US" sz="82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3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YAML structure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115568"/>
            <a:ext cx="8412480" cy="2888234"/>
          </a:xfrm>
          <a:prstGeom prst="rect">
            <a:avLst/>
          </a:prstGeom>
          <a:solidFill>
            <a:srgbClr val="1D1E22"/>
          </a:solidFill>
          <a:ln w="9525">
            <a:solidFill>
              <a:srgbClr val="2A2B2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1207008"/>
            <a:ext cx="8138160" cy="270535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name: my-workflow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description: A brief description of what this workflow does</a:t>
            </a:r>
            <a:endParaRPr lang="en-US" sz="1080" dirty="0"/>
          </a:p>
          <a:p>
            <a:pPr indent="0" marL="0">
              <a:buNone/>
            </a:pP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inputs: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parameterName: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type: string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description: Description of the parameter</a:t>
            </a:r>
            <a:endParaRPr lang="en-US" sz="1080" dirty="0"/>
          </a:p>
          <a:p>
            <a:pPr indent="0" marL="0">
              <a:buNone/>
            </a:pP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actions: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- kind: ActionType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id: unique_action_id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displayName: Human readable name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# Action-specific properties</a:t>
            </a:r>
            <a:endParaRPr lang="en-US" sz="1080" dirty="0"/>
          </a:p>
        </p:txBody>
      </p:sp>
      <p:sp>
        <p:nvSpPr>
          <p:cNvPr id="7" name="Text 5"/>
          <p:cNvSpPr/>
          <p:nvPr/>
        </p:nvSpPr>
        <p:spPr>
          <a:xfrm>
            <a:off x="365760" y="4131818"/>
            <a:ext cx="8412480" cy="57734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name and actions are required — description and inputs are optional, and actions is the ordered list of steps the workflow actually runs.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https://learn.microsoft.com/en-us/agent-framework/workflows/declarative?pivots=programming-language-python#python-yaml-structure</a:t>
            </a:r>
            <a:endParaRPr lang="en-US" sz="82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3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Takeaways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502920" y="1097280"/>
            <a:ext cx="8138160" cy="556260"/>
          </a:xfrm>
          <a:prstGeom prst="round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67512" y="1225296"/>
            <a:ext cx="256032" cy="256032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" y="1252728"/>
            <a:ext cx="25603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2416" y="1207008"/>
            <a:ext cx="7315200" cy="3733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build executors from typed message handlers, and connect them with direct, conditional, switch-case, or fan-in/fan-out edges.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02920" y="1726692"/>
            <a:ext cx="8138160" cy="556260"/>
          </a:xfrm>
          <a:prstGeom prst="round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67512" y="1854708"/>
            <a:ext cx="256032" cy="256032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" y="1882140"/>
            <a:ext cx="25603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1042416" y="1836420"/>
            <a:ext cx="7315200" cy="3733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Conditional edges are what a revision loop needs — no prebuilt orchestration pattern supports routing back to an earlier agent.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02920" y="2356104"/>
            <a:ext cx="8138160" cy="556260"/>
          </a:xfrm>
          <a:prstGeom prst="round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67512" y="2484120"/>
            <a:ext cx="256032" cy="256032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5" name="Text 13"/>
          <p:cNvSpPr/>
          <p:nvPr/>
        </p:nvSpPr>
        <p:spPr>
          <a:xfrm>
            <a:off x="667512" y="2511552"/>
            <a:ext cx="25603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1042416" y="2465832"/>
            <a:ext cx="7315200" cy="3733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superstep (Pregel/BSP) model is why parallel execution is real, checkpointing is reliable, and execution is deterministic.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502920" y="2985516"/>
            <a:ext cx="8138160" cy="556260"/>
          </a:xfrm>
          <a:prstGeom prst="round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67512" y="3113532"/>
            <a:ext cx="256032" cy="256032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9" name="Text 17"/>
          <p:cNvSpPr/>
          <p:nvPr/>
        </p:nvSpPr>
        <p:spPr>
          <a:xfrm>
            <a:off x="667512" y="3140964"/>
            <a:ext cx="25603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042416" y="3095244"/>
            <a:ext cx="7315200" cy="3733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Human-in-the-loop and tool approval share one request/response mechanism; checkpoints preserve pending requests across a restore.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02920" y="3614928"/>
            <a:ext cx="8138160" cy="556260"/>
          </a:xfrm>
          <a:prstGeom prst="round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67512" y="3742944"/>
            <a:ext cx="256032" cy="256032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3" name="Text 21"/>
          <p:cNvSpPr/>
          <p:nvPr/>
        </p:nvSpPr>
        <p:spPr>
          <a:xfrm>
            <a:off x="667512" y="3770376"/>
            <a:ext cx="25603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1042416" y="3724656"/>
            <a:ext cx="7315200" cy="3733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can render any graph you build with WorkflowViz, and diagnose a silent edge with edge_group.delivery_status — both work on the lab's own conditional edge.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502920" y="4244340"/>
            <a:ext cx="8138160" cy="556260"/>
          </a:xfrm>
          <a:prstGeom prst="round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67512" y="4372356"/>
            <a:ext cx="256032" cy="256032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7" name="Text 25"/>
          <p:cNvSpPr/>
          <p:nvPr/>
        </p:nvSpPr>
        <p:spPr>
          <a:xfrm>
            <a:off x="667512" y="4399788"/>
            <a:ext cx="25603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1042416" y="4354068"/>
            <a:ext cx="7315200" cy="3733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WorkflowBuilder is today's lab tool; the functional @workflow API remains experimental and worth a second look later, while declarative YAML workflows — covered on the previous three slides — are a real production alternative once a graph settles into a standard, frequently-edited pattern.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https://learn.microsoft.com/en-us/agent-framework/concepts/workflows/  ·  +5 in notes</a:t>
            </a:r>
            <a:endParaRPr lang="en-US" sz="82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Building AI Apps and Agents Workshop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MAF Workflows</dc:title>
  <dc:subject>Day 4 — Multi-Agent Patterns + Evaluation Anchor</dc:subject>
  <dc:creator>Building AI Apps and Agents Workshop</dc:creator>
  <cp:lastModifiedBy>Building AI Apps and Agents Workshop</cp:lastModifiedBy>
  <cp:revision>1</cp:revision>
  <dcterms:created xsi:type="dcterms:W3CDTF">2026-09-02T15:32:59Z</dcterms:created>
  <dcterms:modified xsi:type="dcterms:W3CDTF">2026-09-02T15:32:59Z</dcterms:modified>
</cp:coreProperties>
</file>