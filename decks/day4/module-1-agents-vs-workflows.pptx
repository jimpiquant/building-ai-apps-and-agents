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Frame the whole day around one question: for each step in the process, who decides what happens next — the model or you? Agents decide at runtime; workflows decide at design time.
• GROUNDING SOURCE: https://learn.microsoft.com/agent-framework/journey/workflows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Agents and workflows are not competing frameworks — they are different points on the same spectrum, and most production systems combine both.
• GROUNDING SOURCE: https://learn.microsoft.com/agent-framework/journey/workflows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the framework's own spectrum, reworded as a flow. Most real systems live in the middle: a workflow graph with some agent-executor steps and some deterministic ones.
• GROUNDING SOURCE: https://learn.microsoft.com/agent-framework/journey/workflows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table is the framework's own "who decides" decision framework, reproduced from the journey page. Use it to segue into the rest of the day: Module 2 covers row 2 in depth, Module 3 covers row 3, and the human-in-the-loop content extends row 3.
• GROUNDING SOURCE: https://learn.microsoft.com/agent-framework/journey/workflows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These are the framework doc's own motivating examples. The common thread: the structure of the process is known ahead of time and shouldn't be left to the model to figure out at runtime.
• GROUNDING SOURCE: https://learn.microsoft.com/agent-framework/journey/workflows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Day 2/3's composition pattern, recapped as the baseline before introducing A2A and workflows as the next two rungs. One agent calls another as a function tool — the framework handles the conversion.
• GROUNDING SOURCE: https://learn.microsoft.com/agent-framework/journey/agents-as-tools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A2A is an open protocol (a2a-protocol.org), not an Agent Framework invention. It's the answer to "what if the other agent isn't in my process, my team, or even my framework?"
• GROUNDING SOURCE: https://learn.microsoft.com/agent-framework/journey/agent-to-agent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A2AAgent wraps any A2A-compliant endpoint as a standard AIAgent — run() feels identical to a local agent. This ships in a separate, prerelease package (agent-framework-a2a, pip install --pre) — flag the maturity level honestly, same as any other prerelease API this week.
• GROUNDING SOURCE: https://learn.microsoft.com/agent-framework/integrations/by-component/agent-services/a2a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workflow.as_agent(...) closes the loop: a multi-agent workflow, once built, is indistinguishable from a single agent to its caller — including other agents calling it as a tool, or A2A clients calling it remotely.
• GROUNDING SOURCE: https://learn.microsoft.com/agent-framework/workflows/as-agents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Placeholder marker slide — the runbook has full narration, setup, and fallback plan. Step 1 runs the official sequential_workflow_as_agent.py sample as-is; Step 2 is a minimal, clearly-noted comparison script (with/without intermediate_output_from).
• GROUNDING SOURCE: https://github.com/microsoft/agent-framework/blob/main/python/samples/03-workflows/agents/sequential_workflow_as_agent.py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closes Module 1's arc: from the lightest composition pattern, to crossing a boundary, to explicit orchestration, and back to looking like a single agent again. Module 2 picks up "workflows" in depth; Modules 3-6 build out the rest.
• GROUNDING SOURCE: https://learn.microsoft.com/agent-framework/journey/workflows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Ask attendees which of today's four composition mechanics applies to the lab's Planner/Retriever/Critic workflow. Answer: workflows (explicit graph) for the core loop, with workflows-as-agents as the optional wrapping if the whole thing needs to be called from elsewhere.
• GROUNDING SOURCE: https://learn.microsoft.com/agent-framework/journey/workflows
• GROUNDING SOURCE: https://learn.microsoft.com/agent-framework/journey/agent-to-agent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1 · 35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vs. Workflows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who decides what happens next, then compose across boundaries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65760" y="4224528"/>
            <a:ext cx="8412480" cy="0"/>
          </a:xfrm>
          <a:prstGeom prst="line">
            <a:avLst/>
          </a:prstGeom>
          <a:noFill/>
          <a:ln w="6350">
            <a:solidFill>
              <a:srgbClr val="CADCF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27024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https://learn.microsoft.com/agent-framework/journey/workflows</a:t>
            </a:r>
            <a:endParaRPr lang="en-US" sz="82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1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philosophies, not two products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4114800" cy="3493008"/>
          </a:xfrm>
          <a:prstGeom prst="roundRect">
            <a:avLst/>
          </a:prstGeom>
          <a:solidFill>
            <a:srgbClr val="F3F4F6"/>
          </a:solidFill>
          <a:ln w="1143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decide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9436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picks which tool to call, whether to delegate, when to stop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Powerful for open-ended tasks where the right path depends on the conversation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663440" y="1078992"/>
            <a:ext cx="4114800" cy="3493008"/>
          </a:xfrm>
          <a:prstGeom prst="roundRect">
            <a:avLst/>
          </a:prstGeom>
          <a:solidFill>
            <a:srgbClr val="CADCFC"/>
          </a:solidFill>
          <a:ln w="1143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6460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Workflows decide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89204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define the graph explicitly: steps, order, decision points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Essential when the process itself has rules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https://learn.microsoft.com/agent-framework/journey/workflows</a:t>
            </a:r>
            <a:endParaRPr lang="en-US" sz="82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1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intelligence spectrum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216152"/>
            <a:ext cx="2633472" cy="2148840"/>
          </a:xfrm>
          <a:prstGeom prst="roundRect">
            <a:avLst>
              <a:gd name="adj" fmla="val 2553"/>
            </a:avLst>
          </a:prstGeom>
          <a:solidFill>
            <a:srgbClr val="CADCFC"/>
          </a:solidFill>
          <a:ln w="10160">
            <a:solidFill>
              <a:srgbClr val="1E276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75488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475488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96112" y="1335024"/>
            <a:ext cx="1975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agent with tools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12064" y="1719072"/>
            <a:ext cx="2340864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decides every step; most flexible, least predictable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035808" y="2180844"/>
            <a:ext cx="164592" cy="219456"/>
          </a:xfrm>
          <a:prstGeom prst="chevron">
            <a:avLst/>
          </a:prstGeom>
          <a:solidFill>
            <a:srgbClr val="E8A87C"/>
          </a:solidFill>
          <a:ln/>
        </p:spPr>
      </p:sp>
      <p:sp>
        <p:nvSpPr>
          <p:cNvPr id="11" name="Shape 9"/>
          <p:cNvSpPr/>
          <p:nvPr/>
        </p:nvSpPr>
        <p:spPr>
          <a:xfrm>
            <a:off x="3255264" y="1216152"/>
            <a:ext cx="2633472" cy="2148840"/>
          </a:xfrm>
          <a:prstGeom prst="roundRect">
            <a:avLst>
              <a:gd name="adj" fmla="val 2553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364992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/>
          <p:nvPr/>
        </p:nvSpPr>
        <p:spPr>
          <a:xfrm>
            <a:off x="3364992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785616" y="1335024"/>
            <a:ext cx="1975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 with agent executors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401568" y="1719072"/>
            <a:ext cx="2340864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graph controls the process; agents reason at specific steps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925312" y="2180844"/>
            <a:ext cx="164592" cy="219456"/>
          </a:xfrm>
          <a:prstGeom prst="chevron">
            <a:avLst/>
          </a:prstGeom>
          <a:solidFill>
            <a:srgbClr val="E8A87C"/>
          </a:solidFill>
          <a:ln/>
        </p:spPr>
      </p:sp>
      <p:sp>
        <p:nvSpPr>
          <p:cNvPr id="17" name="Shape 15"/>
          <p:cNvSpPr/>
          <p:nvPr/>
        </p:nvSpPr>
        <p:spPr>
          <a:xfrm>
            <a:off x="6144768" y="1216152"/>
            <a:ext cx="2633472" cy="2148840"/>
          </a:xfrm>
          <a:prstGeom prst="roundRect">
            <a:avLst>
              <a:gd name="adj" fmla="val 2553"/>
            </a:avLst>
          </a:prstGeom>
          <a:solidFill>
            <a:srgbClr val="CADCFC"/>
          </a:solidFill>
          <a:ln w="10160">
            <a:solidFill>
              <a:srgbClr val="1E276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54496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/>
          <p:nvPr/>
        </p:nvSpPr>
        <p:spPr>
          <a:xfrm>
            <a:off x="6254496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675120" y="1335024"/>
            <a:ext cx="19751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 with deterministic executors only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291072" y="1719072"/>
            <a:ext cx="2340864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LLM at all; a traditional, fully predictable pipeline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https://learn.microsoft.com/agent-framework/journey/workflows</a:t>
            </a:r>
            <a:endParaRPr lang="en-US" sz="82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1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Choosing the right pattern</a:t>
            </a:r>
            <a:endParaRPr lang="en-US" sz="28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78992"/>
          <a:ext cx="8412480" cy="914400"/>
        </p:xfrm>
        <a:graphic>
          <a:graphicData uri="http://schemas.openxmlformats.org/drawingml/2006/table">
            <a:tbl>
              <a:tblPr/>
              <a:tblGrid>
                <a:gridCol w="2721685"/>
                <a:gridCol w="2886635"/>
                <a:gridCol w="2804160"/>
              </a:tblGrid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Question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If the model decides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If you decide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Which subtask to tackle next?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Agents as tools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Workflows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Whether to involve another agent?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Agents as tools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Agents in workflows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When to ask a human?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 approval (reactive, per-tool)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Human-in-the-loop (explicit gates)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to handle partial failure?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Retry logic in tool implementations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Checkpoints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https://learn.microsoft.com/agent-framework/journey/workflows</a:t>
            </a:r>
            <a:endParaRPr lang="en-US" sz="82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1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workflows earn their complexity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02920" y="1078992"/>
            <a:ext cx="7955280" cy="29248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document-review pipeline where a draft must be written, reviewed, revised, and approved — in that order, every time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customer-onboarding flow: collect info, run a compliance check, provision accounts, send a welcome email — some steps parallel, some gated by human approval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analytics workflow that should resume from the last checkpoint after a failure, not start over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65760" y="4131818"/>
            <a:ext cx="8412480" cy="5773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 simpler patterns first — reach for workflows when order, gates, or resumability genuinely matter.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https://learn.microsoft.com/agent-framework/journey/workflows</a:t>
            </a:r>
            <a:endParaRPr lang="en-US" sz="82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1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Recap: agents as tools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1078992"/>
            <a:ext cx="7955280" cy="313118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agent (outer) calls another agent (inner) as if it were a regular function tool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outer agent decides *when* and *whether* to delegate — the same way it decides to call any tool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inner agent runs independently: its own instructions, tools, and model calls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Limitation: the outer agent sees only the inner agent's final text response, not its reasoning or tool calls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65760" y="4338193"/>
            <a:ext cx="8412480" cy="37096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works well within one process, one team, one runtime. What about across a boundary?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https://learn.microsoft.com/agent-framework/journey/agents-as-tools</a:t>
            </a:r>
            <a:endParaRPr lang="en-US" sz="82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1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Crossing a boundary: Agent-to-Agent (A2A)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02920" y="1078992"/>
            <a:ext cx="7955280" cy="29248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Agent-to-Agent (A2A) is an open protocol for agents to discover each other, exchange messages, and coordinate — over HTTP, in any language or framework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it when you cross a boundary in-process composition can't handle:</a:t>
            </a:r>
            <a:endParaRPr lang="en-US" sz="1600" dirty="0"/>
          </a:p>
          <a:p>
            <a:pPr lvl="1" marL="4572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boundaries — the other agent runs as its own microservice</a:t>
            </a:r>
            <a:endParaRPr lang="en-US" sz="1600" dirty="0"/>
          </a:p>
          <a:p>
            <a:pPr lvl="1" marL="4572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boundaries — a partner team owns the agent; you don't have its code or model</a:t>
            </a:r>
            <a:endParaRPr lang="en-US" sz="1600" dirty="0"/>
          </a:p>
          <a:p>
            <a:pPr lvl="1" marL="4572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Organizational boundaries — a third-party agent (document processing, legal review) needs a standard way to be discovered and called</a:t>
            </a:r>
            <a:endParaRPr lang="en-US" sz="1600" dirty="0"/>
          </a:p>
          <a:p>
            <a:pPr lvl="1" marL="4572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 evolution — different release cycles, teams, or languages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65760" y="4131818"/>
            <a:ext cx="8412480" cy="5773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your agents share a process and a team, agents-as-tools is simpler — A2A adds value specifically at a boundary.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https://learn.microsoft.com/agent-framework/journey/agent-to-agent</a:t>
            </a:r>
            <a:endParaRPr lang="en-US" sz="82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1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a remote agent over A2A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115568"/>
            <a:ext cx="8412480" cy="1508760"/>
          </a:xfrm>
          <a:prstGeom prst="rect">
            <a:avLst/>
          </a:prstGeom>
          <a:solidFill>
            <a:srgbClr val="1D1E22"/>
          </a:solidFill>
          <a:ln w="9525">
            <a:solidFill>
              <a:srgbClr val="2A2B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207008"/>
            <a:ext cx="81381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agent_framework.a2a </a:t>
            </a:r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A2AAgent</a:t>
            </a:r>
            <a:endParaRPr lang="en-US" sz="1280" dirty="0"/>
          </a:p>
          <a:p>
            <a:pPr indent="0" marL="0">
              <a:buNone/>
            </a:pP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with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A2AAgent(name=</a:t>
            </a:r>
            <a:pPr indent="0" marL="0">
              <a:buNone/>
            </a:pPr>
            <a:r>
              <a:rPr lang="en-US" sz="12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"remote"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url=</a:t>
            </a:r>
            <a:pPr indent="0" marL="0">
              <a:buNone/>
            </a:pPr>
            <a:r>
              <a:rPr lang="en-US" sz="12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"https://a2a-agent.example.com"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</a:t>
            </a:r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agent: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response = </a:t>
            </a:r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agent.run(</a:t>
            </a:r>
            <a:pPr indent="0" marL="0">
              <a:buNone/>
            </a:pPr>
            <a:r>
              <a:rPr lang="en-US" sz="12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"Hello!"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print(response.messages[0].text)</a:t>
            </a:r>
            <a:endParaRPr lang="en-US" sz="1280" dirty="0"/>
          </a:p>
        </p:txBody>
      </p:sp>
      <p:sp>
        <p:nvSpPr>
          <p:cNvPr id="7" name="Text 5"/>
          <p:cNvSpPr/>
          <p:nvPr/>
        </p:nvSpPr>
        <p:spPr>
          <a:xfrm>
            <a:off x="365760" y="4338193"/>
            <a:ext cx="8412480" cy="37096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A2AAgent ships in a separate, prerelease package: pip install agent-framework-a2a --pre.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https://learn.microsoft.com/agent-framework/integrations/by-component/agent-services/a2a</a:t>
            </a:r>
            <a:endParaRPr lang="en-US" sz="82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1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 a workflow as an agent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115568"/>
            <a:ext cx="8412480" cy="1719072"/>
          </a:xfrm>
          <a:prstGeom prst="rect">
            <a:avLst/>
          </a:prstGeom>
          <a:solidFill>
            <a:srgbClr val="1D1E22"/>
          </a:solidFill>
          <a:ln w="9525">
            <a:solidFill>
              <a:srgbClr val="2A2B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207008"/>
            <a:ext cx="8138160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workflow = SequentialBuilder(participants=[researcher, writer]).build()</a:t>
            </a:r>
            <a:endParaRPr lang="en-US" sz="1280" dirty="0"/>
          </a:p>
          <a:p>
            <a:pPr indent="0" marL="0">
              <a:buNone/>
            </a:pPr>
            <a:endParaRPr lang="en-US" sz="1280" dirty="0"/>
          </a:p>
          <a:p>
            <a:pPr indent="0" marL="0">
              <a:buNone/>
            </a:pPr>
            <a:r>
              <a:rPr lang="en-US" sz="1280" i="1" dirty="0">
                <a:solidFill>
                  <a:srgbClr val="6666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Wrap the whole workflow behind the standard agent interface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workflow_agent = workflow.as_agent(name=</a:t>
            </a:r>
            <a:pPr indent="0" marL="0">
              <a:buNone/>
            </a:pPr>
            <a:r>
              <a:rPr lang="en-US" sz="12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"Content Pipeline Agent"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280" dirty="0"/>
          </a:p>
          <a:p>
            <a:pPr indent="0" marL="0">
              <a:buNone/>
            </a:pP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response = </a:t>
            </a:r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workflow_agent.run(</a:t>
            </a:r>
            <a:pPr indent="0" marL="0">
              <a:buNone/>
            </a:pPr>
            <a:r>
              <a:rPr lang="en-US" sz="12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"Write an article about AI trends"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280" dirty="0"/>
          </a:p>
        </p:txBody>
      </p:sp>
      <p:sp>
        <p:nvSpPr>
          <p:cNvPr id="7" name="Text 5"/>
          <p:cNvSpPr/>
          <p:nvPr/>
        </p:nvSpPr>
        <p:spPr>
          <a:xfrm>
            <a:off x="365760" y="4131818"/>
            <a:ext cx="8412480" cy="5773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caller — another agent, an A2A client, your own code — can't tell it's talking to a workflow instead of a single agent.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https://learn.microsoft.com/agent-framework/workflows/as-agents</a:t>
            </a:r>
            <a:endParaRPr lang="en-US" sz="82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CADC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1 · Demo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05156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spc="8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169164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 a workflow, call it like any other agent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583680" y="10515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~4 min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2788920"/>
            <a:ext cx="8046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official sequential_workflow_as_agent.py sample live: a two-agent writer→reviewer pipeline wrapped as an agent returns exactly one message, matching the previous slide's code. Then run a comparison script that builds the SAME workflow with and without intermediate_output_from=[writer] — proving .as_agent() exposes only whatever output designation the workflow already had, nothing more.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443484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Runbook: demos/day4/module-1-demo-1-workflow-as-agent.md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https://github.com/microsoft/agent-framework/blob/main/python/samples/03-workflows/agents/sequential_workflow_as_agent.py</a:t>
            </a:r>
            <a:endParaRPr lang="en-US" sz="82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1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composition circle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216152"/>
            <a:ext cx="1911096" cy="2148840"/>
          </a:xfrm>
          <a:prstGeom prst="roundRect">
            <a:avLst>
              <a:gd name="adj" fmla="val 2871"/>
            </a:avLst>
          </a:prstGeom>
          <a:solidFill>
            <a:srgbClr val="CADCFC"/>
          </a:solidFill>
          <a:ln w="10160">
            <a:solidFill>
              <a:srgbClr val="1E276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75488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475488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96112" y="1335024"/>
            <a:ext cx="12527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as tools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12064" y="1719072"/>
            <a:ext cx="1618488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compose in-process, model-driven delegation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2313432" y="2180844"/>
            <a:ext cx="164592" cy="219456"/>
          </a:xfrm>
          <a:prstGeom prst="chevron">
            <a:avLst/>
          </a:prstGeom>
          <a:solidFill>
            <a:srgbClr val="E8A87C"/>
          </a:solidFill>
          <a:ln/>
        </p:spPr>
      </p:sp>
      <p:sp>
        <p:nvSpPr>
          <p:cNvPr id="11" name="Shape 9"/>
          <p:cNvSpPr/>
          <p:nvPr/>
        </p:nvSpPr>
        <p:spPr>
          <a:xfrm>
            <a:off x="2532888" y="1216152"/>
            <a:ext cx="1911096" cy="2148840"/>
          </a:xfrm>
          <a:prstGeom prst="roundRect">
            <a:avLst>
              <a:gd name="adj" fmla="val 2871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42616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/>
          <p:nvPr/>
        </p:nvSpPr>
        <p:spPr>
          <a:xfrm>
            <a:off x="2642616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063240" y="1335024"/>
            <a:ext cx="12527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Agent-to-Agent (A2A)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2679192" y="1719072"/>
            <a:ext cx="1618488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compose across a process/service/org boundary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480560" y="2180844"/>
            <a:ext cx="164592" cy="219456"/>
          </a:xfrm>
          <a:prstGeom prst="chevron">
            <a:avLst/>
          </a:prstGeom>
          <a:solidFill>
            <a:srgbClr val="E8A87C"/>
          </a:solidFill>
          <a:ln/>
        </p:spPr>
      </p:sp>
      <p:sp>
        <p:nvSpPr>
          <p:cNvPr id="17" name="Shape 15"/>
          <p:cNvSpPr/>
          <p:nvPr/>
        </p:nvSpPr>
        <p:spPr>
          <a:xfrm>
            <a:off x="4700016" y="1216152"/>
            <a:ext cx="1911096" cy="2148840"/>
          </a:xfrm>
          <a:prstGeom prst="roundRect">
            <a:avLst>
              <a:gd name="adj" fmla="val 2871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809744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/>
          <p:nvPr/>
        </p:nvSpPr>
        <p:spPr>
          <a:xfrm>
            <a:off x="4809744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230368" y="1335024"/>
            <a:ext cx="12527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Workflows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4846320" y="1719072"/>
            <a:ext cx="1618488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compose with an explicit, developer-defined graph (today's Modules 2-6)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647688" y="2180844"/>
            <a:ext cx="164592" cy="219456"/>
          </a:xfrm>
          <a:prstGeom prst="chevron">
            <a:avLst/>
          </a:prstGeom>
          <a:solidFill>
            <a:srgbClr val="E8A87C"/>
          </a:solidFill>
          <a:ln/>
        </p:spPr>
      </p:sp>
      <p:sp>
        <p:nvSpPr>
          <p:cNvPr id="23" name="Shape 21"/>
          <p:cNvSpPr/>
          <p:nvPr/>
        </p:nvSpPr>
        <p:spPr>
          <a:xfrm>
            <a:off x="6867144" y="1216152"/>
            <a:ext cx="1911096" cy="2148840"/>
          </a:xfrm>
          <a:prstGeom prst="roundRect">
            <a:avLst>
              <a:gd name="adj" fmla="val 2871"/>
            </a:avLst>
          </a:prstGeom>
          <a:solidFill>
            <a:srgbClr val="CADCFC"/>
          </a:solidFill>
          <a:ln w="10160">
            <a:solidFill>
              <a:srgbClr val="1E276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976872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5" name="Text 23"/>
          <p:cNvSpPr/>
          <p:nvPr/>
        </p:nvSpPr>
        <p:spPr>
          <a:xfrm>
            <a:off x="6976872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7397496" y="1335024"/>
            <a:ext cx="12527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Workflows as agents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7013448" y="1719072"/>
            <a:ext cx="1618488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 the whole graph back behind the standard agent interface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https://learn.microsoft.com/agent-framework/journey/workflows</a:t>
            </a:r>
            <a:endParaRPr lang="en-US" sz="82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· Module 1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02920" y="1097280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67512" y="1225296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" y="1252728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2416" y="1207008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decide, per step, whether the model or the code should control what happens next.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02920" y="1755648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67512" y="1883664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" y="1911096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042416" y="1865376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use agents as tools for in-process, model-driven delegation.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2414016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67512" y="2542032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5" name="Text 13"/>
          <p:cNvSpPr/>
          <p:nvPr/>
        </p:nvSpPr>
        <p:spPr>
          <a:xfrm>
            <a:off x="667512" y="2569464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042416" y="2523744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reach for A2A specifically when you cross a process, service, or organizational boundary.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02920" y="3072384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67512" y="3200400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/>
          <p:nvPr/>
        </p:nvSpPr>
        <p:spPr>
          <a:xfrm>
            <a:off x="667512" y="3227832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42416" y="3182112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build workflows when the process itself has rules: fixed order, human gates, or resumability.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02920" y="3730752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67512" y="3858768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3" name="Text 21"/>
          <p:cNvSpPr/>
          <p:nvPr/>
        </p:nvSpPr>
        <p:spPr>
          <a:xfrm>
            <a:off x="667512" y="3886200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042416" y="3840480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 wrap any workflow behind the standard agent interface with .as_agent() — composition goes full circle.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https://learn.microsoft.com/agent-framework/journey/workflows  ·  +1 in notes</a:t>
            </a:r>
            <a:endParaRPr lang="en-US" sz="8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Building AI Apps and Agents Workshop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Agents vs. Workflows</dc:title>
  <dc:subject>Day 4 — Multi-Agent Patterns + Evaluation Anchor</dc:subject>
  <dc:creator>Building AI Apps and Agents Workshop</dc:creator>
  <cp:lastModifiedBy>Building AI Apps and Agents Workshop</cp:lastModifiedBy>
  <cp:revision>1</cp:revision>
  <dcterms:created xsi:type="dcterms:W3CDTF">2026-09-02T10:46:25Z</dcterms:created>
  <dcterms:modified xsi:type="dcterms:W3CDTF">2026-09-02T10:46:25Z</dcterms:modified>
</cp:coreProperties>
</file>