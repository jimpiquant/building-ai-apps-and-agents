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266"/>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4910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a customer-run working session with customer-controlled timing. Workshop outcome: each team leaves with a charter and five-layer sketch, explicit evidence to collect, and owners for unresolved dependencies. A completed lab or functioning agent is not required. Facilitators circulate throughout rather than postponing all review until the closing activity.
• GROUNDING SOURCE: docs/day5-plan.md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Facilitate, do not lecture. Ask each team for one sentence in the form “For [user], help with [bounded task] so that [observable outcome].” Then force one explicit non-goal. Capture skills, environment, data, quota, or permission gaps as owned dependencies; no prior lab or environment is required today. Before moving on, confirm that the problem, user, in-scope task, and non-goals are written.
• GROUNDING SOURCE: docs/day5-plan.md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five-layer sketch is a workshop organizing lens, not Microsoft Foundry product architecture and not five Azure resources. Map each row to the real component or service the team expects to use, then mark identity/data/trust boundaries. Official Foundry architecture instead distinguishes the Foundry resource, projects, project assets, and independently governed connected Azure services. Before moving on, confirm that every layer has a component or an explicit not-applicable rationale and at least one trust boundary is marked.
• GROUNDING SOURCE: https://learn.microsoft.com/azure/foundry/concepts/architecture
• GROUNDING SOURCE: docs/day5-plan.md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task says what to implement; a success criterion says what observable evidence must meet which acceptance rule. Challenge “improve answer quality” by asking for cases, expected behavior, evaluator or human check, threshold, boundary, and evidence owner. Teams need 3–5 criteria and at least 10 planned golden-set cases. Thresholds are team decisions, not Microsoft defaults. Before moving on, confirm that each criterion names a metric or observation, unit where relevant, case boundary, acceptance rule, evidence, and owner.
• GROUNDING SOURCE: https://learn.microsoft.com/azure/foundry/observability/concepts/trace-agent-concept
• GROUNDING SOURCE: https://learn.microsoft.com/azure/foundry/observability/how-to/evaluation-datasets
• GROUNDING SOURCE: https://learn.microsoft.com/azure/foundry/openai/how-to/evaluate-model-router
• GROUNDING SOURCE: docs/day5-plan.md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Baseline means the known configuration measured first; candidate means a named changed configuration measured against the same documented cases and evaluator settings. Record model/deployment, instructions, tools, knowledge version, evaluator configuration, and run IDs as applicable. Change one thing when practical so the delta is interpretable. Also assign team roles, Week 1 spike/baseline, Week 2 candidate/evaluation, and Week 2–3 rehearsal milestones. Before moving on, confirm that both configurations, the planned change, owners, and comparison evidence are named.
• GROUNDING SOURCE: https://learn.microsoft.com/azure/foundry/agents/concepts/development-lifecycle
• GROUNDING SOURCE: https://learn.microsoft.com/azure/foundry/observability/how-to/evaluation-datasets
• GROUNDING SOURCE: https://learn.microsoft.com/azure/foundry/openai/how-to/evaluate-model-router
• GROUNDING SOURCE: docs/day5-plan.md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failure case is a test condition, such as an unauthorized lookup or unsupported question. A control is the deliberately implemented behavior, such as deny, answer only from evidence, or route to an application-owned review path. Do not infer that a drawn control works. Peers challenge one failure path and one cost or permission risk, then record ready, changes required, or needs review. Every gap gets an owner, evidence request, status, and next action. Facilitators coach throughout. An unresolved charter must remain explicitly unresolved rather than being counted as approved.
• GROUNDING SOURCE: https://learn.microsoft.com/azure/foundry/concepts/authentication-authorization-foundry
• GROUNDING SOURCE: https://learn.microsoft.com/azure/foundry/concepts/evaluation-evaluators/rag-evaluators
• GROUNDING SOURCE: https://learn.microsoft.com/azure/foundry/concepts/evaluation-evaluators/agent-evaluators
• GROUNDING SOURCE: docs/day5-plan.md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2C24"/>
        </a:solidFill>
        <a:effectLst/>
      </p:bgPr>
    </p:bg>
    <p:spTree>
      <p:nvGrpSpPr>
        <p:cNvPr id="1" name=""/>
        <p:cNvGrpSpPr/>
        <p:nvPr/>
      </p:nvGrpSpPr>
      <p:grpSpPr>
        <a:xfrm>
          <a:off x="0" y="0"/>
          <a:ext cx="0" cy="0"/>
          <a:chOff x="0" y="0"/>
          <a:chExt cx="0" cy="0"/>
        </a:xfrm>
      </p:grpSpPr>
      <p:sp>
        <p:nvSpPr>
          <p:cNvPr id="2" name="Shape 0"/>
          <p:cNvSpPr/>
          <p:nvPr/>
        </p:nvSpPr>
        <p:spPr>
          <a:xfrm>
            <a:off x="7973568" y="137160"/>
            <a:ext cx="3886200" cy="3886200"/>
          </a:xfrm>
          <a:prstGeom prst="ellipse">
            <a:avLst/>
          </a:prstGeom>
          <a:solidFill>
            <a:srgbClr val="FDE4D8"/>
          </a:solidFill>
          <a:ln/>
        </p:spPr>
        <p:txBody>
          <a:bodyPr/>
          <a:lstStyle/>
          <a:p>
            <a:endParaRPr lang="en-US"/>
          </a:p>
        </p:txBody>
      </p:sp>
      <p:sp>
        <p:nvSpPr>
          <p:cNvPr id="3" name="Shape 1"/>
          <p:cNvSpPr/>
          <p:nvPr/>
        </p:nvSpPr>
        <p:spPr>
          <a:xfrm>
            <a:off x="8394192" y="557784"/>
            <a:ext cx="3044952" cy="3044952"/>
          </a:xfrm>
          <a:prstGeom prst="ellipse">
            <a:avLst/>
          </a:prstGeom>
          <a:solidFill>
            <a:srgbClr val="332C24"/>
          </a:solidFill>
          <a:ln/>
        </p:spPr>
        <p:txBody>
          <a:bodyPr/>
          <a:lstStyle/>
          <a:p>
            <a:endParaRPr lang="en-US"/>
          </a:p>
        </p:txBody>
      </p:sp>
      <p:sp>
        <p:nvSpPr>
          <p:cNvPr id="4" name="Shape 2"/>
          <p:cNvSpPr/>
          <p:nvPr/>
        </p:nvSpPr>
        <p:spPr>
          <a:xfrm rot="-240000">
            <a:off x="9175090" y="1069848"/>
            <a:ext cx="1558138" cy="1687982"/>
          </a:xfrm>
          <a:prstGeom prst="rect">
            <a:avLst/>
          </a:prstGeom>
          <a:solidFill>
            <a:srgbClr val="EF8354"/>
          </a:solidFill>
          <a:ln w="12700">
            <a:solidFill>
              <a:srgbClr val="FFFFFF"/>
            </a:solidFill>
            <a:prstDash val="solid"/>
          </a:ln>
        </p:spPr>
        <p:txBody>
          <a:bodyPr/>
          <a:lstStyle/>
          <a:p>
            <a:endParaRPr lang="en-US"/>
          </a:p>
        </p:txBody>
      </p:sp>
      <p:sp>
        <p:nvSpPr>
          <p:cNvPr id="5" name="Shape 3"/>
          <p:cNvSpPr/>
          <p:nvPr/>
        </p:nvSpPr>
        <p:spPr>
          <a:xfrm rot="180000">
            <a:off x="9889236" y="680314"/>
            <a:ext cx="1558138" cy="1687982"/>
          </a:xfrm>
          <a:prstGeom prst="rect">
            <a:avLst/>
          </a:prstGeom>
          <a:solidFill>
            <a:srgbClr val="FFD166"/>
          </a:solidFill>
          <a:ln w="12700">
            <a:solidFill>
              <a:srgbClr val="FFFFFF"/>
            </a:solidFill>
            <a:prstDash val="solid"/>
          </a:ln>
        </p:spPr>
        <p:txBody>
          <a:bodyPr/>
          <a:lstStyle/>
          <a:p>
            <a:endParaRPr lang="en-US"/>
          </a:p>
        </p:txBody>
      </p:sp>
      <p:sp>
        <p:nvSpPr>
          <p:cNvPr id="6" name="Shape 4"/>
          <p:cNvSpPr/>
          <p:nvPr/>
        </p:nvSpPr>
        <p:spPr>
          <a:xfrm rot="-120000">
            <a:off x="10538460" y="1329538"/>
            <a:ext cx="1558138" cy="1687982"/>
          </a:xfrm>
          <a:prstGeom prst="rect">
            <a:avLst/>
          </a:prstGeom>
          <a:solidFill>
            <a:srgbClr val="EF8354"/>
          </a:solidFill>
          <a:ln w="12700">
            <a:solidFill>
              <a:srgbClr val="FFFFFF"/>
            </a:solidFill>
            <a:prstDash val="solid"/>
          </a:ln>
        </p:spPr>
        <p:txBody>
          <a:bodyPr/>
          <a:lstStyle/>
          <a:p>
            <a:endParaRPr lang="en-US"/>
          </a:p>
        </p:txBody>
      </p:sp>
      <p:sp>
        <p:nvSpPr>
          <p:cNvPr id="7" name="Shape 5"/>
          <p:cNvSpPr/>
          <p:nvPr/>
        </p:nvSpPr>
        <p:spPr>
          <a:xfrm>
            <a:off x="713232" y="530352"/>
            <a:ext cx="2148840" cy="365760"/>
          </a:xfrm>
          <a:prstGeom prst="roundRect">
            <a:avLst>
              <a:gd name="adj" fmla="val 20000"/>
            </a:avLst>
          </a:prstGeom>
          <a:solidFill>
            <a:srgbClr val="FFD166"/>
          </a:solidFill>
          <a:ln/>
        </p:spPr>
        <p:txBody>
          <a:bodyPr/>
          <a:lstStyle/>
          <a:p>
            <a:endParaRPr lang="en-US"/>
          </a:p>
        </p:txBody>
      </p:sp>
      <p:sp>
        <p:nvSpPr>
          <p:cNvPr id="8" name="Text 6"/>
          <p:cNvSpPr/>
          <p:nvPr/>
        </p:nvSpPr>
        <p:spPr>
          <a:xfrm>
            <a:off x="868680" y="658368"/>
            <a:ext cx="1828800" cy="109728"/>
          </a:xfrm>
          <a:prstGeom prst="rect">
            <a:avLst/>
          </a:prstGeom>
          <a:noFill/>
          <a:ln/>
        </p:spPr>
        <p:txBody>
          <a:bodyPr wrap="square" lIns="0" tIns="0" rIns="0" bIns="0" rtlCol="0" anchor="ctr"/>
          <a:lstStyle/>
          <a:p>
            <a:pPr marL="0" indent="0" algn="ctr">
              <a:buNone/>
            </a:pPr>
            <a:r>
              <a:rPr lang="en-US" sz="900" b="1" kern="0" spc="160" dirty="0">
                <a:solidFill>
                  <a:srgbClr val="332C24"/>
                </a:solidFill>
                <a:latin typeface="Aptos" pitchFamily="34" charset="0"/>
                <a:ea typeface="Aptos" pitchFamily="34" charset="-122"/>
                <a:cs typeface="Aptos" pitchFamily="34" charset="-120"/>
              </a:rPr>
              <a:t>DAY 5  ·  MODULE 7</a:t>
            </a:r>
            <a:endParaRPr lang="en-US" sz="900" dirty="0"/>
          </a:p>
        </p:txBody>
      </p:sp>
      <p:sp>
        <p:nvSpPr>
          <p:cNvPr id="9" name="Text 7"/>
          <p:cNvSpPr/>
          <p:nvPr/>
        </p:nvSpPr>
        <p:spPr>
          <a:xfrm>
            <a:off x="713232" y="1298448"/>
            <a:ext cx="7150608" cy="1143000"/>
          </a:xfrm>
          <a:prstGeom prst="rect">
            <a:avLst/>
          </a:prstGeom>
          <a:noFill/>
          <a:ln/>
        </p:spPr>
        <p:txBody>
          <a:bodyPr wrap="square" lIns="0" tIns="0" rIns="0" bIns="0" rtlCol="0" anchor="ctr">
            <a:normAutofit/>
          </a:bodyPr>
          <a:lstStyle/>
          <a:p>
            <a:pPr marL="0" indent="0">
              <a:buNone/>
            </a:pPr>
            <a:r>
              <a:rPr lang="en-US" sz="3600" b="1" dirty="0">
                <a:solidFill>
                  <a:srgbClr val="FFFFFF"/>
                </a:solidFill>
                <a:latin typeface="Aptos Display" pitchFamily="34" charset="0"/>
                <a:ea typeface="Aptos Display" pitchFamily="34" charset="-122"/>
                <a:cs typeface="Aptos Display" pitchFamily="34" charset="-120"/>
              </a:rPr>
              <a:t>Capstone Scoping Working Session</a:t>
            </a:r>
            <a:endParaRPr lang="en-US" sz="3600" dirty="0"/>
          </a:p>
        </p:txBody>
      </p:sp>
      <p:sp>
        <p:nvSpPr>
          <p:cNvPr id="10" name="Text 8"/>
          <p:cNvSpPr/>
          <p:nvPr/>
        </p:nvSpPr>
        <p:spPr>
          <a:xfrm>
            <a:off x="749808" y="2615184"/>
            <a:ext cx="6931152" cy="786384"/>
          </a:xfrm>
          <a:prstGeom prst="rect">
            <a:avLst/>
          </a:prstGeom>
          <a:noFill/>
          <a:ln/>
        </p:spPr>
        <p:txBody>
          <a:bodyPr wrap="square" lIns="0" tIns="0" rIns="0" bIns="0" rtlCol="0" anchor="ctr">
            <a:normAutofit/>
          </a:bodyPr>
          <a:lstStyle/>
          <a:p>
            <a:pPr marL="0" indent="0">
              <a:buNone/>
            </a:pPr>
            <a:r>
              <a:rPr lang="en-US" sz="1830" dirty="0">
                <a:solidFill>
                  <a:srgbClr val="E4EAF0"/>
                </a:solidFill>
                <a:latin typeface="Aptos" pitchFamily="34" charset="0"/>
                <a:ea typeface="Aptos" pitchFamily="34" charset="-122"/>
                <a:cs typeface="Aptos" pitchFamily="34" charset="-120"/>
              </a:rPr>
              <a:t>Leave with a reviewable charter, an architecture sketch, and owned evidence</a:t>
            </a:r>
            <a:endParaRPr lang="en-US" sz="1830" dirty="0"/>
          </a:p>
        </p:txBody>
      </p:sp>
      <p:sp>
        <p:nvSpPr>
          <p:cNvPr id="11" name="Shape 9"/>
          <p:cNvSpPr/>
          <p:nvPr/>
        </p:nvSpPr>
        <p:spPr>
          <a:xfrm>
            <a:off x="713232" y="4160520"/>
            <a:ext cx="6793992" cy="1097280"/>
          </a:xfrm>
          <a:prstGeom prst="roundRect">
            <a:avLst>
              <a:gd name="adj" fmla="val 6667"/>
            </a:avLst>
          </a:prstGeom>
          <a:solidFill>
            <a:srgbClr val="FFFFFF"/>
          </a:solidFill>
          <a:ln/>
        </p:spPr>
        <p:txBody>
          <a:bodyPr/>
          <a:lstStyle/>
          <a:p>
            <a:endParaRPr lang="en-US"/>
          </a:p>
        </p:txBody>
      </p:sp>
      <p:sp>
        <p:nvSpPr>
          <p:cNvPr id="12" name="Shape 10"/>
          <p:cNvSpPr/>
          <p:nvPr/>
        </p:nvSpPr>
        <p:spPr>
          <a:xfrm>
            <a:off x="713232" y="4160520"/>
            <a:ext cx="146304" cy="1097280"/>
          </a:xfrm>
          <a:prstGeom prst="rect">
            <a:avLst/>
          </a:prstGeom>
          <a:solidFill>
            <a:srgbClr val="FFD166"/>
          </a:solidFill>
          <a:ln/>
        </p:spPr>
        <p:txBody>
          <a:bodyPr/>
          <a:lstStyle/>
          <a:p>
            <a:endParaRPr lang="en-US"/>
          </a:p>
        </p:txBody>
      </p:sp>
      <p:sp>
        <p:nvSpPr>
          <p:cNvPr id="13" name="Text 11"/>
          <p:cNvSpPr/>
          <p:nvPr/>
        </p:nvSpPr>
        <p:spPr>
          <a:xfrm>
            <a:off x="1078992" y="4407408"/>
            <a:ext cx="6080760" cy="603504"/>
          </a:xfrm>
          <a:prstGeom prst="rect">
            <a:avLst/>
          </a:prstGeom>
          <a:noFill/>
          <a:ln/>
        </p:spPr>
        <p:txBody>
          <a:bodyPr wrap="square" lIns="0" tIns="0" rIns="0" bIns="0" rtlCol="0" anchor="ctr">
            <a:normAutofit/>
          </a:bodyPr>
          <a:lstStyle/>
          <a:p>
            <a:pPr marL="0" indent="0">
              <a:buNone/>
            </a:pPr>
            <a:r>
              <a:rPr lang="en-US" sz="1700" b="1" dirty="0">
                <a:solidFill>
                  <a:srgbClr val="332C24"/>
                </a:solidFill>
                <a:latin typeface="Aptos" pitchFamily="34" charset="0"/>
                <a:ea typeface="Aptos" pitchFamily="34" charset="-122"/>
                <a:cs typeface="Aptos" pitchFamily="34" charset="-120"/>
              </a:rPr>
              <a:t>Define · sketch · measure · challenge · record the disposition</a:t>
            </a:r>
            <a:endParaRPr lang="en-US" sz="1700" dirty="0"/>
          </a:p>
        </p:txBody>
      </p:sp>
      <p:sp>
        <p:nvSpPr>
          <p:cNvPr id="14" name="Text 12"/>
          <p:cNvSpPr/>
          <p:nvPr/>
        </p:nvSpPr>
        <p:spPr>
          <a:xfrm>
            <a:off x="9546336" y="4261104"/>
            <a:ext cx="2011680" cy="914400"/>
          </a:xfrm>
          <a:prstGeom prst="rect">
            <a:avLst/>
          </a:prstGeom>
          <a:noFill/>
          <a:ln/>
        </p:spPr>
        <p:txBody>
          <a:bodyPr wrap="square" lIns="0" tIns="0" rIns="0" bIns="0" rtlCol="0" anchor="ctr"/>
          <a:lstStyle/>
          <a:p>
            <a:pPr marL="0" indent="0" algn="ctr">
              <a:buNone/>
            </a:pPr>
            <a:r>
              <a:rPr lang="en-US" sz="6800" b="1" dirty="0">
                <a:solidFill>
                  <a:srgbClr val="FFD166"/>
                </a:solidFill>
                <a:latin typeface="Aptos Display" pitchFamily="34" charset="0"/>
                <a:ea typeface="Aptos Display" pitchFamily="34" charset="-122"/>
                <a:cs typeface="Aptos Display" pitchFamily="34" charset="-120"/>
              </a:rPr>
              <a:t>07</a:t>
            </a:r>
            <a:endParaRPr lang="en-US" sz="6800" dirty="0"/>
          </a:p>
        </p:txBody>
      </p:sp>
      <p:sp>
        <p:nvSpPr>
          <p:cNvPr id="15" name="Text 13"/>
          <p:cNvSpPr/>
          <p:nvPr/>
        </p:nvSpPr>
        <p:spPr>
          <a:xfrm>
            <a:off x="8732520" y="5239512"/>
            <a:ext cx="3611880" cy="182880"/>
          </a:xfrm>
          <a:prstGeom prst="rect">
            <a:avLst/>
          </a:prstGeom>
          <a:noFill/>
          <a:ln/>
        </p:spPr>
        <p:txBody>
          <a:bodyPr wrap="square" lIns="0" tIns="0" rIns="0" bIns="0" rtlCol="0" anchor="ctr"/>
          <a:lstStyle/>
          <a:p>
            <a:pPr marL="0" indent="0" algn="ctr">
              <a:buNone/>
            </a:pPr>
            <a:r>
              <a:rPr lang="en-US" sz="950" b="1" kern="0" spc="240" dirty="0">
                <a:solidFill>
                  <a:srgbClr val="FFFFFF"/>
                </a:solidFill>
                <a:latin typeface="Aptos" pitchFamily="34" charset="0"/>
                <a:ea typeface="Aptos" pitchFamily="34" charset="-122"/>
                <a:cs typeface="Aptos" pitchFamily="34" charset="-120"/>
              </a:rPr>
              <a:t>WORKSHOP CANVAS</a:t>
            </a:r>
            <a:endParaRPr lang="en-US" sz="950" dirty="0"/>
          </a:p>
        </p:txBody>
      </p:sp>
      <p:sp>
        <p:nvSpPr>
          <p:cNvPr id="16" name="Text 14"/>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DDE7EF"/>
                </a:solidFill>
                <a:latin typeface="Aptos" pitchFamily="34" charset="0"/>
                <a:ea typeface="Aptos" pitchFamily="34" charset="-122"/>
                <a:cs typeface="Aptos" pitchFamily="34" charset="-120"/>
              </a:rPr>
              <a:t>REFERENCE  docs/day5-plan.md</a:t>
            </a:r>
            <a:endParaRPr lang="en-US" sz="940" dirty="0"/>
          </a:p>
        </p:txBody>
      </p:sp>
      <p:sp>
        <p:nvSpPr>
          <p:cNvPr id="17" name="Shape 15"/>
          <p:cNvSpPr/>
          <p:nvPr/>
        </p:nvSpPr>
        <p:spPr>
          <a:xfrm>
            <a:off x="0" y="6793992"/>
            <a:ext cx="12191695" cy="64008"/>
          </a:xfrm>
          <a:prstGeom prst="rect">
            <a:avLst/>
          </a:prstGeom>
          <a:solidFill>
            <a:srgbClr val="FFD166"/>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CF5"/>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32C24"/>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7  /  WORKSHOP CANVAS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332C24"/>
                </a:solidFill>
                <a:latin typeface="Aptos Display" pitchFamily="34" charset="0"/>
                <a:ea typeface="Aptos Display" pitchFamily="34" charset="-122"/>
                <a:cs typeface="Aptos Display" pitchFamily="34" charset="-120"/>
              </a:rPr>
              <a:t>Narrow the scenario</a:t>
            </a:r>
            <a:endParaRPr lang="en-US" sz="3100" dirty="0"/>
          </a:p>
        </p:txBody>
      </p:sp>
      <p:sp>
        <p:nvSpPr>
          <p:cNvPr id="5" name="Shape 3"/>
          <p:cNvSpPr/>
          <p:nvPr/>
        </p:nvSpPr>
        <p:spPr>
          <a:xfrm rot="-240000">
            <a:off x="10824301" y="515722"/>
            <a:ext cx="316017" cy="342351"/>
          </a:xfrm>
          <a:prstGeom prst="rect">
            <a:avLst/>
          </a:prstGeom>
          <a:solidFill>
            <a:srgbClr val="FFF2C6"/>
          </a:solidFill>
          <a:ln w="12700">
            <a:solidFill>
              <a:srgbClr val="332C24"/>
            </a:solidFill>
            <a:prstDash val="solid"/>
          </a:ln>
        </p:spPr>
        <p:txBody>
          <a:bodyPr/>
          <a:lstStyle/>
          <a:p>
            <a:endParaRPr lang="en-US"/>
          </a:p>
        </p:txBody>
      </p:sp>
      <p:sp>
        <p:nvSpPr>
          <p:cNvPr id="6" name="Shape 4"/>
          <p:cNvSpPr/>
          <p:nvPr/>
        </p:nvSpPr>
        <p:spPr>
          <a:xfrm rot="180000">
            <a:off x="10969142" y="436717"/>
            <a:ext cx="316017" cy="342351"/>
          </a:xfrm>
          <a:prstGeom prst="rect">
            <a:avLst/>
          </a:prstGeom>
          <a:solidFill>
            <a:srgbClr val="FFD166"/>
          </a:solidFill>
          <a:ln w="12700">
            <a:solidFill>
              <a:srgbClr val="332C24"/>
            </a:solidFill>
            <a:prstDash val="solid"/>
          </a:ln>
        </p:spPr>
        <p:txBody>
          <a:bodyPr/>
          <a:lstStyle/>
          <a:p>
            <a:endParaRPr lang="en-US"/>
          </a:p>
        </p:txBody>
      </p:sp>
      <p:sp>
        <p:nvSpPr>
          <p:cNvPr id="7" name="Shape 5"/>
          <p:cNvSpPr/>
          <p:nvPr/>
        </p:nvSpPr>
        <p:spPr>
          <a:xfrm rot="-120000">
            <a:off x="11100816" y="568391"/>
            <a:ext cx="316017" cy="342351"/>
          </a:xfrm>
          <a:prstGeom prst="rect">
            <a:avLst/>
          </a:prstGeom>
          <a:solidFill>
            <a:srgbClr val="FFF2C6"/>
          </a:solidFill>
          <a:ln w="12700">
            <a:solidFill>
              <a:srgbClr val="332C24"/>
            </a:solidFill>
            <a:prstDash val="solid"/>
          </a:ln>
        </p:spPr>
        <p:txBody>
          <a:bodyPr/>
          <a:lstStyle/>
          <a:p>
            <a:endParaRPr lang="en-US"/>
          </a:p>
        </p:txBody>
      </p:sp>
      <p:sp>
        <p:nvSpPr>
          <p:cNvPr id="8" name="Shape 6"/>
          <p:cNvSpPr/>
          <p:nvPr/>
        </p:nvSpPr>
        <p:spPr>
          <a:xfrm>
            <a:off x="11612880" y="457200"/>
            <a:ext cx="329184" cy="329184"/>
          </a:xfrm>
          <a:prstGeom prst="ellipse">
            <a:avLst/>
          </a:prstGeom>
          <a:solidFill>
            <a:srgbClr val="FFD166"/>
          </a:solidFill>
          <a:ln/>
        </p:spPr>
        <p:txBody>
          <a:bodyPr/>
          <a:lstStyle/>
          <a:p>
            <a:endParaRPr lang="en-US"/>
          </a:p>
        </p:txBody>
      </p:sp>
      <p:sp>
        <p:nvSpPr>
          <p:cNvPr id="9" name="Text 7"/>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332C24"/>
                </a:solidFill>
                <a:latin typeface="Aptos" pitchFamily="34" charset="0"/>
                <a:ea typeface="Aptos" pitchFamily="34" charset="-122"/>
                <a:cs typeface="Aptos" pitchFamily="34" charset="-120"/>
              </a:rPr>
              <a:t>02</a:t>
            </a:r>
            <a:endParaRPr lang="en-US" sz="850" dirty="0"/>
          </a:p>
        </p:txBody>
      </p:sp>
      <p:sp>
        <p:nvSpPr>
          <p:cNvPr id="10" name="Shape 8"/>
          <p:cNvSpPr/>
          <p:nvPr/>
        </p:nvSpPr>
        <p:spPr>
          <a:xfrm>
            <a:off x="9829800" y="1005840"/>
            <a:ext cx="2148840" cy="2148840"/>
          </a:xfrm>
          <a:prstGeom prst="ellipse">
            <a:avLst/>
          </a:prstGeom>
          <a:solidFill>
            <a:srgbClr val="FFF2C6"/>
          </a:solidFill>
          <a:ln/>
        </p:spPr>
        <p:txBody>
          <a:bodyPr/>
          <a:lstStyle/>
          <a:p>
            <a:endParaRPr lang="en-US"/>
          </a:p>
        </p:txBody>
      </p:sp>
      <p:sp>
        <p:nvSpPr>
          <p:cNvPr id="11" name="Shape 9"/>
          <p:cNvSpPr/>
          <p:nvPr/>
        </p:nvSpPr>
        <p:spPr>
          <a:xfrm>
            <a:off x="640080" y="1389888"/>
            <a:ext cx="10908792" cy="738835"/>
          </a:xfrm>
          <a:prstGeom prst="roundRect">
            <a:avLst>
              <a:gd name="adj" fmla="val 9901"/>
            </a:avLst>
          </a:prstGeom>
          <a:solidFill>
            <a:srgbClr val="FFF2C6"/>
          </a:solidFill>
          <a:ln w="10160">
            <a:solidFill>
              <a:srgbClr val="FFD166"/>
            </a:solidFill>
            <a:prstDash val="solid"/>
          </a:ln>
        </p:spPr>
        <p:txBody>
          <a:bodyPr/>
          <a:lstStyle/>
          <a:p>
            <a:endParaRPr lang="en-US"/>
          </a:p>
        </p:txBody>
      </p:sp>
      <p:sp>
        <p:nvSpPr>
          <p:cNvPr id="12" name="Shape 10"/>
          <p:cNvSpPr/>
          <p:nvPr/>
        </p:nvSpPr>
        <p:spPr>
          <a:xfrm>
            <a:off x="804672" y="1545336"/>
            <a:ext cx="676656" cy="427939"/>
          </a:xfrm>
          <a:prstGeom prst="roundRect">
            <a:avLst>
              <a:gd name="adj" fmla="val 17094"/>
            </a:avLst>
          </a:prstGeom>
          <a:solidFill>
            <a:srgbClr val="FFD166"/>
          </a:solidFill>
          <a:ln/>
        </p:spPr>
        <p:txBody>
          <a:bodyPr/>
          <a:lstStyle/>
          <a:p>
            <a:endParaRPr lang="en-US"/>
          </a:p>
        </p:txBody>
      </p:sp>
      <p:sp>
        <p:nvSpPr>
          <p:cNvPr id="13" name="Text 11"/>
          <p:cNvSpPr/>
          <p:nvPr/>
        </p:nvSpPr>
        <p:spPr>
          <a:xfrm>
            <a:off x="804672" y="1686154"/>
            <a:ext cx="676656" cy="146304"/>
          </a:xfrm>
          <a:prstGeom prst="rect">
            <a:avLst/>
          </a:prstGeom>
          <a:noFill/>
          <a:ln/>
        </p:spPr>
        <p:txBody>
          <a:bodyPr wrap="square" lIns="0" tIns="0" rIns="0" bIns="0" rtlCol="0" anchor="ctr"/>
          <a:lstStyle/>
          <a:p>
            <a:pPr marL="0" indent="0" algn="ctr">
              <a:buNone/>
            </a:pPr>
            <a:r>
              <a:rPr lang="en-US" sz="1100" b="1" dirty="0">
                <a:solidFill>
                  <a:srgbClr val="332C24"/>
                </a:solidFill>
                <a:latin typeface="Aptos" pitchFamily="34" charset="0"/>
                <a:ea typeface="Aptos" pitchFamily="34" charset="-122"/>
                <a:cs typeface="Aptos" pitchFamily="34" charset="-120"/>
              </a:rPr>
              <a:t>01</a:t>
            </a:r>
            <a:endParaRPr lang="en-US" sz="1100" dirty="0"/>
          </a:p>
        </p:txBody>
      </p:sp>
      <p:sp>
        <p:nvSpPr>
          <p:cNvPr id="14" name="Text 12"/>
          <p:cNvSpPr/>
          <p:nvPr/>
        </p:nvSpPr>
        <p:spPr>
          <a:xfrm>
            <a:off x="1691640" y="1536192"/>
            <a:ext cx="2926080" cy="446227"/>
          </a:xfrm>
          <a:prstGeom prst="rect">
            <a:avLst/>
          </a:prstGeom>
          <a:noFill/>
          <a:ln/>
        </p:spPr>
        <p:txBody>
          <a:bodyPr wrap="square" lIns="0" tIns="0" rIns="0" bIns="0" rtlCol="0" anchor="ctr">
            <a:normAutofit/>
          </a:bodyPr>
          <a:lstStyle/>
          <a:p>
            <a:pPr marL="0" indent="0">
              <a:buNone/>
            </a:pPr>
            <a:r>
              <a:rPr lang="en-US" sz="1750" b="1" dirty="0">
                <a:solidFill>
                  <a:srgbClr val="332C24"/>
                </a:solidFill>
                <a:latin typeface="Aptos Display" pitchFamily="34" charset="0"/>
                <a:ea typeface="Aptos Display" pitchFamily="34" charset="-122"/>
                <a:cs typeface="Aptos Display" pitchFamily="34" charset="-120"/>
              </a:rPr>
              <a:t>Name the user</a:t>
            </a:r>
            <a:endParaRPr lang="en-US" sz="1750" dirty="0"/>
          </a:p>
        </p:txBody>
      </p:sp>
      <p:sp>
        <p:nvSpPr>
          <p:cNvPr id="15" name="Text 13"/>
          <p:cNvSpPr/>
          <p:nvPr/>
        </p:nvSpPr>
        <p:spPr>
          <a:xfrm>
            <a:off x="4709160" y="1517904"/>
            <a:ext cx="6565392" cy="482803"/>
          </a:xfrm>
          <a:prstGeom prst="rect">
            <a:avLst/>
          </a:prstGeom>
          <a:noFill/>
          <a:ln/>
        </p:spPr>
        <p:txBody>
          <a:bodyPr wrap="square" lIns="0" tIns="0" rIns="0" bIns="0" rtlCol="0" anchor="ctr">
            <a:normAutofit/>
          </a:bodyPr>
          <a:lstStyle/>
          <a:p>
            <a:pPr marL="342900" indent="-342900">
              <a:buSzPct val="100000"/>
              <a:buChar char="•"/>
            </a:pPr>
            <a:r>
              <a:rPr lang="en-US" sz="1440" dirty="0">
                <a:solidFill>
                  <a:srgbClr val="352E27"/>
                </a:solidFill>
                <a:latin typeface="Aptos" pitchFamily="34" charset="0"/>
                <a:ea typeface="Aptos" pitchFamily="34" charset="-122"/>
                <a:cs typeface="Aptos" pitchFamily="34" charset="-120"/>
              </a:rPr>
              <a:t>who receives or acts on the result?</a:t>
            </a:r>
            <a:endParaRPr lang="en-US" sz="1440" dirty="0"/>
          </a:p>
        </p:txBody>
      </p:sp>
      <p:sp>
        <p:nvSpPr>
          <p:cNvPr id="16" name="Shape 14"/>
          <p:cNvSpPr/>
          <p:nvPr/>
        </p:nvSpPr>
        <p:spPr>
          <a:xfrm>
            <a:off x="640080" y="2256739"/>
            <a:ext cx="10908792" cy="738835"/>
          </a:xfrm>
          <a:prstGeom prst="roundRect">
            <a:avLst>
              <a:gd name="adj" fmla="val 9901"/>
            </a:avLst>
          </a:prstGeom>
          <a:solidFill>
            <a:srgbClr val="FFFFFF"/>
          </a:solidFill>
          <a:ln w="10160">
            <a:solidFill>
              <a:srgbClr val="FFF2C6"/>
            </a:solidFill>
            <a:prstDash val="solid"/>
          </a:ln>
        </p:spPr>
        <p:txBody>
          <a:bodyPr/>
          <a:lstStyle/>
          <a:p>
            <a:endParaRPr lang="en-US"/>
          </a:p>
        </p:txBody>
      </p:sp>
      <p:sp>
        <p:nvSpPr>
          <p:cNvPr id="17" name="Shape 15"/>
          <p:cNvSpPr/>
          <p:nvPr/>
        </p:nvSpPr>
        <p:spPr>
          <a:xfrm>
            <a:off x="804672" y="2412187"/>
            <a:ext cx="676656" cy="427939"/>
          </a:xfrm>
          <a:prstGeom prst="roundRect">
            <a:avLst>
              <a:gd name="adj" fmla="val 17094"/>
            </a:avLst>
          </a:prstGeom>
          <a:solidFill>
            <a:srgbClr val="EF8354"/>
          </a:solidFill>
          <a:ln/>
        </p:spPr>
        <p:txBody>
          <a:bodyPr/>
          <a:lstStyle/>
          <a:p>
            <a:endParaRPr lang="en-US"/>
          </a:p>
        </p:txBody>
      </p:sp>
      <p:sp>
        <p:nvSpPr>
          <p:cNvPr id="18" name="Text 16"/>
          <p:cNvSpPr/>
          <p:nvPr/>
        </p:nvSpPr>
        <p:spPr>
          <a:xfrm>
            <a:off x="804672" y="2553005"/>
            <a:ext cx="676656" cy="146304"/>
          </a:xfrm>
          <a:prstGeom prst="rect">
            <a:avLst/>
          </a:prstGeom>
          <a:noFill/>
          <a:ln/>
        </p:spPr>
        <p:txBody>
          <a:bodyPr wrap="square" lIns="0" tIns="0" rIns="0" bIns="0" rtlCol="0" anchor="ctr"/>
          <a:lstStyle/>
          <a:p>
            <a:pPr marL="0" indent="0" algn="ctr">
              <a:buNone/>
            </a:pPr>
            <a:r>
              <a:rPr lang="en-US" sz="1100" b="1" dirty="0">
                <a:solidFill>
                  <a:srgbClr val="332C24"/>
                </a:solidFill>
                <a:latin typeface="Aptos" pitchFamily="34" charset="0"/>
                <a:ea typeface="Aptos" pitchFamily="34" charset="-122"/>
                <a:cs typeface="Aptos" pitchFamily="34" charset="-120"/>
              </a:rPr>
              <a:t>02</a:t>
            </a:r>
            <a:endParaRPr lang="en-US" sz="1100" dirty="0"/>
          </a:p>
        </p:txBody>
      </p:sp>
      <p:sp>
        <p:nvSpPr>
          <p:cNvPr id="19" name="Text 17"/>
          <p:cNvSpPr/>
          <p:nvPr/>
        </p:nvSpPr>
        <p:spPr>
          <a:xfrm>
            <a:off x="1691640" y="2403043"/>
            <a:ext cx="2926080" cy="446227"/>
          </a:xfrm>
          <a:prstGeom prst="rect">
            <a:avLst/>
          </a:prstGeom>
          <a:noFill/>
          <a:ln/>
        </p:spPr>
        <p:txBody>
          <a:bodyPr wrap="square" lIns="0" tIns="0" rIns="0" bIns="0" rtlCol="0" anchor="ctr">
            <a:normAutofit/>
          </a:bodyPr>
          <a:lstStyle/>
          <a:p>
            <a:pPr marL="0" indent="0">
              <a:buNone/>
            </a:pPr>
            <a:r>
              <a:rPr lang="en-US" sz="1750" b="1" dirty="0">
                <a:solidFill>
                  <a:srgbClr val="332C24"/>
                </a:solidFill>
                <a:latin typeface="Aptos Display" pitchFamily="34" charset="0"/>
                <a:ea typeface="Aptos Display" pitchFamily="34" charset="-122"/>
                <a:cs typeface="Aptos Display" pitchFamily="34" charset="-120"/>
              </a:rPr>
              <a:t>Bound one task</a:t>
            </a:r>
            <a:endParaRPr lang="en-US" sz="1750" dirty="0"/>
          </a:p>
        </p:txBody>
      </p:sp>
      <p:sp>
        <p:nvSpPr>
          <p:cNvPr id="20" name="Text 18"/>
          <p:cNvSpPr/>
          <p:nvPr/>
        </p:nvSpPr>
        <p:spPr>
          <a:xfrm>
            <a:off x="4709160" y="2384755"/>
            <a:ext cx="6565392" cy="482803"/>
          </a:xfrm>
          <a:prstGeom prst="rect">
            <a:avLst/>
          </a:prstGeom>
          <a:noFill/>
          <a:ln/>
        </p:spPr>
        <p:txBody>
          <a:bodyPr wrap="square" lIns="0" tIns="0" rIns="0" bIns="0" rtlCol="0" anchor="ctr">
            <a:normAutofit/>
          </a:bodyPr>
          <a:lstStyle/>
          <a:p>
            <a:pPr marL="342900" indent="-342900">
              <a:buSzPct val="100000"/>
              <a:buChar char="•"/>
            </a:pPr>
            <a:r>
              <a:rPr lang="en-US" sz="1440" dirty="0">
                <a:solidFill>
                  <a:srgbClr val="352E27"/>
                </a:solidFill>
                <a:latin typeface="Aptos" pitchFamily="34" charset="0"/>
                <a:ea typeface="Aptos" pitchFamily="34" charset="-122"/>
                <a:cs typeface="Aptos" pitchFamily="34" charset="-120"/>
              </a:rPr>
              <a:t>what begins and ends inside the capstone?</a:t>
            </a:r>
            <a:endParaRPr lang="en-US" sz="1440" dirty="0"/>
          </a:p>
        </p:txBody>
      </p:sp>
      <p:sp>
        <p:nvSpPr>
          <p:cNvPr id="21" name="Shape 19"/>
          <p:cNvSpPr/>
          <p:nvPr/>
        </p:nvSpPr>
        <p:spPr>
          <a:xfrm>
            <a:off x="640080" y="3123590"/>
            <a:ext cx="10908792" cy="738835"/>
          </a:xfrm>
          <a:prstGeom prst="roundRect">
            <a:avLst>
              <a:gd name="adj" fmla="val 9901"/>
            </a:avLst>
          </a:prstGeom>
          <a:solidFill>
            <a:srgbClr val="FFFFFF"/>
          </a:solidFill>
          <a:ln w="10160">
            <a:solidFill>
              <a:srgbClr val="FFF2C6"/>
            </a:solidFill>
            <a:prstDash val="solid"/>
          </a:ln>
        </p:spPr>
        <p:txBody>
          <a:bodyPr/>
          <a:lstStyle/>
          <a:p>
            <a:endParaRPr lang="en-US"/>
          </a:p>
        </p:txBody>
      </p:sp>
      <p:sp>
        <p:nvSpPr>
          <p:cNvPr id="22" name="Shape 20"/>
          <p:cNvSpPr/>
          <p:nvPr/>
        </p:nvSpPr>
        <p:spPr>
          <a:xfrm>
            <a:off x="804672" y="3279038"/>
            <a:ext cx="676656" cy="427939"/>
          </a:xfrm>
          <a:prstGeom prst="roundRect">
            <a:avLst>
              <a:gd name="adj" fmla="val 17094"/>
            </a:avLst>
          </a:prstGeom>
          <a:solidFill>
            <a:srgbClr val="FFD166"/>
          </a:solidFill>
          <a:ln/>
        </p:spPr>
        <p:txBody>
          <a:bodyPr/>
          <a:lstStyle/>
          <a:p>
            <a:endParaRPr lang="en-US"/>
          </a:p>
        </p:txBody>
      </p:sp>
      <p:sp>
        <p:nvSpPr>
          <p:cNvPr id="23" name="Text 21"/>
          <p:cNvSpPr/>
          <p:nvPr/>
        </p:nvSpPr>
        <p:spPr>
          <a:xfrm>
            <a:off x="804672" y="3419856"/>
            <a:ext cx="676656" cy="146304"/>
          </a:xfrm>
          <a:prstGeom prst="rect">
            <a:avLst/>
          </a:prstGeom>
          <a:noFill/>
          <a:ln/>
        </p:spPr>
        <p:txBody>
          <a:bodyPr wrap="square" lIns="0" tIns="0" rIns="0" bIns="0" rtlCol="0" anchor="ctr"/>
          <a:lstStyle/>
          <a:p>
            <a:pPr marL="0" indent="0" algn="ctr">
              <a:buNone/>
            </a:pPr>
            <a:r>
              <a:rPr lang="en-US" sz="1100" b="1" dirty="0">
                <a:solidFill>
                  <a:srgbClr val="332C24"/>
                </a:solidFill>
                <a:latin typeface="Aptos" pitchFamily="34" charset="0"/>
                <a:ea typeface="Aptos" pitchFamily="34" charset="-122"/>
                <a:cs typeface="Aptos" pitchFamily="34" charset="-120"/>
              </a:rPr>
              <a:t>03</a:t>
            </a:r>
            <a:endParaRPr lang="en-US" sz="1100" dirty="0"/>
          </a:p>
        </p:txBody>
      </p:sp>
      <p:sp>
        <p:nvSpPr>
          <p:cNvPr id="24" name="Text 22"/>
          <p:cNvSpPr/>
          <p:nvPr/>
        </p:nvSpPr>
        <p:spPr>
          <a:xfrm>
            <a:off x="1691640" y="3269894"/>
            <a:ext cx="2926080" cy="446227"/>
          </a:xfrm>
          <a:prstGeom prst="rect">
            <a:avLst/>
          </a:prstGeom>
          <a:noFill/>
          <a:ln/>
        </p:spPr>
        <p:txBody>
          <a:bodyPr wrap="square" lIns="0" tIns="0" rIns="0" bIns="0" rtlCol="0" anchor="ctr">
            <a:normAutofit/>
          </a:bodyPr>
          <a:lstStyle/>
          <a:p>
            <a:pPr marL="0" indent="0">
              <a:buNone/>
            </a:pPr>
            <a:r>
              <a:rPr lang="en-US" sz="1750" b="1" dirty="0">
                <a:solidFill>
                  <a:srgbClr val="332C24"/>
                </a:solidFill>
                <a:latin typeface="Aptos Display" pitchFamily="34" charset="0"/>
                <a:ea typeface="Aptos Display" pitchFamily="34" charset="-122"/>
                <a:cs typeface="Aptos Display" pitchFamily="34" charset="-120"/>
              </a:rPr>
              <a:t>State the outcome</a:t>
            </a:r>
            <a:endParaRPr lang="en-US" sz="1750" dirty="0"/>
          </a:p>
        </p:txBody>
      </p:sp>
      <p:sp>
        <p:nvSpPr>
          <p:cNvPr id="25" name="Text 23"/>
          <p:cNvSpPr/>
          <p:nvPr/>
        </p:nvSpPr>
        <p:spPr>
          <a:xfrm>
            <a:off x="4709160" y="3251606"/>
            <a:ext cx="6565392" cy="482803"/>
          </a:xfrm>
          <a:prstGeom prst="rect">
            <a:avLst/>
          </a:prstGeom>
          <a:noFill/>
          <a:ln/>
        </p:spPr>
        <p:txBody>
          <a:bodyPr wrap="square" lIns="0" tIns="0" rIns="0" bIns="0" rtlCol="0" anchor="ctr">
            <a:normAutofit/>
          </a:bodyPr>
          <a:lstStyle/>
          <a:p>
            <a:pPr marL="342900" indent="-342900">
              <a:buSzPct val="100000"/>
              <a:buChar char="•"/>
            </a:pPr>
            <a:r>
              <a:rPr lang="en-US" sz="1440" dirty="0">
                <a:solidFill>
                  <a:srgbClr val="352E27"/>
                </a:solidFill>
                <a:latin typeface="Aptos" pitchFamily="34" charset="0"/>
                <a:ea typeface="Aptos" pitchFamily="34" charset="-122"/>
                <a:cs typeface="Aptos" pitchFamily="34" charset="-120"/>
              </a:rPr>
              <a:t>what observable change would make it useful?</a:t>
            </a:r>
            <a:endParaRPr lang="en-US" sz="1440" dirty="0"/>
          </a:p>
        </p:txBody>
      </p:sp>
      <p:sp>
        <p:nvSpPr>
          <p:cNvPr id="26" name="Shape 24"/>
          <p:cNvSpPr/>
          <p:nvPr/>
        </p:nvSpPr>
        <p:spPr>
          <a:xfrm>
            <a:off x="640080" y="3990442"/>
            <a:ext cx="10908792" cy="738835"/>
          </a:xfrm>
          <a:prstGeom prst="roundRect">
            <a:avLst>
              <a:gd name="adj" fmla="val 9901"/>
            </a:avLst>
          </a:prstGeom>
          <a:solidFill>
            <a:srgbClr val="FFFFFF"/>
          </a:solidFill>
          <a:ln w="10160">
            <a:solidFill>
              <a:srgbClr val="FFF2C6"/>
            </a:solidFill>
            <a:prstDash val="solid"/>
          </a:ln>
        </p:spPr>
        <p:txBody>
          <a:bodyPr/>
          <a:lstStyle/>
          <a:p>
            <a:endParaRPr lang="en-US"/>
          </a:p>
        </p:txBody>
      </p:sp>
      <p:sp>
        <p:nvSpPr>
          <p:cNvPr id="27" name="Shape 25"/>
          <p:cNvSpPr/>
          <p:nvPr/>
        </p:nvSpPr>
        <p:spPr>
          <a:xfrm>
            <a:off x="804672" y="4145890"/>
            <a:ext cx="676656" cy="427939"/>
          </a:xfrm>
          <a:prstGeom prst="roundRect">
            <a:avLst>
              <a:gd name="adj" fmla="val 17094"/>
            </a:avLst>
          </a:prstGeom>
          <a:solidFill>
            <a:srgbClr val="EF8354"/>
          </a:solidFill>
          <a:ln/>
        </p:spPr>
        <p:txBody>
          <a:bodyPr/>
          <a:lstStyle/>
          <a:p>
            <a:endParaRPr lang="en-US"/>
          </a:p>
        </p:txBody>
      </p:sp>
      <p:sp>
        <p:nvSpPr>
          <p:cNvPr id="28" name="Text 26"/>
          <p:cNvSpPr/>
          <p:nvPr/>
        </p:nvSpPr>
        <p:spPr>
          <a:xfrm>
            <a:off x="804672" y="4286707"/>
            <a:ext cx="676656" cy="146304"/>
          </a:xfrm>
          <a:prstGeom prst="rect">
            <a:avLst/>
          </a:prstGeom>
          <a:noFill/>
          <a:ln/>
        </p:spPr>
        <p:txBody>
          <a:bodyPr wrap="square" lIns="0" tIns="0" rIns="0" bIns="0" rtlCol="0" anchor="ctr"/>
          <a:lstStyle/>
          <a:p>
            <a:pPr marL="0" indent="0" algn="ctr">
              <a:buNone/>
            </a:pPr>
            <a:r>
              <a:rPr lang="en-US" sz="1100" b="1" dirty="0">
                <a:solidFill>
                  <a:srgbClr val="332C24"/>
                </a:solidFill>
                <a:latin typeface="Aptos" pitchFamily="34" charset="0"/>
                <a:ea typeface="Aptos" pitchFamily="34" charset="-122"/>
                <a:cs typeface="Aptos" pitchFamily="34" charset="-120"/>
              </a:rPr>
              <a:t>04</a:t>
            </a:r>
            <a:endParaRPr lang="en-US" sz="1100" dirty="0"/>
          </a:p>
        </p:txBody>
      </p:sp>
      <p:sp>
        <p:nvSpPr>
          <p:cNvPr id="29" name="Text 27"/>
          <p:cNvSpPr/>
          <p:nvPr/>
        </p:nvSpPr>
        <p:spPr>
          <a:xfrm>
            <a:off x="1691640" y="4136746"/>
            <a:ext cx="2926080" cy="446227"/>
          </a:xfrm>
          <a:prstGeom prst="rect">
            <a:avLst/>
          </a:prstGeom>
          <a:noFill/>
          <a:ln/>
        </p:spPr>
        <p:txBody>
          <a:bodyPr wrap="square" lIns="0" tIns="0" rIns="0" bIns="0" rtlCol="0" anchor="ctr">
            <a:normAutofit/>
          </a:bodyPr>
          <a:lstStyle/>
          <a:p>
            <a:pPr marL="0" indent="0">
              <a:buNone/>
            </a:pPr>
            <a:r>
              <a:rPr lang="en-US" sz="1750" b="1" dirty="0">
                <a:solidFill>
                  <a:srgbClr val="332C24"/>
                </a:solidFill>
                <a:latin typeface="Aptos Display" pitchFamily="34" charset="0"/>
                <a:ea typeface="Aptos Display" pitchFamily="34" charset="-122"/>
                <a:cs typeface="Aptos Display" pitchFamily="34" charset="-120"/>
              </a:rPr>
              <a:t>Write non-goals</a:t>
            </a:r>
            <a:endParaRPr lang="en-US" sz="1750" dirty="0"/>
          </a:p>
        </p:txBody>
      </p:sp>
      <p:sp>
        <p:nvSpPr>
          <p:cNvPr id="30" name="Text 28"/>
          <p:cNvSpPr/>
          <p:nvPr/>
        </p:nvSpPr>
        <p:spPr>
          <a:xfrm>
            <a:off x="4709160" y="4118458"/>
            <a:ext cx="6565392" cy="482803"/>
          </a:xfrm>
          <a:prstGeom prst="rect">
            <a:avLst/>
          </a:prstGeom>
          <a:noFill/>
          <a:ln/>
        </p:spPr>
        <p:txBody>
          <a:bodyPr wrap="square" lIns="0" tIns="0" rIns="0" bIns="0" rtlCol="0" anchor="ctr">
            <a:normAutofit/>
          </a:bodyPr>
          <a:lstStyle/>
          <a:p>
            <a:pPr marL="342900" indent="-342900">
              <a:buSzPct val="100000"/>
              <a:buChar char="•"/>
            </a:pPr>
            <a:r>
              <a:rPr lang="en-US" sz="1440" dirty="0">
                <a:solidFill>
                  <a:srgbClr val="352E27"/>
                </a:solidFill>
                <a:latin typeface="Aptos" pitchFamily="34" charset="0"/>
                <a:ea typeface="Aptos" pitchFamily="34" charset="-122"/>
                <a:cs typeface="Aptos" pitchFamily="34" charset="-120"/>
              </a:rPr>
              <a:t>what will this version deliberately not do?</a:t>
            </a:r>
            <a:endParaRPr lang="en-US" sz="1440" dirty="0"/>
          </a:p>
        </p:txBody>
      </p:sp>
      <p:sp>
        <p:nvSpPr>
          <p:cNvPr id="31" name="Shape 29"/>
          <p:cNvSpPr/>
          <p:nvPr/>
        </p:nvSpPr>
        <p:spPr>
          <a:xfrm>
            <a:off x="640080" y="4857293"/>
            <a:ext cx="10908792" cy="738835"/>
          </a:xfrm>
          <a:prstGeom prst="roundRect">
            <a:avLst>
              <a:gd name="adj" fmla="val 9901"/>
            </a:avLst>
          </a:prstGeom>
          <a:solidFill>
            <a:srgbClr val="FFFFFF"/>
          </a:solidFill>
          <a:ln w="10160">
            <a:solidFill>
              <a:srgbClr val="FFF2C6"/>
            </a:solidFill>
            <a:prstDash val="solid"/>
          </a:ln>
        </p:spPr>
        <p:txBody>
          <a:bodyPr/>
          <a:lstStyle/>
          <a:p>
            <a:endParaRPr lang="en-US"/>
          </a:p>
        </p:txBody>
      </p:sp>
      <p:sp>
        <p:nvSpPr>
          <p:cNvPr id="32" name="Shape 30"/>
          <p:cNvSpPr/>
          <p:nvPr/>
        </p:nvSpPr>
        <p:spPr>
          <a:xfrm>
            <a:off x="804672" y="5012741"/>
            <a:ext cx="676656" cy="427939"/>
          </a:xfrm>
          <a:prstGeom prst="roundRect">
            <a:avLst>
              <a:gd name="adj" fmla="val 17094"/>
            </a:avLst>
          </a:prstGeom>
          <a:solidFill>
            <a:srgbClr val="FFD166"/>
          </a:solidFill>
          <a:ln/>
        </p:spPr>
        <p:txBody>
          <a:bodyPr/>
          <a:lstStyle/>
          <a:p>
            <a:endParaRPr lang="en-US"/>
          </a:p>
        </p:txBody>
      </p:sp>
      <p:sp>
        <p:nvSpPr>
          <p:cNvPr id="33" name="Text 31"/>
          <p:cNvSpPr/>
          <p:nvPr/>
        </p:nvSpPr>
        <p:spPr>
          <a:xfrm>
            <a:off x="804672" y="5153558"/>
            <a:ext cx="676656" cy="146304"/>
          </a:xfrm>
          <a:prstGeom prst="rect">
            <a:avLst/>
          </a:prstGeom>
          <a:noFill/>
          <a:ln/>
        </p:spPr>
        <p:txBody>
          <a:bodyPr wrap="square" lIns="0" tIns="0" rIns="0" bIns="0" rtlCol="0" anchor="ctr"/>
          <a:lstStyle/>
          <a:p>
            <a:pPr marL="0" indent="0" algn="ctr">
              <a:buNone/>
            </a:pPr>
            <a:r>
              <a:rPr lang="en-US" sz="1100" b="1" dirty="0">
                <a:solidFill>
                  <a:srgbClr val="332C24"/>
                </a:solidFill>
                <a:latin typeface="Aptos" pitchFamily="34" charset="0"/>
                <a:ea typeface="Aptos" pitchFamily="34" charset="-122"/>
                <a:cs typeface="Aptos" pitchFamily="34" charset="-120"/>
              </a:rPr>
              <a:t>05</a:t>
            </a:r>
            <a:endParaRPr lang="en-US" sz="1100" dirty="0"/>
          </a:p>
        </p:txBody>
      </p:sp>
      <p:sp>
        <p:nvSpPr>
          <p:cNvPr id="34" name="Text 32"/>
          <p:cNvSpPr/>
          <p:nvPr/>
        </p:nvSpPr>
        <p:spPr>
          <a:xfrm>
            <a:off x="1691640" y="5003597"/>
            <a:ext cx="2926080" cy="446227"/>
          </a:xfrm>
          <a:prstGeom prst="rect">
            <a:avLst/>
          </a:prstGeom>
          <a:noFill/>
          <a:ln/>
        </p:spPr>
        <p:txBody>
          <a:bodyPr wrap="square" lIns="0" tIns="0" rIns="0" bIns="0" rtlCol="0" anchor="ctr">
            <a:normAutofit/>
          </a:bodyPr>
          <a:lstStyle/>
          <a:p>
            <a:pPr marL="0" indent="0">
              <a:buNone/>
            </a:pPr>
            <a:r>
              <a:rPr lang="en-US" sz="1750" b="1" dirty="0">
                <a:solidFill>
                  <a:srgbClr val="332C24"/>
                </a:solidFill>
                <a:latin typeface="Aptos Display" pitchFamily="34" charset="0"/>
                <a:ea typeface="Aptos Display" pitchFamily="34" charset="-122"/>
                <a:cs typeface="Aptos Display" pitchFamily="34" charset="-120"/>
              </a:rPr>
              <a:t>Own the dependencies</a:t>
            </a:r>
            <a:endParaRPr lang="en-US" sz="1750" dirty="0"/>
          </a:p>
        </p:txBody>
      </p:sp>
      <p:sp>
        <p:nvSpPr>
          <p:cNvPr id="35" name="Text 33"/>
          <p:cNvSpPr/>
          <p:nvPr/>
        </p:nvSpPr>
        <p:spPr>
          <a:xfrm>
            <a:off x="4709160" y="4985309"/>
            <a:ext cx="6565392" cy="482803"/>
          </a:xfrm>
          <a:prstGeom prst="rect">
            <a:avLst/>
          </a:prstGeom>
          <a:noFill/>
          <a:ln/>
        </p:spPr>
        <p:txBody>
          <a:bodyPr wrap="square" lIns="0" tIns="0" rIns="0" bIns="0" rtlCol="0" anchor="ctr">
            <a:normAutofit/>
          </a:bodyPr>
          <a:lstStyle/>
          <a:p>
            <a:pPr marL="342900" indent="-342900">
              <a:buSzPct val="100000"/>
              <a:buChar char="•"/>
            </a:pPr>
            <a:r>
              <a:rPr lang="en-US" sz="1440" dirty="0">
                <a:solidFill>
                  <a:srgbClr val="352E27"/>
                </a:solidFill>
                <a:latin typeface="Aptos" pitchFamily="34" charset="0"/>
                <a:ea typeface="Aptos" pitchFamily="34" charset="-122"/>
                <a:cs typeface="Aptos" pitchFamily="34" charset="-120"/>
              </a:rPr>
              <a:t>data, permissions, skills, environment, quota; assign an owner and next action</a:t>
            </a:r>
            <a:endParaRPr lang="en-US" sz="1440" dirty="0"/>
          </a:p>
        </p:txBody>
      </p:sp>
      <p:sp>
        <p:nvSpPr>
          <p:cNvPr id="36" name="Shape 34"/>
          <p:cNvSpPr/>
          <p:nvPr/>
        </p:nvSpPr>
        <p:spPr>
          <a:xfrm>
            <a:off x="640080" y="5760720"/>
            <a:ext cx="10908792" cy="438912"/>
          </a:xfrm>
          <a:prstGeom prst="roundRect">
            <a:avLst>
              <a:gd name="adj" fmla="val 16667"/>
            </a:avLst>
          </a:prstGeom>
          <a:solidFill>
            <a:srgbClr val="332C24"/>
          </a:solidFill>
          <a:ln/>
        </p:spPr>
        <p:txBody>
          <a:bodyPr/>
          <a:lstStyle/>
          <a:p>
            <a:endParaRPr lang="en-US"/>
          </a:p>
        </p:txBody>
      </p:sp>
      <p:sp>
        <p:nvSpPr>
          <p:cNvPr id="37" name="Text 35"/>
          <p:cNvSpPr/>
          <p:nvPr/>
        </p:nvSpPr>
        <p:spPr>
          <a:xfrm>
            <a:off x="859536" y="5870448"/>
            <a:ext cx="10479024" cy="256032"/>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latin typeface="Aptos" pitchFamily="34" charset="0"/>
                <a:ea typeface="Aptos" pitchFamily="34" charset="-122"/>
                <a:cs typeface="Aptos" pitchFamily="34" charset="-120"/>
              </a:rPr>
              <a:t>Output: a one-sentence problem statement, in-scope task, explicit non-goals, and owned dependencies.</a:t>
            </a:r>
            <a:endParaRPr lang="en-US" sz="1320" dirty="0"/>
          </a:p>
        </p:txBody>
      </p:sp>
      <p:sp>
        <p:nvSpPr>
          <p:cNvPr id="38" name="Text 36"/>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71675C"/>
                </a:solidFill>
                <a:latin typeface="Aptos" pitchFamily="34" charset="0"/>
                <a:ea typeface="Aptos" pitchFamily="34" charset="-122"/>
                <a:cs typeface="Aptos" pitchFamily="34" charset="-120"/>
              </a:rPr>
              <a:t>REFERENCE  docs/day5-plan.md</a:t>
            </a:r>
            <a:endParaRPr lang="en-US" sz="940" dirty="0"/>
          </a:p>
        </p:txBody>
      </p:sp>
      <p:sp>
        <p:nvSpPr>
          <p:cNvPr id="39" name="Shape 37"/>
          <p:cNvSpPr/>
          <p:nvPr/>
        </p:nvSpPr>
        <p:spPr>
          <a:xfrm>
            <a:off x="0" y="6793992"/>
            <a:ext cx="12191695" cy="64008"/>
          </a:xfrm>
          <a:prstGeom prst="rect">
            <a:avLst/>
          </a:prstGeom>
          <a:solidFill>
            <a:srgbClr val="FFD166"/>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CF5"/>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32C24"/>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7  /  WORKSHOP CANVAS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2800" b="1" dirty="0">
                <a:solidFill>
                  <a:srgbClr val="332C24"/>
                </a:solidFill>
                <a:latin typeface="Aptos Display" pitchFamily="34" charset="0"/>
                <a:ea typeface="Aptos Display" pitchFamily="34" charset="-122"/>
                <a:cs typeface="Aptos Display" pitchFamily="34" charset="-120"/>
              </a:rPr>
              <a:t>Sketch the five-layer workshop lens</a:t>
            </a:r>
            <a:endParaRPr lang="en-US" sz="2800" dirty="0"/>
          </a:p>
        </p:txBody>
      </p:sp>
      <p:sp>
        <p:nvSpPr>
          <p:cNvPr id="5" name="Shape 3"/>
          <p:cNvSpPr/>
          <p:nvPr/>
        </p:nvSpPr>
        <p:spPr>
          <a:xfrm rot="-240000">
            <a:off x="10824301" y="515722"/>
            <a:ext cx="316017" cy="342351"/>
          </a:xfrm>
          <a:prstGeom prst="rect">
            <a:avLst/>
          </a:prstGeom>
          <a:solidFill>
            <a:srgbClr val="FFF2C6"/>
          </a:solidFill>
          <a:ln w="12700">
            <a:solidFill>
              <a:srgbClr val="332C24"/>
            </a:solidFill>
            <a:prstDash val="solid"/>
          </a:ln>
        </p:spPr>
        <p:txBody>
          <a:bodyPr/>
          <a:lstStyle/>
          <a:p>
            <a:endParaRPr lang="en-US"/>
          </a:p>
        </p:txBody>
      </p:sp>
      <p:sp>
        <p:nvSpPr>
          <p:cNvPr id="6" name="Shape 4"/>
          <p:cNvSpPr/>
          <p:nvPr/>
        </p:nvSpPr>
        <p:spPr>
          <a:xfrm rot="180000">
            <a:off x="10969142" y="436717"/>
            <a:ext cx="316017" cy="342351"/>
          </a:xfrm>
          <a:prstGeom prst="rect">
            <a:avLst/>
          </a:prstGeom>
          <a:solidFill>
            <a:srgbClr val="FFD166"/>
          </a:solidFill>
          <a:ln w="12700">
            <a:solidFill>
              <a:srgbClr val="332C24"/>
            </a:solidFill>
            <a:prstDash val="solid"/>
          </a:ln>
        </p:spPr>
        <p:txBody>
          <a:bodyPr/>
          <a:lstStyle/>
          <a:p>
            <a:endParaRPr lang="en-US"/>
          </a:p>
        </p:txBody>
      </p:sp>
      <p:sp>
        <p:nvSpPr>
          <p:cNvPr id="7" name="Shape 5"/>
          <p:cNvSpPr/>
          <p:nvPr/>
        </p:nvSpPr>
        <p:spPr>
          <a:xfrm rot="-120000">
            <a:off x="11100816" y="568391"/>
            <a:ext cx="316017" cy="342351"/>
          </a:xfrm>
          <a:prstGeom prst="rect">
            <a:avLst/>
          </a:prstGeom>
          <a:solidFill>
            <a:srgbClr val="FFF2C6"/>
          </a:solidFill>
          <a:ln w="12700">
            <a:solidFill>
              <a:srgbClr val="332C24"/>
            </a:solidFill>
            <a:prstDash val="solid"/>
          </a:ln>
        </p:spPr>
        <p:txBody>
          <a:bodyPr/>
          <a:lstStyle/>
          <a:p>
            <a:endParaRPr lang="en-US"/>
          </a:p>
        </p:txBody>
      </p:sp>
      <p:sp>
        <p:nvSpPr>
          <p:cNvPr id="8" name="Shape 6"/>
          <p:cNvSpPr/>
          <p:nvPr/>
        </p:nvSpPr>
        <p:spPr>
          <a:xfrm>
            <a:off x="11612880" y="457200"/>
            <a:ext cx="329184" cy="329184"/>
          </a:xfrm>
          <a:prstGeom prst="ellipse">
            <a:avLst/>
          </a:prstGeom>
          <a:solidFill>
            <a:srgbClr val="FFD166"/>
          </a:solidFill>
          <a:ln/>
        </p:spPr>
        <p:txBody>
          <a:bodyPr/>
          <a:lstStyle/>
          <a:p>
            <a:endParaRPr lang="en-US"/>
          </a:p>
        </p:txBody>
      </p:sp>
      <p:sp>
        <p:nvSpPr>
          <p:cNvPr id="9" name="Text 7"/>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332C24"/>
                </a:solidFill>
                <a:latin typeface="Aptos" pitchFamily="34" charset="0"/>
                <a:ea typeface="Aptos" pitchFamily="34" charset="-122"/>
                <a:cs typeface="Aptos" pitchFamily="34" charset="-120"/>
              </a:rPr>
              <a:t>03</a:t>
            </a:r>
            <a:endParaRPr lang="en-US" sz="850" dirty="0"/>
          </a:p>
        </p:txBody>
      </p:sp>
      <p:sp>
        <p:nvSpPr>
          <p:cNvPr id="10" name="Shape 8"/>
          <p:cNvSpPr/>
          <p:nvPr/>
        </p:nvSpPr>
        <p:spPr>
          <a:xfrm>
            <a:off x="9829800" y="1005840"/>
            <a:ext cx="2148840" cy="2148840"/>
          </a:xfrm>
          <a:prstGeom prst="ellipse">
            <a:avLst/>
          </a:prstGeom>
          <a:solidFill>
            <a:srgbClr val="FFF2C6"/>
          </a:solidFill>
          <a:ln/>
        </p:spPr>
        <p:txBody>
          <a:bodyPr/>
          <a:lstStyle/>
          <a:p>
            <a:endParaRPr lang="en-US"/>
          </a:p>
        </p:txBody>
      </p:sp>
      <p:sp>
        <p:nvSpPr>
          <p:cNvPr id="11" name="Text 9"/>
          <p:cNvSpPr/>
          <p:nvPr/>
        </p:nvSpPr>
        <p:spPr>
          <a:xfrm>
            <a:off x="1051560" y="1380744"/>
            <a:ext cx="1389888" cy="118872"/>
          </a:xfrm>
          <a:prstGeom prst="rect">
            <a:avLst/>
          </a:prstGeom>
          <a:noFill/>
          <a:ln/>
        </p:spPr>
        <p:txBody>
          <a:bodyPr wrap="square" lIns="0" tIns="0" rIns="0" bIns="0" rtlCol="0" anchor="ctr"/>
          <a:lstStyle/>
          <a:p>
            <a:pPr marL="0" indent="0">
              <a:buNone/>
            </a:pPr>
            <a:r>
              <a:rPr lang="en-US" sz="850" b="1" kern="0" spc="100" dirty="0">
                <a:solidFill>
                  <a:srgbClr val="71675C"/>
                </a:solidFill>
                <a:latin typeface="Aptos" pitchFamily="34" charset="0"/>
                <a:ea typeface="Aptos" pitchFamily="34" charset="-122"/>
                <a:cs typeface="Aptos" pitchFamily="34" charset="-120"/>
              </a:rPr>
              <a:t>WORKSHOP LENS</a:t>
            </a:r>
            <a:endParaRPr lang="en-US" sz="850" dirty="0"/>
          </a:p>
        </p:txBody>
      </p:sp>
      <p:sp>
        <p:nvSpPr>
          <p:cNvPr id="12" name="Text 10"/>
          <p:cNvSpPr/>
          <p:nvPr/>
        </p:nvSpPr>
        <p:spPr>
          <a:xfrm>
            <a:off x="2651760" y="1380744"/>
            <a:ext cx="8138160" cy="118872"/>
          </a:xfrm>
          <a:prstGeom prst="rect">
            <a:avLst/>
          </a:prstGeom>
          <a:noFill/>
          <a:ln/>
        </p:spPr>
        <p:txBody>
          <a:bodyPr wrap="square" lIns="0" tIns="0" rIns="0" bIns="0" rtlCol="0" anchor="ctr"/>
          <a:lstStyle/>
          <a:p>
            <a:pPr marL="0" indent="0">
              <a:buNone/>
            </a:pPr>
            <a:r>
              <a:rPr lang="en-US" sz="850" b="1" kern="0" spc="100" dirty="0">
                <a:solidFill>
                  <a:srgbClr val="71675C"/>
                </a:solidFill>
                <a:latin typeface="Aptos" pitchFamily="34" charset="0"/>
                <a:ea typeface="Aptos" pitchFamily="34" charset="-122"/>
                <a:cs typeface="Aptos" pitchFamily="34" charset="-120"/>
              </a:rPr>
              <a:t>PROMPT FOR THE SKETCH</a:t>
            </a:r>
            <a:endParaRPr lang="en-US" sz="850" dirty="0"/>
          </a:p>
        </p:txBody>
      </p:sp>
      <p:sp>
        <p:nvSpPr>
          <p:cNvPr id="13" name="Shape 11"/>
          <p:cNvSpPr/>
          <p:nvPr/>
        </p:nvSpPr>
        <p:spPr>
          <a:xfrm>
            <a:off x="804672" y="1600200"/>
            <a:ext cx="10561320" cy="713232"/>
          </a:xfrm>
          <a:prstGeom prst="roundRect">
            <a:avLst>
              <a:gd name="adj" fmla="val 10256"/>
            </a:avLst>
          </a:prstGeom>
          <a:solidFill>
            <a:srgbClr val="FFD166"/>
          </a:solidFill>
          <a:ln w="10160">
            <a:solidFill>
              <a:srgbClr val="FFF2C6"/>
            </a:solidFill>
            <a:prstDash val="solid"/>
          </a:ln>
        </p:spPr>
        <p:txBody>
          <a:bodyPr/>
          <a:lstStyle/>
          <a:p>
            <a:endParaRPr lang="en-US"/>
          </a:p>
        </p:txBody>
      </p:sp>
      <p:sp>
        <p:nvSpPr>
          <p:cNvPr id="14" name="Text 12"/>
          <p:cNvSpPr/>
          <p:nvPr/>
        </p:nvSpPr>
        <p:spPr>
          <a:xfrm>
            <a:off x="1051560" y="1828800"/>
            <a:ext cx="1389888" cy="146304"/>
          </a:xfrm>
          <a:prstGeom prst="rect">
            <a:avLst/>
          </a:prstGeom>
          <a:noFill/>
          <a:ln/>
        </p:spPr>
        <p:txBody>
          <a:bodyPr wrap="square" lIns="0" tIns="0" rIns="0" bIns="0" rtlCol="0" anchor="ctr"/>
          <a:lstStyle/>
          <a:p>
            <a:pPr marL="0" indent="0">
              <a:buNone/>
            </a:pPr>
            <a:r>
              <a:rPr lang="en-US" sz="1000" b="1" kern="0" spc="150" dirty="0">
                <a:solidFill>
                  <a:srgbClr val="332C24"/>
                </a:solidFill>
                <a:latin typeface="Aptos" pitchFamily="34" charset="0"/>
                <a:ea typeface="Aptos" pitchFamily="34" charset="-122"/>
                <a:cs typeface="Aptos" pitchFamily="34" charset="-120"/>
              </a:rPr>
              <a:t>MODEL</a:t>
            </a:r>
            <a:endParaRPr lang="en-US" sz="1000" dirty="0"/>
          </a:p>
        </p:txBody>
      </p:sp>
      <p:sp>
        <p:nvSpPr>
          <p:cNvPr id="15" name="Text 13"/>
          <p:cNvSpPr/>
          <p:nvPr/>
        </p:nvSpPr>
        <p:spPr>
          <a:xfrm>
            <a:off x="2651760" y="1764792"/>
            <a:ext cx="8156448" cy="310896"/>
          </a:xfrm>
          <a:prstGeom prst="rect">
            <a:avLst/>
          </a:prstGeom>
          <a:noFill/>
          <a:ln/>
        </p:spPr>
        <p:txBody>
          <a:bodyPr wrap="square" lIns="0" tIns="0" rIns="0" bIns="0" rtlCol="0" anchor="ctr">
            <a:normAutofit/>
          </a:bodyPr>
          <a:lstStyle/>
          <a:p>
            <a:pPr marL="0" indent="0">
              <a:buNone/>
            </a:pPr>
            <a:r>
              <a:rPr lang="en-US" sz="1400" dirty="0">
                <a:solidFill>
                  <a:srgbClr val="352E27"/>
                </a:solidFill>
                <a:latin typeface="Aptos" pitchFamily="34" charset="0"/>
                <a:ea typeface="Aptos" pitchFamily="34" charset="-122"/>
                <a:cs typeface="Aptos" pitchFamily="34" charset="-120"/>
              </a:rPr>
              <a:t>Name the Foundry deployment that supplies inference</a:t>
            </a:r>
            <a:endParaRPr lang="en-US" sz="1400" dirty="0"/>
          </a:p>
        </p:txBody>
      </p:sp>
      <p:sp>
        <p:nvSpPr>
          <p:cNvPr id="16" name="Shape 14"/>
          <p:cNvSpPr/>
          <p:nvPr/>
        </p:nvSpPr>
        <p:spPr>
          <a:xfrm>
            <a:off x="914400" y="2404872"/>
            <a:ext cx="10341864" cy="713232"/>
          </a:xfrm>
          <a:prstGeom prst="roundRect">
            <a:avLst>
              <a:gd name="adj" fmla="val 10256"/>
            </a:avLst>
          </a:prstGeom>
          <a:solidFill>
            <a:srgbClr val="FDE4D8"/>
          </a:solidFill>
          <a:ln w="10160">
            <a:solidFill>
              <a:srgbClr val="FFF2C6"/>
            </a:solidFill>
            <a:prstDash val="solid"/>
          </a:ln>
        </p:spPr>
        <p:txBody>
          <a:bodyPr/>
          <a:lstStyle/>
          <a:p>
            <a:endParaRPr lang="en-US"/>
          </a:p>
        </p:txBody>
      </p:sp>
      <p:sp>
        <p:nvSpPr>
          <p:cNvPr id="17" name="Text 15"/>
          <p:cNvSpPr/>
          <p:nvPr/>
        </p:nvSpPr>
        <p:spPr>
          <a:xfrm>
            <a:off x="1161288" y="2633472"/>
            <a:ext cx="1389888" cy="146304"/>
          </a:xfrm>
          <a:prstGeom prst="rect">
            <a:avLst/>
          </a:prstGeom>
          <a:noFill/>
          <a:ln/>
        </p:spPr>
        <p:txBody>
          <a:bodyPr wrap="square" lIns="0" tIns="0" rIns="0" bIns="0" rtlCol="0" anchor="ctr"/>
          <a:lstStyle/>
          <a:p>
            <a:pPr marL="0" indent="0">
              <a:buNone/>
            </a:pPr>
            <a:r>
              <a:rPr lang="en-US" sz="1000" b="1" kern="0" spc="150" dirty="0">
                <a:solidFill>
                  <a:srgbClr val="332C24"/>
                </a:solidFill>
                <a:latin typeface="Aptos" pitchFamily="34" charset="0"/>
                <a:ea typeface="Aptos" pitchFamily="34" charset="-122"/>
                <a:cs typeface="Aptos" pitchFamily="34" charset="-120"/>
              </a:rPr>
              <a:t>RUNTIME</a:t>
            </a:r>
            <a:endParaRPr lang="en-US" sz="1000" dirty="0"/>
          </a:p>
        </p:txBody>
      </p:sp>
      <p:sp>
        <p:nvSpPr>
          <p:cNvPr id="18" name="Text 16"/>
          <p:cNvSpPr/>
          <p:nvPr/>
        </p:nvSpPr>
        <p:spPr>
          <a:xfrm>
            <a:off x="2761488" y="2569464"/>
            <a:ext cx="7936992" cy="310896"/>
          </a:xfrm>
          <a:prstGeom prst="rect">
            <a:avLst/>
          </a:prstGeom>
          <a:noFill/>
          <a:ln/>
        </p:spPr>
        <p:txBody>
          <a:bodyPr wrap="square" lIns="0" tIns="0" rIns="0" bIns="0" rtlCol="0" anchor="ctr">
            <a:normAutofit/>
          </a:bodyPr>
          <a:lstStyle/>
          <a:p>
            <a:pPr marL="0" indent="0">
              <a:buNone/>
            </a:pPr>
            <a:r>
              <a:rPr lang="en-US" sz="1400" dirty="0">
                <a:solidFill>
                  <a:srgbClr val="352E27"/>
                </a:solidFill>
                <a:latin typeface="Aptos" pitchFamily="34" charset="0"/>
                <a:ea typeface="Aptos" pitchFamily="34" charset="-122"/>
                <a:cs typeface="Aptos" pitchFamily="34" charset="-120"/>
              </a:rPr>
              <a:t>Name where the MAF agent or workflow executes</a:t>
            </a:r>
            <a:endParaRPr lang="en-US" sz="1400" dirty="0"/>
          </a:p>
        </p:txBody>
      </p:sp>
      <p:sp>
        <p:nvSpPr>
          <p:cNvPr id="19" name="Shape 17"/>
          <p:cNvSpPr/>
          <p:nvPr/>
        </p:nvSpPr>
        <p:spPr>
          <a:xfrm>
            <a:off x="1024128" y="3209544"/>
            <a:ext cx="10122408" cy="713232"/>
          </a:xfrm>
          <a:prstGeom prst="roundRect">
            <a:avLst>
              <a:gd name="adj" fmla="val 10256"/>
            </a:avLst>
          </a:prstGeom>
          <a:solidFill>
            <a:srgbClr val="FFF2C6"/>
          </a:solidFill>
          <a:ln w="10160">
            <a:solidFill>
              <a:srgbClr val="FFF2C6"/>
            </a:solidFill>
            <a:prstDash val="solid"/>
          </a:ln>
        </p:spPr>
        <p:txBody>
          <a:bodyPr/>
          <a:lstStyle/>
          <a:p>
            <a:endParaRPr lang="en-US"/>
          </a:p>
        </p:txBody>
      </p:sp>
      <p:sp>
        <p:nvSpPr>
          <p:cNvPr id="20" name="Text 18"/>
          <p:cNvSpPr/>
          <p:nvPr/>
        </p:nvSpPr>
        <p:spPr>
          <a:xfrm>
            <a:off x="1271016" y="3438144"/>
            <a:ext cx="1389888" cy="146304"/>
          </a:xfrm>
          <a:prstGeom prst="rect">
            <a:avLst/>
          </a:prstGeom>
          <a:noFill/>
          <a:ln/>
        </p:spPr>
        <p:txBody>
          <a:bodyPr wrap="square" lIns="0" tIns="0" rIns="0" bIns="0" rtlCol="0" anchor="ctr"/>
          <a:lstStyle/>
          <a:p>
            <a:pPr marL="0" indent="0">
              <a:buNone/>
            </a:pPr>
            <a:r>
              <a:rPr lang="en-US" sz="1000" b="1" kern="0" spc="150" dirty="0">
                <a:solidFill>
                  <a:srgbClr val="332C24"/>
                </a:solidFill>
                <a:latin typeface="Aptos" pitchFamily="34" charset="0"/>
                <a:ea typeface="Aptos" pitchFamily="34" charset="-122"/>
                <a:cs typeface="Aptos" pitchFamily="34" charset="-120"/>
              </a:rPr>
              <a:t>ACTIONS</a:t>
            </a:r>
            <a:endParaRPr lang="en-US" sz="1000" dirty="0"/>
          </a:p>
        </p:txBody>
      </p:sp>
      <p:sp>
        <p:nvSpPr>
          <p:cNvPr id="21" name="Text 19"/>
          <p:cNvSpPr/>
          <p:nvPr/>
        </p:nvSpPr>
        <p:spPr>
          <a:xfrm>
            <a:off x="2871216" y="3374136"/>
            <a:ext cx="7717536" cy="310896"/>
          </a:xfrm>
          <a:prstGeom prst="rect">
            <a:avLst/>
          </a:prstGeom>
          <a:noFill/>
          <a:ln/>
        </p:spPr>
        <p:txBody>
          <a:bodyPr wrap="square" lIns="0" tIns="0" rIns="0" bIns="0" rtlCol="0" anchor="ctr">
            <a:normAutofit/>
          </a:bodyPr>
          <a:lstStyle/>
          <a:p>
            <a:pPr marL="0" indent="0">
              <a:buNone/>
            </a:pPr>
            <a:r>
              <a:rPr lang="en-US" sz="1400" dirty="0">
                <a:solidFill>
                  <a:srgbClr val="352E27"/>
                </a:solidFill>
                <a:latin typeface="Aptos" pitchFamily="34" charset="0"/>
                <a:ea typeface="Aptos" pitchFamily="34" charset="-122"/>
                <a:cs typeface="Aptos" pitchFamily="34" charset="-120"/>
              </a:rPr>
              <a:t>Name the Toolbox, MCP, or function-tool boundary</a:t>
            </a:r>
            <a:endParaRPr lang="en-US" sz="1400" dirty="0"/>
          </a:p>
        </p:txBody>
      </p:sp>
      <p:sp>
        <p:nvSpPr>
          <p:cNvPr id="22" name="Shape 20"/>
          <p:cNvSpPr/>
          <p:nvPr/>
        </p:nvSpPr>
        <p:spPr>
          <a:xfrm>
            <a:off x="1133856" y="4014216"/>
            <a:ext cx="9902952" cy="713232"/>
          </a:xfrm>
          <a:prstGeom prst="roundRect">
            <a:avLst>
              <a:gd name="adj" fmla="val 10256"/>
            </a:avLst>
          </a:prstGeom>
          <a:solidFill>
            <a:srgbClr val="FFFFFF"/>
          </a:solidFill>
          <a:ln w="10160">
            <a:solidFill>
              <a:srgbClr val="FFF2C6"/>
            </a:solidFill>
            <a:prstDash val="solid"/>
          </a:ln>
        </p:spPr>
        <p:txBody>
          <a:bodyPr/>
          <a:lstStyle/>
          <a:p>
            <a:endParaRPr lang="en-US"/>
          </a:p>
        </p:txBody>
      </p:sp>
      <p:sp>
        <p:nvSpPr>
          <p:cNvPr id="23" name="Text 21"/>
          <p:cNvSpPr/>
          <p:nvPr/>
        </p:nvSpPr>
        <p:spPr>
          <a:xfrm>
            <a:off x="1380744" y="4242816"/>
            <a:ext cx="1389888" cy="146304"/>
          </a:xfrm>
          <a:prstGeom prst="rect">
            <a:avLst/>
          </a:prstGeom>
          <a:noFill/>
          <a:ln/>
        </p:spPr>
        <p:txBody>
          <a:bodyPr wrap="square" lIns="0" tIns="0" rIns="0" bIns="0" rtlCol="0" anchor="ctr"/>
          <a:lstStyle/>
          <a:p>
            <a:pPr marL="0" indent="0">
              <a:buNone/>
            </a:pPr>
            <a:r>
              <a:rPr lang="en-US" sz="1000" b="1" kern="0" spc="150" dirty="0">
                <a:solidFill>
                  <a:srgbClr val="332C24"/>
                </a:solidFill>
                <a:latin typeface="Aptos" pitchFamily="34" charset="0"/>
                <a:ea typeface="Aptos" pitchFamily="34" charset="-122"/>
                <a:cs typeface="Aptos" pitchFamily="34" charset="-120"/>
              </a:rPr>
              <a:t>KNOWLEDGE</a:t>
            </a:r>
            <a:endParaRPr lang="en-US" sz="1000" dirty="0"/>
          </a:p>
        </p:txBody>
      </p:sp>
      <p:sp>
        <p:nvSpPr>
          <p:cNvPr id="24" name="Text 22"/>
          <p:cNvSpPr/>
          <p:nvPr/>
        </p:nvSpPr>
        <p:spPr>
          <a:xfrm>
            <a:off x="2980944" y="4178808"/>
            <a:ext cx="7498080" cy="310896"/>
          </a:xfrm>
          <a:prstGeom prst="rect">
            <a:avLst/>
          </a:prstGeom>
          <a:noFill/>
          <a:ln/>
        </p:spPr>
        <p:txBody>
          <a:bodyPr wrap="square" lIns="0" tIns="0" rIns="0" bIns="0" rtlCol="0" anchor="ctr">
            <a:normAutofit/>
          </a:bodyPr>
          <a:lstStyle/>
          <a:p>
            <a:pPr marL="0" indent="0">
              <a:buNone/>
            </a:pPr>
            <a:r>
              <a:rPr lang="en-US" sz="1400" dirty="0">
                <a:solidFill>
                  <a:srgbClr val="352E27"/>
                </a:solidFill>
                <a:latin typeface="Aptos" pitchFamily="34" charset="0"/>
                <a:ea typeface="Aptos" pitchFamily="34" charset="-122"/>
                <a:cs typeface="Aptos" pitchFamily="34" charset="-120"/>
              </a:rPr>
              <a:t>Name the Foundry IQ source or custom RAG path</a:t>
            </a:r>
            <a:endParaRPr lang="en-US" sz="1400" dirty="0"/>
          </a:p>
        </p:txBody>
      </p:sp>
      <p:sp>
        <p:nvSpPr>
          <p:cNvPr id="25" name="Shape 23"/>
          <p:cNvSpPr/>
          <p:nvPr/>
        </p:nvSpPr>
        <p:spPr>
          <a:xfrm>
            <a:off x="1243584" y="4818888"/>
            <a:ext cx="9683496" cy="713232"/>
          </a:xfrm>
          <a:prstGeom prst="roundRect">
            <a:avLst>
              <a:gd name="adj" fmla="val 10256"/>
            </a:avLst>
          </a:prstGeom>
          <a:solidFill>
            <a:srgbClr val="332C24"/>
          </a:solidFill>
          <a:ln w="10160">
            <a:solidFill>
              <a:srgbClr val="332C24"/>
            </a:solidFill>
            <a:prstDash val="solid"/>
          </a:ln>
        </p:spPr>
        <p:txBody>
          <a:bodyPr/>
          <a:lstStyle/>
          <a:p>
            <a:endParaRPr lang="en-US"/>
          </a:p>
        </p:txBody>
      </p:sp>
      <p:sp>
        <p:nvSpPr>
          <p:cNvPr id="26" name="Text 24"/>
          <p:cNvSpPr/>
          <p:nvPr/>
        </p:nvSpPr>
        <p:spPr>
          <a:xfrm>
            <a:off x="1490472" y="5047488"/>
            <a:ext cx="1389888" cy="146304"/>
          </a:xfrm>
          <a:prstGeom prst="rect">
            <a:avLst/>
          </a:prstGeom>
          <a:noFill/>
          <a:ln/>
        </p:spPr>
        <p:txBody>
          <a:bodyPr wrap="square" lIns="0" tIns="0" rIns="0" bIns="0" rtlCol="0" anchor="ctr"/>
          <a:lstStyle/>
          <a:p>
            <a:pPr marL="0" indent="0">
              <a:buNone/>
            </a:pPr>
            <a:r>
              <a:rPr lang="en-US" sz="1000" b="1" kern="0" spc="150" dirty="0">
                <a:solidFill>
                  <a:srgbClr val="FFFFFF"/>
                </a:solidFill>
                <a:latin typeface="Aptos" pitchFamily="34" charset="0"/>
                <a:ea typeface="Aptos" pitchFamily="34" charset="-122"/>
                <a:cs typeface="Aptos" pitchFamily="34" charset="-120"/>
              </a:rPr>
              <a:t>OPS</a:t>
            </a:r>
            <a:endParaRPr lang="en-US" sz="1000" dirty="0"/>
          </a:p>
        </p:txBody>
      </p:sp>
      <p:sp>
        <p:nvSpPr>
          <p:cNvPr id="27" name="Text 25"/>
          <p:cNvSpPr/>
          <p:nvPr/>
        </p:nvSpPr>
        <p:spPr>
          <a:xfrm>
            <a:off x="3090672" y="4983480"/>
            <a:ext cx="7278624" cy="310896"/>
          </a:xfrm>
          <a:prstGeom prst="rect">
            <a:avLst/>
          </a:prstGeom>
          <a:noFill/>
          <a:ln/>
        </p:spPr>
        <p:txBody>
          <a:bodyPr wrap="square" lIns="0" tIns="0" rIns="0" bIns="0" rtlCol="0" anchor="ctr">
            <a:normAutofit/>
          </a:bodyPr>
          <a:lstStyle/>
          <a:p>
            <a:pPr marL="0" indent="0">
              <a:buNone/>
            </a:pPr>
            <a:r>
              <a:rPr lang="en-US" sz="1400" b="1" dirty="0">
                <a:solidFill>
                  <a:srgbClr val="FFFFFF"/>
                </a:solidFill>
                <a:latin typeface="Aptos" pitchFamily="34" charset="0"/>
                <a:ea typeface="Aptos" pitchFamily="34" charset="-122"/>
                <a:cs typeface="Aptos" pitchFamily="34" charset="-120"/>
              </a:rPr>
              <a:t>Place identity, safety, evaluation, trace, latency, and cost evidence</a:t>
            </a:r>
            <a:endParaRPr lang="en-US" sz="1400" dirty="0"/>
          </a:p>
        </p:txBody>
      </p:sp>
      <p:sp>
        <p:nvSpPr>
          <p:cNvPr id="28" name="Shape 26"/>
          <p:cNvSpPr/>
          <p:nvPr/>
        </p:nvSpPr>
        <p:spPr>
          <a:xfrm>
            <a:off x="640080" y="5815584"/>
            <a:ext cx="10908792" cy="274320"/>
          </a:xfrm>
          <a:prstGeom prst="roundRect">
            <a:avLst>
              <a:gd name="adj" fmla="val 26667"/>
            </a:avLst>
          </a:prstGeom>
          <a:solidFill>
            <a:srgbClr val="332C24"/>
          </a:solidFill>
          <a:ln/>
        </p:spPr>
        <p:txBody>
          <a:bodyPr/>
          <a:lstStyle/>
          <a:p>
            <a:endParaRPr lang="en-US"/>
          </a:p>
        </p:txBody>
      </p:sp>
      <p:sp>
        <p:nvSpPr>
          <p:cNvPr id="29" name="Text 27"/>
          <p:cNvSpPr/>
          <p:nvPr/>
        </p:nvSpPr>
        <p:spPr>
          <a:xfrm>
            <a:off x="859536" y="5925312"/>
            <a:ext cx="10479024" cy="91440"/>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latin typeface="Aptos" pitchFamily="34" charset="0"/>
                <a:ea typeface="Aptos" pitchFamily="34" charset="-122"/>
                <a:cs typeface="Aptos" pitchFamily="34" charset="-120"/>
              </a:rPr>
              <a:t>Label actual resources and trust boundaries. Do not draw five boxes and call them five Azure resources.</a:t>
            </a:r>
            <a:endParaRPr lang="en-US" sz="1320" dirty="0"/>
          </a:p>
        </p:txBody>
      </p:sp>
      <p:sp>
        <p:nvSpPr>
          <p:cNvPr id="30" name="Text 28"/>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71675C"/>
                </a:solidFill>
                <a:latin typeface="Aptos" pitchFamily="34" charset="0"/>
                <a:ea typeface="Aptos" pitchFamily="34" charset="-122"/>
                <a:cs typeface="Aptos" pitchFamily="34" charset="-120"/>
              </a:rPr>
              <a:t>REFERENCE  learn.microsoft.com/azure/foundry/concepts/architecture  ·  +1 more in notes</a:t>
            </a:r>
            <a:endParaRPr lang="en-US" sz="940" dirty="0"/>
          </a:p>
        </p:txBody>
      </p:sp>
      <p:sp>
        <p:nvSpPr>
          <p:cNvPr id="31" name="Shape 29"/>
          <p:cNvSpPr/>
          <p:nvPr/>
        </p:nvSpPr>
        <p:spPr>
          <a:xfrm>
            <a:off x="0" y="6793992"/>
            <a:ext cx="12191695" cy="64008"/>
          </a:xfrm>
          <a:prstGeom prst="rect">
            <a:avLst/>
          </a:prstGeom>
          <a:solidFill>
            <a:srgbClr val="FFD166"/>
          </a:solid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CF5"/>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32C24"/>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7  /  WORKSHOP CANVAS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332C24"/>
                </a:solidFill>
                <a:latin typeface="Aptos Display" pitchFamily="34" charset="0"/>
                <a:ea typeface="Aptos Display" pitchFamily="34" charset="-122"/>
                <a:cs typeface="Aptos Display" pitchFamily="34" charset="-120"/>
              </a:rPr>
              <a:t>Write criteria, not tasks</a:t>
            </a:r>
            <a:endParaRPr lang="en-US" sz="3100" dirty="0"/>
          </a:p>
        </p:txBody>
      </p:sp>
      <p:sp>
        <p:nvSpPr>
          <p:cNvPr id="5" name="Shape 3"/>
          <p:cNvSpPr/>
          <p:nvPr/>
        </p:nvSpPr>
        <p:spPr>
          <a:xfrm rot="-240000">
            <a:off x="10824301" y="515722"/>
            <a:ext cx="316017" cy="342351"/>
          </a:xfrm>
          <a:prstGeom prst="rect">
            <a:avLst/>
          </a:prstGeom>
          <a:solidFill>
            <a:srgbClr val="FFF2C6"/>
          </a:solidFill>
          <a:ln w="12700">
            <a:solidFill>
              <a:srgbClr val="332C24"/>
            </a:solidFill>
            <a:prstDash val="solid"/>
          </a:ln>
        </p:spPr>
        <p:txBody>
          <a:bodyPr/>
          <a:lstStyle/>
          <a:p>
            <a:endParaRPr lang="en-US"/>
          </a:p>
        </p:txBody>
      </p:sp>
      <p:sp>
        <p:nvSpPr>
          <p:cNvPr id="6" name="Shape 4"/>
          <p:cNvSpPr/>
          <p:nvPr/>
        </p:nvSpPr>
        <p:spPr>
          <a:xfrm rot="180000">
            <a:off x="10969142" y="436717"/>
            <a:ext cx="316017" cy="342351"/>
          </a:xfrm>
          <a:prstGeom prst="rect">
            <a:avLst/>
          </a:prstGeom>
          <a:solidFill>
            <a:srgbClr val="FFD166"/>
          </a:solidFill>
          <a:ln w="12700">
            <a:solidFill>
              <a:srgbClr val="332C24"/>
            </a:solidFill>
            <a:prstDash val="solid"/>
          </a:ln>
        </p:spPr>
        <p:txBody>
          <a:bodyPr/>
          <a:lstStyle/>
          <a:p>
            <a:endParaRPr lang="en-US"/>
          </a:p>
        </p:txBody>
      </p:sp>
      <p:sp>
        <p:nvSpPr>
          <p:cNvPr id="7" name="Shape 5"/>
          <p:cNvSpPr/>
          <p:nvPr/>
        </p:nvSpPr>
        <p:spPr>
          <a:xfrm rot="-120000">
            <a:off x="11100816" y="568391"/>
            <a:ext cx="316017" cy="342351"/>
          </a:xfrm>
          <a:prstGeom prst="rect">
            <a:avLst/>
          </a:prstGeom>
          <a:solidFill>
            <a:srgbClr val="FFF2C6"/>
          </a:solidFill>
          <a:ln w="12700">
            <a:solidFill>
              <a:srgbClr val="332C24"/>
            </a:solidFill>
            <a:prstDash val="solid"/>
          </a:ln>
        </p:spPr>
        <p:txBody>
          <a:bodyPr/>
          <a:lstStyle/>
          <a:p>
            <a:endParaRPr lang="en-US"/>
          </a:p>
        </p:txBody>
      </p:sp>
      <p:sp>
        <p:nvSpPr>
          <p:cNvPr id="8" name="Shape 6"/>
          <p:cNvSpPr/>
          <p:nvPr/>
        </p:nvSpPr>
        <p:spPr>
          <a:xfrm>
            <a:off x="11612880" y="457200"/>
            <a:ext cx="329184" cy="329184"/>
          </a:xfrm>
          <a:prstGeom prst="ellipse">
            <a:avLst/>
          </a:prstGeom>
          <a:solidFill>
            <a:srgbClr val="FFD166"/>
          </a:solidFill>
          <a:ln/>
        </p:spPr>
        <p:txBody>
          <a:bodyPr/>
          <a:lstStyle/>
          <a:p>
            <a:endParaRPr lang="en-US"/>
          </a:p>
        </p:txBody>
      </p:sp>
      <p:sp>
        <p:nvSpPr>
          <p:cNvPr id="9" name="Text 7"/>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332C24"/>
                </a:solidFill>
                <a:latin typeface="Aptos" pitchFamily="34" charset="0"/>
                <a:ea typeface="Aptos" pitchFamily="34" charset="-122"/>
                <a:cs typeface="Aptos" pitchFamily="34" charset="-120"/>
              </a:rPr>
              <a:t>04</a:t>
            </a:r>
            <a:endParaRPr lang="en-US" sz="850" dirty="0"/>
          </a:p>
        </p:txBody>
      </p:sp>
      <p:sp>
        <p:nvSpPr>
          <p:cNvPr id="10" name="Shape 8"/>
          <p:cNvSpPr/>
          <p:nvPr/>
        </p:nvSpPr>
        <p:spPr>
          <a:xfrm>
            <a:off x="9829800" y="1005840"/>
            <a:ext cx="2148840" cy="2148840"/>
          </a:xfrm>
          <a:prstGeom prst="ellipse">
            <a:avLst/>
          </a:prstGeom>
          <a:solidFill>
            <a:srgbClr val="FFF2C6"/>
          </a:solidFill>
          <a:ln/>
        </p:spPr>
        <p:txBody>
          <a:bodyPr/>
          <a:lstStyle/>
          <a:p>
            <a:endParaRPr lang="en-US"/>
          </a:p>
        </p:txBody>
      </p:sp>
      <p:sp>
        <p:nvSpPr>
          <p:cNvPr id="11" name="Shape 9"/>
          <p:cNvSpPr/>
          <p:nvPr/>
        </p:nvSpPr>
        <p:spPr>
          <a:xfrm>
            <a:off x="640080" y="1417320"/>
            <a:ext cx="5248656" cy="4626864"/>
          </a:xfrm>
          <a:prstGeom prst="roundRect">
            <a:avLst>
              <a:gd name="adj" fmla="val 1779"/>
            </a:avLst>
          </a:prstGeom>
          <a:solidFill>
            <a:srgbClr val="FFFFFF"/>
          </a:solidFill>
          <a:ln w="15240">
            <a:solidFill>
              <a:srgbClr val="FFF2C6"/>
            </a:solidFill>
            <a:prstDash val="solid"/>
          </a:ln>
          <a:effectLst>
            <a:outerShdw blurRad="50800" dist="19050" dir="8100000" algn="bl" rotWithShape="0">
              <a:srgbClr val="111827">
                <a:alpha val="11000"/>
              </a:srgbClr>
            </a:outerShdw>
          </a:effectLst>
        </p:spPr>
        <p:txBody>
          <a:bodyPr/>
          <a:lstStyle/>
          <a:p>
            <a:endParaRPr lang="en-US"/>
          </a:p>
        </p:txBody>
      </p:sp>
      <p:sp>
        <p:nvSpPr>
          <p:cNvPr id="12" name="Shape 10"/>
          <p:cNvSpPr/>
          <p:nvPr/>
        </p:nvSpPr>
        <p:spPr>
          <a:xfrm>
            <a:off x="896112" y="1673352"/>
            <a:ext cx="1572768" cy="310896"/>
          </a:xfrm>
          <a:prstGeom prst="roundRect">
            <a:avLst>
              <a:gd name="adj" fmla="val 23529"/>
            </a:avLst>
          </a:prstGeom>
          <a:solidFill>
            <a:srgbClr val="332C24"/>
          </a:solidFill>
          <a:ln/>
        </p:spPr>
        <p:txBody>
          <a:bodyPr/>
          <a:lstStyle/>
          <a:p>
            <a:endParaRPr lang="en-US"/>
          </a:p>
        </p:txBody>
      </p:sp>
      <p:sp>
        <p:nvSpPr>
          <p:cNvPr id="13" name="Text 11"/>
          <p:cNvSpPr/>
          <p:nvPr/>
        </p:nvSpPr>
        <p:spPr>
          <a:xfrm>
            <a:off x="1005840"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FFFFFF"/>
                </a:solidFill>
                <a:latin typeface="Aptos" pitchFamily="34" charset="0"/>
                <a:ea typeface="Aptos" pitchFamily="34" charset="-122"/>
                <a:cs typeface="Aptos" pitchFamily="34" charset="-120"/>
              </a:rPr>
              <a:t>IMPLEMENT</a:t>
            </a:r>
            <a:endParaRPr lang="en-US" sz="830" dirty="0"/>
          </a:p>
        </p:txBody>
      </p:sp>
      <p:sp>
        <p:nvSpPr>
          <p:cNvPr id="14" name="Text 12"/>
          <p:cNvSpPr/>
          <p:nvPr/>
        </p:nvSpPr>
        <p:spPr>
          <a:xfrm>
            <a:off x="932688"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332C24"/>
                </a:solidFill>
                <a:latin typeface="Aptos Display" pitchFamily="34" charset="0"/>
                <a:ea typeface="Aptos Display" pitchFamily="34" charset="-122"/>
                <a:cs typeface="Aptos Display" pitchFamily="34" charset="-120"/>
              </a:rPr>
              <a:t>Implementation task</a:t>
            </a:r>
            <a:endParaRPr lang="en-US" sz="2200" dirty="0"/>
          </a:p>
        </p:txBody>
      </p:sp>
      <p:sp>
        <p:nvSpPr>
          <p:cNvPr id="15" name="Text 13"/>
          <p:cNvSpPr/>
          <p:nvPr/>
        </p:nvSpPr>
        <p:spPr>
          <a:xfrm>
            <a:off x="987552"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352E27"/>
                </a:solidFill>
                <a:latin typeface="Aptos" pitchFamily="34" charset="0"/>
                <a:ea typeface="Aptos" pitchFamily="34" charset="-122"/>
                <a:cs typeface="Aptos" pitchFamily="34" charset="-120"/>
              </a:rPr>
              <a:t>“Enable tracing”</a:t>
            </a:r>
            <a:endParaRPr lang="en-US" sz="1600" dirty="0"/>
          </a:p>
          <a:p>
            <a:pPr marL="342900" indent="-342900">
              <a:buSzPct val="100000"/>
              <a:buChar char="•"/>
            </a:pPr>
            <a:r>
              <a:rPr lang="en-US" sz="1600" dirty="0">
                <a:solidFill>
                  <a:srgbClr val="352E27"/>
                </a:solidFill>
                <a:latin typeface="Aptos" pitchFamily="34" charset="0"/>
                <a:ea typeface="Aptos" pitchFamily="34" charset="-122"/>
                <a:cs typeface="Aptos" pitchFamily="34" charset="-120"/>
              </a:rPr>
              <a:t>“Add an evaluator”</a:t>
            </a:r>
            <a:endParaRPr lang="en-US" sz="1600" dirty="0"/>
          </a:p>
          <a:p>
            <a:pPr marL="342900" indent="-342900">
              <a:buSzPct val="100000"/>
              <a:buChar char="•"/>
            </a:pPr>
            <a:r>
              <a:rPr lang="en-US" sz="1600" dirty="0">
                <a:solidFill>
                  <a:srgbClr val="352E27"/>
                </a:solidFill>
                <a:latin typeface="Aptos" pitchFamily="34" charset="0"/>
                <a:ea typeface="Aptos" pitchFamily="34" charset="-122"/>
                <a:cs typeface="Aptos" pitchFamily="34" charset="-120"/>
              </a:rPr>
              <a:t>“Configure a permission”</a:t>
            </a:r>
            <a:endParaRPr lang="en-US" sz="1600" dirty="0"/>
          </a:p>
          <a:p>
            <a:pPr marL="342900" indent="-342900">
              <a:buSzPct val="100000"/>
              <a:buChar char="•"/>
            </a:pPr>
            <a:r>
              <a:rPr lang="en-US" sz="1600" dirty="0">
                <a:solidFill>
                  <a:srgbClr val="352E27"/>
                </a:solidFill>
                <a:latin typeface="Aptos" pitchFamily="34" charset="0"/>
                <a:ea typeface="Aptos" pitchFamily="34" charset="-122"/>
                <a:cs typeface="Aptos" pitchFamily="34" charset="-120"/>
              </a:rPr>
              <a:t>Describes work, not proof</a:t>
            </a:r>
            <a:endParaRPr lang="en-US" sz="1600" dirty="0"/>
          </a:p>
        </p:txBody>
      </p:sp>
      <p:sp>
        <p:nvSpPr>
          <p:cNvPr id="16" name="Shape 14"/>
          <p:cNvSpPr/>
          <p:nvPr/>
        </p:nvSpPr>
        <p:spPr>
          <a:xfrm>
            <a:off x="5020056" y="1609344"/>
            <a:ext cx="493776" cy="493776"/>
          </a:xfrm>
          <a:prstGeom prst="ellipse">
            <a:avLst/>
          </a:prstGeom>
          <a:solidFill>
            <a:srgbClr val="FFF2C6"/>
          </a:solidFill>
          <a:ln/>
        </p:spPr>
        <p:txBody>
          <a:bodyPr/>
          <a:lstStyle/>
          <a:p>
            <a:endParaRPr lang="en-US"/>
          </a:p>
        </p:txBody>
      </p:sp>
      <p:sp>
        <p:nvSpPr>
          <p:cNvPr id="17" name="Text 15"/>
          <p:cNvSpPr/>
          <p:nvPr/>
        </p:nvSpPr>
        <p:spPr>
          <a:xfrm>
            <a:off x="5020056" y="1755648"/>
            <a:ext cx="493776" cy="118872"/>
          </a:xfrm>
          <a:prstGeom prst="rect">
            <a:avLst/>
          </a:prstGeom>
          <a:noFill/>
          <a:ln/>
        </p:spPr>
        <p:txBody>
          <a:bodyPr wrap="square" lIns="0" tIns="0" rIns="0" bIns="0" rtlCol="0" anchor="ctr"/>
          <a:lstStyle/>
          <a:p>
            <a:pPr marL="0" indent="0" algn="ctr">
              <a:buNone/>
            </a:pPr>
            <a:r>
              <a:rPr lang="en-US" sz="1000" b="1" dirty="0">
                <a:solidFill>
                  <a:srgbClr val="332C24"/>
                </a:solidFill>
                <a:latin typeface="Aptos" pitchFamily="34" charset="0"/>
                <a:ea typeface="Aptos" pitchFamily="34" charset="-122"/>
                <a:cs typeface="Aptos" pitchFamily="34" charset="-120"/>
              </a:rPr>
              <a:t>1</a:t>
            </a:r>
            <a:endParaRPr lang="en-US" sz="1000" dirty="0"/>
          </a:p>
        </p:txBody>
      </p:sp>
      <p:sp>
        <p:nvSpPr>
          <p:cNvPr id="18" name="Shape 16"/>
          <p:cNvSpPr/>
          <p:nvPr/>
        </p:nvSpPr>
        <p:spPr>
          <a:xfrm>
            <a:off x="6300216" y="1417320"/>
            <a:ext cx="5248656" cy="4626864"/>
          </a:xfrm>
          <a:prstGeom prst="roundRect">
            <a:avLst>
              <a:gd name="adj" fmla="val 1779"/>
            </a:avLst>
          </a:prstGeom>
          <a:solidFill>
            <a:srgbClr val="FFF2C6"/>
          </a:solidFill>
          <a:ln w="15240">
            <a:solidFill>
              <a:srgbClr val="FFD166"/>
            </a:solidFill>
            <a:prstDash val="solid"/>
          </a:ln>
          <a:effectLst>
            <a:outerShdw blurRad="50800" dist="19050" dir="8100000" algn="bl" rotWithShape="0">
              <a:srgbClr val="111827">
                <a:alpha val="11000"/>
              </a:srgbClr>
            </a:outerShdw>
          </a:effectLst>
        </p:spPr>
        <p:txBody>
          <a:bodyPr/>
          <a:lstStyle/>
          <a:p>
            <a:endParaRPr lang="en-US"/>
          </a:p>
        </p:txBody>
      </p:sp>
      <p:sp>
        <p:nvSpPr>
          <p:cNvPr id="19" name="Shape 17"/>
          <p:cNvSpPr/>
          <p:nvPr/>
        </p:nvSpPr>
        <p:spPr>
          <a:xfrm>
            <a:off x="6556248" y="1673352"/>
            <a:ext cx="1572768" cy="310896"/>
          </a:xfrm>
          <a:prstGeom prst="roundRect">
            <a:avLst>
              <a:gd name="adj" fmla="val 23529"/>
            </a:avLst>
          </a:prstGeom>
          <a:solidFill>
            <a:srgbClr val="FFD166"/>
          </a:solidFill>
          <a:ln/>
        </p:spPr>
        <p:txBody>
          <a:bodyPr/>
          <a:lstStyle/>
          <a:p>
            <a:endParaRPr lang="en-US"/>
          </a:p>
        </p:txBody>
      </p:sp>
      <p:sp>
        <p:nvSpPr>
          <p:cNvPr id="20" name="Text 18"/>
          <p:cNvSpPr/>
          <p:nvPr/>
        </p:nvSpPr>
        <p:spPr>
          <a:xfrm>
            <a:off x="6665976"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332C24"/>
                </a:solidFill>
                <a:latin typeface="Aptos" pitchFamily="34" charset="0"/>
                <a:ea typeface="Aptos" pitchFamily="34" charset="-122"/>
                <a:cs typeface="Aptos" pitchFamily="34" charset="-120"/>
              </a:rPr>
              <a:t>MEASURE</a:t>
            </a:r>
            <a:endParaRPr lang="en-US" sz="830" dirty="0"/>
          </a:p>
        </p:txBody>
      </p:sp>
      <p:sp>
        <p:nvSpPr>
          <p:cNvPr id="21" name="Text 19"/>
          <p:cNvSpPr/>
          <p:nvPr/>
        </p:nvSpPr>
        <p:spPr>
          <a:xfrm>
            <a:off x="6592824"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332C24"/>
                </a:solidFill>
                <a:latin typeface="Aptos Display" pitchFamily="34" charset="0"/>
                <a:ea typeface="Aptos Display" pitchFamily="34" charset="-122"/>
                <a:cs typeface="Aptos Display" pitchFamily="34" charset="-120"/>
              </a:rPr>
              <a:t>Success criterion</a:t>
            </a:r>
            <a:endParaRPr lang="en-US" sz="2200" dirty="0"/>
          </a:p>
        </p:txBody>
      </p:sp>
      <p:sp>
        <p:nvSpPr>
          <p:cNvPr id="22" name="Text 20"/>
          <p:cNvSpPr/>
          <p:nvPr/>
        </p:nvSpPr>
        <p:spPr>
          <a:xfrm>
            <a:off x="6647688"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352E27"/>
                </a:solidFill>
                <a:latin typeface="Aptos" pitchFamily="34" charset="0"/>
                <a:ea typeface="Aptos" pitchFamily="34" charset="-122"/>
                <a:cs typeface="Aptos" pitchFamily="34" charset="-120"/>
              </a:rPr>
              <a:t>“For GS-04, the trace identifies the failed retrieval span”</a:t>
            </a:r>
            <a:endParaRPr lang="en-US" sz="1600" dirty="0"/>
          </a:p>
          <a:p>
            <a:pPr marL="342900" indent="-342900">
              <a:buSzPct val="100000"/>
              <a:buChar char="•"/>
            </a:pPr>
            <a:r>
              <a:rPr lang="en-US" sz="1600" dirty="0">
                <a:solidFill>
                  <a:srgbClr val="352E27"/>
                </a:solidFill>
                <a:latin typeface="Aptos" pitchFamily="34" charset="0"/>
                <a:ea typeface="Aptos" pitchFamily="34" charset="-122"/>
                <a:cs typeface="Aptos" pitchFamily="34" charset="-120"/>
              </a:rPr>
              <a:t>“Across the same ≥10 cases, the final Foundry evaluator result meets the team-defined threshold and does not regress from the recorded initial result”</a:t>
            </a:r>
            <a:endParaRPr lang="en-US" sz="1600" dirty="0"/>
          </a:p>
          <a:p>
            <a:pPr marL="342900" indent="-342900">
              <a:buSzPct val="100000"/>
              <a:buChar char="•"/>
            </a:pPr>
            <a:r>
              <a:rPr lang="en-US" sz="1600" dirty="0">
                <a:solidFill>
                  <a:srgbClr val="352E27"/>
                </a:solidFill>
                <a:latin typeface="Aptos" pitchFamily="34" charset="0"/>
                <a:ea typeface="Aptos" pitchFamily="34" charset="-122"/>
                <a:cs typeface="Aptos" pitchFamily="34" charset="-120"/>
              </a:rPr>
              <a:t>“The named boundary denies the restricted-document case”</a:t>
            </a:r>
            <a:endParaRPr lang="en-US" sz="1600" dirty="0"/>
          </a:p>
          <a:p>
            <a:pPr marL="342900" indent="-342900">
              <a:buSzPct val="100000"/>
              <a:buChar char="•"/>
            </a:pPr>
            <a:r>
              <a:rPr lang="en-US" sz="1600" dirty="0">
                <a:solidFill>
                  <a:srgbClr val="352E27"/>
                </a:solidFill>
                <a:latin typeface="Aptos" pitchFamily="34" charset="0"/>
                <a:ea typeface="Aptos" pitchFamily="34" charset="-122"/>
                <a:cs typeface="Aptos" pitchFamily="34" charset="-120"/>
              </a:rPr>
              <a:t>Names the evidence and acceptance rule</a:t>
            </a:r>
            <a:endParaRPr lang="en-US" sz="1600" dirty="0"/>
          </a:p>
        </p:txBody>
      </p:sp>
      <p:sp>
        <p:nvSpPr>
          <p:cNvPr id="23" name="Shape 21"/>
          <p:cNvSpPr/>
          <p:nvPr/>
        </p:nvSpPr>
        <p:spPr>
          <a:xfrm>
            <a:off x="10680192" y="1609344"/>
            <a:ext cx="493776" cy="493776"/>
          </a:xfrm>
          <a:prstGeom prst="ellipse">
            <a:avLst/>
          </a:prstGeom>
          <a:solidFill>
            <a:srgbClr val="EF8354"/>
          </a:solidFill>
          <a:ln/>
        </p:spPr>
        <p:txBody>
          <a:bodyPr/>
          <a:lstStyle/>
          <a:p>
            <a:endParaRPr lang="en-US"/>
          </a:p>
        </p:txBody>
      </p:sp>
      <p:sp>
        <p:nvSpPr>
          <p:cNvPr id="24" name="Text 22"/>
          <p:cNvSpPr/>
          <p:nvPr/>
        </p:nvSpPr>
        <p:spPr>
          <a:xfrm>
            <a:off x="10680192" y="1755648"/>
            <a:ext cx="493776" cy="118872"/>
          </a:xfrm>
          <a:prstGeom prst="rect">
            <a:avLst/>
          </a:prstGeom>
          <a:noFill/>
          <a:ln/>
        </p:spPr>
        <p:txBody>
          <a:bodyPr wrap="square" lIns="0" tIns="0" rIns="0" bIns="0" rtlCol="0" anchor="ctr"/>
          <a:lstStyle/>
          <a:p>
            <a:pPr marL="0" indent="0" algn="ctr">
              <a:buNone/>
            </a:pPr>
            <a:r>
              <a:rPr lang="en-US" sz="1000" b="1" dirty="0">
                <a:solidFill>
                  <a:srgbClr val="332C24"/>
                </a:solidFill>
                <a:latin typeface="Aptos" pitchFamily="34" charset="0"/>
                <a:ea typeface="Aptos" pitchFamily="34" charset="-122"/>
                <a:cs typeface="Aptos" pitchFamily="34" charset="-120"/>
              </a:rPr>
              <a:t>2</a:t>
            </a:r>
            <a:endParaRPr lang="en-US" sz="1000" dirty="0"/>
          </a:p>
        </p:txBody>
      </p:sp>
      <p:sp>
        <p:nvSpPr>
          <p:cNvPr id="25" name="Shape 23"/>
          <p:cNvSpPr/>
          <p:nvPr/>
        </p:nvSpPr>
        <p:spPr>
          <a:xfrm>
            <a:off x="5916168" y="3236976"/>
            <a:ext cx="365760" cy="365760"/>
          </a:xfrm>
          <a:prstGeom prst="ellipse">
            <a:avLst/>
          </a:prstGeom>
          <a:solidFill>
            <a:srgbClr val="332C24"/>
          </a:solidFill>
          <a:ln/>
        </p:spPr>
        <p:txBody>
          <a:bodyPr/>
          <a:lstStyle/>
          <a:p>
            <a:endParaRPr lang="en-US"/>
          </a:p>
        </p:txBody>
      </p:sp>
      <p:sp>
        <p:nvSpPr>
          <p:cNvPr id="26" name="Text 24"/>
          <p:cNvSpPr/>
          <p:nvPr/>
        </p:nvSpPr>
        <p:spPr>
          <a:xfrm>
            <a:off x="5916168" y="3328416"/>
            <a:ext cx="365760"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27" name="Text 25"/>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71675C"/>
                </a:solidFill>
                <a:latin typeface="Aptos" pitchFamily="34" charset="0"/>
                <a:ea typeface="Aptos" pitchFamily="34" charset="-122"/>
                <a:cs typeface="Aptos" pitchFamily="34" charset="-120"/>
              </a:rPr>
              <a:t>REFERENCE  learn.microsoft.com/azure/foundry/observability/concepts/trace-agent-concept  ·  +3 more in notes</a:t>
            </a:r>
            <a:endParaRPr lang="en-US" sz="940" dirty="0"/>
          </a:p>
        </p:txBody>
      </p:sp>
      <p:sp>
        <p:nvSpPr>
          <p:cNvPr id="28" name="Shape 26"/>
          <p:cNvSpPr/>
          <p:nvPr/>
        </p:nvSpPr>
        <p:spPr>
          <a:xfrm>
            <a:off x="0" y="6793992"/>
            <a:ext cx="12191695" cy="64008"/>
          </a:xfrm>
          <a:prstGeom prst="rect">
            <a:avLst/>
          </a:prstGeom>
          <a:solidFill>
            <a:srgbClr val="FFD166"/>
          </a:solid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CF5"/>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32C24"/>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7  /  WORKSHOP CANVAS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332C24"/>
                </a:solidFill>
                <a:latin typeface="Aptos Display" pitchFamily="34" charset="0"/>
                <a:ea typeface="Aptos Display" pitchFamily="34" charset="-122"/>
                <a:cs typeface="Aptos Display" pitchFamily="34" charset="-120"/>
              </a:rPr>
              <a:t>Define baseline and candidate</a:t>
            </a:r>
            <a:endParaRPr lang="en-US" sz="3100" dirty="0"/>
          </a:p>
        </p:txBody>
      </p:sp>
      <p:sp>
        <p:nvSpPr>
          <p:cNvPr id="5" name="Shape 3"/>
          <p:cNvSpPr/>
          <p:nvPr/>
        </p:nvSpPr>
        <p:spPr>
          <a:xfrm rot="-240000">
            <a:off x="10824301" y="515722"/>
            <a:ext cx="316017" cy="342351"/>
          </a:xfrm>
          <a:prstGeom prst="rect">
            <a:avLst/>
          </a:prstGeom>
          <a:solidFill>
            <a:srgbClr val="FFF2C6"/>
          </a:solidFill>
          <a:ln w="12700">
            <a:solidFill>
              <a:srgbClr val="332C24"/>
            </a:solidFill>
            <a:prstDash val="solid"/>
          </a:ln>
        </p:spPr>
        <p:txBody>
          <a:bodyPr/>
          <a:lstStyle/>
          <a:p>
            <a:endParaRPr lang="en-US"/>
          </a:p>
        </p:txBody>
      </p:sp>
      <p:sp>
        <p:nvSpPr>
          <p:cNvPr id="6" name="Shape 4"/>
          <p:cNvSpPr/>
          <p:nvPr/>
        </p:nvSpPr>
        <p:spPr>
          <a:xfrm rot="180000">
            <a:off x="10969142" y="436717"/>
            <a:ext cx="316017" cy="342351"/>
          </a:xfrm>
          <a:prstGeom prst="rect">
            <a:avLst/>
          </a:prstGeom>
          <a:solidFill>
            <a:srgbClr val="FFD166"/>
          </a:solidFill>
          <a:ln w="12700">
            <a:solidFill>
              <a:srgbClr val="332C24"/>
            </a:solidFill>
            <a:prstDash val="solid"/>
          </a:ln>
        </p:spPr>
        <p:txBody>
          <a:bodyPr/>
          <a:lstStyle/>
          <a:p>
            <a:endParaRPr lang="en-US"/>
          </a:p>
        </p:txBody>
      </p:sp>
      <p:sp>
        <p:nvSpPr>
          <p:cNvPr id="7" name="Shape 5"/>
          <p:cNvSpPr/>
          <p:nvPr/>
        </p:nvSpPr>
        <p:spPr>
          <a:xfrm rot="-120000">
            <a:off x="11100816" y="568391"/>
            <a:ext cx="316017" cy="342351"/>
          </a:xfrm>
          <a:prstGeom prst="rect">
            <a:avLst/>
          </a:prstGeom>
          <a:solidFill>
            <a:srgbClr val="FFF2C6"/>
          </a:solidFill>
          <a:ln w="12700">
            <a:solidFill>
              <a:srgbClr val="332C24"/>
            </a:solidFill>
            <a:prstDash val="solid"/>
          </a:ln>
        </p:spPr>
        <p:txBody>
          <a:bodyPr/>
          <a:lstStyle/>
          <a:p>
            <a:endParaRPr lang="en-US"/>
          </a:p>
        </p:txBody>
      </p:sp>
      <p:sp>
        <p:nvSpPr>
          <p:cNvPr id="8" name="Shape 6"/>
          <p:cNvSpPr/>
          <p:nvPr/>
        </p:nvSpPr>
        <p:spPr>
          <a:xfrm>
            <a:off x="11612880" y="457200"/>
            <a:ext cx="329184" cy="329184"/>
          </a:xfrm>
          <a:prstGeom prst="ellipse">
            <a:avLst/>
          </a:prstGeom>
          <a:solidFill>
            <a:srgbClr val="FFD166"/>
          </a:solidFill>
          <a:ln/>
        </p:spPr>
        <p:txBody>
          <a:bodyPr/>
          <a:lstStyle/>
          <a:p>
            <a:endParaRPr lang="en-US"/>
          </a:p>
        </p:txBody>
      </p:sp>
      <p:sp>
        <p:nvSpPr>
          <p:cNvPr id="9" name="Text 7"/>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332C24"/>
                </a:solidFill>
                <a:latin typeface="Aptos" pitchFamily="34" charset="0"/>
                <a:ea typeface="Aptos" pitchFamily="34" charset="-122"/>
                <a:cs typeface="Aptos" pitchFamily="34" charset="-120"/>
              </a:rPr>
              <a:t>05</a:t>
            </a:r>
            <a:endParaRPr lang="en-US" sz="850" dirty="0"/>
          </a:p>
        </p:txBody>
      </p:sp>
      <p:sp>
        <p:nvSpPr>
          <p:cNvPr id="10" name="Shape 8"/>
          <p:cNvSpPr/>
          <p:nvPr/>
        </p:nvSpPr>
        <p:spPr>
          <a:xfrm>
            <a:off x="9829800" y="1005840"/>
            <a:ext cx="2148840" cy="2148840"/>
          </a:xfrm>
          <a:prstGeom prst="ellipse">
            <a:avLst/>
          </a:prstGeom>
          <a:solidFill>
            <a:srgbClr val="FFF2C6"/>
          </a:solidFill>
          <a:ln/>
        </p:spPr>
        <p:txBody>
          <a:bodyPr/>
          <a:lstStyle/>
          <a:p>
            <a:endParaRPr lang="en-US"/>
          </a:p>
        </p:txBody>
      </p:sp>
      <p:sp>
        <p:nvSpPr>
          <p:cNvPr id="11" name="Shape 9"/>
          <p:cNvSpPr/>
          <p:nvPr/>
        </p:nvSpPr>
        <p:spPr>
          <a:xfrm>
            <a:off x="640080" y="1417320"/>
            <a:ext cx="4663440" cy="3794760"/>
          </a:xfrm>
          <a:prstGeom prst="roundRect">
            <a:avLst>
              <a:gd name="adj" fmla="val 1928"/>
            </a:avLst>
          </a:prstGeom>
          <a:solidFill>
            <a:srgbClr val="FFFFFF"/>
          </a:solidFill>
          <a:ln w="10160">
            <a:solidFill>
              <a:srgbClr val="FFF2C6"/>
            </a:solidFill>
            <a:prstDash val="solid"/>
          </a:ln>
        </p:spPr>
        <p:txBody>
          <a:bodyPr/>
          <a:lstStyle/>
          <a:p>
            <a:endParaRPr lang="en-US"/>
          </a:p>
        </p:txBody>
      </p:sp>
      <p:sp>
        <p:nvSpPr>
          <p:cNvPr id="12" name="Shape 10"/>
          <p:cNvSpPr/>
          <p:nvPr/>
        </p:nvSpPr>
        <p:spPr>
          <a:xfrm>
            <a:off x="6885432" y="1417320"/>
            <a:ext cx="4663440" cy="3794760"/>
          </a:xfrm>
          <a:prstGeom prst="roundRect">
            <a:avLst>
              <a:gd name="adj" fmla="val 1928"/>
            </a:avLst>
          </a:prstGeom>
          <a:solidFill>
            <a:srgbClr val="FDE4D8"/>
          </a:solidFill>
          <a:ln w="10160">
            <a:solidFill>
              <a:srgbClr val="EF8354"/>
            </a:solidFill>
            <a:prstDash val="solid"/>
          </a:ln>
        </p:spPr>
        <p:txBody>
          <a:bodyPr/>
          <a:lstStyle/>
          <a:p>
            <a:endParaRPr lang="en-US"/>
          </a:p>
        </p:txBody>
      </p:sp>
      <p:sp>
        <p:nvSpPr>
          <p:cNvPr id="13" name="Text 11"/>
          <p:cNvSpPr/>
          <p:nvPr/>
        </p:nvSpPr>
        <p:spPr>
          <a:xfrm>
            <a:off x="932688" y="1737360"/>
            <a:ext cx="1371600" cy="173736"/>
          </a:xfrm>
          <a:prstGeom prst="rect">
            <a:avLst/>
          </a:prstGeom>
          <a:noFill/>
          <a:ln/>
        </p:spPr>
        <p:txBody>
          <a:bodyPr wrap="square" lIns="0" tIns="0" rIns="0" bIns="0" rtlCol="0" anchor="ctr"/>
          <a:lstStyle/>
          <a:p>
            <a:pPr marL="0" indent="0">
              <a:buNone/>
            </a:pPr>
            <a:r>
              <a:rPr lang="en-US" sz="1000" b="1" kern="0" spc="210" dirty="0">
                <a:solidFill>
                  <a:srgbClr val="EF8354"/>
                </a:solidFill>
                <a:latin typeface="Aptos" pitchFamily="34" charset="0"/>
                <a:ea typeface="Aptos" pitchFamily="34" charset="-122"/>
                <a:cs typeface="Aptos" pitchFamily="34" charset="-120"/>
              </a:rPr>
              <a:t>BASELINE</a:t>
            </a:r>
            <a:endParaRPr lang="en-US" sz="1000" dirty="0"/>
          </a:p>
        </p:txBody>
      </p:sp>
      <p:sp>
        <p:nvSpPr>
          <p:cNvPr id="14" name="Text 12"/>
          <p:cNvSpPr/>
          <p:nvPr/>
        </p:nvSpPr>
        <p:spPr>
          <a:xfrm>
            <a:off x="932688" y="2157984"/>
            <a:ext cx="4069080" cy="420624"/>
          </a:xfrm>
          <a:prstGeom prst="rect">
            <a:avLst/>
          </a:prstGeom>
          <a:noFill/>
          <a:ln/>
        </p:spPr>
        <p:txBody>
          <a:bodyPr wrap="square" lIns="0" tIns="0" rIns="0" bIns="0" rtlCol="0" anchor="ctr">
            <a:normAutofit/>
          </a:bodyPr>
          <a:lstStyle/>
          <a:p>
            <a:pPr marL="0" indent="0">
              <a:buNone/>
            </a:pPr>
            <a:r>
              <a:rPr lang="en-US" sz="2200" b="1" dirty="0">
                <a:solidFill>
                  <a:srgbClr val="332C24"/>
                </a:solidFill>
                <a:latin typeface="Aptos Display" pitchFamily="34" charset="0"/>
                <a:ea typeface="Aptos Display" pitchFamily="34" charset="-122"/>
                <a:cs typeface="Aptos Display" pitchFamily="34" charset="-120"/>
              </a:rPr>
              <a:t>Freeze the baseline</a:t>
            </a:r>
            <a:endParaRPr lang="en-US" sz="2200" dirty="0"/>
          </a:p>
        </p:txBody>
      </p:sp>
      <p:sp>
        <p:nvSpPr>
          <p:cNvPr id="15" name="Text 13"/>
          <p:cNvSpPr/>
          <p:nvPr/>
        </p:nvSpPr>
        <p:spPr>
          <a:xfrm>
            <a:off x="941832" y="2715768"/>
            <a:ext cx="4050792" cy="1554480"/>
          </a:xfrm>
          <a:prstGeom prst="rect">
            <a:avLst/>
          </a:prstGeom>
          <a:noFill/>
          <a:ln/>
        </p:spPr>
        <p:txBody>
          <a:bodyPr wrap="square" lIns="0" tIns="0" rIns="0" bIns="0" rtlCol="0" anchor="ctr">
            <a:normAutofit/>
          </a:bodyPr>
          <a:lstStyle/>
          <a:p>
            <a:pPr marL="0" indent="0">
              <a:buNone/>
            </a:pPr>
            <a:r>
              <a:rPr lang="en-US" sz="1500" dirty="0">
                <a:solidFill>
                  <a:srgbClr val="352E27"/>
                </a:solidFill>
                <a:latin typeface="Aptos" pitchFamily="34" charset="0"/>
                <a:ea typeface="Aptos" pitchFamily="34" charset="-122"/>
                <a:cs typeface="Aptos" pitchFamily="34" charset="-120"/>
              </a:rPr>
              <a:t>Record configuration, cases, evaluator settings, trace link, and initial result</a:t>
            </a:r>
            <a:endParaRPr lang="en-US" sz="1500" dirty="0"/>
          </a:p>
        </p:txBody>
      </p:sp>
      <p:sp>
        <p:nvSpPr>
          <p:cNvPr id="16" name="Text 14"/>
          <p:cNvSpPr/>
          <p:nvPr/>
        </p:nvSpPr>
        <p:spPr>
          <a:xfrm>
            <a:off x="7178040" y="1737360"/>
            <a:ext cx="1371600" cy="173736"/>
          </a:xfrm>
          <a:prstGeom prst="rect">
            <a:avLst/>
          </a:prstGeom>
          <a:noFill/>
          <a:ln/>
        </p:spPr>
        <p:txBody>
          <a:bodyPr wrap="square" lIns="0" tIns="0" rIns="0" bIns="0" rtlCol="0" anchor="ctr"/>
          <a:lstStyle/>
          <a:p>
            <a:pPr marL="0" indent="0">
              <a:buNone/>
            </a:pPr>
            <a:r>
              <a:rPr lang="en-US" sz="1000" b="1" kern="0" spc="210" dirty="0">
                <a:solidFill>
                  <a:srgbClr val="EF8354"/>
                </a:solidFill>
                <a:latin typeface="Aptos" pitchFamily="34" charset="0"/>
                <a:ea typeface="Aptos" pitchFamily="34" charset="-122"/>
                <a:cs typeface="Aptos" pitchFamily="34" charset="-120"/>
              </a:rPr>
              <a:t>CANDIDATE</a:t>
            </a:r>
            <a:endParaRPr lang="en-US" sz="1000" dirty="0"/>
          </a:p>
        </p:txBody>
      </p:sp>
      <p:sp>
        <p:nvSpPr>
          <p:cNvPr id="17" name="Text 15"/>
          <p:cNvSpPr/>
          <p:nvPr/>
        </p:nvSpPr>
        <p:spPr>
          <a:xfrm>
            <a:off x="7178040" y="2157984"/>
            <a:ext cx="4069080" cy="420624"/>
          </a:xfrm>
          <a:prstGeom prst="rect">
            <a:avLst/>
          </a:prstGeom>
          <a:noFill/>
          <a:ln/>
        </p:spPr>
        <p:txBody>
          <a:bodyPr wrap="square" lIns="0" tIns="0" rIns="0" bIns="0" rtlCol="0" anchor="ctr">
            <a:normAutofit/>
          </a:bodyPr>
          <a:lstStyle/>
          <a:p>
            <a:pPr marL="0" indent="0">
              <a:buNone/>
            </a:pPr>
            <a:r>
              <a:rPr lang="en-US" sz="2200" b="1" dirty="0">
                <a:solidFill>
                  <a:srgbClr val="332C24"/>
                </a:solidFill>
                <a:latin typeface="Aptos Display" pitchFamily="34" charset="0"/>
                <a:ea typeface="Aptos Display" pitchFamily="34" charset="-122"/>
                <a:cs typeface="Aptos Display" pitchFamily="34" charset="-120"/>
              </a:rPr>
              <a:t>Name one candidate change</a:t>
            </a:r>
            <a:endParaRPr lang="en-US" sz="2200" dirty="0"/>
          </a:p>
        </p:txBody>
      </p:sp>
      <p:sp>
        <p:nvSpPr>
          <p:cNvPr id="18" name="Text 16"/>
          <p:cNvSpPr/>
          <p:nvPr/>
        </p:nvSpPr>
        <p:spPr>
          <a:xfrm>
            <a:off x="7187184" y="2715768"/>
            <a:ext cx="4050792" cy="1554480"/>
          </a:xfrm>
          <a:prstGeom prst="rect">
            <a:avLst/>
          </a:prstGeom>
          <a:noFill/>
          <a:ln/>
        </p:spPr>
        <p:txBody>
          <a:bodyPr wrap="square" lIns="0" tIns="0" rIns="0" bIns="0" rtlCol="0" anchor="ctr">
            <a:normAutofit/>
          </a:bodyPr>
          <a:lstStyle/>
          <a:p>
            <a:pPr marL="0" indent="0">
              <a:buNone/>
            </a:pPr>
            <a:r>
              <a:rPr lang="en-US" sz="1500" dirty="0">
                <a:solidFill>
                  <a:srgbClr val="352E27"/>
                </a:solidFill>
                <a:latin typeface="Aptos" pitchFamily="34" charset="0"/>
                <a:ea typeface="Aptos" pitchFamily="34" charset="-122"/>
                <a:cs typeface="Aptos" pitchFamily="34" charset="-120"/>
              </a:rPr>
              <a:t>Instruction, tool, retrieval, control, or orchestration—not “everything”</a:t>
            </a:r>
            <a:endParaRPr lang="en-US" sz="1500" dirty="0"/>
          </a:p>
        </p:txBody>
      </p:sp>
      <p:sp>
        <p:nvSpPr>
          <p:cNvPr id="19" name="Shape 17"/>
          <p:cNvSpPr/>
          <p:nvPr/>
        </p:nvSpPr>
        <p:spPr>
          <a:xfrm>
            <a:off x="5532120" y="2468880"/>
            <a:ext cx="1124712" cy="1124712"/>
          </a:xfrm>
          <a:prstGeom prst="ellipse">
            <a:avLst/>
          </a:prstGeom>
          <a:solidFill>
            <a:srgbClr val="FFD166"/>
          </a:solidFill>
          <a:ln/>
        </p:spPr>
        <p:txBody>
          <a:bodyPr/>
          <a:lstStyle/>
          <a:p>
            <a:endParaRPr lang="en-US"/>
          </a:p>
        </p:txBody>
      </p:sp>
      <p:sp>
        <p:nvSpPr>
          <p:cNvPr id="20" name="Text 18"/>
          <p:cNvSpPr/>
          <p:nvPr/>
        </p:nvSpPr>
        <p:spPr>
          <a:xfrm>
            <a:off x="5532120" y="2779776"/>
            <a:ext cx="1124712" cy="292608"/>
          </a:xfrm>
          <a:prstGeom prst="rect">
            <a:avLst/>
          </a:prstGeom>
          <a:noFill/>
          <a:ln/>
        </p:spPr>
        <p:txBody>
          <a:bodyPr wrap="square" lIns="0" tIns="0" rIns="0" bIns="0" rtlCol="0" anchor="ctr"/>
          <a:lstStyle/>
          <a:p>
            <a:pPr marL="0" indent="0" algn="ctr">
              <a:buNone/>
            </a:pPr>
            <a:r>
              <a:rPr lang="en-US" sz="2600" b="1" dirty="0">
                <a:solidFill>
                  <a:srgbClr val="332C24"/>
                </a:solidFill>
                <a:latin typeface="Aptos" pitchFamily="34" charset="0"/>
                <a:ea typeface="Aptos" pitchFamily="34" charset="-122"/>
                <a:cs typeface="Aptos" pitchFamily="34" charset="-120"/>
              </a:rPr>
              <a:t>Δ</a:t>
            </a:r>
            <a:endParaRPr lang="en-US" sz="2600" dirty="0"/>
          </a:p>
        </p:txBody>
      </p:sp>
      <p:sp>
        <p:nvSpPr>
          <p:cNvPr id="21" name="Shape 19"/>
          <p:cNvSpPr/>
          <p:nvPr/>
        </p:nvSpPr>
        <p:spPr>
          <a:xfrm>
            <a:off x="1298448" y="5303520"/>
            <a:ext cx="4480560" cy="475488"/>
          </a:xfrm>
          <a:prstGeom prst="roundRect">
            <a:avLst>
              <a:gd name="adj" fmla="val 15385"/>
            </a:avLst>
          </a:prstGeom>
          <a:solidFill>
            <a:srgbClr val="332C24"/>
          </a:solidFill>
          <a:ln/>
        </p:spPr>
        <p:txBody>
          <a:bodyPr/>
          <a:lstStyle/>
          <a:p>
            <a:endParaRPr lang="en-US"/>
          </a:p>
        </p:txBody>
      </p:sp>
      <p:sp>
        <p:nvSpPr>
          <p:cNvPr id="22" name="Text 20"/>
          <p:cNvSpPr/>
          <p:nvPr/>
        </p:nvSpPr>
        <p:spPr>
          <a:xfrm>
            <a:off x="1536192" y="5458968"/>
            <a:ext cx="1463040" cy="146304"/>
          </a:xfrm>
          <a:prstGeom prst="rect">
            <a:avLst/>
          </a:prstGeom>
          <a:noFill/>
          <a:ln/>
        </p:spPr>
        <p:txBody>
          <a:bodyPr wrap="square" lIns="0" tIns="0" rIns="0" bIns="0" rtlCol="0" anchor="ctr"/>
          <a:lstStyle/>
          <a:p>
            <a:pPr marL="0" indent="0">
              <a:buNone/>
            </a:pPr>
            <a:r>
              <a:rPr lang="en-US" sz="1150" b="1" dirty="0">
                <a:solidFill>
                  <a:srgbClr val="FFD166"/>
                </a:solidFill>
                <a:latin typeface="Aptos" pitchFamily="34" charset="0"/>
                <a:ea typeface="Aptos" pitchFamily="34" charset="-122"/>
                <a:cs typeface="Aptos" pitchFamily="34" charset="-120"/>
              </a:rPr>
              <a:t>Hold the comparison stable</a:t>
            </a:r>
            <a:endParaRPr lang="en-US" sz="1150" dirty="0"/>
          </a:p>
        </p:txBody>
      </p:sp>
      <p:sp>
        <p:nvSpPr>
          <p:cNvPr id="23" name="Text 21"/>
          <p:cNvSpPr/>
          <p:nvPr/>
        </p:nvSpPr>
        <p:spPr>
          <a:xfrm>
            <a:off x="3127248" y="5413248"/>
            <a:ext cx="2359152" cy="219456"/>
          </a:xfrm>
          <a:prstGeom prst="rect">
            <a:avLst/>
          </a:prstGeom>
          <a:noFill/>
          <a:ln/>
        </p:spPr>
        <p:txBody>
          <a:bodyPr wrap="square" lIns="0" tIns="0" rIns="0" bIns="0" rtlCol="0" anchor="ctr">
            <a:normAutofit/>
          </a:bodyPr>
          <a:lstStyle/>
          <a:p>
            <a:pPr marL="0" indent="0">
              <a:buNone/>
            </a:pPr>
            <a:r>
              <a:rPr lang="en-US" sz="1040" dirty="0">
                <a:solidFill>
                  <a:srgbClr val="FFFFFF"/>
                </a:solidFill>
                <a:latin typeface="Aptos" pitchFamily="34" charset="0"/>
                <a:ea typeface="Aptos" pitchFamily="34" charset="-122"/>
                <a:cs typeface="Aptos" pitchFamily="34" charset="-120"/>
              </a:rPr>
              <a:t>Same documented cases and evaluator settings; record versions and run IDs</a:t>
            </a:r>
            <a:endParaRPr lang="en-US" sz="1040" dirty="0"/>
          </a:p>
        </p:txBody>
      </p:sp>
      <p:sp>
        <p:nvSpPr>
          <p:cNvPr id="24" name="Shape 22"/>
          <p:cNvSpPr/>
          <p:nvPr/>
        </p:nvSpPr>
        <p:spPr>
          <a:xfrm>
            <a:off x="6409944" y="5303520"/>
            <a:ext cx="4480560" cy="475488"/>
          </a:xfrm>
          <a:prstGeom prst="roundRect">
            <a:avLst>
              <a:gd name="adj" fmla="val 15385"/>
            </a:avLst>
          </a:prstGeom>
          <a:solidFill>
            <a:srgbClr val="332C24"/>
          </a:solidFill>
          <a:ln/>
        </p:spPr>
        <p:txBody>
          <a:bodyPr/>
          <a:lstStyle/>
          <a:p>
            <a:endParaRPr lang="en-US"/>
          </a:p>
        </p:txBody>
      </p:sp>
      <p:sp>
        <p:nvSpPr>
          <p:cNvPr id="25" name="Text 23"/>
          <p:cNvSpPr/>
          <p:nvPr/>
        </p:nvSpPr>
        <p:spPr>
          <a:xfrm>
            <a:off x="6647688" y="5458968"/>
            <a:ext cx="1508760" cy="146304"/>
          </a:xfrm>
          <a:prstGeom prst="rect">
            <a:avLst/>
          </a:prstGeom>
          <a:noFill/>
          <a:ln/>
        </p:spPr>
        <p:txBody>
          <a:bodyPr wrap="square" lIns="0" tIns="0" rIns="0" bIns="0" rtlCol="0" anchor="ctr"/>
          <a:lstStyle/>
          <a:p>
            <a:pPr marL="0" indent="0">
              <a:buNone/>
            </a:pPr>
            <a:r>
              <a:rPr lang="en-US" sz="1150" b="1" dirty="0">
                <a:solidFill>
                  <a:srgbClr val="FFD166"/>
                </a:solidFill>
                <a:latin typeface="Aptos" pitchFamily="34" charset="0"/>
                <a:ea typeface="Aptos" pitchFamily="34" charset="-122"/>
                <a:cs typeface="Aptos" pitchFamily="34" charset="-120"/>
              </a:rPr>
              <a:t>Assign the checkpoints</a:t>
            </a:r>
            <a:endParaRPr lang="en-US" sz="1150" dirty="0"/>
          </a:p>
        </p:txBody>
      </p:sp>
      <p:sp>
        <p:nvSpPr>
          <p:cNvPr id="26" name="Text 24"/>
          <p:cNvSpPr/>
          <p:nvPr/>
        </p:nvSpPr>
        <p:spPr>
          <a:xfrm>
            <a:off x="8247888" y="5413248"/>
            <a:ext cx="2350008" cy="219456"/>
          </a:xfrm>
          <a:prstGeom prst="rect">
            <a:avLst/>
          </a:prstGeom>
          <a:noFill/>
          <a:ln/>
        </p:spPr>
        <p:txBody>
          <a:bodyPr wrap="square" lIns="0" tIns="0" rIns="0" bIns="0" rtlCol="0" anchor="ctr">
            <a:normAutofit/>
          </a:bodyPr>
          <a:lstStyle/>
          <a:p>
            <a:pPr marL="0" indent="0">
              <a:buNone/>
            </a:pPr>
            <a:r>
              <a:rPr lang="en-US" sz="1040" dirty="0">
                <a:solidFill>
                  <a:srgbClr val="FFFFFF"/>
                </a:solidFill>
                <a:latin typeface="Aptos" pitchFamily="34" charset="0"/>
                <a:ea typeface="Aptos" pitchFamily="34" charset="-122"/>
                <a:cs typeface="Aptos" pitchFamily="34" charset="-120"/>
              </a:rPr>
              <a:t>Week 1 spike/baseline · Week 2 candidate/final result · Week 2–3 rehearsal</a:t>
            </a:r>
            <a:endParaRPr lang="en-US" sz="1040" dirty="0"/>
          </a:p>
        </p:txBody>
      </p:sp>
      <p:sp>
        <p:nvSpPr>
          <p:cNvPr id="27" name="Shape 25"/>
          <p:cNvSpPr/>
          <p:nvPr/>
        </p:nvSpPr>
        <p:spPr>
          <a:xfrm>
            <a:off x="640080" y="5852160"/>
            <a:ext cx="10908792" cy="274320"/>
          </a:xfrm>
          <a:prstGeom prst="roundRect">
            <a:avLst>
              <a:gd name="adj" fmla="val 26667"/>
            </a:avLst>
          </a:prstGeom>
          <a:solidFill>
            <a:srgbClr val="332C24"/>
          </a:solidFill>
          <a:ln/>
        </p:spPr>
        <p:txBody>
          <a:bodyPr/>
          <a:lstStyle/>
          <a:p>
            <a:endParaRPr lang="en-US"/>
          </a:p>
        </p:txBody>
      </p:sp>
      <p:sp>
        <p:nvSpPr>
          <p:cNvPr id="28" name="Text 26"/>
          <p:cNvSpPr/>
          <p:nvPr/>
        </p:nvSpPr>
        <p:spPr>
          <a:xfrm>
            <a:off x="859536" y="5961888"/>
            <a:ext cx="10479024" cy="91440"/>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latin typeface="Aptos" pitchFamily="34" charset="0"/>
                <a:ea typeface="Aptos" pitchFamily="34" charset="-122"/>
                <a:cs typeface="Aptos" pitchFamily="34" charset="-120"/>
              </a:rPr>
              <a:t>Improvement is a measured delta against an acceptance rule, not a better-looking demo.</a:t>
            </a:r>
            <a:endParaRPr lang="en-US" sz="1320" dirty="0"/>
          </a:p>
        </p:txBody>
      </p:sp>
      <p:sp>
        <p:nvSpPr>
          <p:cNvPr id="29" name="Text 27"/>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71675C"/>
                </a:solidFill>
                <a:latin typeface="Aptos" pitchFamily="34" charset="0"/>
                <a:ea typeface="Aptos" pitchFamily="34" charset="-122"/>
                <a:cs typeface="Aptos" pitchFamily="34" charset="-120"/>
              </a:rPr>
              <a:t>REFERENCE  learn.microsoft.com/azure/foundry/agents/concepts/development-lifecycle  ·  +3 more in notes</a:t>
            </a:r>
            <a:endParaRPr lang="en-US" sz="940" dirty="0"/>
          </a:p>
        </p:txBody>
      </p:sp>
      <p:sp>
        <p:nvSpPr>
          <p:cNvPr id="30" name="Shape 28"/>
          <p:cNvSpPr/>
          <p:nvPr/>
        </p:nvSpPr>
        <p:spPr>
          <a:xfrm>
            <a:off x="0" y="6793992"/>
            <a:ext cx="12191695" cy="64008"/>
          </a:xfrm>
          <a:prstGeom prst="rect">
            <a:avLst/>
          </a:prstGeom>
          <a:solidFill>
            <a:srgbClr val="FFD166"/>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CF5"/>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32C24"/>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7  /  WORKSHOP CANVAS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2800" b="1" dirty="0">
                <a:solidFill>
                  <a:srgbClr val="332C24"/>
                </a:solidFill>
                <a:latin typeface="Aptos Display" pitchFamily="34" charset="0"/>
                <a:ea typeface="Aptos Display" pitchFamily="34" charset="-122"/>
                <a:cs typeface="Aptos Display" pitchFamily="34" charset="-120"/>
              </a:rPr>
              <a:t>Challenge, coach, and record disposition</a:t>
            </a:r>
            <a:endParaRPr lang="en-US" sz="2800" dirty="0"/>
          </a:p>
        </p:txBody>
      </p:sp>
      <p:sp>
        <p:nvSpPr>
          <p:cNvPr id="5" name="Shape 3"/>
          <p:cNvSpPr/>
          <p:nvPr/>
        </p:nvSpPr>
        <p:spPr>
          <a:xfrm rot="-240000">
            <a:off x="10824301" y="515722"/>
            <a:ext cx="316017" cy="342351"/>
          </a:xfrm>
          <a:prstGeom prst="rect">
            <a:avLst/>
          </a:prstGeom>
          <a:solidFill>
            <a:srgbClr val="FFF2C6"/>
          </a:solidFill>
          <a:ln w="12700">
            <a:solidFill>
              <a:srgbClr val="332C24"/>
            </a:solidFill>
            <a:prstDash val="solid"/>
          </a:ln>
        </p:spPr>
        <p:txBody>
          <a:bodyPr/>
          <a:lstStyle/>
          <a:p>
            <a:endParaRPr lang="en-US"/>
          </a:p>
        </p:txBody>
      </p:sp>
      <p:sp>
        <p:nvSpPr>
          <p:cNvPr id="6" name="Shape 4"/>
          <p:cNvSpPr/>
          <p:nvPr/>
        </p:nvSpPr>
        <p:spPr>
          <a:xfrm rot="180000">
            <a:off x="10969142" y="436717"/>
            <a:ext cx="316017" cy="342351"/>
          </a:xfrm>
          <a:prstGeom prst="rect">
            <a:avLst/>
          </a:prstGeom>
          <a:solidFill>
            <a:srgbClr val="FFD166"/>
          </a:solidFill>
          <a:ln w="12700">
            <a:solidFill>
              <a:srgbClr val="332C24"/>
            </a:solidFill>
            <a:prstDash val="solid"/>
          </a:ln>
        </p:spPr>
        <p:txBody>
          <a:bodyPr/>
          <a:lstStyle/>
          <a:p>
            <a:endParaRPr lang="en-US"/>
          </a:p>
        </p:txBody>
      </p:sp>
      <p:sp>
        <p:nvSpPr>
          <p:cNvPr id="7" name="Shape 5"/>
          <p:cNvSpPr/>
          <p:nvPr/>
        </p:nvSpPr>
        <p:spPr>
          <a:xfrm rot="-120000">
            <a:off x="11100816" y="568391"/>
            <a:ext cx="316017" cy="342351"/>
          </a:xfrm>
          <a:prstGeom prst="rect">
            <a:avLst/>
          </a:prstGeom>
          <a:solidFill>
            <a:srgbClr val="FFF2C6"/>
          </a:solidFill>
          <a:ln w="12700">
            <a:solidFill>
              <a:srgbClr val="332C24"/>
            </a:solidFill>
            <a:prstDash val="solid"/>
          </a:ln>
        </p:spPr>
        <p:txBody>
          <a:bodyPr/>
          <a:lstStyle/>
          <a:p>
            <a:endParaRPr lang="en-US"/>
          </a:p>
        </p:txBody>
      </p:sp>
      <p:sp>
        <p:nvSpPr>
          <p:cNvPr id="8" name="Shape 6"/>
          <p:cNvSpPr/>
          <p:nvPr/>
        </p:nvSpPr>
        <p:spPr>
          <a:xfrm>
            <a:off x="11612880" y="457200"/>
            <a:ext cx="329184" cy="329184"/>
          </a:xfrm>
          <a:prstGeom prst="ellipse">
            <a:avLst/>
          </a:prstGeom>
          <a:solidFill>
            <a:srgbClr val="FFD166"/>
          </a:solidFill>
          <a:ln/>
        </p:spPr>
        <p:txBody>
          <a:bodyPr/>
          <a:lstStyle/>
          <a:p>
            <a:endParaRPr lang="en-US"/>
          </a:p>
        </p:txBody>
      </p:sp>
      <p:sp>
        <p:nvSpPr>
          <p:cNvPr id="9" name="Text 7"/>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332C24"/>
                </a:solidFill>
                <a:latin typeface="Aptos" pitchFamily="34" charset="0"/>
                <a:ea typeface="Aptos" pitchFamily="34" charset="-122"/>
                <a:cs typeface="Aptos" pitchFamily="34" charset="-120"/>
              </a:rPr>
              <a:t>06</a:t>
            </a:r>
            <a:endParaRPr lang="en-US" sz="850" dirty="0"/>
          </a:p>
        </p:txBody>
      </p:sp>
      <p:sp>
        <p:nvSpPr>
          <p:cNvPr id="10" name="Shape 8"/>
          <p:cNvSpPr/>
          <p:nvPr/>
        </p:nvSpPr>
        <p:spPr>
          <a:xfrm>
            <a:off x="9829800" y="1005840"/>
            <a:ext cx="2148840" cy="2148840"/>
          </a:xfrm>
          <a:prstGeom prst="ellipse">
            <a:avLst/>
          </a:prstGeom>
          <a:solidFill>
            <a:srgbClr val="FFF2C6"/>
          </a:solidFill>
          <a:ln/>
        </p:spPr>
        <p:txBody>
          <a:bodyPr/>
          <a:lstStyle/>
          <a:p>
            <a:endParaRPr lang="en-US"/>
          </a:p>
        </p:txBody>
      </p:sp>
      <p:sp>
        <p:nvSpPr>
          <p:cNvPr id="11" name="Shape 9"/>
          <p:cNvSpPr/>
          <p:nvPr/>
        </p:nvSpPr>
        <p:spPr>
          <a:xfrm>
            <a:off x="1024128" y="2130552"/>
            <a:ext cx="10058400" cy="0"/>
          </a:xfrm>
          <a:prstGeom prst="line">
            <a:avLst/>
          </a:prstGeom>
          <a:noFill/>
          <a:ln w="63500">
            <a:solidFill>
              <a:srgbClr val="FFD166"/>
            </a:solidFill>
            <a:prstDash val="solid"/>
          </a:ln>
        </p:spPr>
        <p:txBody>
          <a:bodyPr/>
          <a:lstStyle/>
          <a:p>
            <a:endParaRPr lang="en-US"/>
          </a:p>
        </p:txBody>
      </p:sp>
      <p:sp>
        <p:nvSpPr>
          <p:cNvPr id="12" name="Shape 10"/>
          <p:cNvSpPr/>
          <p:nvPr/>
        </p:nvSpPr>
        <p:spPr>
          <a:xfrm>
            <a:off x="914400" y="1417320"/>
            <a:ext cx="4773168" cy="3931920"/>
          </a:xfrm>
          <a:prstGeom prst="roundRect">
            <a:avLst>
              <a:gd name="adj" fmla="val 1860"/>
            </a:avLst>
          </a:prstGeom>
          <a:solidFill>
            <a:srgbClr val="FFF2C6"/>
          </a:solidFill>
          <a:ln w="10160">
            <a:solidFill>
              <a:srgbClr val="FFD166"/>
            </a:solidFill>
            <a:prstDash val="solid"/>
          </a:ln>
        </p:spPr>
        <p:txBody>
          <a:bodyPr/>
          <a:lstStyle/>
          <a:p>
            <a:endParaRPr lang="en-US"/>
          </a:p>
        </p:txBody>
      </p:sp>
      <p:sp>
        <p:nvSpPr>
          <p:cNvPr id="13" name="Shape 11"/>
          <p:cNvSpPr/>
          <p:nvPr/>
        </p:nvSpPr>
        <p:spPr>
          <a:xfrm>
            <a:off x="1188720" y="1737360"/>
            <a:ext cx="1097280" cy="347472"/>
          </a:xfrm>
          <a:prstGeom prst="roundRect">
            <a:avLst>
              <a:gd name="adj" fmla="val 21053"/>
            </a:avLst>
          </a:prstGeom>
          <a:solidFill>
            <a:srgbClr val="FFD166"/>
          </a:solidFill>
          <a:ln/>
        </p:spPr>
        <p:txBody>
          <a:bodyPr/>
          <a:lstStyle/>
          <a:p>
            <a:endParaRPr lang="en-US"/>
          </a:p>
        </p:txBody>
      </p:sp>
      <p:sp>
        <p:nvSpPr>
          <p:cNvPr id="14" name="Text 12"/>
          <p:cNvSpPr/>
          <p:nvPr/>
        </p:nvSpPr>
        <p:spPr>
          <a:xfrm>
            <a:off x="1298448" y="1856232"/>
            <a:ext cx="877824" cy="100584"/>
          </a:xfrm>
          <a:prstGeom prst="rect">
            <a:avLst/>
          </a:prstGeom>
          <a:noFill/>
          <a:ln/>
        </p:spPr>
        <p:txBody>
          <a:bodyPr wrap="square" lIns="0" tIns="0" rIns="0" bIns="0" rtlCol="0" anchor="ctr"/>
          <a:lstStyle/>
          <a:p>
            <a:pPr marL="0" indent="0" algn="ctr">
              <a:buNone/>
            </a:pPr>
            <a:r>
              <a:rPr lang="en-US" sz="900" b="1" dirty="0">
                <a:solidFill>
                  <a:srgbClr val="332C24"/>
                </a:solidFill>
                <a:latin typeface="Aptos" pitchFamily="34" charset="0"/>
                <a:ea typeface="Aptos" pitchFamily="34" charset="-122"/>
                <a:cs typeface="Aptos" pitchFamily="34" charset="-120"/>
              </a:rPr>
              <a:t>FIRST</a:t>
            </a:r>
            <a:endParaRPr lang="en-US" sz="900" dirty="0"/>
          </a:p>
        </p:txBody>
      </p:sp>
      <p:sp>
        <p:nvSpPr>
          <p:cNvPr id="15" name="Text 13"/>
          <p:cNvSpPr/>
          <p:nvPr/>
        </p:nvSpPr>
        <p:spPr>
          <a:xfrm>
            <a:off x="2487168" y="1792224"/>
            <a:ext cx="2651760" cy="201168"/>
          </a:xfrm>
          <a:prstGeom prst="rect">
            <a:avLst/>
          </a:prstGeom>
          <a:noFill/>
          <a:ln/>
        </p:spPr>
        <p:txBody>
          <a:bodyPr wrap="square" lIns="0" tIns="0" rIns="0" bIns="0" rtlCol="0" anchor="ctr"/>
          <a:lstStyle/>
          <a:p>
            <a:pPr marL="0" indent="0">
              <a:buNone/>
            </a:pPr>
            <a:r>
              <a:rPr lang="en-US" sz="1400" b="1" kern="0" spc="200" dirty="0">
                <a:solidFill>
                  <a:srgbClr val="332C24"/>
                </a:solidFill>
                <a:latin typeface="Aptos" pitchFamily="34" charset="0"/>
                <a:ea typeface="Aptos" pitchFamily="34" charset="-122"/>
                <a:cs typeface="Aptos" pitchFamily="34" charset="-120"/>
              </a:rPr>
              <a:t>CHALLENGE</a:t>
            </a:r>
            <a:endParaRPr lang="en-US" sz="1400" dirty="0"/>
          </a:p>
        </p:txBody>
      </p:sp>
      <p:sp>
        <p:nvSpPr>
          <p:cNvPr id="16" name="Shape 14"/>
          <p:cNvSpPr/>
          <p:nvPr/>
        </p:nvSpPr>
        <p:spPr>
          <a:xfrm>
            <a:off x="6492240" y="1417320"/>
            <a:ext cx="4773168" cy="3931920"/>
          </a:xfrm>
          <a:prstGeom prst="roundRect">
            <a:avLst>
              <a:gd name="adj" fmla="val 1860"/>
            </a:avLst>
          </a:prstGeom>
          <a:solidFill>
            <a:srgbClr val="FDE4D8"/>
          </a:solidFill>
          <a:ln w="10160">
            <a:solidFill>
              <a:srgbClr val="EF8354"/>
            </a:solidFill>
            <a:prstDash val="solid"/>
          </a:ln>
        </p:spPr>
        <p:txBody>
          <a:bodyPr/>
          <a:lstStyle/>
          <a:p>
            <a:endParaRPr lang="en-US"/>
          </a:p>
        </p:txBody>
      </p:sp>
      <p:sp>
        <p:nvSpPr>
          <p:cNvPr id="17" name="Shape 15"/>
          <p:cNvSpPr/>
          <p:nvPr/>
        </p:nvSpPr>
        <p:spPr>
          <a:xfrm>
            <a:off x="6766560" y="1737360"/>
            <a:ext cx="1097280" cy="347472"/>
          </a:xfrm>
          <a:prstGeom prst="roundRect">
            <a:avLst>
              <a:gd name="adj" fmla="val 21053"/>
            </a:avLst>
          </a:prstGeom>
          <a:solidFill>
            <a:srgbClr val="EF8354"/>
          </a:solidFill>
          <a:ln/>
        </p:spPr>
        <p:txBody>
          <a:bodyPr/>
          <a:lstStyle/>
          <a:p>
            <a:endParaRPr lang="en-US"/>
          </a:p>
        </p:txBody>
      </p:sp>
      <p:sp>
        <p:nvSpPr>
          <p:cNvPr id="18" name="Text 16"/>
          <p:cNvSpPr/>
          <p:nvPr/>
        </p:nvSpPr>
        <p:spPr>
          <a:xfrm>
            <a:off x="6876288" y="1856232"/>
            <a:ext cx="877824" cy="100584"/>
          </a:xfrm>
          <a:prstGeom prst="rect">
            <a:avLst/>
          </a:prstGeom>
          <a:noFill/>
          <a:ln/>
        </p:spPr>
        <p:txBody>
          <a:bodyPr wrap="square" lIns="0" tIns="0" rIns="0" bIns="0" rtlCol="0" anchor="ctr"/>
          <a:lstStyle/>
          <a:p>
            <a:pPr marL="0" indent="0" algn="ctr">
              <a:buNone/>
            </a:pPr>
            <a:r>
              <a:rPr lang="en-US" sz="900" b="1" dirty="0">
                <a:solidFill>
                  <a:srgbClr val="332C24"/>
                </a:solidFill>
                <a:latin typeface="Aptos" pitchFamily="34" charset="0"/>
                <a:ea typeface="Aptos" pitchFamily="34" charset="-122"/>
                <a:cs typeface="Aptos" pitchFamily="34" charset="-120"/>
              </a:rPr>
              <a:t>THEN</a:t>
            </a:r>
            <a:endParaRPr lang="en-US" sz="900" dirty="0"/>
          </a:p>
        </p:txBody>
      </p:sp>
      <p:sp>
        <p:nvSpPr>
          <p:cNvPr id="19" name="Text 17"/>
          <p:cNvSpPr/>
          <p:nvPr/>
        </p:nvSpPr>
        <p:spPr>
          <a:xfrm>
            <a:off x="8065008" y="1792224"/>
            <a:ext cx="2651760" cy="201168"/>
          </a:xfrm>
          <a:prstGeom prst="rect">
            <a:avLst/>
          </a:prstGeom>
          <a:noFill/>
          <a:ln/>
        </p:spPr>
        <p:txBody>
          <a:bodyPr wrap="square" lIns="0" tIns="0" rIns="0" bIns="0" rtlCol="0" anchor="ctr"/>
          <a:lstStyle/>
          <a:p>
            <a:pPr marL="0" indent="0">
              <a:buNone/>
            </a:pPr>
            <a:r>
              <a:rPr lang="en-US" sz="1400" b="1" kern="0" spc="200" dirty="0">
                <a:solidFill>
                  <a:srgbClr val="332C24"/>
                </a:solidFill>
                <a:latin typeface="Aptos" pitchFamily="34" charset="0"/>
                <a:ea typeface="Aptos" pitchFamily="34" charset="-122"/>
                <a:cs typeface="Aptos" pitchFamily="34" charset="-120"/>
              </a:rPr>
              <a:t>DISPOSITION</a:t>
            </a:r>
            <a:endParaRPr lang="en-US" sz="1400" dirty="0"/>
          </a:p>
        </p:txBody>
      </p:sp>
      <p:sp>
        <p:nvSpPr>
          <p:cNvPr id="20" name="Shape 18"/>
          <p:cNvSpPr/>
          <p:nvPr/>
        </p:nvSpPr>
        <p:spPr>
          <a:xfrm>
            <a:off x="1170432" y="2450592"/>
            <a:ext cx="4261104" cy="1042416"/>
          </a:xfrm>
          <a:prstGeom prst="roundRect">
            <a:avLst>
              <a:gd name="adj" fmla="val 7018"/>
            </a:avLst>
          </a:prstGeom>
          <a:solidFill>
            <a:srgbClr val="FFFFFF"/>
          </a:solidFill>
          <a:ln w="10160">
            <a:solidFill>
              <a:srgbClr val="FFF2C6"/>
            </a:solidFill>
            <a:prstDash val="solid"/>
          </a:ln>
        </p:spPr>
        <p:txBody>
          <a:bodyPr/>
          <a:lstStyle/>
          <a:p>
            <a:endParaRPr lang="en-US"/>
          </a:p>
        </p:txBody>
      </p:sp>
      <p:sp>
        <p:nvSpPr>
          <p:cNvPr id="21" name="Shape 19"/>
          <p:cNvSpPr/>
          <p:nvPr/>
        </p:nvSpPr>
        <p:spPr>
          <a:xfrm>
            <a:off x="1335024" y="2779776"/>
            <a:ext cx="384048" cy="384048"/>
          </a:xfrm>
          <a:prstGeom prst="ellipse">
            <a:avLst/>
          </a:prstGeom>
          <a:solidFill>
            <a:srgbClr val="FFD166"/>
          </a:solidFill>
          <a:ln/>
        </p:spPr>
        <p:txBody>
          <a:bodyPr/>
          <a:lstStyle/>
          <a:p>
            <a:endParaRPr lang="en-US"/>
          </a:p>
        </p:txBody>
      </p:sp>
      <p:sp>
        <p:nvSpPr>
          <p:cNvPr id="22" name="Text 20"/>
          <p:cNvSpPr/>
          <p:nvPr/>
        </p:nvSpPr>
        <p:spPr>
          <a:xfrm>
            <a:off x="1335024" y="2898648"/>
            <a:ext cx="384048" cy="109728"/>
          </a:xfrm>
          <a:prstGeom prst="rect">
            <a:avLst/>
          </a:prstGeom>
          <a:noFill/>
          <a:ln/>
        </p:spPr>
        <p:txBody>
          <a:bodyPr wrap="square" lIns="0" tIns="0" rIns="0" bIns="0" rtlCol="0" anchor="ctr"/>
          <a:lstStyle/>
          <a:p>
            <a:pPr marL="0" indent="0" algn="ctr">
              <a:buNone/>
            </a:pPr>
            <a:r>
              <a:rPr lang="en-US" sz="900" b="1" dirty="0">
                <a:solidFill>
                  <a:srgbClr val="332C24"/>
                </a:solidFill>
                <a:latin typeface="Aptos" pitchFamily="34" charset="0"/>
                <a:ea typeface="Aptos" pitchFamily="34" charset="-122"/>
                <a:cs typeface="Aptos" pitchFamily="34" charset="-120"/>
              </a:rPr>
              <a:t>1</a:t>
            </a:r>
            <a:endParaRPr lang="en-US" sz="900" dirty="0"/>
          </a:p>
        </p:txBody>
      </p:sp>
      <p:sp>
        <p:nvSpPr>
          <p:cNvPr id="23" name="Text 21"/>
          <p:cNvSpPr/>
          <p:nvPr/>
        </p:nvSpPr>
        <p:spPr>
          <a:xfrm>
            <a:off x="1883664" y="2615184"/>
            <a:ext cx="1298448" cy="713232"/>
          </a:xfrm>
          <a:prstGeom prst="rect">
            <a:avLst/>
          </a:prstGeom>
          <a:noFill/>
          <a:ln/>
        </p:spPr>
        <p:txBody>
          <a:bodyPr wrap="square" lIns="0" tIns="0" rIns="0" bIns="0" rtlCol="0" anchor="ctr">
            <a:normAutofit/>
          </a:bodyPr>
          <a:lstStyle/>
          <a:p>
            <a:pPr marL="0" indent="0">
              <a:buNone/>
            </a:pPr>
            <a:r>
              <a:rPr lang="en-US" sz="1420" b="1" dirty="0">
                <a:solidFill>
                  <a:srgbClr val="332C24"/>
                </a:solidFill>
                <a:latin typeface="Aptos Display" pitchFamily="34" charset="0"/>
                <a:ea typeface="Aptos Display" pitchFamily="34" charset="-122"/>
                <a:cs typeface="Aptos Display" pitchFamily="34" charset="-120"/>
              </a:rPr>
              <a:t>Failure path</a:t>
            </a:r>
            <a:endParaRPr lang="en-US" sz="1420" dirty="0"/>
          </a:p>
        </p:txBody>
      </p:sp>
      <p:sp>
        <p:nvSpPr>
          <p:cNvPr id="24" name="Text 22"/>
          <p:cNvSpPr/>
          <p:nvPr/>
        </p:nvSpPr>
        <p:spPr>
          <a:xfrm>
            <a:off x="3273552" y="2596896"/>
            <a:ext cx="1883664" cy="749808"/>
          </a:xfrm>
          <a:prstGeom prst="rect">
            <a:avLst/>
          </a:prstGeom>
          <a:noFill/>
          <a:ln/>
        </p:spPr>
        <p:txBody>
          <a:bodyPr wrap="square" lIns="0" tIns="0" rIns="0" bIns="0" rtlCol="0" anchor="ctr">
            <a:normAutofit/>
          </a:bodyPr>
          <a:lstStyle/>
          <a:p>
            <a:pPr marL="0" indent="0">
              <a:buNone/>
            </a:pPr>
            <a:r>
              <a:rPr lang="en-US" sz="1210" dirty="0">
                <a:solidFill>
                  <a:srgbClr val="352E27"/>
                </a:solidFill>
                <a:latin typeface="Aptos" pitchFamily="34" charset="0"/>
                <a:ea typeface="Aptos" pitchFamily="34" charset="-122"/>
                <a:cs typeface="Aptos" pitchFamily="34" charset="-120"/>
              </a:rPr>
              <a:t>Choose one failure case, its control, enforcement point, expected outcome, and verifying evidence</a:t>
            </a:r>
            <a:endParaRPr lang="en-US" sz="1210" dirty="0"/>
          </a:p>
        </p:txBody>
      </p:sp>
      <p:sp>
        <p:nvSpPr>
          <p:cNvPr id="25" name="Shape 23"/>
          <p:cNvSpPr/>
          <p:nvPr/>
        </p:nvSpPr>
        <p:spPr>
          <a:xfrm>
            <a:off x="1170432" y="3749040"/>
            <a:ext cx="4261104" cy="1042416"/>
          </a:xfrm>
          <a:prstGeom prst="roundRect">
            <a:avLst>
              <a:gd name="adj" fmla="val 7018"/>
            </a:avLst>
          </a:prstGeom>
          <a:solidFill>
            <a:srgbClr val="FFFFFF"/>
          </a:solidFill>
          <a:ln w="10160">
            <a:solidFill>
              <a:srgbClr val="FFF2C6"/>
            </a:solidFill>
            <a:prstDash val="solid"/>
          </a:ln>
        </p:spPr>
        <p:txBody>
          <a:bodyPr/>
          <a:lstStyle/>
          <a:p>
            <a:endParaRPr lang="en-US"/>
          </a:p>
        </p:txBody>
      </p:sp>
      <p:sp>
        <p:nvSpPr>
          <p:cNvPr id="26" name="Shape 24"/>
          <p:cNvSpPr/>
          <p:nvPr/>
        </p:nvSpPr>
        <p:spPr>
          <a:xfrm>
            <a:off x="1335024" y="4078224"/>
            <a:ext cx="384048" cy="384048"/>
          </a:xfrm>
          <a:prstGeom prst="ellipse">
            <a:avLst/>
          </a:prstGeom>
          <a:solidFill>
            <a:srgbClr val="FFD166"/>
          </a:solidFill>
          <a:ln/>
        </p:spPr>
        <p:txBody>
          <a:bodyPr/>
          <a:lstStyle/>
          <a:p>
            <a:endParaRPr lang="en-US"/>
          </a:p>
        </p:txBody>
      </p:sp>
      <p:sp>
        <p:nvSpPr>
          <p:cNvPr id="27" name="Text 25"/>
          <p:cNvSpPr/>
          <p:nvPr/>
        </p:nvSpPr>
        <p:spPr>
          <a:xfrm>
            <a:off x="1335024" y="4197096"/>
            <a:ext cx="384048" cy="109728"/>
          </a:xfrm>
          <a:prstGeom prst="rect">
            <a:avLst/>
          </a:prstGeom>
          <a:noFill/>
          <a:ln/>
        </p:spPr>
        <p:txBody>
          <a:bodyPr wrap="square" lIns="0" tIns="0" rIns="0" bIns="0" rtlCol="0" anchor="ctr"/>
          <a:lstStyle/>
          <a:p>
            <a:pPr marL="0" indent="0" algn="ctr">
              <a:buNone/>
            </a:pPr>
            <a:r>
              <a:rPr lang="en-US" sz="900" b="1" dirty="0">
                <a:solidFill>
                  <a:srgbClr val="332C24"/>
                </a:solidFill>
                <a:latin typeface="Aptos" pitchFamily="34" charset="0"/>
                <a:ea typeface="Aptos" pitchFamily="34" charset="-122"/>
                <a:cs typeface="Aptos" pitchFamily="34" charset="-120"/>
              </a:rPr>
              <a:t>2</a:t>
            </a:r>
            <a:endParaRPr lang="en-US" sz="900" dirty="0"/>
          </a:p>
        </p:txBody>
      </p:sp>
      <p:sp>
        <p:nvSpPr>
          <p:cNvPr id="28" name="Text 26"/>
          <p:cNvSpPr/>
          <p:nvPr/>
        </p:nvSpPr>
        <p:spPr>
          <a:xfrm>
            <a:off x="1883664" y="3913632"/>
            <a:ext cx="1298448" cy="713232"/>
          </a:xfrm>
          <a:prstGeom prst="rect">
            <a:avLst/>
          </a:prstGeom>
          <a:noFill/>
          <a:ln/>
        </p:spPr>
        <p:txBody>
          <a:bodyPr wrap="square" lIns="0" tIns="0" rIns="0" bIns="0" rtlCol="0" anchor="ctr">
            <a:normAutofit/>
          </a:bodyPr>
          <a:lstStyle/>
          <a:p>
            <a:pPr marL="0" indent="0">
              <a:buNone/>
            </a:pPr>
            <a:r>
              <a:rPr lang="en-US" sz="1420" b="1" dirty="0">
                <a:solidFill>
                  <a:srgbClr val="332C24"/>
                </a:solidFill>
                <a:latin typeface="Aptos Display" pitchFamily="34" charset="0"/>
                <a:ea typeface="Aptos Display" pitchFamily="34" charset="-122"/>
                <a:cs typeface="Aptos Display" pitchFamily="34" charset="-120"/>
              </a:rPr>
              <a:t>Risk check</a:t>
            </a:r>
            <a:endParaRPr lang="en-US" sz="1420" dirty="0"/>
          </a:p>
        </p:txBody>
      </p:sp>
      <p:sp>
        <p:nvSpPr>
          <p:cNvPr id="29" name="Text 27"/>
          <p:cNvSpPr/>
          <p:nvPr/>
        </p:nvSpPr>
        <p:spPr>
          <a:xfrm>
            <a:off x="3273552" y="3895344"/>
            <a:ext cx="1883664" cy="749808"/>
          </a:xfrm>
          <a:prstGeom prst="rect">
            <a:avLst/>
          </a:prstGeom>
          <a:noFill/>
          <a:ln/>
        </p:spPr>
        <p:txBody>
          <a:bodyPr wrap="square" lIns="0" tIns="0" rIns="0" bIns="0" rtlCol="0" anchor="ctr">
            <a:normAutofit/>
          </a:bodyPr>
          <a:lstStyle/>
          <a:p>
            <a:pPr marL="0" indent="0">
              <a:buNone/>
            </a:pPr>
            <a:r>
              <a:rPr lang="en-US" sz="1210" dirty="0">
                <a:solidFill>
                  <a:srgbClr val="352E27"/>
                </a:solidFill>
                <a:latin typeface="Aptos" pitchFamily="34" charset="0"/>
                <a:ea typeface="Aptos" pitchFamily="34" charset="-122"/>
                <a:cs typeface="Aptos" pitchFamily="34" charset="-120"/>
              </a:rPr>
              <a:t>Challenge one permission or cost/latency assumption; name its owner and smallest test</a:t>
            </a:r>
            <a:endParaRPr lang="en-US" sz="1210" dirty="0"/>
          </a:p>
        </p:txBody>
      </p:sp>
      <p:sp>
        <p:nvSpPr>
          <p:cNvPr id="30" name="Shape 28"/>
          <p:cNvSpPr/>
          <p:nvPr/>
        </p:nvSpPr>
        <p:spPr>
          <a:xfrm>
            <a:off x="6748272" y="2450592"/>
            <a:ext cx="4261104" cy="1042416"/>
          </a:xfrm>
          <a:prstGeom prst="roundRect">
            <a:avLst>
              <a:gd name="adj" fmla="val 7018"/>
            </a:avLst>
          </a:prstGeom>
          <a:solidFill>
            <a:srgbClr val="FFFFFF"/>
          </a:solidFill>
          <a:ln w="10160">
            <a:solidFill>
              <a:srgbClr val="FFF2C6"/>
            </a:solidFill>
            <a:prstDash val="solid"/>
          </a:ln>
        </p:spPr>
        <p:txBody>
          <a:bodyPr/>
          <a:lstStyle/>
          <a:p>
            <a:endParaRPr lang="en-US"/>
          </a:p>
        </p:txBody>
      </p:sp>
      <p:sp>
        <p:nvSpPr>
          <p:cNvPr id="31" name="Shape 29"/>
          <p:cNvSpPr/>
          <p:nvPr/>
        </p:nvSpPr>
        <p:spPr>
          <a:xfrm>
            <a:off x="6912864" y="2779776"/>
            <a:ext cx="384048" cy="384048"/>
          </a:xfrm>
          <a:prstGeom prst="ellipse">
            <a:avLst/>
          </a:prstGeom>
          <a:solidFill>
            <a:srgbClr val="EF8354"/>
          </a:solidFill>
          <a:ln/>
        </p:spPr>
        <p:txBody>
          <a:bodyPr/>
          <a:lstStyle/>
          <a:p>
            <a:endParaRPr lang="en-US"/>
          </a:p>
        </p:txBody>
      </p:sp>
      <p:sp>
        <p:nvSpPr>
          <p:cNvPr id="32" name="Text 30"/>
          <p:cNvSpPr/>
          <p:nvPr/>
        </p:nvSpPr>
        <p:spPr>
          <a:xfrm>
            <a:off x="6912864" y="2898648"/>
            <a:ext cx="384048" cy="109728"/>
          </a:xfrm>
          <a:prstGeom prst="rect">
            <a:avLst/>
          </a:prstGeom>
          <a:noFill/>
          <a:ln/>
        </p:spPr>
        <p:txBody>
          <a:bodyPr wrap="square" lIns="0" tIns="0" rIns="0" bIns="0" rtlCol="0" anchor="ctr"/>
          <a:lstStyle/>
          <a:p>
            <a:pPr marL="0" indent="0" algn="ctr">
              <a:buNone/>
            </a:pPr>
            <a:r>
              <a:rPr lang="en-US" sz="900" b="1" dirty="0">
                <a:solidFill>
                  <a:srgbClr val="332C24"/>
                </a:solidFill>
                <a:latin typeface="Aptos" pitchFamily="34" charset="0"/>
                <a:ea typeface="Aptos" pitchFamily="34" charset="-122"/>
                <a:cs typeface="Aptos" pitchFamily="34" charset="-120"/>
              </a:rPr>
              <a:t>3</a:t>
            </a:r>
            <a:endParaRPr lang="en-US" sz="900" dirty="0"/>
          </a:p>
        </p:txBody>
      </p:sp>
      <p:sp>
        <p:nvSpPr>
          <p:cNvPr id="33" name="Text 31"/>
          <p:cNvSpPr/>
          <p:nvPr/>
        </p:nvSpPr>
        <p:spPr>
          <a:xfrm>
            <a:off x="7461504" y="2615184"/>
            <a:ext cx="1298448" cy="713232"/>
          </a:xfrm>
          <a:prstGeom prst="rect">
            <a:avLst/>
          </a:prstGeom>
          <a:noFill/>
          <a:ln/>
        </p:spPr>
        <p:txBody>
          <a:bodyPr wrap="square" lIns="0" tIns="0" rIns="0" bIns="0" rtlCol="0" anchor="ctr">
            <a:normAutofit/>
          </a:bodyPr>
          <a:lstStyle/>
          <a:p>
            <a:pPr marL="0" indent="0">
              <a:buNone/>
            </a:pPr>
            <a:r>
              <a:rPr lang="en-US" sz="1420" b="1" dirty="0">
                <a:solidFill>
                  <a:srgbClr val="332C24"/>
                </a:solidFill>
                <a:latin typeface="Aptos Display" pitchFamily="34" charset="0"/>
                <a:ea typeface="Aptos Display" pitchFamily="34" charset="-122"/>
                <a:cs typeface="Aptos Display" pitchFamily="34" charset="-120"/>
              </a:rPr>
              <a:t>Review</a:t>
            </a:r>
            <a:endParaRPr lang="en-US" sz="1420" dirty="0"/>
          </a:p>
        </p:txBody>
      </p:sp>
      <p:sp>
        <p:nvSpPr>
          <p:cNvPr id="34" name="Text 32"/>
          <p:cNvSpPr/>
          <p:nvPr/>
        </p:nvSpPr>
        <p:spPr>
          <a:xfrm>
            <a:off x="8851392" y="2596896"/>
            <a:ext cx="1883664" cy="749808"/>
          </a:xfrm>
          <a:prstGeom prst="rect">
            <a:avLst/>
          </a:prstGeom>
          <a:noFill/>
          <a:ln/>
        </p:spPr>
        <p:txBody>
          <a:bodyPr wrap="square" lIns="0" tIns="0" rIns="0" bIns="0" rtlCol="0" anchor="ctr">
            <a:normAutofit/>
          </a:bodyPr>
          <a:lstStyle/>
          <a:p>
            <a:pPr marL="0" indent="0">
              <a:buNone/>
            </a:pPr>
            <a:r>
              <a:rPr lang="en-US" sz="1210" dirty="0">
                <a:solidFill>
                  <a:srgbClr val="352E27"/>
                </a:solidFill>
                <a:latin typeface="Aptos" pitchFamily="34" charset="0"/>
                <a:ea typeface="Aptos" pitchFamily="34" charset="-122"/>
                <a:cs typeface="Aptos" pitchFamily="34" charset="-120"/>
              </a:rPr>
              <a:t>Record Reviewed—ready, Reviewed—changes required, or Needs review</a:t>
            </a:r>
            <a:endParaRPr lang="en-US" sz="1210" dirty="0"/>
          </a:p>
        </p:txBody>
      </p:sp>
      <p:sp>
        <p:nvSpPr>
          <p:cNvPr id="35" name="Shape 33"/>
          <p:cNvSpPr/>
          <p:nvPr/>
        </p:nvSpPr>
        <p:spPr>
          <a:xfrm>
            <a:off x="6748272" y="3749040"/>
            <a:ext cx="4261104" cy="1042416"/>
          </a:xfrm>
          <a:prstGeom prst="roundRect">
            <a:avLst>
              <a:gd name="adj" fmla="val 7018"/>
            </a:avLst>
          </a:prstGeom>
          <a:solidFill>
            <a:srgbClr val="FFFFFF"/>
          </a:solidFill>
          <a:ln w="10160">
            <a:solidFill>
              <a:srgbClr val="FFF2C6"/>
            </a:solidFill>
            <a:prstDash val="solid"/>
          </a:ln>
        </p:spPr>
        <p:txBody>
          <a:bodyPr/>
          <a:lstStyle/>
          <a:p>
            <a:endParaRPr lang="en-US"/>
          </a:p>
        </p:txBody>
      </p:sp>
      <p:sp>
        <p:nvSpPr>
          <p:cNvPr id="36" name="Shape 34"/>
          <p:cNvSpPr/>
          <p:nvPr/>
        </p:nvSpPr>
        <p:spPr>
          <a:xfrm>
            <a:off x="6912864" y="4078224"/>
            <a:ext cx="384048" cy="384048"/>
          </a:xfrm>
          <a:prstGeom prst="ellipse">
            <a:avLst/>
          </a:prstGeom>
          <a:solidFill>
            <a:srgbClr val="EF8354"/>
          </a:solidFill>
          <a:ln/>
        </p:spPr>
        <p:txBody>
          <a:bodyPr/>
          <a:lstStyle/>
          <a:p>
            <a:endParaRPr lang="en-US"/>
          </a:p>
        </p:txBody>
      </p:sp>
      <p:sp>
        <p:nvSpPr>
          <p:cNvPr id="37" name="Text 35"/>
          <p:cNvSpPr/>
          <p:nvPr/>
        </p:nvSpPr>
        <p:spPr>
          <a:xfrm>
            <a:off x="6912864" y="4197096"/>
            <a:ext cx="384048" cy="109728"/>
          </a:xfrm>
          <a:prstGeom prst="rect">
            <a:avLst/>
          </a:prstGeom>
          <a:noFill/>
          <a:ln/>
        </p:spPr>
        <p:txBody>
          <a:bodyPr wrap="square" lIns="0" tIns="0" rIns="0" bIns="0" rtlCol="0" anchor="ctr"/>
          <a:lstStyle/>
          <a:p>
            <a:pPr marL="0" indent="0" algn="ctr">
              <a:buNone/>
            </a:pPr>
            <a:r>
              <a:rPr lang="en-US" sz="900" b="1" dirty="0">
                <a:solidFill>
                  <a:srgbClr val="332C24"/>
                </a:solidFill>
                <a:latin typeface="Aptos" pitchFamily="34" charset="0"/>
                <a:ea typeface="Aptos" pitchFamily="34" charset="-122"/>
                <a:cs typeface="Aptos" pitchFamily="34" charset="-120"/>
              </a:rPr>
              <a:t>4</a:t>
            </a:r>
            <a:endParaRPr lang="en-US" sz="900" dirty="0"/>
          </a:p>
        </p:txBody>
      </p:sp>
      <p:sp>
        <p:nvSpPr>
          <p:cNvPr id="38" name="Text 36"/>
          <p:cNvSpPr/>
          <p:nvPr/>
        </p:nvSpPr>
        <p:spPr>
          <a:xfrm>
            <a:off x="7461504" y="3913632"/>
            <a:ext cx="1298448" cy="713232"/>
          </a:xfrm>
          <a:prstGeom prst="rect">
            <a:avLst/>
          </a:prstGeom>
          <a:noFill/>
          <a:ln/>
        </p:spPr>
        <p:txBody>
          <a:bodyPr wrap="square" lIns="0" tIns="0" rIns="0" bIns="0" rtlCol="0" anchor="ctr">
            <a:normAutofit/>
          </a:bodyPr>
          <a:lstStyle/>
          <a:p>
            <a:pPr marL="0" indent="0">
              <a:buNone/>
            </a:pPr>
            <a:r>
              <a:rPr lang="en-US" sz="1420" b="1" dirty="0">
                <a:solidFill>
                  <a:srgbClr val="332C24"/>
                </a:solidFill>
                <a:latin typeface="Aptos Display" pitchFamily="34" charset="0"/>
                <a:ea typeface="Aptos Display" pitchFamily="34" charset="-122"/>
                <a:cs typeface="Aptos Display" pitchFamily="34" charset="-120"/>
              </a:rPr>
              <a:t>Close gaps</a:t>
            </a:r>
            <a:endParaRPr lang="en-US" sz="1420" dirty="0"/>
          </a:p>
        </p:txBody>
      </p:sp>
      <p:sp>
        <p:nvSpPr>
          <p:cNvPr id="39" name="Text 37"/>
          <p:cNvSpPr/>
          <p:nvPr/>
        </p:nvSpPr>
        <p:spPr>
          <a:xfrm>
            <a:off x="8851392" y="3895344"/>
            <a:ext cx="1883664" cy="749808"/>
          </a:xfrm>
          <a:prstGeom prst="rect">
            <a:avLst/>
          </a:prstGeom>
          <a:noFill/>
          <a:ln/>
        </p:spPr>
        <p:txBody>
          <a:bodyPr wrap="square" lIns="0" tIns="0" rIns="0" bIns="0" rtlCol="0" anchor="ctr">
            <a:normAutofit/>
          </a:bodyPr>
          <a:lstStyle/>
          <a:p>
            <a:pPr marL="0" indent="0">
              <a:buNone/>
            </a:pPr>
            <a:r>
              <a:rPr lang="en-US" sz="1210" dirty="0">
                <a:solidFill>
                  <a:srgbClr val="352E27"/>
                </a:solidFill>
                <a:latin typeface="Aptos" pitchFamily="34" charset="0"/>
                <a:ea typeface="Aptos" pitchFamily="34" charset="-122"/>
                <a:cs typeface="Aptos" pitchFamily="34" charset="-120"/>
              </a:rPr>
              <a:t>Give every open item a status, owner, evidence request, and next action</a:t>
            </a:r>
            <a:endParaRPr lang="en-US" sz="1210" dirty="0"/>
          </a:p>
        </p:txBody>
      </p:sp>
      <p:sp>
        <p:nvSpPr>
          <p:cNvPr id="40" name="Shape 38"/>
          <p:cNvSpPr/>
          <p:nvPr/>
        </p:nvSpPr>
        <p:spPr>
          <a:xfrm>
            <a:off x="640080" y="5669280"/>
            <a:ext cx="10908792" cy="502920"/>
          </a:xfrm>
          <a:prstGeom prst="roundRect">
            <a:avLst>
              <a:gd name="adj" fmla="val 14545"/>
            </a:avLst>
          </a:prstGeom>
          <a:solidFill>
            <a:srgbClr val="332C24"/>
          </a:solidFill>
          <a:ln/>
        </p:spPr>
        <p:txBody>
          <a:bodyPr/>
          <a:lstStyle/>
          <a:p>
            <a:endParaRPr lang="en-US"/>
          </a:p>
        </p:txBody>
      </p:sp>
      <p:sp>
        <p:nvSpPr>
          <p:cNvPr id="41" name="Text 39"/>
          <p:cNvSpPr/>
          <p:nvPr/>
        </p:nvSpPr>
        <p:spPr>
          <a:xfrm>
            <a:off x="859536" y="5779008"/>
            <a:ext cx="10479024" cy="320040"/>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latin typeface="Aptos" pitchFamily="34" charset="0"/>
                <a:ea typeface="Aptos" pitchFamily="34" charset="-122"/>
                <a:cs typeface="Aptos" pitchFamily="34" charset="-120"/>
              </a:rPr>
              <a:t>Final checkpoint: charter + sketch + ≥10 planned cases + milestones + review disposition + individual 30-day next steps.</a:t>
            </a:r>
            <a:endParaRPr lang="en-US" sz="1320" dirty="0"/>
          </a:p>
        </p:txBody>
      </p:sp>
      <p:sp>
        <p:nvSpPr>
          <p:cNvPr id="42" name="Text 40"/>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71675C"/>
                </a:solidFill>
                <a:latin typeface="Aptos" pitchFamily="34" charset="0"/>
                <a:ea typeface="Aptos" pitchFamily="34" charset="-122"/>
                <a:cs typeface="Aptos" pitchFamily="34" charset="-120"/>
              </a:rPr>
              <a:t>REFERENCE  learn.microsoft.com/azure/foundry/concepts/authentication-authorization-foundry  ·  +3 more in notes</a:t>
            </a:r>
            <a:endParaRPr lang="en-US" sz="940" dirty="0"/>
          </a:p>
        </p:txBody>
      </p:sp>
      <p:sp>
        <p:nvSpPr>
          <p:cNvPr id="43" name="Shape 41"/>
          <p:cNvSpPr/>
          <p:nvPr/>
        </p:nvSpPr>
        <p:spPr>
          <a:xfrm>
            <a:off x="0" y="6793992"/>
            <a:ext cx="12191695" cy="64008"/>
          </a:xfrm>
          <a:prstGeom prst="rect">
            <a:avLst/>
          </a:prstGeom>
          <a:solidFill>
            <a:srgbClr val="FFD166"/>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1451</Words>
  <Application>Microsoft Macintosh PowerPoint</Application>
  <PresentationFormat>Widescreen</PresentationFormat>
  <Paragraphs>112</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Scoping Working Session</dc:title>
  <dc:subject>Day 5 — Production Readiness and Capstone</dc:subject>
  <dc:creator>Building AI Apps and Agents Workshop</dc:creator>
  <cp:lastModifiedBy>Jim Welch</cp:lastModifiedBy>
  <cp:revision>1</cp:revision>
  <dcterms:created xsi:type="dcterms:W3CDTF">2026-09-18T20:55:31Z</dcterms:created>
  <dcterms:modified xsi:type="dcterms:W3CDTF">2026-09-20T14:43:59Z</dcterms:modified>
</cp:coreProperties>
</file>