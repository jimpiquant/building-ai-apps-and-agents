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3 minutes. Clearly label this as workshop policy: teams will create a useful, reviewed capstone over the next 2–3 weeks, not compete in a hackathon. No completed lab, attendee-owned environment, or Day 5 deployment deliverable is assumed. The evidence pack and templates provide a complete starting point.
• GROUNDING SOURCE: docs/day5-plan.md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4 minutes. An MAF agent combines model-backed behavior with instructions and tools, so the model can choose a next action. An MAF workflow defines an explicit, inspectable path across agents or ordinary code. Explicit flow does not make model output deterministic, and more agents do not make a design better. Checkpoint: a single MAF agent with a read-only tool can qualify; multi-agent is not mandatory.
• GROUNDING SOURCE: https://learn.microsoft.com/agent-framework/concepts/agents/
• GROUNDING SOURCE: https://learn.microsoft.com/agent-framework/concepts/workflows/
• GROUNDING SOURCE: https://learn.microsoft.com/agent-framework/journey/workflows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4 minutes. Separate product concepts from the workshop choice. A Foundry-deployed model supplies inference; it does not give the model private or current enterprise facts. RAG retrieves relevant content and adds it to model input as grounding data. In Foundry IQ, a knowledge base defines retrieval behavior and references one or more knowledge sources, which connect to indexed or remote content. Workshop policy accepts either Foundry IQ or a custom RAG pipeline. Retrieved content can still be incomplete, stale, unsafe, or unauthorized.
• GROUNDING SOURCE: https://learn.microsoft.com/azure/foundry/concepts/retrieval-augmented-generation
• GROUNDING SOURCE: https://learn.microsoft.com/azure/foundry/agents/concepts/what-is-foundry-iq
• GROUNDING SOURCE: docs/day5-plan.md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6 minutes. This matrix is workshop policy informed by documented product evidence; it is not a Microsoft production-readiness standard. A deliverable is what the team built or documented. Evidence is a retained observation that lets a reviewer test a claim. Ten cases are a teaching minimum, not statistical assurance. The capstone requires a captured Foundry evaluator result before and after a change, plus OTel trace evidence visible in Foundry tracing or Application Insights. A README or checked box cannot substitute for those observations.
• GROUNDING SOURCE: https://learn.microsoft.com/azure/foundry/observability/how-to/evaluation-datasets
• GROUNDING SOURCE: https://learn.microsoft.com/azure/foundry/concepts/evaluation-evaluators/agent-evaluators
• GROUNDING SOURCE: https://learn.microsoft.com/azure/foundry/observability/concepts/trace-agent-concept
• GROUNDING SOURCE: docs/day5-plan.md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5 minutes. Resolve everyone into a 2–3-person team with no solo path, then coach to one user problem, one small action or knowledge boundary, 3–5 measurable success criteria, and one meaningful failure case. Week 1 ends with a working spike and initial evaluator baseline. Week 2 changes one thing, strengthens controls, and records the final comparison. Week 2–3 is rehearsal and the shared demo: about 10 minutes to present/demonstrate plus 5 minutes for Q&amp;A and coaching, on a date still TBD. There is no Day 5 deployment deliverable; deployment is not a hidden checkpoint.
• GROUNDING SOURCE: https://learn.microsoft.com/agent-framework/journey/workflows
• GROUNDING SOURCE: docs/day5-plan.md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Allow 3 minutes. Present these as direct official starting pages, not a complete bibliography. Agents/workflows help choose the control shape; RAG/Foundry IQ ground the knowledge design; evaluation datasets and tracing establish reusable evidence. The repository's docs/resources.md remains the curated index and will be expanded independently. Close by having each already-formed team name its candidate, provisional evidence owners, and known gaps, then open the charter template for Module 8.
• GROUNDING SOURCE: https://learn.microsoft.com/agent-framework/concepts/agents/
• GROUNDING SOURCE: https://learn.microsoft.com/agent-framework/concepts/workflows/
• GROUNDING SOURCE: https://learn.microsoft.com/azure/foundry/concepts/retrieval-augmented-generation
• GROUNDING SOURCE: https://learn.microsoft.com/azure/foundry/agents/concepts/what-is-foundry-iq
• GROUNDING SOURCE: https://learn.microsoft.com/azure/foundry/observability/how-to/evaluation-datasets
• GROUNDING SOURCE: https://learn.microsoft.com/azure/foundry/concepts/evaluation-evaluators/agent-evaluators
• GROUNDING SOURCE: https://learn.microsoft.com/azure/foundry/observability/concepts/trace-agent-concept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3568" y="137160"/>
            <a:ext cx="3886200" cy="3886200"/>
          </a:xfrm>
          <a:prstGeom prst="ellipse">
            <a:avLst/>
          </a:prstGeom>
          <a:solidFill>
            <a:srgbClr val="DFF7F4"/>
          </a:solidFill>
          <a:ln/>
        </p:spPr>
      </p:sp>
      <p:sp>
        <p:nvSpPr>
          <p:cNvPr id="3" name="Shape 1"/>
          <p:cNvSpPr/>
          <p:nvPr/>
        </p:nvSpPr>
        <p:spPr>
          <a:xfrm>
            <a:off x="8394192" y="557784"/>
            <a:ext cx="3044952" cy="3044952"/>
          </a:xfrm>
          <a:prstGeom prst="ellipse">
            <a:avLst/>
          </a:prstGeom>
          <a:solidFill>
            <a:srgbClr val="173036"/>
          </a:solidFill>
          <a:ln/>
        </p:spPr>
      </p:sp>
      <p:sp>
        <p:nvSpPr>
          <p:cNvPr id="4" name="Shape 2"/>
          <p:cNvSpPr/>
          <p:nvPr/>
        </p:nvSpPr>
        <p:spPr>
          <a:xfrm>
            <a:off x="9142628" y="647852"/>
            <a:ext cx="2791663" cy="2791663"/>
          </a:xfrm>
          <a:prstGeom prst="rect">
            <a:avLst/>
          </a:prstGeom>
          <a:solidFill>
            <a:srgbClr val="214148"/>
          </a:solidFill>
          <a:ln w="10160">
            <a:solidFill>
              <a:srgbClr val="FF8B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2628" y="1345768"/>
            <a:ext cx="2791663" cy="0"/>
          </a:xfrm>
          <a:prstGeom prst="line">
            <a:avLst/>
          </a:prstGeom>
          <a:noFill/>
          <a:ln w="12700">
            <a:solidFill>
              <a:srgbClr val="35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0544" y="647852"/>
            <a:ext cx="0" cy="2791663"/>
          </a:xfrm>
          <a:prstGeom prst="line">
            <a:avLst/>
          </a:prstGeom>
          <a:noFill/>
          <a:ln w="12700">
            <a:solidFill>
              <a:srgbClr val="35C4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2628" y="2043684"/>
            <a:ext cx="2791663" cy="0"/>
          </a:xfrm>
          <a:prstGeom prst="line">
            <a:avLst/>
          </a:prstGeom>
          <a:noFill/>
          <a:ln w="12700">
            <a:solidFill>
              <a:srgbClr val="35C4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38460" y="647852"/>
            <a:ext cx="0" cy="2791663"/>
          </a:xfrm>
          <a:prstGeom prst="line">
            <a:avLst/>
          </a:prstGeom>
          <a:noFill/>
          <a:ln w="12700">
            <a:solidFill>
              <a:srgbClr val="35C4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2628" y="2741600"/>
            <a:ext cx="2791663" cy="0"/>
          </a:xfrm>
          <a:prstGeom prst="line">
            <a:avLst/>
          </a:prstGeom>
          <a:noFill/>
          <a:ln w="12700">
            <a:solidFill>
              <a:srgbClr val="35C4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36376" y="647852"/>
            <a:ext cx="0" cy="2791663"/>
          </a:xfrm>
          <a:prstGeom prst="line">
            <a:avLst/>
          </a:prstGeom>
          <a:noFill/>
          <a:ln w="12700">
            <a:solidFill>
              <a:srgbClr val="35C4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64624" y="1297076"/>
            <a:ext cx="1882750" cy="1460754"/>
          </a:xfrm>
          <a:prstGeom prst="line">
            <a:avLst/>
          </a:prstGeom>
          <a:noFill/>
          <a:ln w="38100">
            <a:solidFill>
              <a:srgbClr val="FF8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530352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FF8B5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65836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60" kern="0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·  MODULE 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1298448"/>
            <a:ext cx="71506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Capstone Briefing</a:t>
            </a:r>
            <a:endParaRPr lang="en-US" sz="4700" dirty="0"/>
          </a:p>
        </p:txBody>
      </p:sp>
      <p:sp>
        <p:nvSpPr>
          <p:cNvPr id="15" name="Text 13"/>
          <p:cNvSpPr/>
          <p:nvPr/>
        </p:nvSpPr>
        <p:spPr>
          <a:xfrm>
            <a:off x="749808" y="2615184"/>
            <a:ext cx="693115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30" dirty="0">
                <a:solidFill>
                  <a:srgbClr val="E4E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useful scope, build the smallest credible solution, and collect evidence</a:t>
            </a:r>
            <a:endParaRPr lang="en-US" sz="1830" dirty="0"/>
          </a:p>
        </p:txBody>
      </p:sp>
      <p:sp>
        <p:nvSpPr>
          <p:cNvPr id="16" name="Shape 14"/>
          <p:cNvSpPr/>
          <p:nvPr/>
        </p:nvSpPr>
        <p:spPr>
          <a:xfrm>
            <a:off x="713232" y="4160520"/>
            <a:ext cx="67939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160520"/>
            <a:ext cx="146304" cy="1097280"/>
          </a:xfrm>
          <a:prstGeom prst="rect">
            <a:avLst/>
          </a:prstGeom>
          <a:solidFill>
            <a:srgbClr val="FF8B50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4407408"/>
            <a:ext cx="6080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useful scenario · one bounded failure path · evidence someone else can review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546336" y="4261104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8B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6800" dirty="0"/>
          </a:p>
        </p:txBody>
      </p:sp>
      <p:sp>
        <p:nvSpPr>
          <p:cNvPr id="20" name="Text 18"/>
          <p:cNvSpPr/>
          <p:nvPr/>
        </p:nvSpPr>
        <p:spPr>
          <a:xfrm>
            <a:off x="8732520" y="5239512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BLUEPRINT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DDE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docs/day5-plan.md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8B5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303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7  /  CAPSTONE BLUEPRINT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or workflow: choose who controls the path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817718" y="430134"/>
            <a:ext cx="566196" cy="566196"/>
          </a:xfrm>
          <a:prstGeom prst="rect">
            <a:avLst/>
          </a:prstGeom>
          <a:solidFill>
            <a:srgbClr val="FFFFFF"/>
          </a:solidFill>
          <a:ln w="10160">
            <a:solidFill>
              <a:srgbClr val="FF8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7718" y="571683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59267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17718" y="713232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0816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718" y="854781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2365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03306" y="561807"/>
            <a:ext cx="381853" cy="296266"/>
          </a:xfrm>
          <a:prstGeom prst="line">
            <a:avLst/>
          </a:prstGeom>
          <a:noFill/>
          <a:ln w="38100">
            <a:solidFill>
              <a:srgbClr val="FF8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FF8B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FFE7D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417320"/>
            <a:ext cx="5248656" cy="4626864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5240">
            <a:solidFill>
              <a:srgbClr val="FFE7DA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167335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17303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773936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932688" y="21488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7552" y="2944368"/>
            <a:ext cx="45537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model behavior, instructions, tools, and run context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 choose whether and how to use an available tool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 when one bounded agent can satisfy the user need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0056" y="1609344"/>
            <a:ext cx="493776" cy="493776"/>
          </a:xfrm>
          <a:prstGeom prst="ellipse">
            <a:avLst/>
          </a:prstGeom>
          <a:solidFill>
            <a:srgbClr val="FFE7D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0056" y="1755648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0216" y="1417320"/>
            <a:ext cx="5248656" cy="4626864"/>
          </a:xfrm>
          <a:prstGeom prst="roundRect">
            <a:avLst>
              <a:gd name="adj" fmla="val 1779"/>
            </a:avLst>
          </a:prstGeom>
          <a:solidFill>
            <a:srgbClr val="FFE7DA"/>
          </a:solidFill>
          <a:ln w="15240">
            <a:solidFill>
              <a:srgbClr val="FF8B50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56248" y="1673352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FF8B50"/>
          </a:solidFill>
          <a:ln/>
        </p:spPr>
      </p:sp>
      <p:sp>
        <p:nvSpPr>
          <p:cNvPr id="25" name="Text 23"/>
          <p:cNvSpPr/>
          <p:nvPr/>
        </p:nvSpPr>
        <p:spPr>
          <a:xfrm>
            <a:off x="6665976" y="1773936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spc="110" kern="0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6592824" y="21488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47688" y="2944368"/>
            <a:ext cx="455371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agents or ordinary code through explicit execution paths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developer defines ordering, branches, gates, and handoffs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it only when the process itself needs that control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80192" y="1609344"/>
            <a:ext cx="493776" cy="493776"/>
          </a:xfrm>
          <a:prstGeom prst="ellipse">
            <a:avLst/>
          </a:prstGeom>
          <a:solidFill>
            <a:srgbClr val="35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10680192" y="1755648"/>
            <a:ext cx="4937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16168" y="3236976"/>
            <a:ext cx="365760" cy="365760"/>
          </a:xfrm>
          <a:prstGeom prst="ellipse">
            <a:avLst/>
          </a:prstGeom>
          <a:solidFill>
            <a:srgbClr val="173036"/>
          </a:solidFill>
          <a:ln/>
        </p:spPr>
      </p:sp>
      <p:sp>
        <p:nvSpPr>
          <p:cNvPr id="31" name="Text 29"/>
          <p:cNvSpPr/>
          <p:nvPr/>
        </p:nvSpPr>
        <p:spPr>
          <a:xfrm>
            <a:off x="5916168" y="33284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learn.microsoft.com/agent-framework/concepts/agents  ·  +2 more in notes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8B5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303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7  /  CAPSTONE BLUEPRINT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Grounding is retrieved evidence—not a model location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817718" y="430134"/>
            <a:ext cx="566196" cy="566196"/>
          </a:xfrm>
          <a:prstGeom prst="rect">
            <a:avLst/>
          </a:prstGeom>
          <a:solidFill>
            <a:srgbClr val="FFFFFF"/>
          </a:solidFill>
          <a:ln w="10160">
            <a:solidFill>
              <a:srgbClr val="FF8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7718" y="571683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59267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17718" y="713232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0816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718" y="854781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2365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03306" y="561807"/>
            <a:ext cx="381853" cy="296266"/>
          </a:xfrm>
          <a:prstGeom prst="line">
            <a:avLst/>
          </a:prstGeom>
          <a:noFill/>
          <a:ln w="38100">
            <a:solidFill>
              <a:srgbClr val="FF8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FF8B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FFE7D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1481328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8B50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" y="1746504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167335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3566160" y="1481328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8B50"/>
          </a:solidFill>
          <a:ln/>
        </p:spPr>
      </p:sp>
      <p:sp>
        <p:nvSpPr>
          <p:cNvPr id="20" name="Text 18"/>
          <p:cNvSpPr/>
          <p:nvPr/>
        </p:nvSpPr>
        <p:spPr>
          <a:xfrm>
            <a:off x="3767328" y="1746504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79592" y="167335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6382512" y="1481328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8B5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746504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INPUT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95944" y="167335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300" dirty="0"/>
          </a:p>
        </p:txBody>
      </p:sp>
      <p:sp>
        <p:nvSpPr>
          <p:cNvPr id="25" name="Shape 23"/>
          <p:cNvSpPr/>
          <p:nvPr/>
        </p:nvSpPr>
        <p:spPr>
          <a:xfrm>
            <a:off x="9198864" y="1481328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35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9400032" y="1746504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2404872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907792" y="2404872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PRECISELY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55664" y="2404872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467344" y="2404872"/>
            <a:ext cx="2743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IT PRECISELY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2606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E7DA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28254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Foundry-deployed model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907792" y="2788920"/>
            <a:ext cx="2788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Supplies inference; its location does not ground the answer</a:t>
            </a:r>
            <a:endParaRPr lang="en-US" sz="1360" dirty="0"/>
          </a:p>
        </p:txBody>
      </p:sp>
      <p:sp>
        <p:nvSpPr>
          <p:cNvPr id="34" name="Shape 32"/>
          <p:cNvSpPr/>
          <p:nvPr/>
        </p:nvSpPr>
        <p:spPr>
          <a:xfrm>
            <a:off x="6199632" y="2606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28254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/ grounding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467344" y="2788920"/>
            <a:ext cx="2788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Retrieves evidence and adds it to the model input</a:t>
            </a:r>
            <a:endParaRPr lang="en-US" sz="1360" dirty="0"/>
          </a:p>
        </p:txBody>
      </p:sp>
      <p:sp>
        <p:nvSpPr>
          <p:cNvPr id="37" name="Shape 35"/>
          <p:cNvSpPr/>
          <p:nvPr/>
        </p:nvSpPr>
        <p:spPr>
          <a:xfrm>
            <a:off x="640080" y="423367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FE7DA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4453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Foundry IQ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907792" y="4416552"/>
            <a:ext cx="2788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knowledge base defines retrieval behavior and references knowledge sources</a:t>
            </a:r>
            <a:endParaRPr lang="en-US" sz="1360" dirty="0"/>
          </a:p>
        </p:txBody>
      </p:sp>
      <p:sp>
        <p:nvSpPr>
          <p:cNvPr id="40" name="Shape 38"/>
          <p:cNvSpPr/>
          <p:nvPr/>
        </p:nvSpPr>
        <p:spPr>
          <a:xfrm>
            <a:off x="6199632" y="4233672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DFF7F4"/>
          </a:solidFill>
          <a:ln w="10160">
            <a:solidFill>
              <a:srgbClr val="35C4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44531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choice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467344" y="4416552"/>
            <a:ext cx="2788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Foundry IQ or custom RAG; test the retrieved evidence</a:t>
            </a:r>
            <a:endParaRPr lang="en-US" sz="1360" dirty="0"/>
          </a:p>
        </p:txBody>
      </p:sp>
      <p:sp>
        <p:nvSpPr>
          <p:cNvPr id="43" name="Text 41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learn.microsoft.com/azure/foundry/concepts/retrieval-augmented-generation  ·  +2 more in notes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8B5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303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7  /  CAPSTONE BLUEPRINT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deliverable—and bring separate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817718" y="430134"/>
            <a:ext cx="566196" cy="566196"/>
          </a:xfrm>
          <a:prstGeom prst="rect">
            <a:avLst/>
          </a:prstGeom>
          <a:solidFill>
            <a:srgbClr val="FFFFFF"/>
          </a:solidFill>
          <a:ln w="10160">
            <a:solidFill>
              <a:srgbClr val="FF8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7718" y="571683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59267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17718" y="713232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0816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718" y="854781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2365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03306" y="561807"/>
            <a:ext cx="381853" cy="296266"/>
          </a:xfrm>
          <a:prstGeom prst="line">
            <a:avLst/>
          </a:prstGeom>
          <a:noFill/>
          <a:ln w="38100">
            <a:solidFill>
              <a:srgbClr val="FF8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FF8B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FFE7DA"/>
          </a:solidFill>
          <a:ln/>
        </p:spPr>
      </p:sp>
      <p:sp>
        <p:nvSpPr>
          <p:cNvPr id="16" name="Text 14"/>
          <p:cNvSpPr/>
          <p:nvPr/>
        </p:nvSpPr>
        <p:spPr>
          <a:xfrm>
            <a:off x="1042416" y="1380744"/>
            <a:ext cx="39684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WORKSHOP ELEMENT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16752" y="1380744"/>
            <a:ext cx="5230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ANSWERS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1627632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E7DA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" y="1773936"/>
            <a:ext cx="4370832" cy="493776"/>
          </a:xfrm>
          <a:prstGeom prst="roundRect">
            <a:avLst>
              <a:gd name="adj" fmla="val 14815"/>
            </a:avLst>
          </a:prstGeom>
          <a:solidFill>
            <a:srgbClr val="FF8B50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" y="1938528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MAF agent + Foundry-deployed model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5422392" y="191109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8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016752" y="1792224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runs and performs inference?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2496312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2642616"/>
            <a:ext cx="4370832" cy="493776"/>
          </a:xfrm>
          <a:prstGeom prst="roundRect">
            <a:avLst>
              <a:gd name="adj" fmla="val 14815"/>
            </a:avLst>
          </a:prstGeom>
          <a:solidFill>
            <a:srgbClr val="173036"/>
          </a:solidFill>
          <a:ln/>
        </p:spPr>
      </p:sp>
      <p:sp>
        <p:nvSpPr>
          <p:cNvPr id="25" name="Text 23"/>
          <p:cNvSpPr/>
          <p:nvPr/>
        </p:nvSpPr>
        <p:spPr>
          <a:xfrm>
            <a:off x="1042416" y="2807208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boundary + Foundry IQ or custom RAG</a:t>
            </a:r>
            <a:endParaRPr lang="en-US" sz="1360" dirty="0"/>
          </a:p>
        </p:txBody>
      </p:sp>
      <p:sp>
        <p:nvSpPr>
          <p:cNvPr id="26" name="Text 24"/>
          <p:cNvSpPr/>
          <p:nvPr/>
        </p:nvSpPr>
        <p:spPr>
          <a:xfrm>
            <a:off x="5422392" y="277977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8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016752" y="2660904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acts, and what evidence grounds the response?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3364992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E7DA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3511296"/>
            <a:ext cx="4370832" cy="493776"/>
          </a:xfrm>
          <a:prstGeom prst="roundRect">
            <a:avLst>
              <a:gd name="adj" fmla="val 14815"/>
            </a:avLst>
          </a:prstGeom>
          <a:solidFill>
            <a:srgbClr val="173036"/>
          </a:solidFill>
          <a:ln/>
        </p:spPr>
      </p:sp>
      <p:sp>
        <p:nvSpPr>
          <p:cNvPr id="30" name="Text 28"/>
          <p:cNvSpPr/>
          <p:nvPr/>
        </p:nvSpPr>
        <p:spPr>
          <a:xfrm>
            <a:off x="1042416" y="3675888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 + README</a:t>
            </a:r>
            <a:endParaRPr lang="en-US" sz="1360" dirty="0"/>
          </a:p>
        </p:txBody>
      </p:sp>
      <p:sp>
        <p:nvSpPr>
          <p:cNvPr id="31" name="Text 29"/>
          <p:cNvSpPr/>
          <p:nvPr/>
        </p:nvSpPr>
        <p:spPr>
          <a:xfrm>
            <a:off x="5422392" y="364845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8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016752" y="3529584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designed, decided, and left out?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" y="4233672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" y="4379976"/>
            <a:ext cx="4370832" cy="493776"/>
          </a:xfrm>
          <a:prstGeom prst="roundRect">
            <a:avLst>
              <a:gd name="adj" fmla="val 14815"/>
            </a:avLst>
          </a:prstGeom>
          <a:solidFill>
            <a:srgbClr val="173036"/>
          </a:solidFill>
          <a:ln/>
        </p:spPr>
      </p:sp>
      <p:sp>
        <p:nvSpPr>
          <p:cNvPr id="35" name="Text 33"/>
          <p:cNvSpPr/>
          <p:nvPr/>
        </p:nvSpPr>
        <p:spPr>
          <a:xfrm>
            <a:off x="1042416" y="4544568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≥10 cases + captured initial/final evaluator results + OTel trace</a:t>
            </a:r>
            <a:endParaRPr lang="en-US" sz="1360" dirty="0"/>
          </a:p>
        </p:txBody>
      </p:sp>
      <p:sp>
        <p:nvSpPr>
          <p:cNvPr id="36" name="Text 34"/>
          <p:cNvSpPr/>
          <p:nvPr/>
        </p:nvSpPr>
        <p:spPr>
          <a:xfrm>
            <a:off x="5422392" y="45171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8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6016752" y="4398264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behavior changed, and what execution was observed?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" y="5102352"/>
            <a:ext cx="10908792" cy="786384"/>
          </a:xfrm>
          <a:prstGeom prst="roundRect">
            <a:avLst>
              <a:gd name="adj" fmla="val 9302"/>
            </a:avLst>
          </a:prstGeom>
          <a:solidFill>
            <a:srgbClr val="FFE7DA"/>
          </a:solidFill>
          <a:ln w="10160">
            <a:solidFill>
              <a:srgbClr val="35C4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" y="5248656"/>
            <a:ext cx="4370832" cy="493776"/>
          </a:xfrm>
          <a:prstGeom prst="roundRect">
            <a:avLst>
              <a:gd name="adj" fmla="val 14815"/>
            </a:avLst>
          </a:prstGeom>
          <a:solidFill>
            <a:srgbClr val="173036"/>
          </a:solidFill>
          <a:ln/>
        </p:spPr>
      </p:sp>
      <p:sp>
        <p:nvSpPr>
          <p:cNvPr id="40" name="Text 38"/>
          <p:cNvSpPr/>
          <p:nvPr/>
        </p:nvSpPr>
        <p:spPr>
          <a:xfrm>
            <a:off x="1042416" y="5413248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plan + shared demo</a:t>
            </a:r>
            <a:endParaRPr lang="en-US" sz="1360" dirty="0"/>
          </a:p>
        </p:txBody>
      </p:sp>
      <p:sp>
        <p:nvSpPr>
          <p:cNvPr id="41" name="Text 39"/>
          <p:cNvSpPr/>
          <p:nvPr/>
        </p:nvSpPr>
        <p:spPr>
          <a:xfrm>
            <a:off x="5422392" y="538581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8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6016752" y="5266944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owns the next step, and can others review the evidence?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learn.microsoft.com/azure/foundry/observability/how-to/evaluation-datasets  ·  +3 more in notes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8B5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303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7  /  CAPSTONE BLUEPRINT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small; pass the approved checkpoints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17718" y="430134"/>
            <a:ext cx="566196" cy="566196"/>
          </a:xfrm>
          <a:prstGeom prst="rect">
            <a:avLst/>
          </a:prstGeom>
          <a:solidFill>
            <a:srgbClr val="FFFFFF"/>
          </a:solidFill>
          <a:ln w="10160">
            <a:solidFill>
              <a:srgbClr val="FF8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7718" y="571683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59267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17718" y="713232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0816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718" y="854781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2365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03306" y="561807"/>
            <a:ext cx="381853" cy="296266"/>
          </a:xfrm>
          <a:prstGeom prst="line">
            <a:avLst/>
          </a:prstGeom>
          <a:noFill/>
          <a:ln w="38100">
            <a:solidFill>
              <a:srgbClr val="FF8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FF8B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FFE7D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389888"/>
            <a:ext cx="3477768" cy="1993392"/>
          </a:xfrm>
          <a:prstGeom prst="roundRect">
            <a:avLst>
              <a:gd name="adj" fmla="val 3670"/>
            </a:avLst>
          </a:prstGeom>
          <a:solidFill>
            <a:srgbClr val="FFE7DA"/>
          </a:solidFill>
          <a:ln w="10160">
            <a:solidFill>
              <a:srgbClr val="FFE7DA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1572768"/>
            <a:ext cx="384048" cy="384048"/>
          </a:xfrm>
          <a:prstGeom prst="ellipse">
            <a:avLst/>
          </a:prstGeom>
          <a:solidFill>
            <a:srgbClr val="FF8B5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1682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35024" y="1554480"/>
            <a:ext cx="2581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 · team + charter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" y="21945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a team of 2–3 (no solo); name one user, task, non-goals, owners, and dependencies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4355592" y="1389888"/>
            <a:ext cx="347776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38472" y="1572768"/>
            <a:ext cx="384048" cy="384048"/>
          </a:xfrm>
          <a:prstGeom prst="ellipse">
            <a:avLst/>
          </a:prstGeom>
          <a:solidFill>
            <a:srgbClr val="FF8B50"/>
          </a:solidFill>
          <a:ln/>
        </p:spPr>
      </p:sp>
      <p:sp>
        <p:nvSpPr>
          <p:cNvPr id="23" name="Text 21"/>
          <p:cNvSpPr/>
          <p:nvPr/>
        </p:nvSpPr>
        <p:spPr>
          <a:xfrm>
            <a:off x="4538472" y="1682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50536" y="1554480"/>
            <a:ext cx="2581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 · design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11624" y="21945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simplest agent/workflow shape and one failure case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8071104" y="1389888"/>
            <a:ext cx="347776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53984" y="1572768"/>
            <a:ext cx="384048" cy="384048"/>
          </a:xfrm>
          <a:prstGeom prst="ellipse">
            <a:avLst/>
          </a:prstGeom>
          <a:solidFill>
            <a:srgbClr val="FF8B50"/>
          </a:solidFill>
          <a:ln/>
        </p:spPr>
      </p:sp>
      <p:sp>
        <p:nvSpPr>
          <p:cNvPr id="28" name="Text 26"/>
          <p:cNvSpPr/>
          <p:nvPr/>
        </p:nvSpPr>
        <p:spPr>
          <a:xfrm>
            <a:off x="8253984" y="1682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66048" y="1554480"/>
            <a:ext cx="2581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 · baseline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27136" y="21945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working spike, ≥10 planned cases, and the initial evaluator result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2378964" y="3639312"/>
            <a:ext cx="3477768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1844" y="3822192"/>
            <a:ext cx="384048" cy="384048"/>
          </a:xfrm>
          <a:prstGeom prst="ellipse">
            <a:avLst/>
          </a:prstGeom>
          <a:solidFill>
            <a:srgbClr val="35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2561844" y="39319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073908" y="3803904"/>
            <a:ext cx="2581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2 · candidate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634996" y="4443984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one thing; rerun the same cases and retain controls, traces, and final result</a:t>
            </a:r>
            <a:endParaRPr lang="en-US" sz="1420" dirty="0"/>
          </a:p>
        </p:txBody>
      </p:sp>
      <p:sp>
        <p:nvSpPr>
          <p:cNvPr id="36" name="Shape 34"/>
          <p:cNvSpPr/>
          <p:nvPr/>
        </p:nvSpPr>
        <p:spPr>
          <a:xfrm>
            <a:off x="6094476" y="3639312"/>
            <a:ext cx="3477768" cy="1993392"/>
          </a:xfrm>
          <a:prstGeom prst="roundRect">
            <a:avLst>
              <a:gd name="adj" fmla="val 3670"/>
            </a:avLst>
          </a:prstGeom>
          <a:solidFill>
            <a:srgbClr val="DFF7F4"/>
          </a:solidFill>
          <a:ln w="10160">
            <a:solidFill>
              <a:srgbClr val="FFE7DA"/>
            </a:solidFill>
            <a:prstDash val="solid"/>
          </a:ln>
          <a:effectLst>
            <a:outerShdw sx="100000" sy="100000" kx="0" ky="0" algn="bl" rotWithShape="0" blurRad="50800" dist="19050" dir="8100000">
              <a:srgbClr val="111827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77356" y="3822192"/>
            <a:ext cx="384048" cy="384048"/>
          </a:xfrm>
          <a:prstGeom prst="ellipse">
            <a:avLst/>
          </a:prstGeom>
          <a:solidFill>
            <a:srgbClr val="35C4B6"/>
          </a:solidFill>
          <a:ln/>
        </p:spPr>
      </p:sp>
      <p:sp>
        <p:nvSpPr>
          <p:cNvPr id="38" name="Text 36"/>
          <p:cNvSpPr/>
          <p:nvPr/>
        </p:nvSpPr>
        <p:spPr>
          <a:xfrm>
            <a:off x="6277356" y="393192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89420" y="3803904"/>
            <a:ext cx="2581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2–3 · share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350508" y="4443984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2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the README and architecture; rehearse ~10m demo + 5m Q&amp;A; exact date TBD</a:t>
            </a:r>
            <a:endParaRPr lang="en-US" sz="1420" dirty="0"/>
          </a:p>
        </p:txBody>
      </p:sp>
      <p:sp>
        <p:nvSpPr>
          <p:cNvPr id="41" name="Shape 39"/>
          <p:cNvSpPr/>
          <p:nvPr/>
        </p:nvSpPr>
        <p:spPr>
          <a:xfrm>
            <a:off x="640080" y="5760720"/>
            <a:ext cx="10908792" cy="438912"/>
          </a:xfrm>
          <a:prstGeom prst="roundRect">
            <a:avLst>
              <a:gd name="adj" fmla="val 16667"/>
            </a:avLst>
          </a:prstGeom>
          <a:solidFill>
            <a:srgbClr val="173036"/>
          </a:solidFill>
          <a:ln/>
        </p:spPr>
      </p:sp>
      <p:sp>
        <p:nvSpPr>
          <p:cNvPr id="42" name="Text 40"/>
          <p:cNvSpPr/>
          <p:nvPr/>
        </p:nvSpPr>
        <p:spPr>
          <a:xfrm>
            <a:off x="859536" y="5870448"/>
            <a:ext cx="10479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prior lab/environment requirement. No multi-agent requirement. No Day 5 deployment deliverable.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learn.microsoft.com/agent-framework/journey/workflows  ·  +1 more in notes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8B5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438912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17303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530352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5  /  MODULE 7  /  CAPSTONE BLUEPRINT</a:t>
            </a:r>
            <a:endParaRPr lang="en-US" sz="82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012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Official resources: where to go next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10817718" y="430134"/>
            <a:ext cx="566196" cy="566196"/>
          </a:xfrm>
          <a:prstGeom prst="rect">
            <a:avLst/>
          </a:prstGeom>
          <a:solidFill>
            <a:srgbClr val="FFFFFF"/>
          </a:solidFill>
          <a:ln w="10160">
            <a:solidFill>
              <a:srgbClr val="FF8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7718" y="571683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59267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17718" y="713232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0816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718" y="854781"/>
            <a:ext cx="566196" cy="0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2365" y="430134"/>
            <a:ext cx="0" cy="566196"/>
          </a:xfrm>
          <a:prstGeom prst="line">
            <a:avLst/>
          </a:prstGeom>
          <a:noFill/>
          <a:ln w="12700">
            <a:solidFill>
              <a:srgbClr val="FFE7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03306" y="561807"/>
            <a:ext cx="381853" cy="296266"/>
          </a:xfrm>
          <a:prstGeom prst="line">
            <a:avLst/>
          </a:prstGeom>
          <a:noFill/>
          <a:ln w="38100">
            <a:solidFill>
              <a:srgbClr val="FF8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612880" y="457200"/>
            <a:ext cx="329184" cy="329184"/>
          </a:xfrm>
          <a:prstGeom prst="ellipse">
            <a:avLst/>
          </a:prstGeom>
          <a:solidFill>
            <a:srgbClr val="FF8B50"/>
          </a:solidFill>
          <a:ln/>
        </p:spPr>
      </p:sp>
      <p:sp>
        <p:nvSpPr>
          <p:cNvPr id="14" name="Text 12"/>
          <p:cNvSpPr/>
          <p:nvPr/>
        </p:nvSpPr>
        <p:spPr>
          <a:xfrm>
            <a:off x="11612880" y="553212"/>
            <a:ext cx="32918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829800" y="1005840"/>
            <a:ext cx="2148840" cy="2148840"/>
          </a:xfrm>
          <a:prstGeom prst="ellipse">
            <a:avLst/>
          </a:prstGeom>
          <a:solidFill>
            <a:srgbClr val="FFE7D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1389888"/>
            <a:ext cx="10908792" cy="738835"/>
          </a:xfrm>
          <a:prstGeom prst="roundRect">
            <a:avLst>
              <a:gd name="adj" fmla="val 9901"/>
            </a:avLst>
          </a:prstGeom>
          <a:solidFill>
            <a:srgbClr val="FFE7DA"/>
          </a:solidFill>
          <a:ln w="10160">
            <a:solidFill>
              <a:srgbClr val="FF8B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1545336"/>
            <a:ext cx="676656" cy="427939"/>
          </a:xfrm>
          <a:prstGeom prst="roundRect">
            <a:avLst>
              <a:gd name="adj" fmla="val 17094"/>
            </a:avLst>
          </a:prstGeom>
          <a:solidFill>
            <a:srgbClr val="FF8B5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168615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1536192"/>
            <a:ext cx="2926080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control shape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4709160" y="1517904"/>
            <a:ext cx="6565392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MAF agent concepts · MAF workflow concepts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640080" y="2256739"/>
            <a:ext cx="10908792" cy="738835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2412187"/>
            <a:ext cx="676656" cy="427939"/>
          </a:xfrm>
          <a:prstGeom prst="roundRect">
            <a:avLst>
              <a:gd name="adj" fmla="val 17094"/>
            </a:avLst>
          </a:prstGeom>
          <a:solidFill>
            <a:srgbClr val="35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2553005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2403043"/>
            <a:ext cx="2926080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grounding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4709160" y="2384755"/>
            <a:ext cx="6565392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and indexes · Foundry IQ knowledge bases and sources</a:t>
            </a:r>
            <a:endParaRPr lang="en-US" sz="1440" dirty="0"/>
          </a:p>
        </p:txBody>
      </p:sp>
      <p:sp>
        <p:nvSpPr>
          <p:cNvPr id="26" name="Shape 24"/>
          <p:cNvSpPr/>
          <p:nvPr/>
        </p:nvSpPr>
        <p:spPr>
          <a:xfrm>
            <a:off x="640080" y="3123590"/>
            <a:ext cx="10908792" cy="738835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3279038"/>
            <a:ext cx="676656" cy="427939"/>
          </a:xfrm>
          <a:prstGeom prst="roundRect">
            <a:avLst>
              <a:gd name="adj" fmla="val 17094"/>
            </a:avLst>
          </a:prstGeom>
          <a:solidFill>
            <a:srgbClr val="FF8B50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41985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3269894"/>
            <a:ext cx="2926080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repeatable evidence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4709160" y="3251606"/>
            <a:ext cx="6565392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datasets · Agent evaluators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640080" y="3990442"/>
            <a:ext cx="10908792" cy="738835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" y="4145890"/>
            <a:ext cx="676656" cy="427939"/>
          </a:xfrm>
          <a:prstGeom prst="roundRect">
            <a:avLst>
              <a:gd name="adj" fmla="val 17094"/>
            </a:avLst>
          </a:prstGeom>
          <a:solidFill>
            <a:srgbClr val="35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804672" y="4286707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691640" y="4136746"/>
            <a:ext cx="2926080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 operations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4709160" y="4118458"/>
            <a:ext cx="6565392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tracing, spans, attributes, and exporters</a:t>
            </a:r>
            <a:endParaRPr lang="en-US" sz="1440" dirty="0"/>
          </a:p>
        </p:txBody>
      </p:sp>
      <p:sp>
        <p:nvSpPr>
          <p:cNvPr id="36" name="Shape 34"/>
          <p:cNvSpPr/>
          <p:nvPr/>
        </p:nvSpPr>
        <p:spPr>
          <a:xfrm>
            <a:off x="640080" y="4857293"/>
            <a:ext cx="10908792" cy="738835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10160">
            <a:solidFill>
              <a:srgbClr val="FFE7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5012741"/>
            <a:ext cx="676656" cy="427939"/>
          </a:xfrm>
          <a:prstGeom prst="roundRect">
            <a:avLst>
              <a:gd name="adj" fmla="val 17094"/>
            </a:avLst>
          </a:prstGeom>
          <a:solidFill>
            <a:srgbClr val="FF8B50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15355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91640" y="5003597"/>
            <a:ext cx="2926080" cy="4462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730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the curated index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4709160" y="4985309"/>
            <a:ext cx="6565392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40" dirty="0">
                <a:solidFill>
                  <a:srgbClr val="183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docs/resources.md remains the workshop's maintained resource list</a:t>
            </a:r>
            <a:endParaRPr lang="en-US" sz="1440" dirty="0"/>
          </a:p>
        </p:txBody>
      </p:sp>
      <p:sp>
        <p:nvSpPr>
          <p:cNvPr id="41" name="Shape 39"/>
          <p:cNvSpPr/>
          <p:nvPr/>
        </p:nvSpPr>
        <p:spPr>
          <a:xfrm>
            <a:off x="640080" y="5760720"/>
            <a:ext cx="10908792" cy="438912"/>
          </a:xfrm>
          <a:prstGeom prst="roundRect">
            <a:avLst>
              <a:gd name="adj" fmla="val 16667"/>
            </a:avLst>
          </a:prstGeom>
          <a:solidFill>
            <a:srgbClr val="173036"/>
          </a:solidFill>
          <a:ln/>
        </p:spPr>
      </p:sp>
      <p:sp>
        <p:nvSpPr>
          <p:cNvPr id="42" name="Text 40"/>
          <p:cNvSpPr/>
          <p:nvPr/>
        </p:nvSpPr>
        <p:spPr>
          <a:xfrm>
            <a:off x="859536" y="5870448"/>
            <a:ext cx="10479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name the candidate and evidence owners, record known gaps, and open the charter.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658368" y="6318504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2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 learn.microsoft.com/agent-framework/concepts/agents  ·  +6 more in notes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8B5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Briefing</dc:title>
  <dc:subject>Day 5 — Production Readiness and Capstone</dc:subject>
  <dc:creator>Building AI Apps and Agents Workshop</dc:creator>
  <cp:lastModifiedBy>Building AI Apps and Agents Workshop</cp:lastModifiedBy>
  <cp:revision>1</cp:revision>
  <dcterms:created xsi:type="dcterms:W3CDTF">2026-09-18T20:55:30Z</dcterms:created>
  <dcterms:modified xsi:type="dcterms:W3CDTF">2026-09-18T20:55:30Z</dcterms:modified>
</cp:coreProperties>
</file>