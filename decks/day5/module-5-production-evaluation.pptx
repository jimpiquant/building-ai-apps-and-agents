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472" r:id="rId13"/>
    <p:sldId id="267" r:id="rId14"/>
    <p:sldId id="268" r:id="rId15"/>
    <p:sldId id="673" r:id="rId16"/>
    <p:sldId id="874" r:id="rId17"/>
    <p:sldId id="269" r:id="rId18"/>
    <p:sldId id="270" r:id="rId19"/>
    <p:sldId id="271"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F1EB062-2B63-4DDD-B94C-E34F2E6035BD}" v="5" dt="2026-09-20T20:37:39.709"/>
    <p1510:client id="{67058475-14C4-414D-A72F-A163A9C322E8}" v="8" dt="2026-09-20T16:39:48.516"/>
    <p1510:client id="{6D300B81-73AD-4EDD-BE46-A020EC9F7D97}" v="6" dt="2026-09-20T16:10:46.935"/>
    <p1510:client id="{F7D4E024-D423-40E9-8654-93F598370B35}" v="3" dt="2026-09-20T20:29:40.27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5"/>
  </p:normalViewPr>
  <p:slideViewPr>
    <p:cSldViewPr snapToGrid="0">
      <p:cViewPr varScale="1">
        <p:scale>
          <a:sx n="159" d="100"/>
          <a:sy n="159" d="100"/>
        </p:scale>
        <p:origin x="82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67058475-14C4-414D-A72F-A163A9C322E8}"/>
    <pc:docChg chg="addSld modSld">
      <pc:chgData name="" userId="" providerId="" clId="Web-{67058475-14C4-414D-A72F-A163A9C322E8}" dt="2026-09-20T16:39:48.516" v="12" actId="34807"/>
      <pc:docMkLst>
        <pc:docMk/>
      </pc:docMkLst>
      <pc:sldChg chg="modSp">
        <pc:chgData name="" userId="" providerId="" clId="Web-{67058475-14C4-414D-A72F-A163A9C322E8}" dt="2026-09-20T16:38:02.274" v="9" actId="34807"/>
        <pc:sldMkLst>
          <pc:docMk/>
          <pc:sldMk cId="0" sldId="257"/>
        </pc:sldMkLst>
        <pc:spChg chg="mod">
          <ac:chgData name="" userId="" providerId="" clId="Web-{67058475-14C4-414D-A72F-A163A9C322E8}" dt="2026-09-20T16:38:02.274" v="9" actId="34807"/>
          <ac:spMkLst>
            <pc:docMk/>
            <pc:sldMk cId="0" sldId="257"/>
            <ac:spMk id="19" creationId="{00000000-0000-0000-0000-000000000000}"/>
          </ac:spMkLst>
        </pc:spChg>
      </pc:sldChg>
      <pc:sldChg chg="modSp">
        <pc:chgData name="" userId="" providerId="" clId="Web-{67058475-14C4-414D-A72F-A163A9C322E8}" dt="2026-09-20T16:38:02.274" v="9" actId="34807"/>
        <pc:sldMkLst>
          <pc:docMk/>
          <pc:sldMk cId="0" sldId="258"/>
        </pc:sldMkLst>
        <pc:spChg chg="mod">
          <ac:chgData name="" userId="" providerId="" clId="Web-{67058475-14C4-414D-A72F-A163A9C322E8}" dt="2026-09-20T16:38:02.274" v="9" actId="34807"/>
          <ac:spMkLst>
            <pc:docMk/>
            <pc:sldMk cId="0" sldId="258"/>
            <ac:spMk id="22" creationId="{00000000-0000-0000-0000-000000000000}"/>
          </ac:spMkLst>
        </pc:spChg>
      </pc:sldChg>
      <pc:sldChg chg="modSp">
        <pc:chgData name="" userId="" providerId="" clId="Web-{67058475-14C4-414D-A72F-A163A9C322E8}" dt="2026-09-20T16:38:02.274" v="9" actId="34807"/>
        <pc:sldMkLst>
          <pc:docMk/>
          <pc:sldMk cId="0" sldId="259"/>
        </pc:sldMkLst>
        <pc:spChg chg="mod">
          <ac:chgData name="" userId="" providerId="" clId="Web-{67058475-14C4-414D-A72F-A163A9C322E8}" dt="2026-09-20T16:38:02.274" v="9" actId="34807"/>
          <ac:spMkLst>
            <pc:docMk/>
            <pc:sldMk cId="0" sldId="259"/>
            <ac:spMk id="27" creationId="{00000000-0000-0000-0000-000000000000}"/>
          </ac:spMkLst>
        </pc:spChg>
      </pc:sldChg>
      <pc:sldChg chg="modSp">
        <pc:chgData name="" userId="" providerId="" clId="Web-{67058475-14C4-414D-A72F-A163A9C322E8}" dt="2026-09-20T16:38:02.274" v="9" actId="34807"/>
        <pc:sldMkLst>
          <pc:docMk/>
          <pc:sldMk cId="0" sldId="260"/>
        </pc:sldMkLst>
        <pc:spChg chg="mod">
          <ac:chgData name="" userId="" providerId="" clId="Web-{67058475-14C4-414D-A72F-A163A9C322E8}" dt="2026-09-20T16:38:02.274" v="9" actId="34807"/>
          <ac:spMkLst>
            <pc:docMk/>
            <pc:sldMk cId="0" sldId="260"/>
            <ac:spMk id="18" creationId="{00000000-0000-0000-0000-000000000000}"/>
          </ac:spMkLst>
        </pc:spChg>
      </pc:sldChg>
      <pc:sldChg chg="modSp">
        <pc:chgData name="" userId="" providerId="" clId="Web-{67058475-14C4-414D-A72F-A163A9C322E8}" dt="2026-09-20T16:38:02.274" v="9" actId="34807"/>
        <pc:sldMkLst>
          <pc:docMk/>
          <pc:sldMk cId="0" sldId="261"/>
        </pc:sldMkLst>
        <pc:spChg chg="mod">
          <ac:chgData name="" userId="" providerId="" clId="Web-{67058475-14C4-414D-A72F-A163A9C322E8}" dt="2026-09-20T16:38:02.274" v="9" actId="34807"/>
          <ac:spMkLst>
            <pc:docMk/>
            <pc:sldMk cId="0" sldId="261"/>
            <ac:spMk id="8" creationId="{00000000-0000-0000-0000-000000000000}"/>
          </ac:spMkLst>
        </pc:spChg>
      </pc:sldChg>
      <pc:sldChg chg="modSp">
        <pc:chgData name="" userId="" providerId="" clId="Web-{67058475-14C4-414D-A72F-A163A9C322E8}" dt="2026-09-20T16:38:02.274" v="9" actId="34807"/>
        <pc:sldMkLst>
          <pc:docMk/>
          <pc:sldMk cId="0" sldId="262"/>
        </pc:sldMkLst>
        <pc:spChg chg="mod">
          <ac:chgData name="" userId="" providerId="" clId="Web-{67058475-14C4-414D-A72F-A163A9C322E8}" dt="2026-09-20T16:38:02.274" v="9" actId="34807"/>
          <ac:spMkLst>
            <pc:docMk/>
            <pc:sldMk cId="0" sldId="262"/>
            <ac:spMk id="20" creationId="{00000000-0000-0000-0000-000000000000}"/>
          </ac:spMkLst>
        </pc:spChg>
      </pc:sldChg>
      <pc:sldChg chg="modSp">
        <pc:chgData name="" userId="" providerId="" clId="Web-{67058475-14C4-414D-A72F-A163A9C322E8}" dt="2026-09-20T16:38:02.274" v="9" actId="34807"/>
        <pc:sldMkLst>
          <pc:docMk/>
          <pc:sldMk cId="0" sldId="263"/>
        </pc:sldMkLst>
        <pc:spChg chg="mod">
          <ac:chgData name="" userId="" providerId="" clId="Web-{67058475-14C4-414D-A72F-A163A9C322E8}" dt="2026-09-20T16:38:02.274" v="9" actId="34807"/>
          <ac:spMkLst>
            <pc:docMk/>
            <pc:sldMk cId="0" sldId="263"/>
            <ac:spMk id="27" creationId="{00000000-0000-0000-0000-000000000000}"/>
          </ac:spMkLst>
        </pc:spChg>
      </pc:sldChg>
      <pc:sldChg chg="modSp">
        <pc:chgData name="" userId="" providerId="" clId="Web-{67058475-14C4-414D-A72F-A163A9C322E8}" dt="2026-09-20T16:38:02.274" v="9" actId="34807"/>
        <pc:sldMkLst>
          <pc:docMk/>
          <pc:sldMk cId="0" sldId="264"/>
        </pc:sldMkLst>
        <pc:spChg chg="mod">
          <ac:chgData name="" userId="" providerId="" clId="Web-{67058475-14C4-414D-A72F-A163A9C322E8}" dt="2026-09-20T16:38:02.274" v="9" actId="34807"/>
          <ac:spMkLst>
            <pc:docMk/>
            <pc:sldMk cId="0" sldId="264"/>
            <ac:spMk id="37" creationId="{00000000-0000-0000-0000-000000000000}"/>
          </ac:spMkLst>
        </pc:spChg>
      </pc:sldChg>
      <pc:sldChg chg="modSp">
        <pc:chgData name="" userId="" providerId="" clId="Web-{67058475-14C4-414D-A72F-A163A9C322E8}" dt="2026-09-20T16:38:02.274" v="9" actId="34807"/>
        <pc:sldMkLst>
          <pc:docMk/>
          <pc:sldMk cId="0" sldId="265"/>
        </pc:sldMkLst>
        <pc:spChg chg="mod">
          <ac:chgData name="" userId="" providerId="" clId="Web-{67058475-14C4-414D-A72F-A163A9C322E8}" dt="2026-09-20T16:38:02.274" v="9" actId="34807"/>
          <ac:spMkLst>
            <pc:docMk/>
            <pc:sldMk cId="0" sldId="265"/>
            <ac:spMk id="25" creationId="{00000000-0000-0000-0000-000000000000}"/>
          </ac:spMkLst>
        </pc:spChg>
      </pc:sldChg>
      <pc:sldChg chg="modSp">
        <pc:chgData name="" userId="" providerId="" clId="Web-{67058475-14C4-414D-A72F-A163A9C322E8}" dt="2026-09-20T16:38:02.274" v="9" actId="34807"/>
        <pc:sldMkLst>
          <pc:docMk/>
          <pc:sldMk cId="0" sldId="266"/>
        </pc:sldMkLst>
        <pc:spChg chg="mod">
          <ac:chgData name="" userId="" providerId="" clId="Web-{67058475-14C4-414D-A72F-A163A9C322E8}" dt="2026-09-20T16:38:02.274" v="9" actId="34807"/>
          <ac:spMkLst>
            <pc:docMk/>
            <pc:sldMk cId="0" sldId="266"/>
            <ac:spMk id="20" creationId="{00000000-0000-0000-0000-000000000000}"/>
          </ac:spMkLst>
        </pc:spChg>
      </pc:sldChg>
      <pc:sldChg chg="addSp modSp">
        <pc:chgData name="" userId="" providerId="" clId="Web-{67058475-14C4-414D-A72F-A163A9C322E8}" dt="2026-09-20T16:38:02.274" v="9" actId="34807"/>
        <pc:sldMkLst>
          <pc:docMk/>
          <pc:sldMk cId="0" sldId="267"/>
        </pc:sldMkLst>
        <pc:spChg chg="mod">
          <ac:chgData name="" userId="" providerId="" clId="Web-{67058475-14C4-414D-A72F-A163A9C322E8}" dt="2026-09-20T16:38:02.274" v="9" actId="34807"/>
          <ac:spMkLst>
            <pc:docMk/>
            <pc:sldMk cId="0" sldId="267"/>
            <ac:spMk id="8" creationId="{00000000-0000-0000-0000-000000000000}"/>
          </ac:spMkLst>
        </pc:spChg>
        <pc:spChg chg="add mod">
          <ac:chgData name="" userId="" providerId="" clId="Web-{67058475-14C4-414D-A72F-A163A9C322E8}" dt="2026-09-20T16:38:01.743" v="8" actId="34807"/>
          <ac:spMkLst>
            <pc:docMk/>
            <pc:sldMk cId="0" sldId="267"/>
            <ac:spMk id="1608" creationId="{5B444DA1-647C-997A-937E-2E852A7D7821}"/>
          </ac:spMkLst>
        </pc:spChg>
        <pc:spChg chg="add mod">
          <ac:chgData name="" userId="" providerId="" clId="Web-{67058475-14C4-414D-A72F-A163A9C322E8}" dt="2026-09-20T16:38:01.743" v="8" actId="34807"/>
          <ac:spMkLst>
            <pc:docMk/>
            <pc:sldMk cId="0" sldId="267"/>
            <ac:spMk id="1610" creationId="{6F26B940-8111-DB82-FCDB-45D2A261B2DD}"/>
          </ac:spMkLst>
        </pc:spChg>
        <pc:spChg chg="add mod">
          <ac:chgData name="" userId="" providerId="" clId="Web-{67058475-14C4-414D-A72F-A163A9C322E8}" dt="2026-09-20T16:38:01.743" v="8" actId="34807"/>
          <ac:spMkLst>
            <pc:docMk/>
            <pc:sldMk cId="0" sldId="267"/>
            <ac:spMk id="1613" creationId="{987D2713-69A1-4C6F-ED3B-9F9924F4FFA8}"/>
          </ac:spMkLst>
        </pc:spChg>
        <pc:spChg chg="add mod">
          <ac:chgData name="" userId="" providerId="" clId="Web-{67058475-14C4-414D-A72F-A163A9C322E8}" dt="2026-09-20T16:38:01.743" v="8" actId="34807"/>
          <ac:spMkLst>
            <pc:docMk/>
            <pc:sldMk cId="0" sldId="267"/>
            <ac:spMk id="1617" creationId="{104DEDD8-C677-C89D-66D5-614790F6FEF2}"/>
          </ac:spMkLst>
        </pc:spChg>
        <pc:spChg chg="add mod">
          <ac:chgData name="" userId="" providerId="" clId="Web-{67058475-14C4-414D-A72F-A163A9C322E8}" dt="2026-09-20T16:38:01.743" v="8" actId="34807"/>
          <ac:spMkLst>
            <pc:docMk/>
            <pc:sldMk cId="0" sldId="267"/>
            <ac:spMk id="1622" creationId="{B4046966-6610-4B77-A9BE-1C8CBFF180F1}"/>
          </ac:spMkLst>
        </pc:spChg>
      </pc:sldChg>
      <pc:sldChg chg="modSp">
        <pc:chgData name="" userId="" providerId="" clId="Web-{67058475-14C4-414D-A72F-A163A9C322E8}" dt="2026-09-20T16:38:02.274" v="9" actId="34807"/>
        <pc:sldMkLst>
          <pc:docMk/>
          <pc:sldMk cId="0" sldId="268"/>
        </pc:sldMkLst>
        <pc:spChg chg="mod">
          <ac:chgData name="" userId="" providerId="" clId="Web-{67058475-14C4-414D-A72F-A163A9C322E8}" dt="2026-09-20T16:38:02.274" v="9" actId="34807"/>
          <ac:spMkLst>
            <pc:docMk/>
            <pc:sldMk cId="0" sldId="268"/>
            <ac:spMk id="21" creationId="{00000000-0000-0000-0000-000000000000}"/>
          </ac:spMkLst>
        </pc:spChg>
      </pc:sldChg>
      <pc:sldChg chg="modSp">
        <pc:chgData name="" userId="" providerId="" clId="Web-{67058475-14C4-414D-A72F-A163A9C322E8}" dt="2026-09-20T16:38:02.274" v="9" actId="34807"/>
        <pc:sldMkLst>
          <pc:docMk/>
          <pc:sldMk cId="0" sldId="269"/>
        </pc:sldMkLst>
        <pc:spChg chg="mod">
          <ac:chgData name="" userId="" providerId="" clId="Web-{67058475-14C4-414D-A72F-A163A9C322E8}" dt="2026-09-20T16:38:02.274" v="9" actId="34807"/>
          <ac:spMkLst>
            <pc:docMk/>
            <pc:sldMk cId="0" sldId="269"/>
            <ac:spMk id="17" creationId="{00000000-0000-0000-0000-000000000000}"/>
          </ac:spMkLst>
        </pc:spChg>
      </pc:sldChg>
      <pc:sldChg chg="modSp">
        <pc:chgData name="" userId="" providerId="" clId="Web-{67058475-14C4-414D-A72F-A163A9C322E8}" dt="2026-09-20T16:38:02.274" v="9" actId="34807"/>
        <pc:sldMkLst>
          <pc:docMk/>
          <pc:sldMk cId="0" sldId="270"/>
        </pc:sldMkLst>
        <pc:spChg chg="mod">
          <ac:chgData name="" userId="" providerId="" clId="Web-{67058475-14C4-414D-A72F-A163A9C322E8}" dt="2026-09-20T16:38:02.274" v="9" actId="34807"/>
          <ac:spMkLst>
            <pc:docMk/>
            <pc:sldMk cId="0" sldId="270"/>
            <ac:spMk id="25" creationId="{00000000-0000-0000-0000-000000000000}"/>
          </ac:spMkLst>
        </pc:spChg>
      </pc:sldChg>
      <pc:sldChg chg="modSp">
        <pc:chgData name="" userId="" providerId="" clId="Web-{67058475-14C4-414D-A72F-A163A9C322E8}" dt="2026-09-20T16:38:02.274" v="9" actId="34807"/>
        <pc:sldMkLst>
          <pc:docMk/>
          <pc:sldMk cId="0" sldId="271"/>
        </pc:sldMkLst>
        <pc:spChg chg="mod">
          <ac:chgData name="" userId="" providerId="" clId="Web-{67058475-14C4-414D-A72F-A163A9C322E8}" dt="2026-09-20T16:38:02.274" v="9" actId="34807"/>
          <ac:spMkLst>
            <pc:docMk/>
            <pc:sldMk cId="0" sldId="271"/>
            <ac:spMk id="27" creationId="{00000000-0000-0000-0000-000000000000}"/>
          </ac:spMkLst>
        </pc:spChg>
      </pc:sldChg>
      <pc:sldChg chg="modSp">
        <pc:chgData name="" userId="" providerId="" clId="Web-{67058475-14C4-414D-A72F-A163A9C322E8}" dt="2026-09-20T16:39:48.516" v="12" actId="34807"/>
        <pc:sldMkLst>
          <pc:docMk/>
          <pc:sldMk cId="3730076630" sldId="472"/>
        </pc:sldMkLst>
        <pc:spChg chg="mod">
          <ac:chgData name="" userId="" providerId="" clId="Web-{67058475-14C4-414D-A72F-A163A9C322E8}" dt="2026-09-20T16:39:12.514" v="11" actId="34807"/>
          <ac:spMkLst>
            <pc:docMk/>
            <pc:sldMk cId="3730076630" sldId="472"/>
            <ac:spMk id="388" creationId="{F977230B-D05C-074B-6373-DC86BCEBAA04}"/>
          </ac:spMkLst>
        </pc:spChg>
        <pc:spChg chg="mod">
          <ac:chgData name="" userId="" providerId="" clId="Web-{67058475-14C4-414D-A72F-A163A9C322E8}" dt="2026-09-20T16:39:12.514" v="11" actId="34807"/>
          <ac:spMkLst>
            <pc:docMk/>
            <pc:sldMk cId="3730076630" sldId="472"/>
            <ac:spMk id="415" creationId="{B8841ECB-90B7-7377-E001-6035589195C7}"/>
          </ac:spMkLst>
        </pc:spChg>
        <pc:spChg chg="mod">
          <ac:chgData name="" userId="" providerId="" clId="Web-{67058475-14C4-414D-A72F-A163A9C322E8}" dt="2026-09-20T16:39:48.516" v="12" actId="34807"/>
          <ac:spMkLst>
            <pc:docMk/>
            <pc:sldMk cId="3730076630" sldId="472"/>
            <ac:spMk id="502" creationId="{59A767FA-095B-173E-BB8A-5CAF7BC72D1B}"/>
          </ac:spMkLst>
        </pc:spChg>
        <pc:spChg chg="mod">
          <ac:chgData name="" userId="" providerId="" clId="Web-{67058475-14C4-414D-A72F-A163A9C322E8}" dt="2026-09-20T16:39:48.516" v="12" actId="34807"/>
          <ac:spMkLst>
            <pc:docMk/>
            <pc:sldMk cId="3730076630" sldId="472"/>
            <ac:spMk id="533" creationId="{43D5CC80-B687-CC88-50AE-00F9E6A21E86}"/>
          </ac:spMkLst>
        </pc:spChg>
        <pc:spChg chg="mod">
          <ac:chgData name="" userId="" providerId="" clId="Web-{67058475-14C4-414D-A72F-A163A9C322E8}" dt="2026-09-20T16:39:12.514" v="11" actId="34807"/>
          <ac:spMkLst>
            <pc:docMk/>
            <pc:sldMk cId="3730076630" sldId="472"/>
            <ac:spMk id="703" creationId="{D47432F8-3D33-7884-24EA-407D6B9D8052}"/>
          </ac:spMkLst>
        </pc:spChg>
        <pc:spChg chg="mod">
          <ac:chgData name="" userId="" providerId="" clId="Web-{67058475-14C4-414D-A72F-A163A9C322E8}" dt="2026-09-20T16:39:48.516" v="12" actId="34807"/>
          <ac:spMkLst>
            <pc:docMk/>
            <pc:sldMk cId="3730076630" sldId="472"/>
            <ac:spMk id="740" creationId="{BF29160B-3AB0-6659-D3D4-C49FB7BDDEA8}"/>
          </ac:spMkLst>
        </pc:spChg>
        <pc:spChg chg="mod">
          <ac:chgData name="" userId="" providerId="" clId="Web-{67058475-14C4-414D-A72F-A163A9C322E8}" dt="2026-09-20T16:39:12.514" v="11" actId="34807"/>
          <ac:spMkLst>
            <pc:docMk/>
            <pc:sldMk cId="3730076630" sldId="472"/>
            <ac:spMk id="898" creationId="{A6E4DED1-EAF5-16AD-501F-83D7B2E6E444}"/>
          </ac:spMkLst>
        </pc:spChg>
        <pc:spChg chg="mod">
          <ac:chgData name="" userId="" providerId="" clId="Web-{67058475-14C4-414D-A72F-A163A9C322E8}" dt="2026-09-20T16:39:48.516" v="12" actId="34807"/>
          <ac:spMkLst>
            <pc:docMk/>
            <pc:sldMk cId="3730076630" sldId="472"/>
            <ac:spMk id="940" creationId="{86850CE5-AD57-CDB2-57BB-23B6748F4D85}"/>
          </ac:spMkLst>
        </pc:spChg>
        <pc:spChg chg="mod">
          <ac:chgData name="" userId="" providerId="" clId="Web-{67058475-14C4-414D-A72F-A163A9C322E8}" dt="2026-09-20T16:38:02.274" v="9" actId="34807"/>
          <ac:spMkLst>
            <pc:docMk/>
            <pc:sldMk cId="3730076630" sldId="472"/>
            <ac:spMk id="1072" creationId="{2F060C97-3484-B498-26A8-CF33F57E7E6D}"/>
          </ac:spMkLst>
        </pc:spChg>
      </pc:sldChg>
      <pc:sldChg chg="addSp modSp add modNotesTx">
        <pc:chgData name="" userId="" providerId="" clId="Web-{67058475-14C4-414D-A72F-A163A9C322E8}" dt="2026-09-20T16:39:48.516" v="12" actId="34807"/>
        <pc:sldMkLst>
          <pc:docMk/>
          <pc:sldMk cId="3726834125" sldId="673"/>
        </pc:sldMkLst>
        <pc:spChg chg="add mod">
          <ac:chgData name="" userId="" providerId="" clId="Web-{67058475-14C4-414D-A72F-A163A9C322E8}" dt="2026-09-20T16:35:37.967" v="1" actId="34807"/>
          <ac:spMkLst>
            <pc:docMk/>
            <pc:sldMk cId="3726834125" sldId="673"/>
            <ac:spMk id="1079" creationId="{BDF43030-049D-1BEA-5356-F4F6C77B998C}"/>
          </ac:spMkLst>
        </pc:spChg>
        <pc:spChg chg="mod">
          <ac:chgData name="" userId="" providerId="" clId="Web-{67058475-14C4-414D-A72F-A163A9C322E8}" dt="2026-09-20T16:35:39.373" v="3" actId="34807"/>
          <ac:spMkLst>
            <pc:docMk/>
            <pc:sldMk cId="3726834125" sldId="673"/>
            <ac:spMk id="1086" creationId="{D0AEA581-F8FC-6906-337D-CB4C78A1B1B2}"/>
          </ac:spMkLst>
        </pc:spChg>
        <pc:spChg chg="add mod">
          <ac:chgData name="" userId="" providerId="" clId="Web-{67058475-14C4-414D-A72F-A163A9C322E8}" dt="2026-09-20T16:35:37.967" v="1" actId="34807"/>
          <ac:spMkLst>
            <pc:docMk/>
            <pc:sldMk cId="3726834125" sldId="673"/>
            <ac:spMk id="1104" creationId="{005F4686-42C2-1CEC-2A79-1D7EAB9C676D}"/>
          </ac:spMkLst>
        </pc:spChg>
        <pc:spChg chg="mod">
          <ac:chgData name="" userId="" providerId="" clId="Web-{67058475-14C4-414D-A72F-A163A9C322E8}" dt="2026-09-20T16:39:12.514" v="11" actId="34807"/>
          <ac:spMkLst>
            <pc:docMk/>
            <pc:sldMk cId="3726834125" sldId="673"/>
            <ac:spMk id="1131" creationId="{2BE43E4C-453A-697E-A139-AB1B2015DB95}"/>
          </ac:spMkLst>
        </pc:spChg>
        <pc:spChg chg="add mod">
          <ac:chgData name="" userId="" providerId="" clId="Web-{67058475-14C4-414D-A72F-A163A9C322E8}" dt="2026-09-20T16:39:48.516" v="12" actId="34807"/>
          <ac:spMkLst>
            <pc:docMk/>
            <pc:sldMk cId="3726834125" sldId="673"/>
            <ac:spMk id="1142" creationId="{F1F4836D-A4EA-D661-399E-EC4DFA4EAF3F}"/>
          </ac:spMkLst>
        </pc:spChg>
        <pc:spChg chg="add mod">
          <ac:chgData name="" userId="" providerId="" clId="Web-{67058475-14C4-414D-A72F-A163A9C322E8}" dt="2026-09-20T16:35:37.967" v="1" actId="34807"/>
          <ac:spMkLst>
            <pc:docMk/>
            <pc:sldMk cId="3726834125" sldId="673"/>
            <ac:spMk id="1181" creationId="{D5E508DD-3002-5523-8463-53C207D952ED}"/>
          </ac:spMkLst>
        </pc:spChg>
        <pc:spChg chg="mod">
          <ac:chgData name="" userId="" providerId="" clId="Web-{67058475-14C4-414D-A72F-A163A9C322E8}" dt="2026-09-20T16:39:12.514" v="11" actId="34807"/>
          <ac:spMkLst>
            <pc:docMk/>
            <pc:sldMk cId="3726834125" sldId="673"/>
            <ac:spMk id="1196" creationId="{9F6DDDCB-E77E-0082-3056-AFEA3DFA44CE}"/>
          </ac:spMkLst>
        </pc:spChg>
        <pc:spChg chg="add mod">
          <ac:chgData name="" userId="" providerId="" clId="Web-{67058475-14C4-414D-A72F-A163A9C322E8}" dt="2026-09-20T16:39:48.516" v="12" actId="34807"/>
          <ac:spMkLst>
            <pc:docMk/>
            <pc:sldMk cId="3726834125" sldId="673"/>
            <ac:spMk id="1212" creationId="{57A9DC95-3793-0A4B-FFD1-A2963887CE41}"/>
          </ac:spMkLst>
        </pc:spChg>
        <pc:spChg chg="add mod">
          <ac:chgData name="" userId="" providerId="" clId="Web-{67058475-14C4-414D-A72F-A163A9C322E8}" dt="2026-09-20T16:35:37.967" v="1" actId="34807"/>
          <ac:spMkLst>
            <pc:docMk/>
            <pc:sldMk cId="3726834125" sldId="673"/>
            <ac:spMk id="1229" creationId="{6F8365B1-D13A-A8AA-4A0F-BD7FEA9FC051}"/>
          </ac:spMkLst>
        </pc:spChg>
        <pc:spChg chg="add mod">
          <ac:chgData name="" userId="" providerId="" clId="Web-{67058475-14C4-414D-A72F-A163A9C322E8}" dt="2026-09-20T16:35:37.967" v="1" actId="34807"/>
          <ac:spMkLst>
            <pc:docMk/>
            <pc:sldMk cId="3726834125" sldId="673"/>
            <ac:spMk id="1247" creationId="{CAA6ADF1-ED71-6DFB-98A9-ED160E7DBD7E}"/>
          </ac:spMkLst>
        </pc:spChg>
        <pc:spChg chg="add mod">
          <ac:chgData name="" userId="" providerId="" clId="Web-{67058475-14C4-414D-A72F-A163A9C322E8}" dt="2026-09-20T16:35:37.967" v="1" actId="34807"/>
          <ac:spMkLst>
            <pc:docMk/>
            <pc:sldMk cId="3726834125" sldId="673"/>
            <ac:spMk id="1266" creationId="{6B81E1C2-B85B-C9DE-D638-B7A20999158D}"/>
          </ac:spMkLst>
        </pc:spChg>
        <pc:spChg chg="add mod">
          <ac:chgData name="" userId="" providerId="" clId="Web-{67058475-14C4-414D-A72F-A163A9C322E8}" dt="2026-09-20T16:39:12.514" v="11" actId="34807"/>
          <ac:spMkLst>
            <pc:docMk/>
            <pc:sldMk cId="3726834125" sldId="673"/>
            <ac:spMk id="1286" creationId="{203C5BFE-AF2A-9DA3-9ACF-8D167C9094EE}"/>
          </ac:spMkLst>
        </pc:spChg>
        <pc:spChg chg="mod">
          <ac:chgData name="" userId="" providerId="" clId="Web-{67058475-14C4-414D-A72F-A163A9C322E8}" dt="2026-09-20T16:39:48.516" v="12" actId="34807"/>
          <ac:spMkLst>
            <pc:docMk/>
            <pc:sldMk cId="3726834125" sldId="673"/>
            <ac:spMk id="1307" creationId="{5F087C81-0B8F-13F5-6F18-9FA518AD9279}"/>
          </ac:spMkLst>
        </pc:spChg>
        <pc:spChg chg="add mod">
          <ac:chgData name="" userId="" providerId="" clId="Web-{67058475-14C4-414D-A72F-A163A9C322E8}" dt="2026-09-20T16:35:37.967" v="1" actId="34807"/>
          <ac:spMkLst>
            <pc:docMk/>
            <pc:sldMk cId="3726834125" sldId="673"/>
            <ac:spMk id="1329" creationId="{9D0C93F5-ABE9-45A1-6755-612AF3CFF672}"/>
          </ac:spMkLst>
        </pc:spChg>
      </pc:sldChg>
      <pc:sldChg chg="addSp modSp add modNotesTx">
        <pc:chgData name="" userId="" providerId="" clId="Web-{67058475-14C4-414D-A72F-A163A9C322E8}" dt="2026-09-20T16:36:08.250" v="7" actId="34807"/>
        <pc:sldMkLst>
          <pc:docMk/>
          <pc:sldMk cId="918717452" sldId="874"/>
        </pc:sldMkLst>
        <pc:spChg chg="add mod">
          <ac:chgData name="" userId="" providerId="" clId="Web-{67058475-14C4-414D-A72F-A163A9C322E8}" dt="2026-09-20T16:36:07.172" v="5" actId="34807"/>
          <ac:spMkLst>
            <pc:docMk/>
            <pc:sldMk cId="918717452" sldId="874"/>
            <ac:spMk id="1379" creationId="{664C71C4-86BD-4C5D-EE73-56AC005DF0C3}"/>
          </ac:spMkLst>
        </pc:spChg>
        <pc:spChg chg="add mod">
          <ac:chgData name="" userId="" providerId="" clId="Web-{67058475-14C4-414D-A72F-A163A9C322E8}" dt="2026-09-20T16:36:07.172" v="5" actId="34807"/>
          <ac:spMkLst>
            <pc:docMk/>
            <pc:sldMk cId="918717452" sldId="874"/>
            <ac:spMk id="1382" creationId="{13FD903A-93DD-CA70-1F4C-22A6285862F1}"/>
          </ac:spMkLst>
        </pc:spChg>
        <pc:spChg chg="add mod">
          <ac:chgData name="" userId="" providerId="" clId="Web-{67058475-14C4-414D-A72F-A163A9C322E8}" dt="2026-09-20T16:36:07.172" v="5" actId="34807"/>
          <ac:spMkLst>
            <pc:docMk/>
            <pc:sldMk cId="918717452" sldId="874"/>
            <ac:spMk id="1386" creationId="{6196C247-EB0C-FBCA-5455-F3A985E80693}"/>
          </ac:spMkLst>
        </pc:spChg>
        <pc:spChg chg="add mod">
          <ac:chgData name="" userId="" providerId="" clId="Web-{67058475-14C4-414D-A72F-A163A9C322E8}" dt="2026-09-20T16:36:07.172" v="5" actId="34807"/>
          <ac:spMkLst>
            <pc:docMk/>
            <pc:sldMk cId="918717452" sldId="874"/>
            <ac:spMk id="1391" creationId="{E437EA34-1A09-FE83-0C7C-2BC4985338B8}"/>
          </ac:spMkLst>
        </pc:spChg>
        <pc:spChg chg="add mod">
          <ac:chgData name="" userId="" providerId="" clId="Web-{67058475-14C4-414D-A72F-A163A9C322E8}" dt="2026-09-20T16:36:07.172" v="5" actId="34807"/>
          <ac:spMkLst>
            <pc:docMk/>
            <pc:sldMk cId="918717452" sldId="874"/>
            <ac:spMk id="1412" creationId="{5EBC84C1-22A9-43FB-9D9C-1806DFAD7539}"/>
          </ac:spMkLst>
        </pc:spChg>
        <pc:spChg chg="add mod">
          <ac:chgData name="" userId="" providerId="" clId="Web-{67058475-14C4-414D-A72F-A163A9C322E8}" dt="2026-09-20T16:36:08.250" v="7" actId="34807"/>
          <ac:spMkLst>
            <pc:docMk/>
            <pc:sldMk cId="918717452" sldId="874"/>
            <ac:spMk id="1431" creationId="{5798F242-1A8F-8057-BE89-533296B4785D}"/>
          </ac:spMkLst>
        </pc:spChg>
        <pc:spChg chg="add mod">
          <ac:chgData name="" userId="" providerId="" clId="Web-{67058475-14C4-414D-A72F-A163A9C322E8}" dt="2026-09-20T16:36:08.250" v="7" actId="34807"/>
          <ac:spMkLst>
            <pc:docMk/>
            <pc:sldMk cId="918717452" sldId="874"/>
            <ac:spMk id="1467" creationId="{8ED0B106-86B1-A006-86C3-7E0A8A2A21BE}"/>
          </ac:spMkLst>
        </pc:spChg>
        <pc:spChg chg="add mod">
          <ac:chgData name="" userId="" providerId="" clId="Web-{67058475-14C4-414D-A72F-A163A9C322E8}" dt="2026-09-20T16:36:07.172" v="5" actId="34807"/>
          <ac:spMkLst>
            <pc:docMk/>
            <pc:sldMk cId="918717452" sldId="874"/>
            <ac:spMk id="1481" creationId="{F3B0DEDF-3468-55CB-0042-8E1065F672AE}"/>
          </ac:spMkLst>
        </pc:spChg>
        <pc:spChg chg="add mod">
          <ac:chgData name="" userId="" providerId="" clId="Web-{67058475-14C4-414D-A72F-A163A9C322E8}" dt="2026-09-20T16:36:07.172" v="5" actId="34807"/>
          <ac:spMkLst>
            <pc:docMk/>
            <pc:sldMk cId="918717452" sldId="874"/>
            <ac:spMk id="1512" creationId="{3E069F79-4E5A-8FFA-3B40-B9B0FAF50909}"/>
          </ac:spMkLst>
        </pc:spChg>
        <pc:spChg chg="add mod">
          <ac:chgData name="" userId="" providerId="" clId="Web-{67058475-14C4-414D-A72F-A163A9C322E8}" dt="2026-09-20T16:36:08.250" v="7" actId="34807"/>
          <ac:spMkLst>
            <pc:docMk/>
            <pc:sldMk cId="918717452" sldId="874"/>
            <ac:spMk id="1547" creationId="{45A582E7-4623-7A01-BC9C-36CBCDFEDA77}"/>
          </ac:spMkLst>
        </pc:spChg>
      </pc:sldChg>
    </pc:docChg>
  </pc:docChgLst>
  <pc:docChgLst>
    <pc:chgData clId="Web-{6D300B81-73AD-4EDD-BE46-A020EC9F7D97}"/>
    <pc:docChg chg="addSld modSld">
      <pc:chgData name="" userId="" providerId="" clId="Web-{6D300B81-73AD-4EDD-BE46-A020EC9F7D97}" dt="2026-09-20T16:10:46.935" v="9" actId="34807"/>
      <pc:docMkLst>
        <pc:docMk/>
      </pc:docMkLst>
      <pc:sldChg chg="modSp">
        <pc:chgData name="" userId="" providerId="" clId="Web-{6D300B81-73AD-4EDD-BE46-A020EC9F7D97}" dt="2026-09-20T16:07:21.177" v="5" actId="34807"/>
        <pc:sldMkLst>
          <pc:docMk/>
          <pc:sldMk cId="0" sldId="256"/>
        </pc:sldMkLst>
        <pc:spChg chg="mod">
          <ac:chgData name="" userId="" providerId="" clId="Web-{6D300B81-73AD-4EDD-BE46-A020EC9F7D97}" dt="2026-09-20T16:07:21.177" v="5" actId="34807"/>
          <ac:spMkLst>
            <pc:docMk/>
            <pc:sldMk cId="0" sldId="256"/>
            <ac:spMk id="6" creationId="{00000000-0000-0000-0000-000000000000}"/>
          </ac:spMkLst>
        </pc:spChg>
      </pc:sldChg>
      <pc:sldChg chg="modSp">
        <pc:chgData name="" userId="" providerId="" clId="Web-{6D300B81-73AD-4EDD-BE46-A020EC9F7D97}" dt="2026-09-20T16:07:21.177" v="5" actId="34807"/>
        <pc:sldMkLst>
          <pc:docMk/>
          <pc:sldMk cId="0" sldId="257"/>
        </pc:sldMkLst>
        <pc:spChg chg="mod">
          <ac:chgData name="" userId="" providerId="" clId="Web-{6D300B81-73AD-4EDD-BE46-A020EC9F7D97}" dt="2026-09-20T16:07:21.177" v="5" actId="34807"/>
          <ac:spMkLst>
            <pc:docMk/>
            <pc:sldMk cId="0" sldId="257"/>
            <ac:spMk id="19" creationId="{00000000-0000-0000-0000-000000000000}"/>
          </ac:spMkLst>
        </pc:spChg>
      </pc:sldChg>
      <pc:sldChg chg="modSp">
        <pc:chgData name="" userId="" providerId="" clId="Web-{6D300B81-73AD-4EDD-BE46-A020EC9F7D97}" dt="2026-09-20T16:07:21.177" v="5" actId="34807"/>
        <pc:sldMkLst>
          <pc:docMk/>
          <pc:sldMk cId="0" sldId="258"/>
        </pc:sldMkLst>
        <pc:spChg chg="mod">
          <ac:chgData name="" userId="" providerId="" clId="Web-{6D300B81-73AD-4EDD-BE46-A020EC9F7D97}" dt="2026-09-20T16:07:21.177" v="5" actId="34807"/>
          <ac:spMkLst>
            <pc:docMk/>
            <pc:sldMk cId="0" sldId="258"/>
            <ac:spMk id="22" creationId="{00000000-0000-0000-0000-000000000000}"/>
          </ac:spMkLst>
        </pc:spChg>
      </pc:sldChg>
      <pc:sldChg chg="modSp">
        <pc:chgData name="" userId="" providerId="" clId="Web-{6D300B81-73AD-4EDD-BE46-A020EC9F7D97}" dt="2026-09-20T16:07:21.177" v="5" actId="34807"/>
        <pc:sldMkLst>
          <pc:docMk/>
          <pc:sldMk cId="0" sldId="259"/>
        </pc:sldMkLst>
        <pc:spChg chg="mod">
          <ac:chgData name="" userId="" providerId="" clId="Web-{6D300B81-73AD-4EDD-BE46-A020EC9F7D97}" dt="2026-09-20T16:07:21.177" v="5" actId="34807"/>
          <ac:spMkLst>
            <pc:docMk/>
            <pc:sldMk cId="0" sldId="259"/>
            <ac:spMk id="25" creationId="{00000000-0000-0000-0000-000000000000}"/>
          </ac:spMkLst>
        </pc:spChg>
        <pc:spChg chg="mod">
          <ac:chgData name="" userId="" providerId="" clId="Web-{6D300B81-73AD-4EDD-BE46-A020EC9F7D97}" dt="2026-09-20T16:07:21.177" v="5" actId="34807"/>
          <ac:spMkLst>
            <pc:docMk/>
            <pc:sldMk cId="0" sldId="259"/>
            <ac:spMk id="27" creationId="{00000000-0000-0000-0000-000000000000}"/>
          </ac:spMkLst>
        </pc:spChg>
      </pc:sldChg>
      <pc:sldChg chg="modSp">
        <pc:chgData name="" userId="" providerId="" clId="Web-{6D300B81-73AD-4EDD-BE46-A020EC9F7D97}" dt="2026-09-20T16:07:21.177" v="5" actId="34807"/>
        <pc:sldMkLst>
          <pc:docMk/>
          <pc:sldMk cId="0" sldId="260"/>
        </pc:sldMkLst>
        <pc:spChg chg="mod">
          <ac:chgData name="" userId="" providerId="" clId="Web-{6D300B81-73AD-4EDD-BE46-A020EC9F7D97}" dt="2026-09-20T16:07:21.177" v="5" actId="34807"/>
          <ac:spMkLst>
            <pc:docMk/>
            <pc:sldMk cId="0" sldId="260"/>
            <ac:spMk id="18" creationId="{00000000-0000-0000-0000-000000000000}"/>
          </ac:spMkLst>
        </pc:spChg>
      </pc:sldChg>
      <pc:sldChg chg="modSp">
        <pc:chgData name="" userId="" providerId="" clId="Web-{6D300B81-73AD-4EDD-BE46-A020EC9F7D97}" dt="2026-09-20T16:07:21.177" v="5" actId="34807"/>
        <pc:sldMkLst>
          <pc:docMk/>
          <pc:sldMk cId="0" sldId="261"/>
        </pc:sldMkLst>
        <pc:spChg chg="mod">
          <ac:chgData name="" userId="" providerId="" clId="Web-{6D300B81-73AD-4EDD-BE46-A020EC9F7D97}" dt="2026-09-20T16:07:21.177" v="5" actId="34807"/>
          <ac:spMkLst>
            <pc:docMk/>
            <pc:sldMk cId="0" sldId="261"/>
            <ac:spMk id="8" creationId="{00000000-0000-0000-0000-000000000000}"/>
          </ac:spMkLst>
        </pc:spChg>
      </pc:sldChg>
      <pc:sldChg chg="modSp">
        <pc:chgData name="" userId="" providerId="" clId="Web-{6D300B81-73AD-4EDD-BE46-A020EC9F7D97}" dt="2026-09-20T16:07:21.177" v="5" actId="34807"/>
        <pc:sldMkLst>
          <pc:docMk/>
          <pc:sldMk cId="0" sldId="262"/>
        </pc:sldMkLst>
        <pc:spChg chg="mod">
          <ac:chgData name="" userId="" providerId="" clId="Web-{6D300B81-73AD-4EDD-BE46-A020EC9F7D97}" dt="2026-09-20T16:07:21.177" v="5" actId="34807"/>
          <ac:spMkLst>
            <pc:docMk/>
            <pc:sldMk cId="0" sldId="262"/>
            <ac:spMk id="20" creationId="{00000000-0000-0000-0000-000000000000}"/>
          </ac:spMkLst>
        </pc:spChg>
      </pc:sldChg>
      <pc:sldChg chg="modSp">
        <pc:chgData name="" userId="" providerId="" clId="Web-{6D300B81-73AD-4EDD-BE46-A020EC9F7D97}" dt="2026-09-20T16:07:21.177" v="5" actId="34807"/>
        <pc:sldMkLst>
          <pc:docMk/>
          <pc:sldMk cId="0" sldId="263"/>
        </pc:sldMkLst>
        <pc:spChg chg="mod">
          <ac:chgData name="" userId="" providerId="" clId="Web-{6D300B81-73AD-4EDD-BE46-A020EC9F7D97}" dt="2026-09-20T16:07:21.177" v="5" actId="34807"/>
          <ac:spMkLst>
            <pc:docMk/>
            <pc:sldMk cId="0" sldId="263"/>
            <ac:spMk id="27" creationId="{00000000-0000-0000-0000-000000000000}"/>
          </ac:spMkLst>
        </pc:spChg>
      </pc:sldChg>
      <pc:sldChg chg="modSp">
        <pc:chgData name="" userId="" providerId="" clId="Web-{6D300B81-73AD-4EDD-BE46-A020EC9F7D97}" dt="2026-09-20T16:07:21.177" v="5" actId="34807"/>
        <pc:sldMkLst>
          <pc:docMk/>
          <pc:sldMk cId="0" sldId="264"/>
        </pc:sldMkLst>
        <pc:spChg chg="mod">
          <ac:chgData name="" userId="" providerId="" clId="Web-{6D300B81-73AD-4EDD-BE46-A020EC9F7D97}" dt="2026-09-20T16:07:21.177" v="5" actId="34807"/>
          <ac:spMkLst>
            <pc:docMk/>
            <pc:sldMk cId="0" sldId="264"/>
            <ac:spMk id="37" creationId="{00000000-0000-0000-0000-000000000000}"/>
          </ac:spMkLst>
        </pc:spChg>
      </pc:sldChg>
      <pc:sldChg chg="modSp">
        <pc:chgData name="" userId="" providerId="" clId="Web-{6D300B81-73AD-4EDD-BE46-A020EC9F7D97}" dt="2026-09-20T16:07:21.177" v="5" actId="34807"/>
        <pc:sldMkLst>
          <pc:docMk/>
          <pc:sldMk cId="0" sldId="265"/>
        </pc:sldMkLst>
        <pc:spChg chg="mod">
          <ac:chgData name="" userId="" providerId="" clId="Web-{6D300B81-73AD-4EDD-BE46-A020EC9F7D97}" dt="2026-09-20T16:07:21.177" v="5" actId="34807"/>
          <ac:spMkLst>
            <pc:docMk/>
            <pc:sldMk cId="0" sldId="265"/>
            <ac:spMk id="25" creationId="{00000000-0000-0000-0000-000000000000}"/>
          </ac:spMkLst>
        </pc:spChg>
      </pc:sldChg>
      <pc:sldChg chg="modSp">
        <pc:chgData name="" userId="" providerId="" clId="Web-{6D300B81-73AD-4EDD-BE46-A020EC9F7D97}" dt="2026-09-20T16:07:21.177" v="5" actId="34807"/>
        <pc:sldMkLst>
          <pc:docMk/>
          <pc:sldMk cId="0" sldId="266"/>
        </pc:sldMkLst>
        <pc:spChg chg="mod">
          <ac:chgData name="" userId="" providerId="" clId="Web-{6D300B81-73AD-4EDD-BE46-A020EC9F7D97}" dt="2026-09-20T16:07:21.177" v="5" actId="34807"/>
          <ac:spMkLst>
            <pc:docMk/>
            <pc:sldMk cId="0" sldId="266"/>
            <ac:spMk id="20" creationId="{00000000-0000-0000-0000-000000000000}"/>
          </ac:spMkLst>
        </pc:spChg>
      </pc:sldChg>
      <pc:sldChg chg="modSp">
        <pc:chgData name="" userId="" providerId="" clId="Web-{6D300B81-73AD-4EDD-BE46-A020EC9F7D97}" dt="2026-09-20T16:09:54.683" v="6" actId="34807"/>
        <pc:sldMkLst>
          <pc:docMk/>
          <pc:sldMk cId="0" sldId="267"/>
        </pc:sldMkLst>
        <pc:spChg chg="mod">
          <ac:chgData name="" userId="" providerId="" clId="Web-{6D300B81-73AD-4EDD-BE46-A020EC9F7D97}" dt="2026-09-20T16:09:54.683" v="6" actId="34807"/>
          <ac:spMkLst>
            <pc:docMk/>
            <pc:sldMk cId="0" sldId="267"/>
            <ac:spMk id="8" creationId="{00000000-0000-0000-0000-000000000000}"/>
          </ac:spMkLst>
        </pc:spChg>
      </pc:sldChg>
      <pc:sldChg chg="modSp">
        <pc:chgData name="" userId="" providerId="" clId="Web-{6D300B81-73AD-4EDD-BE46-A020EC9F7D97}" dt="2026-09-20T16:09:54.683" v="6" actId="34807"/>
        <pc:sldMkLst>
          <pc:docMk/>
          <pc:sldMk cId="0" sldId="268"/>
        </pc:sldMkLst>
        <pc:spChg chg="mod">
          <ac:chgData name="" userId="" providerId="" clId="Web-{6D300B81-73AD-4EDD-BE46-A020EC9F7D97}" dt="2026-09-20T16:09:54.683" v="6" actId="34807"/>
          <ac:spMkLst>
            <pc:docMk/>
            <pc:sldMk cId="0" sldId="268"/>
            <ac:spMk id="21" creationId="{00000000-0000-0000-0000-000000000000}"/>
          </ac:spMkLst>
        </pc:spChg>
      </pc:sldChg>
      <pc:sldChg chg="modSp">
        <pc:chgData name="" userId="" providerId="" clId="Web-{6D300B81-73AD-4EDD-BE46-A020EC9F7D97}" dt="2026-09-20T16:09:54.683" v="6" actId="34807"/>
        <pc:sldMkLst>
          <pc:docMk/>
          <pc:sldMk cId="0" sldId="269"/>
        </pc:sldMkLst>
        <pc:spChg chg="mod">
          <ac:chgData name="" userId="" providerId="" clId="Web-{6D300B81-73AD-4EDD-BE46-A020EC9F7D97}" dt="2026-09-20T16:09:54.683" v="6" actId="34807"/>
          <ac:spMkLst>
            <pc:docMk/>
            <pc:sldMk cId="0" sldId="269"/>
            <ac:spMk id="17" creationId="{00000000-0000-0000-0000-000000000000}"/>
          </ac:spMkLst>
        </pc:spChg>
      </pc:sldChg>
      <pc:sldChg chg="modSp">
        <pc:chgData name="" userId="" providerId="" clId="Web-{6D300B81-73AD-4EDD-BE46-A020EC9F7D97}" dt="2026-09-20T16:09:54.683" v="6" actId="34807"/>
        <pc:sldMkLst>
          <pc:docMk/>
          <pc:sldMk cId="0" sldId="270"/>
        </pc:sldMkLst>
        <pc:spChg chg="mod">
          <ac:chgData name="" userId="" providerId="" clId="Web-{6D300B81-73AD-4EDD-BE46-A020EC9F7D97}" dt="2026-09-20T16:09:54.683" v="6" actId="34807"/>
          <ac:spMkLst>
            <pc:docMk/>
            <pc:sldMk cId="0" sldId="270"/>
            <ac:spMk id="25" creationId="{00000000-0000-0000-0000-000000000000}"/>
          </ac:spMkLst>
        </pc:spChg>
      </pc:sldChg>
      <pc:sldChg chg="addSp delSp modSp">
        <pc:chgData name="" userId="" providerId="" clId="Web-{6D300B81-73AD-4EDD-BE46-A020EC9F7D97}" dt="2026-09-20T16:10:46.935" v="9" actId="34807"/>
        <pc:sldMkLst>
          <pc:docMk/>
          <pc:sldMk cId="0" sldId="271"/>
        </pc:sldMkLst>
        <pc:spChg chg="mod">
          <ac:chgData name="" userId="" providerId="" clId="Web-{6D300B81-73AD-4EDD-BE46-A020EC9F7D97}" dt="2026-09-20T16:07:21.177" v="5" actId="34807"/>
          <ac:spMkLst>
            <pc:docMk/>
            <pc:sldMk cId="0" sldId="271"/>
            <ac:spMk id="7" creationId="{00000000-0000-0000-0000-000000000000}"/>
          </ac:spMkLst>
        </pc:spChg>
        <pc:spChg chg="mod">
          <ac:chgData name="" userId="" providerId="" clId="Web-{6D300B81-73AD-4EDD-BE46-A020EC9F7D97}" dt="2026-09-20T16:07:21.177" v="5" actId="34807"/>
          <ac:spMkLst>
            <pc:docMk/>
            <pc:sldMk cId="0" sldId="271"/>
            <ac:spMk id="10" creationId="{00000000-0000-0000-0000-000000000000}"/>
          </ac:spMkLst>
        </pc:spChg>
        <pc:spChg chg="mod">
          <ac:chgData name="" userId="" providerId="" clId="Web-{6D300B81-73AD-4EDD-BE46-A020EC9F7D97}" dt="2026-09-20T16:07:21.177" v="5" actId="34807"/>
          <ac:spMkLst>
            <pc:docMk/>
            <pc:sldMk cId="0" sldId="271"/>
            <ac:spMk id="11" creationId="{00000000-0000-0000-0000-000000000000}"/>
          </ac:spMkLst>
        </pc:spChg>
        <pc:spChg chg="mod">
          <ac:chgData name="" userId="" providerId="" clId="Web-{6D300B81-73AD-4EDD-BE46-A020EC9F7D97}" dt="2026-09-20T16:07:21.177" v="5" actId="34807"/>
          <ac:spMkLst>
            <pc:docMk/>
            <pc:sldMk cId="0" sldId="271"/>
            <ac:spMk id="12" creationId="{00000000-0000-0000-0000-000000000000}"/>
          </ac:spMkLst>
        </pc:spChg>
        <pc:spChg chg="mod">
          <ac:chgData name="" userId="" providerId="" clId="Web-{6D300B81-73AD-4EDD-BE46-A020EC9F7D97}" dt="2026-09-20T16:07:21.177" v="5" actId="34807"/>
          <ac:spMkLst>
            <pc:docMk/>
            <pc:sldMk cId="0" sldId="271"/>
            <ac:spMk id="18" creationId="{00000000-0000-0000-0000-000000000000}"/>
          </ac:spMkLst>
        </pc:spChg>
        <pc:spChg chg="mod">
          <ac:chgData name="" userId="" providerId="" clId="Web-{6D300B81-73AD-4EDD-BE46-A020EC9F7D97}" dt="2026-09-20T16:07:21.177" v="5" actId="34807"/>
          <ac:spMkLst>
            <pc:docMk/>
            <pc:sldMk cId="0" sldId="271"/>
            <ac:spMk id="19" creationId="{00000000-0000-0000-0000-000000000000}"/>
          </ac:spMkLst>
        </pc:spChg>
        <pc:spChg chg="mod">
          <ac:chgData name="" userId="" providerId="" clId="Web-{6D300B81-73AD-4EDD-BE46-A020EC9F7D97}" dt="2026-09-20T16:07:21.177" v="5" actId="34807"/>
          <ac:spMkLst>
            <pc:docMk/>
            <pc:sldMk cId="0" sldId="271"/>
            <ac:spMk id="20" creationId="{00000000-0000-0000-0000-000000000000}"/>
          </ac:spMkLst>
        </pc:spChg>
        <pc:spChg chg="mod">
          <ac:chgData name="" userId="" providerId="" clId="Web-{6D300B81-73AD-4EDD-BE46-A020EC9F7D97}" dt="2026-09-20T16:07:21.177" v="5" actId="34807"/>
          <ac:spMkLst>
            <pc:docMk/>
            <pc:sldMk cId="0" sldId="271"/>
            <ac:spMk id="22" creationId="{00000000-0000-0000-0000-000000000000}"/>
          </ac:spMkLst>
        </pc:spChg>
        <pc:spChg chg="mod">
          <ac:chgData name="" userId="" providerId="" clId="Web-{6D300B81-73AD-4EDD-BE46-A020EC9F7D97}" dt="2026-09-20T16:07:21.177" v="5" actId="34807"/>
          <ac:spMkLst>
            <pc:docMk/>
            <pc:sldMk cId="0" sldId="271"/>
            <ac:spMk id="23" creationId="{00000000-0000-0000-0000-000000000000}"/>
          </ac:spMkLst>
        </pc:spChg>
        <pc:spChg chg="mod">
          <ac:chgData name="" userId="" providerId="" clId="Web-{6D300B81-73AD-4EDD-BE46-A020EC9F7D97}" dt="2026-09-20T16:07:21.177" v="5" actId="34807"/>
          <ac:spMkLst>
            <pc:docMk/>
            <pc:sldMk cId="0" sldId="271"/>
            <ac:spMk id="24" creationId="{00000000-0000-0000-0000-000000000000}"/>
          </ac:spMkLst>
        </pc:spChg>
        <pc:spChg chg="mod">
          <ac:chgData name="" userId="" providerId="" clId="Web-{6D300B81-73AD-4EDD-BE46-A020EC9F7D97}" dt="2026-09-20T16:09:54.683" v="6" actId="34807"/>
          <ac:spMkLst>
            <pc:docMk/>
            <pc:sldMk cId="0" sldId="271"/>
            <ac:spMk id="27" creationId="{00000000-0000-0000-0000-000000000000}"/>
          </ac:spMkLst>
        </pc:spChg>
        <pc:spChg chg="add mod">
          <ac:chgData name="" userId="" providerId="" clId="Web-{6D300B81-73AD-4EDD-BE46-A020EC9F7D97}" dt="2026-09-20T16:09:54.683" v="6" actId="34807"/>
          <ac:spMkLst>
            <pc:docMk/>
            <pc:sldMk cId="0" sldId="271"/>
            <ac:spMk id="1073" creationId="{5C640153-2E02-FFF6-C267-0CFF3985ECA9}"/>
          </ac:spMkLst>
        </pc:spChg>
        <pc:spChg chg="add del mod">
          <ac:chgData name="" userId="" providerId="" clId="Web-{6D300B81-73AD-4EDD-BE46-A020EC9F7D97}" dt="2026-09-20T16:10:46.935" v="9" actId="34807"/>
          <ac:spMkLst>
            <pc:docMk/>
            <pc:sldMk cId="0" sldId="271"/>
            <ac:spMk id="1075" creationId="{68067235-0697-7EAA-A3F0-5790B16D0AD4}"/>
          </ac:spMkLst>
        </pc:spChg>
        <pc:spChg chg="add mod">
          <ac:chgData name="" userId="" providerId="" clId="Web-{6D300B81-73AD-4EDD-BE46-A020EC9F7D97}" dt="2026-09-20T16:10:46.357" v="8" actId="34807"/>
          <ac:spMkLst>
            <pc:docMk/>
            <pc:sldMk cId="0" sldId="271"/>
            <ac:spMk id="1076" creationId="{E27C2594-579A-A4EA-4424-C9C06E768138}"/>
          </ac:spMkLst>
        </pc:spChg>
      </pc:sldChg>
      <pc:sldChg chg="addSp modSp add modNotesTx">
        <pc:chgData name="" userId="" providerId="" clId="Web-{6D300B81-73AD-4EDD-BE46-A020EC9F7D97}" dt="2026-09-20T16:09:55.855" v="7" actId="34807"/>
        <pc:sldMkLst>
          <pc:docMk/>
          <pc:sldMk cId="3730076630" sldId="472"/>
        </pc:sldMkLst>
        <pc:spChg chg="add mod">
          <ac:chgData name="" userId="" providerId="" clId="Web-{6D300B81-73AD-4EDD-BE46-A020EC9F7D97}" dt="2026-09-20T16:09:54.683" v="6" actId="34807"/>
          <ac:spMkLst>
            <pc:docMk/>
            <pc:sldMk cId="3730076630" sldId="472"/>
            <ac:spMk id="40" creationId="{013B9802-44C4-2918-3CA7-5B19ABFE907A}"/>
          </ac:spMkLst>
        </pc:spChg>
        <pc:spChg chg="add mod">
          <ac:chgData name="" userId="" providerId="" clId="Web-{6D300B81-73AD-4EDD-BE46-A020EC9F7D97}" dt="2026-09-20T16:05:48.595" v="1" actId="34807"/>
          <ac:spMkLst>
            <pc:docMk/>
            <pc:sldMk cId="3730076630" sldId="472"/>
            <ac:spMk id="43" creationId="{084AA91B-EE93-4ED2-E5BF-347EBBEB0A05}"/>
          </ac:spMkLst>
        </pc:spChg>
        <pc:spChg chg="add mod">
          <ac:chgData name="" userId="" providerId="" clId="Web-{6D300B81-73AD-4EDD-BE46-A020EC9F7D97}" dt="2026-09-20T16:09:54.683" v="6" actId="34807"/>
          <ac:spMkLst>
            <pc:docMk/>
            <pc:sldMk cId="3730076630" sldId="472"/>
            <ac:spMk id="47" creationId="{9428FA0D-ED41-6F77-A2C2-6D6FC741B9F4}"/>
          </ac:spMkLst>
        </pc:spChg>
        <pc:spChg chg="mod">
          <ac:chgData name="" userId="" providerId="" clId="Web-{6D300B81-73AD-4EDD-BE46-A020EC9F7D97}" dt="2026-09-20T16:09:55.855" v="7" actId="34807"/>
          <ac:spMkLst>
            <pc:docMk/>
            <pc:sldMk cId="3730076630" sldId="472"/>
            <ac:spMk id="65" creationId="{FCF87F15-BCA7-5E92-5365-BEB52408BF61}"/>
          </ac:spMkLst>
        </pc:spChg>
        <pc:spChg chg="add mod">
          <ac:chgData name="" userId="" providerId="" clId="Web-{6D300B81-73AD-4EDD-BE46-A020EC9F7D97}" dt="2026-09-20T16:05:48.595" v="1" actId="34807"/>
          <ac:spMkLst>
            <pc:docMk/>
            <pc:sldMk cId="3730076630" sldId="472"/>
            <ac:spMk id="82" creationId="{50E93A9D-E484-6DB8-C565-27812FDE7139}"/>
          </ac:spMkLst>
        </pc:spChg>
        <pc:spChg chg="mod">
          <ac:chgData name="" userId="" providerId="" clId="Web-{6D300B81-73AD-4EDD-BE46-A020EC9F7D97}" dt="2026-09-20T16:05:49.845" v="3" actId="34807"/>
          <ac:spMkLst>
            <pc:docMk/>
            <pc:sldMk cId="3730076630" sldId="472"/>
            <ac:spMk id="103" creationId="{A14A0D52-391C-9AC4-2916-FD8C6D6C638F}"/>
          </ac:spMkLst>
        </pc:spChg>
        <pc:spChg chg="add mod">
          <ac:chgData name="" userId="" providerId="" clId="Web-{6D300B81-73AD-4EDD-BE46-A020EC9F7D97}" dt="2026-09-20T16:05:48.595" v="1" actId="34807"/>
          <ac:spMkLst>
            <pc:docMk/>
            <pc:sldMk cId="3730076630" sldId="472"/>
            <ac:spMk id="115" creationId="{4A8F2FC5-AF35-CEC1-C3D6-8B1F583C815F}"/>
          </ac:spMkLst>
        </pc:spChg>
        <pc:spChg chg="add mod">
          <ac:chgData name="" userId="" providerId="" clId="Web-{6D300B81-73AD-4EDD-BE46-A020EC9F7D97}" dt="2026-09-20T16:09:54.683" v="6" actId="34807"/>
          <ac:spMkLst>
            <pc:docMk/>
            <pc:sldMk cId="3730076630" sldId="472"/>
            <ac:spMk id="157" creationId="{1B7890AF-BA73-E680-B636-5ED63DB38D33}"/>
          </ac:spMkLst>
        </pc:spChg>
        <pc:spChg chg="add mod">
          <ac:chgData name="" userId="" providerId="" clId="Web-{6D300B81-73AD-4EDD-BE46-A020EC9F7D97}" dt="2026-09-20T16:05:48.595" v="1" actId="34807"/>
          <ac:spMkLst>
            <pc:docMk/>
            <pc:sldMk cId="3730076630" sldId="472"/>
            <ac:spMk id="190" creationId="{086DABDD-9597-1C2E-4B63-871580B41825}"/>
          </ac:spMkLst>
        </pc:spChg>
        <pc:spChg chg="mod">
          <ac:chgData name="" userId="" providerId="" clId="Web-{6D300B81-73AD-4EDD-BE46-A020EC9F7D97}" dt="2026-09-20T16:05:49.845" v="3" actId="34807"/>
          <ac:spMkLst>
            <pc:docMk/>
            <pc:sldMk cId="3730076630" sldId="472"/>
            <ac:spMk id="208" creationId="{D81A8F79-44E1-E915-A5CB-74A28449A838}"/>
          </ac:spMkLst>
        </pc:spChg>
        <pc:spChg chg="mod">
          <ac:chgData name="" userId="" providerId="" clId="Web-{6D300B81-73AD-4EDD-BE46-A020EC9F7D97}" dt="2026-09-20T16:05:49.845" v="3" actId="34807"/>
          <ac:spMkLst>
            <pc:docMk/>
            <pc:sldMk cId="3730076630" sldId="472"/>
            <ac:spMk id="227" creationId="{84C1E921-8B72-1AA4-A4DA-625EEF484A89}"/>
          </ac:spMkLst>
        </pc:spChg>
        <pc:spChg chg="add mod">
          <ac:chgData name="" userId="" providerId="" clId="Web-{6D300B81-73AD-4EDD-BE46-A020EC9F7D97}" dt="2026-09-20T16:05:48.595" v="1" actId="34807"/>
          <ac:spMkLst>
            <pc:docMk/>
            <pc:sldMk cId="3730076630" sldId="472"/>
            <ac:spMk id="247" creationId="{390CE8E2-24C8-9B55-BDD0-ACC3C002FA7E}"/>
          </ac:spMkLst>
        </pc:spChg>
        <pc:spChg chg="mod">
          <ac:chgData name="" userId="" providerId="" clId="Web-{6D300B81-73AD-4EDD-BE46-A020EC9F7D97}" dt="2026-09-20T16:09:54.683" v="6" actId="34807"/>
          <ac:spMkLst>
            <pc:docMk/>
            <pc:sldMk cId="3730076630" sldId="472"/>
            <ac:spMk id="313" creationId="{EA4DA205-1D29-6D41-2F96-7091DD377989}"/>
          </ac:spMkLst>
        </pc:spChg>
        <pc:spChg chg="add mod">
          <ac:chgData name="" userId="" providerId="" clId="Web-{6D300B81-73AD-4EDD-BE46-A020EC9F7D97}" dt="2026-09-20T16:05:48.595" v="1" actId="34807"/>
          <ac:spMkLst>
            <pc:docMk/>
            <pc:sldMk cId="3730076630" sldId="472"/>
            <ac:spMk id="362" creationId="{0A5A50BB-9277-F681-63E6-F2BEFA044631}"/>
          </ac:spMkLst>
        </pc:spChg>
        <pc:spChg chg="mod">
          <ac:chgData name="" userId="" providerId="" clId="Web-{6D300B81-73AD-4EDD-BE46-A020EC9F7D97}" dt="2026-09-20T16:05:49.845" v="3" actId="34807"/>
          <ac:spMkLst>
            <pc:docMk/>
            <pc:sldMk cId="3730076630" sldId="472"/>
            <ac:spMk id="415" creationId="{B8841ECB-90B7-7377-E001-6035589195C7}"/>
          </ac:spMkLst>
        </pc:spChg>
        <pc:spChg chg="mod">
          <ac:chgData name="" userId="" providerId="" clId="Web-{6D300B81-73AD-4EDD-BE46-A020EC9F7D97}" dt="2026-09-20T16:09:55.855" v="7" actId="34807"/>
          <ac:spMkLst>
            <pc:docMk/>
            <pc:sldMk cId="3730076630" sldId="472"/>
            <ac:spMk id="502" creationId="{59A767FA-095B-173E-BB8A-5CAF7BC72D1B}"/>
          </ac:spMkLst>
        </pc:spChg>
        <pc:spChg chg="mod">
          <ac:chgData name="" userId="" providerId="" clId="Web-{6D300B81-73AD-4EDD-BE46-A020EC9F7D97}" dt="2026-09-20T16:09:55.855" v="7" actId="34807"/>
          <ac:spMkLst>
            <pc:docMk/>
            <pc:sldMk cId="3730076630" sldId="472"/>
            <ac:spMk id="533" creationId="{43D5CC80-B687-CC88-50AE-00F9E6A21E86}"/>
          </ac:spMkLst>
        </pc:spChg>
        <pc:spChg chg="mod">
          <ac:chgData name="" userId="" providerId="" clId="Web-{6D300B81-73AD-4EDD-BE46-A020EC9F7D97}" dt="2026-09-20T16:09:54.683" v="6" actId="34807"/>
          <ac:spMkLst>
            <pc:docMk/>
            <pc:sldMk cId="3730076630" sldId="472"/>
            <ac:spMk id="632" creationId="{44B73183-5547-2953-EE82-E9703C0F4E71}"/>
          </ac:spMkLst>
        </pc:spChg>
        <pc:spChg chg="mod">
          <ac:chgData name="" userId="" providerId="" clId="Web-{6D300B81-73AD-4EDD-BE46-A020EC9F7D97}" dt="2026-09-20T16:09:54.683" v="6" actId="34807"/>
          <ac:spMkLst>
            <pc:docMk/>
            <pc:sldMk cId="3730076630" sldId="472"/>
            <ac:spMk id="667" creationId="{7DE80EA8-FFAF-9096-9586-EA0C9F7D20B5}"/>
          </ac:spMkLst>
        </pc:spChg>
        <pc:spChg chg="mod">
          <ac:chgData name="" userId="" providerId="" clId="Web-{6D300B81-73AD-4EDD-BE46-A020EC9F7D97}" dt="2026-09-20T16:09:55.855" v="7" actId="34807"/>
          <ac:spMkLst>
            <pc:docMk/>
            <pc:sldMk cId="3730076630" sldId="472"/>
            <ac:spMk id="740" creationId="{BF29160B-3AB0-6659-D3D4-C49FB7BDDEA8}"/>
          </ac:spMkLst>
        </pc:spChg>
        <pc:spChg chg="mod">
          <ac:chgData name="" userId="" providerId="" clId="Web-{6D300B81-73AD-4EDD-BE46-A020EC9F7D97}" dt="2026-09-20T16:09:55.855" v="7" actId="34807"/>
          <ac:spMkLst>
            <pc:docMk/>
            <pc:sldMk cId="3730076630" sldId="472"/>
            <ac:spMk id="940" creationId="{86850CE5-AD57-CDB2-57BB-23B6748F4D85}"/>
          </ac:spMkLst>
        </pc:spChg>
        <pc:spChg chg="add mod">
          <ac:chgData name="" userId="" providerId="" clId="Web-{6D300B81-73AD-4EDD-BE46-A020EC9F7D97}" dt="2026-09-20T16:09:54.683" v="6" actId="34807"/>
          <ac:spMkLst>
            <pc:docMk/>
            <pc:sldMk cId="3730076630" sldId="472"/>
            <ac:spMk id="1072" creationId="{2F060C97-3484-B498-26A8-CF33F57E7E6D}"/>
          </ac:spMkLst>
        </pc:spChg>
      </pc:sldChg>
    </pc:docChg>
  </pc:docChgLst>
  <pc:docChgLst>
    <pc:chgData clId="Web-{5F1EB062-2B63-4DDD-B94C-E34F2E6035BD}"/>
    <pc:docChg chg="modSld">
      <pc:chgData name="" userId="" providerId="" clId="Web-{5F1EB062-2B63-4DDD-B94C-E34F2E6035BD}" dt="2026-09-20T20:37:39.709" v="6" actId="34807"/>
      <pc:docMkLst>
        <pc:docMk/>
      </pc:docMkLst>
      <pc:sldChg chg="addSp delSp modSp">
        <pc:chgData name="" userId="" providerId="" clId="Web-{5F1EB062-2B63-4DDD-B94C-E34F2E6035BD}" dt="2026-09-20T20:37:39.709" v="6" actId="34807"/>
        <pc:sldMkLst>
          <pc:docMk/>
          <pc:sldMk cId="0" sldId="269"/>
        </pc:sldMkLst>
        <pc:spChg chg="del">
          <ac:chgData name="" userId="" providerId="" clId="Web-{5F1EB062-2B63-4DDD-B94C-E34F2E6035BD}" dt="2026-09-20T20:35:38.173" v="1" actId="34807"/>
          <ac:spMkLst>
            <pc:docMk/>
            <pc:sldMk cId="0" sldId="269"/>
            <ac:spMk id="7" creationId="{00000000-0000-0000-0000-000000000000}"/>
          </ac:spMkLst>
        </pc:spChg>
        <pc:spChg chg="add del mod">
          <ac:chgData name="" userId="" providerId="" clId="Web-{5F1EB062-2B63-4DDD-B94C-E34F2E6035BD}" dt="2026-09-20T20:36:58.661" v="4" actId="34807"/>
          <ac:spMkLst>
            <pc:docMk/>
            <pc:sldMk cId="0" sldId="269"/>
            <ac:spMk id="1623" creationId="{5292860B-75D7-6BAE-F1C6-2899AD975186}"/>
          </ac:spMkLst>
        </pc:spChg>
        <pc:spChg chg="add mod">
          <ac:chgData name="" userId="" providerId="" clId="Web-{5F1EB062-2B63-4DDD-B94C-E34F2E6035BD}" dt="2026-09-20T20:37:39.709" v="6" actId="34807"/>
          <ac:spMkLst>
            <pc:docMk/>
            <pc:sldMk cId="0" sldId="269"/>
            <ac:spMk id="1624" creationId="{6F39FF98-BF74-65D2-5814-3F2643587679}"/>
          </ac:spMkLst>
        </pc:spChg>
        <pc:spChg chg="add mod">
          <ac:chgData name="" userId="" providerId="" clId="Web-{5F1EB062-2B63-4DDD-B94C-E34F2E6035BD}" dt="2026-09-20T20:36:57.614" v="3" actId="34807"/>
          <ac:spMkLst>
            <pc:docMk/>
            <pc:sldMk cId="0" sldId="269"/>
            <ac:spMk id="1626" creationId="{4EE4EF71-8DD0-DE7A-1030-665BE2180BA0}"/>
          </ac:spMkLst>
        </pc:spChg>
        <pc:spChg chg="add mod">
          <ac:chgData name="" userId="" providerId="" clId="Web-{5F1EB062-2B63-4DDD-B94C-E34F2E6035BD}" dt="2026-09-20T20:37:39.709" v="6" actId="34807"/>
          <ac:spMkLst>
            <pc:docMk/>
            <pc:sldMk cId="0" sldId="269"/>
            <ac:spMk id="1629" creationId="{2BA5662F-5B76-DCB0-DE25-BD137ABD9A4A}"/>
          </ac:spMkLst>
        </pc:spChg>
        <pc:spChg chg="add mod">
          <ac:chgData name="" userId="" providerId="" clId="Web-{5F1EB062-2B63-4DDD-B94C-E34F2E6035BD}" dt="2026-09-20T20:36:57.614" v="3" actId="34807"/>
          <ac:spMkLst>
            <pc:docMk/>
            <pc:sldMk cId="0" sldId="269"/>
            <ac:spMk id="1633" creationId="{DEBDE608-8BFC-480B-3828-9327367230B9}"/>
          </ac:spMkLst>
        </pc:spChg>
        <pc:spChg chg="add mod">
          <ac:chgData name="" userId="" providerId="" clId="Web-{5F1EB062-2B63-4DDD-B94C-E34F2E6035BD}" dt="2026-09-20T20:37:39.709" v="6" actId="34807"/>
          <ac:spMkLst>
            <pc:docMk/>
            <pc:sldMk cId="0" sldId="269"/>
            <ac:spMk id="1638" creationId="{9290B98F-C2EF-C76F-670B-D827B6E2B0D5}"/>
          </ac:spMkLst>
        </pc:spChg>
        <pc:spChg chg="add mod">
          <ac:chgData name="" userId="" providerId="" clId="Web-{5F1EB062-2B63-4DDD-B94C-E34F2E6035BD}" dt="2026-09-20T20:36:57.614" v="3" actId="34807"/>
          <ac:spMkLst>
            <pc:docMk/>
            <pc:sldMk cId="0" sldId="269"/>
            <ac:spMk id="1644" creationId="{B21303DF-A3BE-F54C-35A4-4BB44915D9EC}"/>
          </ac:spMkLst>
        </pc:spChg>
        <pc:spChg chg="add mod">
          <ac:chgData name="" userId="" providerId="" clId="Web-{5F1EB062-2B63-4DDD-B94C-E34F2E6035BD}" dt="2026-09-20T20:37:39.709" v="6" actId="34807"/>
          <ac:spMkLst>
            <pc:docMk/>
            <pc:sldMk cId="0" sldId="269"/>
            <ac:spMk id="1651" creationId="{8D12C84F-5BEA-3F93-F492-7431DE9454C4}"/>
          </ac:spMkLst>
        </pc:spChg>
        <pc:spChg chg="add mod">
          <ac:chgData name="" userId="" providerId="" clId="Web-{5F1EB062-2B63-4DDD-B94C-E34F2E6035BD}" dt="2026-09-20T20:36:57.614" v="3" actId="34807"/>
          <ac:spMkLst>
            <pc:docMk/>
            <pc:sldMk cId="0" sldId="269"/>
            <ac:spMk id="1659" creationId="{ECF1C625-12B2-E34D-A067-737BF51110EE}"/>
          </ac:spMkLst>
        </pc:spChg>
        <pc:spChg chg="add mod">
          <ac:chgData name="" userId="" providerId="" clId="Web-{5F1EB062-2B63-4DDD-B94C-E34F2E6035BD}" dt="2026-09-20T20:37:39.709" v="6" actId="34807"/>
          <ac:spMkLst>
            <pc:docMk/>
            <pc:sldMk cId="0" sldId="269"/>
            <ac:spMk id="1668" creationId="{8EC1EC64-7189-9F39-139A-1EAA64DD272A}"/>
          </ac:spMkLst>
        </pc:spChg>
        <pc:spChg chg="add mod">
          <ac:chgData name="" userId="" providerId="" clId="Web-{5F1EB062-2B63-4DDD-B94C-E34F2E6035BD}" dt="2026-09-20T20:36:57.614" v="3" actId="34807"/>
          <ac:spMkLst>
            <pc:docMk/>
            <pc:sldMk cId="0" sldId="269"/>
            <ac:spMk id="1678" creationId="{E01F72F7-D12B-9039-8F93-E7F3AB3240F8}"/>
          </ac:spMkLst>
        </pc:spChg>
      </pc:sldChg>
    </pc:docChg>
  </pc:docChgLst>
  <pc:docChgLst>
    <pc:chgData clId="Web-{F7D4E024-D423-40E9-8654-93F598370B35}"/>
    <pc:docChg chg="modSld">
      <pc:chgData name="" userId="" providerId="" clId="Web-{F7D4E024-D423-40E9-8654-93F598370B35}" dt="2026-09-20T20:29:40.277" v="3" actId="34807"/>
      <pc:docMkLst>
        <pc:docMk/>
      </pc:docMkLst>
      <pc:sldChg chg="addSp modSp">
        <pc:chgData name="" userId="" providerId="" clId="Web-{F7D4E024-D423-40E9-8654-93F598370B35}" dt="2026-09-20T20:29:40.277" v="3" actId="34807"/>
        <pc:sldMkLst>
          <pc:docMk/>
          <pc:sldMk cId="0" sldId="265"/>
        </pc:sldMkLst>
        <pc:spChg chg="mod">
          <ac:chgData name="" userId="" providerId="" clId="Web-{F7D4E024-D423-40E9-8654-93F598370B35}" dt="2026-09-20T20:28:43.322" v="2" actId="34807"/>
          <ac:spMkLst>
            <pc:docMk/>
            <pc:sldMk cId="0" sldId="265"/>
            <ac:spMk id="5" creationId="{00000000-0000-0000-0000-000000000000}"/>
          </ac:spMkLst>
        </pc:spChg>
        <pc:spChg chg="mod">
          <ac:chgData name="" userId="" providerId="" clId="Web-{F7D4E024-D423-40E9-8654-93F598370B35}" dt="2026-09-20T20:28:43.322" v="2" actId="34807"/>
          <ac:spMkLst>
            <pc:docMk/>
            <pc:sldMk cId="0" sldId="265"/>
            <ac:spMk id="7" creationId="{00000000-0000-0000-0000-000000000000}"/>
          </ac:spMkLst>
        </pc:spChg>
        <pc:spChg chg="mod">
          <ac:chgData name="" userId="" providerId="" clId="Web-{F7D4E024-D423-40E9-8654-93F598370B35}" dt="2026-09-20T20:28:43.322" v="2" actId="34807"/>
          <ac:spMkLst>
            <pc:docMk/>
            <pc:sldMk cId="0" sldId="265"/>
            <ac:spMk id="8" creationId="{00000000-0000-0000-0000-000000000000}"/>
          </ac:spMkLst>
        </pc:spChg>
        <pc:spChg chg="mod">
          <ac:chgData name="" userId="" providerId="" clId="Web-{F7D4E024-D423-40E9-8654-93F598370B35}" dt="2026-09-20T20:28:43.322" v="2" actId="34807"/>
          <ac:spMkLst>
            <pc:docMk/>
            <pc:sldMk cId="0" sldId="265"/>
            <ac:spMk id="9" creationId="{00000000-0000-0000-0000-000000000000}"/>
          </ac:spMkLst>
        </pc:spChg>
        <pc:spChg chg="mod">
          <ac:chgData name="" userId="" providerId="" clId="Web-{F7D4E024-D423-40E9-8654-93F598370B35}" dt="2026-09-20T20:29:40.277" v="3" actId="34807"/>
          <ac:spMkLst>
            <pc:docMk/>
            <pc:sldMk cId="0" sldId="265"/>
            <ac:spMk id="10" creationId="{00000000-0000-0000-0000-000000000000}"/>
          </ac:spMkLst>
        </pc:spChg>
        <pc:spChg chg="mod">
          <ac:chgData name="" userId="" providerId="" clId="Web-{F7D4E024-D423-40E9-8654-93F598370B35}" dt="2026-09-20T20:28:43.322" v="2" actId="34807"/>
          <ac:spMkLst>
            <pc:docMk/>
            <pc:sldMk cId="0" sldId="265"/>
            <ac:spMk id="18" creationId="{00000000-0000-0000-0000-000000000000}"/>
          </ac:spMkLst>
        </pc:spChg>
        <pc:spChg chg="mod">
          <ac:chgData name="" userId="" providerId="" clId="Web-{F7D4E024-D423-40E9-8654-93F598370B35}" dt="2026-09-20T20:28:43.322" v="2" actId="34807"/>
          <ac:spMkLst>
            <pc:docMk/>
            <pc:sldMk cId="0" sldId="265"/>
            <ac:spMk id="21" creationId="{00000000-0000-0000-0000-000000000000}"/>
          </ac:spMkLst>
        </pc:spChg>
        <pc:spChg chg="mod">
          <ac:chgData name="" userId="" providerId="" clId="Web-{F7D4E024-D423-40E9-8654-93F598370B35}" dt="2026-09-20T20:29:40.277" v="3" actId="34807"/>
          <ac:spMkLst>
            <pc:docMk/>
            <pc:sldMk cId="0" sldId="265"/>
            <ac:spMk id="22" creationId="{00000000-0000-0000-0000-000000000000}"/>
          </ac:spMkLst>
        </pc:spChg>
        <pc:spChg chg="add mod">
          <ac:chgData name="" userId="" providerId="" clId="Web-{F7D4E024-D423-40E9-8654-93F598370B35}" dt="2026-09-20T20:28:43.322" v="2" actId="34807"/>
          <ac:spMkLst>
            <pc:docMk/>
            <pc:sldMk cId="0" sldId="265"/>
            <ac:spMk id="26" creationId="{EB511D49-5FB6-5323-3147-D618E5EBF167}"/>
          </ac:spMkLst>
        </pc:spChg>
        <pc:spChg chg="add mod">
          <ac:chgData name="" userId="" providerId="" clId="Web-{F7D4E024-D423-40E9-8654-93F598370B35}" dt="2026-09-20T20:28:20.806" v="0" actId="34807"/>
          <ac:spMkLst>
            <pc:docMk/>
            <pc:sldMk cId="0" sldId="265"/>
            <ac:spMk id="27" creationId="{43636809-9B04-C719-1E48-63A46A4DC356}"/>
          </ac:spMkLst>
        </pc:spChg>
        <pc:spChg chg="add mod">
          <ac:chgData name="" userId="" providerId="" clId="Web-{F7D4E024-D423-40E9-8654-93F598370B35}" dt="2026-09-20T20:28:20.806" v="0" actId="34807"/>
          <ac:spMkLst>
            <pc:docMk/>
            <pc:sldMk cId="0" sldId="265"/>
            <ac:spMk id="28" creationId="{0C2BA6FB-E31B-61FA-4E83-9054CCF7AE0C}"/>
          </ac:spMkLst>
        </pc:spChg>
        <pc:spChg chg="add mod">
          <ac:chgData name="" userId="" providerId="" clId="Web-{F7D4E024-D423-40E9-8654-93F598370B35}" dt="2026-09-20T20:28:43.322" v="2" actId="34807"/>
          <ac:spMkLst>
            <pc:docMk/>
            <pc:sldMk cId="0" sldId="265"/>
            <ac:spMk id="29" creationId="{7F5D17B5-B462-54F2-B043-337F9DCF99B2}"/>
          </ac:spMkLst>
        </pc:spChg>
        <pc:spChg chg="add mod">
          <ac:chgData name="" userId="" providerId="" clId="Web-{F7D4E024-D423-40E9-8654-93F598370B35}" dt="2026-09-20T20:28:20.806" v="0" actId="34807"/>
          <ac:spMkLst>
            <pc:docMk/>
            <pc:sldMk cId="0" sldId="265"/>
            <ac:spMk id="30" creationId="{F687592C-E2F0-ADBA-2F31-95BB59779D97}"/>
          </ac:spMkLst>
        </pc:spChg>
        <pc:spChg chg="add mod">
          <ac:chgData name="" userId="" providerId="" clId="Web-{F7D4E024-D423-40E9-8654-93F598370B35}" dt="2026-09-20T20:28:43.322" v="2" actId="34807"/>
          <ac:spMkLst>
            <pc:docMk/>
            <pc:sldMk cId="0" sldId="265"/>
            <ac:spMk id="31" creationId="{502BAC56-D6D5-B877-9BAC-38BE893AFC38}"/>
          </ac:spMkLst>
        </pc:spChg>
      </pc:sldChg>
      <pc:sldChg chg="modSp">
        <pc:chgData name="" userId="" providerId="" clId="Web-{F7D4E024-D423-40E9-8654-93F598370B35}" dt="2026-09-20T20:28:43.322" v="2" actId="34807"/>
        <pc:sldMkLst>
          <pc:docMk/>
          <pc:sldMk cId="0" sldId="269"/>
        </pc:sldMkLst>
        <pc:spChg chg="mod">
          <ac:chgData name="" userId="" providerId="" clId="Web-{F7D4E024-D423-40E9-8654-93F598370B35}" dt="2026-09-20T20:28:43.322" v="2" actId="34807"/>
          <ac:spMkLst>
            <pc:docMk/>
            <pc:sldMk cId="0" sldId="269"/>
            <ac:spMk id="7" creationId="{00000000-0000-0000-0000-000000000000}"/>
          </ac:spMkLst>
        </pc:spChg>
      </pc:sldChg>
      <pc:sldChg chg="modSp">
        <pc:chgData name="" userId="" providerId="" clId="Web-{F7D4E024-D423-40E9-8654-93F598370B35}" dt="2026-09-20T20:28:43.322" v="2" actId="34807"/>
        <pc:sldMkLst>
          <pc:docMk/>
          <pc:sldMk cId="0" sldId="270"/>
        </pc:sldMkLst>
        <pc:spChg chg="mod">
          <ac:chgData name="" userId="" providerId="" clId="Web-{F7D4E024-D423-40E9-8654-93F598370B35}" dt="2026-09-20T20:28:43.322" v="2" actId="34807"/>
          <ac:spMkLst>
            <pc:docMk/>
            <pc:sldMk cId="0" sldId="270"/>
            <ac:spMk id="8" creationId="{00000000-0000-0000-0000-000000000000}"/>
          </ac:spMkLst>
        </pc:spChg>
        <pc:spChg chg="mod">
          <ac:chgData name="" userId="" providerId="" clId="Web-{F7D4E024-D423-40E9-8654-93F598370B35}" dt="2026-09-20T20:28:43.322" v="2" actId="34807"/>
          <ac:spMkLst>
            <pc:docMk/>
            <pc:sldMk cId="0" sldId="270"/>
            <ac:spMk id="2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06874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a:t>Rubric evaluators (preview) score a response against custom, weighted criteria using an LLM as judge.
Each criterion has four fields: id (stable slug — echo it when you save a new version so identity is preserved), description (what the criterion measures), weight (relative importance), and always_applicable (when true the judge scores it every time and skips the relevance check — used for the general_quality criterion).
Auto-generation assigns exactly one criterion a weight of 8–10 (the most outcome-decisive dimension) and all others 1–6. Your own edits are not constrained by that heuristic.
Generate from a Foundry agent (pulls instructions for prompt agents, description for hosted agents), a pasted agent system prompt, or reference files. Add production traces from Application Insights on top of any of those to ground the rubric in real usage — traces cannot be used alone.
Judge model matters: gpt-5.x models are recommended; gpt-5.4-mini is called out as the best balance of performance and cost. gpt-4.1 and gpt-4o are only 'acceptable'.
Output: an overall 0–1 score, a pass/fail label, a reason, and per-dimension scores with their own reasons. Dimensions marked applicable:false are skipped and do not contribute.
Caveats: LLM-as-judge means model inference cost per evaluation call, and reliability can vary on very short responses. Validate on a small sample before scaling, then wire it into continuous evaluation in Monitor settings to catch production quality regressions.
Example rubric shown is the restaurant reservation agent from Microsoft Learn.</a:t>
            </a:r>
          </a:p>
        </p:txBody>
      </p:sp>
    </p:spTree>
    <p:extLst>
      <p:ext uri="{BB962C8B-B14F-4D97-AF65-F5344CB8AC3E}">
        <p14:creationId xmlns:p14="http://schemas.microsoft.com/office/powerpoint/2010/main" val="32882766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a:t>The ai-agent-evals GitHub Action runs offline evaluation of Foundry agents inside CI/CD, so problems surface before an update reaches production. You give it a dataset of test queries and a list of evaluators; it invokes the agents, runs the evaluations, and generates a summary report.
Four required inputs: azure-ai-project-endpoint (from the project Overview page in the Foundry portal), deployment-name (from Models + endpoints), data-path, and agent-ids in agent-name:version form. baseline-agent-id is optional — without it the first agent listed is the baseline.
Pass several agents comma-separated (my-agent:1,my-agent:2) and they are compared with statistical test results — that is how you A/B a prompt or model change.
The data file is JSON: name, evaluators (any evaluator from the Foundry catalog — look them up under Build &gt; Evaluations &gt; Evaluator catalog), and data (an array of query objects, automapped to evaluators). Optional keys: openai_graders, evaluator_parameters for thresholds, and data_mapping to override the automatic field mapping.
Evaluator categories available here: agent, RAG, risk and safety, general purpose, OpenAI-based graders, and custom evaluators.
Auth: Microsoft Entra ID is the recommended path, automated with the Azure Login action using OpenID Connect — federated credentials, no stored secrets. The workflow needs id-token: write permission.
Results appear in the run summary under Actions: scores per metric, confidence intervals, and for multiple agents a pairwise statistical comparison showing whether a difference is meaningful or just random variation.
Cost note worth saying out loud: the docs explicitly advise against running this on every commit.</a:t>
            </a:r>
          </a:p>
        </p:txBody>
      </p:sp>
    </p:spTree>
    <p:extLst>
      <p:ext uri="{BB962C8B-B14F-4D97-AF65-F5344CB8AC3E}">
        <p14:creationId xmlns:p14="http://schemas.microsoft.com/office/powerpoint/2010/main" val="6767773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r>
              <a:rPr lang="en-US"/>
              <a:t>The Azure DevOps extension does exactly what the GitHub Action does — offline evaluation of Foundry agents inside CI/CD — with the same inputs, the same dataset schema, and the same evaluator catalog. Only the plumbing differs.
Three differences worth calling out against the GitHub path:
1. There is an extra prerequisite — the AI Agent Evaluation extension must be installed in your Azure DevOps organization before the task is available.
2. Auth is an Azure Resource Manager service connection rather than OIDC federated credentials. Create the service connection in the project, then reference it with an AzureCLI@2 task before AIAgentEvaluation@2.
3. Results land in the pipeline summary rather than the Actions run summary.
Inputs are identical: azure-ai-project-endpoint, deployment-name, data-path and agent-ids are required; baseline-agent-id is optional and defaults to the first agent listed. Agent IDs use agent-name:version.
Because the dataset file is identical between the two, a team can move between GitHub and Azure DevOps without rewriting their evaluation assets — that is the point of showing both.
Same statistical story: confidence intervals on each metric, and a pairwise significance test when you pass more than one agent, so you can tell a real regression from noise.</a:t>
            </a:r>
          </a:p>
        </p:txBody>
      </p:sp>
    </p:spTree>
    <p:extLst>
      <p:ext uri="{BB962C8B-B14F-4D97-AF65-F5344CB8AC3E}">
        <p14:creationId xmlns:p14="http://schemas.microsoft.com/office/powerpoint/2010/main" val="30496060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8.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1280160"/>
            <a:ext cx="109728" cy="2377440"/>
          </a:xfrm>
          <a:prstGeom prst="rect">
            <a:avLst/>
          </a:prstGeom>
          <a:solidFill>
            <a:srgbClr val="0F6E73"/>
          </a:solidFill>
          <a:ln/>
        </p:spPr>
        <p:txBody>
          <a:bodyPr/>
          <a:lstStyle/>
          <a:p>
            <a:endParaRPr lang="en-US"/>
          </a:p>
        </p:txBody>
      </p:sp>
      <p:sp>
        <p:nvSpPr>
          <p:cNvPr id="3" name="Text 1"/>
          <p:cNvSpPr/>
          <p:nvPr/>
        </p:nvSpPr>
        <p:spPr>
          <a:xfrm>
            <a:off x="822960" y="1280160"/>
            <a:ext cx="7863840" cy="457200"/>
          </a:xfrm>
          <a:prstGeom prst="rect">
            <a:avLst/>
          </a:prstGeom>
          <a:noFill/>
          <a:ln/>
        </p:spPr>
        <p:txBody>
          <a:bodyPr wrap="square" lIns="0" tIns="0" rIns="0" bIns="0" rtlCol="0" anchor="ctr"/>
          <a:lstStyle/>
          <a:p>
            <a:pPr marL="0" indent="0">
              <a:buNone/>
            </a:pPr>
            <a:r>
              <a:rPr lang="en-US" sz="1400" b="1" kern="0" spc="600">
                <a:solidFill>
                  <a:srgbClr val="0F6E73"/>
                </a:solidFill>
                <a:latin typeface="Calibri" pitchFamily="34" charset="0"/>
                <a:ea typeface="Calibri" pitchFamily="34" charset="-122"/>
                <a:cs typeface="Calibri" pitchFamily="34" charset="-120"/>
              </a:rPr>
              <a:t>AI EVALUATIONS</a:t>
            </a:r>
            <a:endParaRPr lang="en-US" sz="1400"/>
          </a:p>
        </p:txBody>
      </p:sp>
      <p:sp>
        <p:nvSpPr>
          <p:cNvPr id="4" name="Text 2"/>
          <p:cNvSpPr/>
          <p:nvPr/>
        </p:nvSpPr>
        <p:spPr>
          <a:xfrm>
            <a:off x="822960" y="1783080"/>
            <a:ext cx="7863840" cy="1280160"/>
          </a:xfrm>
          <a:prstGeom prst="rect">
            <a:avLst/>
          </a:prstGeom>
          <a:noFill/>
          <a:ln/>
        </p:spPr>
        <p:txBody>
          <a:bodyPr wrap="square" lIns="0" tIns="0" rIns="0" bIns="0" rtlCol="0" anchor="ctr"/>
          <a:lstStyle/>
          <a:p>
            <a:pPr marL="0" indent="0">
              <a:buNone/>
            </a:pPr>
            <a:r>
              <a:rPr lang="en-US" sz="3400" b="1">
                <a:solidFill>
                  <a:srgbClr val="1F2933"/>
                </a:solidFill>
                <a:latin typeface="Calibri" pitchFamily="34" charset="0"/>
                <a:ea typeface="Calibri" pitchFamily="34" charset="-122"/>
                <a:cs typeface="Calibri" pitchFamily="34" charset="-120"/>
              </a:rPr>
              <a:t>Measuring quality, safety, and task completion in agentic systems</a:t>
            </a:r>
            <a:endParaRPr lang="en-US" sz="3400"/>
          </a:p>
        </p:txBody>
      </p:sp>
      <p:sp>
        <p:nvSpPr>
          <p:cNvPr id="5" name="Text 3"/>
          <p:cNvSpPr/>
          <p:nvPr/>
        </p:nvSpPr>
        <p:spPr>
          <a:xfrm>
            <a:off x="822960" y="3108960"/>
            <a:ext cx="7863840" cy="457200"/>
          </a:xfrm>
          <a:prstGeom prst="rect">
            <a:avLst/>
          </a:prstGeom>
          <a:noFill/>
          <a:ln/>
        </p:spPr>
        <p:txBody>
          <a:bodyPr wrap="square" lIns="0" tIns="0" rIns="0" bIns="0" rtlCol="0" anchor="ctr"/>
          <a:lstStyle/>
          <a:p>
            <a:pPr marL="0" indent="0">
              <a:buNone/>
            </a:pPr>
            <a:r>
              <a:rPr lang="en-US" sz="1600">
                <a:solidFill>
                  <a:srgbClr val="52606D"/>
                </a:solidFill>
                <a:latin typeface="Calibri" pitchFamily="34" charset="0"/>
                <a:ea typeface="Calibri" pitchFamily="34" charset="-122"/>
                <a:cs typeface="Calibri" pitchFamily="34" charset="-120"/>
              </a:rPr>
              <a:t>A developer's reference for Microsoft Agent Framework + Foundry evaluators</a:t>
            </a:r>
            <a:endParaRPr lang="en-US" sz="1600"/>
          </a:p>
        </p:txBody>
      </p:sp>
      <p:sp>
        <p:nvSpPr>
          <p:cNvPr id="6" name="Text 4"/>
          <p:cNvSpPr/>
          <p:nvPr/>
        </p:nvSpPr>
        <p:spPr>
          <a:xfrm>
            <a:off x="457200" y="4686300"/>
            <a:ext cx="8229600" cy="274320"/>
          </a:xfrm>
          <a:prstGeom prst="rect">
            <a:avLst/>
          </a:prstGeom>
          <a:noFill/>
          <a:ln/>
        </p:spPr>
        <p:txBody>
          <a:bodyPr wrap="square" lIns="0" tIns="0" rIns="0" bIns="0" rtlCol="0" anchor="ctr"/>
          <a:lstStyle/>
          <a:p>
            <a:pPr marL="0" indent="0">
              <a:buNone/>
            </a:pPr>
            <a:r>
              <a:rPr lang="en-US" sz="1000">
                <a:solidFill>
                  <a:srgbClr val="52606D"/>
                </a:solidFill>
                <a:latin typeface="Calibri" pitchFamily="34" charset="0"/>
                <a:ea typeface="Calibri" pitchFamily="34" charset="-122"/>
                <a:cs typeface="Calibri" pitchFamily="34" charset="-120"/>
              </a:rPr>
              <a:t>Microsoft Foundry  ·  Built-in, custom &amp; rubric evaluators</a:t>
            </a:r>
            <a:endParaRPr lang="en-US" sz="10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marL="0" indent="0">
              <a:buNone/>
            </a:pPr>
            <a:r>
              <a:rPr lang="en-US" sz="1000" b="1" kern="0" spc="400">
                <a:solidFill>
                  <a:srgbClr val="0F6E73"/>
                </a:solidFill>
                <a:latin typeface="Calibri" pitchFamily="34" charset="0"/>
                <a:ea typeface="Calibri" pitchFamily="34" charset="-122"/>
                <a:cs typeface="Calibri" pitchFamily="34" charset="-120"/>
              </a:rPr>
              <a:t>THE PROBLEM</a:t>
            </a:r>
            <a:endParaRPr lang="en-US" sz="1000"/>
          </a:p>
        </p:txBody>
      </p:sp>
      <p:sp>
        <p:nvSpPr>
          <p:cNvPr id="3" name="Text 1"/>
          <p:cNvSpPr/>
          <p:nvPr/>
        </p:nvSpPr>
        <p:spPr>
          <a:xfrm>
            <a:off x="457200" y="566928"/>
            <a:ext cx="8229600" cy="640080"/>
          </a:xfrm>
          <a:prstGeom prst="rect">
            <a:avLst/>
          </a:prstGeom>
          <a:noFill/>
          <a:ln/>
        </p:spPr>
        <p:txBody>
          <a:bodyPr wrap="square" lIns="0" tIns="0" rIns="0" bIns="0" rtlCol="0" anchor="ctr"/>
          <a:lstStyle/>
          <a:p>
            <a:pPr marL="0" indent="0">
              <a:buNone/>
            </a:pPr>
            <a:r>
              <a:rPr lang="en-US" sz="2800" b="1">
                <a:solidFill>
                  <a:srgbClr val="1F2933"/>
                </a:solidFill>
                <a:latin typeface="Calibri" pitchFamily="34" charset="0"/>
                <a:ea typeface="Calibri" pitchFamily="34" charset="-122"/>
                <a:cs typeface="Calibri" pitchFamily="34" charset="-120"/>
              </a:rPr>
              <a:t>Why traditional testing isn't enough</a:t>
            </a:r>
            <a:endParaRPr lang="en-US" sz="2800"/>
          </a:p>
        </p:txBody>
      </p:sp>
      <p:sp>
        <p:nvSpPr>
          <p:cNvPr id="4" name="Shape 2"/>
          <p:cNvSpPr/>
          <p:nvPr/>
        </p:nvSpPr>
        <p:spPr>
          <a:xfrm>
            <a:off x="457200" y="1225296"/>
            <a:ext cx="731520" cy="0"/>
          </a:xfrm>
          <a:prstGeom prst="line">
            <a:avLst/>
          </a:prstGeom>
          <a:noFill/>
          <a:ln w="25400">
            <a:solidFill>
              <a:srgbClr val="0F6E73"/>
            </a:solidFill>
            <a:prstDash val="solid"/>
          </a:ln>
        </p:spPr>
        <p:txBody>
          <a:bodyPr/>
          <a:lstStyle/>
          <a:p>
            <a:endParaRPr lang="en-US"/>
          </a:p>
        </p:txBody>
      </p:sp>
      <p:sp>
        <p:nvSpPr>
          <p:cNvPr id="5" name="Text 3"/>
          <p:cNvSpPr/>
          <p:nvPr/>
        </p:nvSpPr>
        <p:spPr>
          <a:xfrm>
            <a:off x="457200" y="1417320"/>
            <a:ext cx="8229600" cy="1097280"/>
          </a:xfrm>
          <a:prstGeom prst="rect">
            <a:avLst/>
          </a:prstGeom>
          <a:noFill/>
          <a:ln/>
        </p:spPr>
        <p:txBody>
          <a:bodyPr wrap="square" lIns="0" tIns="0" rIns="0" bIns="0" rtlCol="0" anchor="ctr"/>
          <a:lstStyle/>
          <a:p>
            <a:pPr marL="0" indent="0">
              <a:buNone/>
            </a:pPr>
            <a:r>
              <a:rPr lang="en-US" sz="1400">
                <a:solidFill>
                  <a:srgbClr val="1F2933"/>
                </a:solidFill>
                <a:latin typeface="Calibri" pitchFamily="34" charset="0"/>
                <a:ea typeface="Calibri" pitchFamily="34" charset="-122"/>
                <a:cs typeface="Calibri" pitchFamily="34" charset="-120"/>
              </a:rPr>
              <a:t>AI applications fail probabilistically, not deterministically. A model can return a confident, well-structured response that is completely wrong. An agent can call the right tools in the wrong order. A chatbot can produce a helpful answer to 999 users and a harmful one to the 1,000th.</a:t>
            </a:r>
            <a:endParaRPr lang="en-US" sz="1400"/>
          </a:p>
        </p:txBody>
      </p:sp>
      <p:sp>
        <p:nvSpPr>
          <p:cNvPr id="6" name="Shape 4"/>
          <p:cNvSpPr/>
          <p:nvPr/>
        </p:nvSpPr>
        <p:spPr>
          <a:xfrm>
            <a:off x="457200" y="2743200"/>
            <a:ext cx="2651760" cy="1737360"/>
          </a:xfrm>
          <a:prstGeom prst="rect">
            <a:avLst/>
          </a:prstGeom>
          <a:solidFill>
            <a:srgbClr val="F4F6F8"/>
          </a:solidFill>
          <a:ln w="9525">
            <a:solidFill>
              <a:srgbClr val="D8DDE2"/>
            </a:solidFill>
            <a:prstDash val="solid"/>
          </a:ln>
        </p:spPr>
        <p:txBody>
          <a:bodyPr/>
          <a:lstStyle/>
          <a:p>
            <a:endParaRPr lang="en-US"/>
          </a:p>
        </p:txBody>
      </p:sp>
      <p:sp>
        <p:nvSpPr>
          <p:cNvPr id="7" name="Shape 5"/>
          <p:cNvSpPr/>
          <p:nvPr/>
        </p:nvSpPr>
        <p:spPr>
          <a:xfrm>
            <a:off x="457200" y="2743200"/>
            <a:ext cx="73152" cy="1737360"/>
          </a:xfrm>
          <a:prstGeom prst="rect">
            <a:avLst/>
          </a:prstGeom>
          <a:solidFill>
            <a:srgbClr val="0F6E73"/>
          </a:solidFill>
          <a:ln/>
        </p:spPr>
        <p:txBody>
          <a:bodyPr/>
          <a:lstStyle/>
          <a:p>
            <a:endParaRPr lang="en-US"/>
          </a:p>
        </p:txBody>
      </p:sp>
      <p:sp>
        <p:nvSpPr>
          <p:cNvPr id="8" name="Text 6"/>
          <p:cNvSpPr/>
          <p:nvPr/>
        </p:nvSpPr>
        <p:spPr>
          <a:xfrm>
            <a:off x="685800" y="2834640"/>
            <a:ext cx="2331720" cy="365760"/>
          </a:xfrm>
          <a:prstGeom prst="rect">
            <a:avLst/>
          </a:prstGeom>
          <a:noFill/>
          <a:ln/>
        </p:spPr>
        <p:txBody>
          <a:bodyPr wrap="square" lIns="0" tIns="0" rIns="0" bIns="0" rtlCol="0" anchor="ctr"/>
          <a:lstStyle/>
          <a:p>
            <a:pPr marL="0" indent="0">
              <a:buNone/>
            </a:pPr>
            <a:r>
              <a:rPr lang="en-US" sz="1600" b="1">
                <a:solidFill>
                  <a:srgbClr val="1F2933"/>
                </a:solidFill>
                <a:latin typeface="Calibri" pitchFamily="34" charset="0"/>
                <a:ea typeface="Calibri" pitchFamily="34" charset="-122"/>
                <a:cs typeface="Calibri" pitchFamily="34" charset="-120"/>
              </a:rPr>
              <a:t>Reputational</a:t>
            </a:r>
            <a:endParaRPr lang="en-US" sz="1600"/>
          </a:p>
        </p:txBody>
      </p:sp>
      <p:sp>
        <p:nvSpPr>
          <p:cNvPr id="9" name="Text 7"/>
          <p:cNvSpPr/>
          <p:nvPr/>
        </p:nvSpPr>
        <p:spPr>
          <a:xfrm>
            <a:off x="685800" y="3246120"/>
            <a:ext cx="2331720" cy="1188720"/>
          </a:xfrm>
          <a:prstGeom prst="rect">
            <a:avLst/>
          </a:prstGeom>
          <a:noFill/>
          <a:ln/>
        </p:spPr>
        <p:txBody>
          <a:bodyPr wrap="square" lIns="0" tIns="0" rIns="0" bIns="0" rtlCol="0" anchor="ctr"/>
          <a:lstStyle/>
          <a:p>
            <a:pPr marL="0" indent="0">
              <a:buNone/>
            </a:pPr>
            <a:r>
              <a:rPr lang="en-US" sz="1200">
                <a:solidFill>
                  <a:srgbClr val="52606D"/>
                </a:solidFill>
                <a:latin typeface="Calibri" pitchFamily="34" charset="0"/>
                <a:ea typeface="Calibri" pitchFamily="34" charset="-122"/>
                <a:cs typeface="Calibri" pitchFamily="34" charset="-120"/>
              </a:rPr>
              <a:t>Hallucinated advice, fabricated facts, or offensive outputs erode trust.</a:t>
            </a:r>
            <a:endParaRPr lang="en-US" sz="1200"/>
          </a:p>
        </p:txBody>
      </p:sp>
      <p:sp>
        <p:nvSpPr>
          <p:cNvPr id="10" name="Shape 8"/>
          <p:cNvSpPr/>
          <p:nvPr/>
        </p:nvSpPr>
        <p:spPr>
          <a:xfrm>
            <a:off x="3246120" y="2743200"/>
            <a:ext cx="2651760" cy="1737360"/>
          </a:xfrm>
          <a:prstGeom prst="rect">
            <a:avLst/>
          </a:prstGeom>
          <a:solidFill>
            <a:srgbClr val="F4F6F8"/>
          </a:solidFill>
          <a:ln w="9525">
            <a:solidFill>
              <a:srgbClr val="D8DDE2"/>
            </a:solidFill>
            <a:prstDash val="solid"/>
          </a:ln>
        </p:spPr>
        <p:txBody>
          <a:bodyPr/>
          <a:lstStyle/>
          <a:p>
            <a:endParaRPr lang="en-US"/>
          </a:p>
        </p:txBody>
      </p:sp>
      <p:sp>
        <p:nvSpPr>
          <p:cNvPr id="11" name="Shape 9"/>
          <p:cNvSpPr/>
          <p:nvPr/>
        </p:nvSpPr>
        <p:spPr>
          <a:xfrm>
            <a:off x="3246120" y="2743200"/>
            <a:ext cx="73152" cy="1737360"/>
          </a:xfrm>
          <a:prstGeom prst="rect">
            <a:avLst/>
          </a:prstGeom>
          <a:solidFill>
            <a:srgbClr val="0F6E73"/>
          </a:solidFill>
          <a:ln/>
        </p:spPr>
        <p:txBody>
          <a:bodyPr/>
          <a:lstStyle/>
          <a:p>
            <a:endParaRPr lang="en-US"/>
          </a:p>
        </p:txBody>
      </p:sp>
      <p:sp>
        <p:nvSpPr>
          <p:cNvPr id="12" name="Text 10"/>
          <p:cNvSpPr/>
          <p:nvPr/>
        </p:nvSpPr>
        <p:spPr>
          <a:xfrm>
            <a:off x="3474720" y="2834640"/>
            <a:ext cx="2331720" cy="365760"/>
          </a:xfrm>
          <a:prstGeom prst="rect">
            <a:avLst/>
          </a:prstGeom>
          <a:noFill/>
          <a:ln/>
        </p:spPr>
        <p:txBody>
          <a:bodyPr wrap="square" lIns="0" tIns="0" rIns="0" bIns="0" rtlCol="0" anchor="ctr"/>
          <a:lstStyle/>
          <a:p>
            <a:pPr marL="0" indent="0">
              <a:buNone/>
            </a:pPr>
            <a:r>
              <a:rPr lang="en-US" sz="1600" b="1">
                <a:solidFill>
                  <a:srgbClr val="1F2933"/>
                </a:solidFill>
                <a:latin typeface="Calibri" pitchFamily="34" charset="0"/>
                <a:ea typeface="Calibri" pitchFamily="34" charset="-122"/>
                <a:cs typeface="Calibri" pitchFamily="34" charset="-120"/>
              </a:rPr>
              <a:t>Regulatory</a:t>
            </a:r>
            <a:endParaRPr lang="en-US" sz="1600"/>
          </a:p>
        </p:txBody>
      </p:sp>
      <p:sp>
        <p:nvSpPr>
          <p:cNvPr id="13" name="Text 11"/>
          <p:cNvSpPr/>
          <p:nvPr/>
        </p:nvSpPr>
        <p:spPr>
          <a:xfrm>
            <a:off x="3474720" y="3246120"/>
            <a:ext cx="2331720" cy="1188720"/>
          </a:xfrm>
          <a:prstGeom prst="rect">
            <a:avLst/>
          </a:prstGeom>
          <a:noFill/>
          <a:ln/>
        </p:spPr>
        <p:txBody>
          <a:bodyPr wrap="square" lIns="0" tIns="0" rIns="0" bIns="0" rtlCol="0" anchor="ctr"/>
          <a:lstStyle/>
          <a:p>
            <a:pPr marL="0" indent="0">
              <a:buNone/>
            </a:pPr>
            <a:r>
              <a:rPr lang="en-US" sz="1200">
                <a:solidFill>
                  <a:srgbClr val="52606D"/>
                </a:solidFill>
                <a:latin typeface="Calibri" pitchFamily="34" charset="0"/>
                <a:ea typeface="Calibri" pitchFamily="34" charset="-122"/>
                <a:cs typeface="Calibri" pitchFamily="34" charset="-120"/>
              </a:rPr>
              <a:t>EU AI Act and NIST AI RMF expect documented testing evidence.</a:t>
            </a:r>
            <a:endParaRPr lang="en-US" sz="1200"/>
          </a:p>
        </p:txBody>
      </p:sp>
      <p:sp>
        <p:nvSpPr>
          <p:cNvPr id="14" name="Shape 12"/>
          <p:cNvSpPr/>
          <p:nvPr/>
        </p:nvSpPr>
        <p:spPr>
          <a:xfrm>
            <a:off x="6035040" y="2743200"/>
            <a:ext cx="2651760" cy="1737360"/>
          </a:xfrm>
          <a:prstGeom prst="rect">
            <a:avLst/>
          </a:prstGeom>
          <a:solidFill>
            <a:srgbClr val="F4F6F8"/>
          </a:solidFill>
          <a:ln w="9525">
            <a:solidFill>
              <a:srgbClr val="D8DDE2"/>
            </a:solidFill>
            <a:prstDash val="solid"/>
          </a:ln>
        </p:spPr>
        <p:txBody>
          <a:bodyPr/>
          <a:lstStyle/>
          <a:p>
            <a:endParaRPr lang="en-US"/>
          </a:p>
        </p:txBody>
      </p:sp>
      <p:sp>
        <p:nvSpPr>
          <p:cNvPr id="15" name="Shape 13"/>
          <p:cNvSpPr/>
          <p:nvPr/>
        </p:nvSpPr>
        <p:spPr>
          <a:xfrm>
            <a:off x="6035040" y="2743200"/>
            <a:ext cx="73152" cy="1737360"/>
          </a:xfrm>
          <a:prstGeom prst="rect">
            <a:avLst/>
          </a:prstGeom>
          <a:solidFill>
            <a:srgbClr val="0F6E73"/>
          </a:solidFill>
          <a:ln/>
        </p:spPr>
        <p:txBody>
          <a:bodyPr/>
          <a:lstStyle/>
          <a:p>
            <a:endParaRPr lang="en-US"/>
          </a:p>
        </p:txBody>
      </p:sp>
      <p:sp>
        <p:nvSpPr>
          <p:cNvPr id="16" name="Text 14"/>
          <p:cNvSpPr/>
          <p:nvPr/>
        </p:nvSpPr>
        <p:spPr>
          <a:xfrm>
            <a:off x="6263640" y="2834640"/>
            <a:ext cx="2331720" cy="365760"/>
          </a:xfrm>
          <a:prstGeom prst="rect">
            <a:avLst/>
          </a:prstGeom>
          <a:noFill/>
          <a:ln/>
        </p:spPr>
        <p:txBody>
          <a:bodyPr wrap="square" lIns="0" tIns="0" rIns="0" bIns="0" rtlCol="0" anchor="ctr"/>
          <a:lstStyle/>
          <a:p>
            <a:pPr marL="0" indent="0">
              <a:buNone/>
            </a:pPr>
            <a:r>
              <a:rPr lang="en-US" sz="1600" b="1">
                <a:solidFill>
                  <a:srgbClr val="1F2933"/>
                </a:solidFill>
                <a:latin typeface="Calibri" pitchFamily="34" charset="0"/>
                <a:ea typeface="Calibri" pitchFamily="34" charset="-122"/>
                <a:cs typeface="Calibri" pitchFamily="34" charset="-120"/>
              </a:rPr>
              <a:t>Operational</a:t>
            </a:r>
            <a:endParaRPr lang="en-US" sz="1600"/>
          </a:p>
        </p:txBody>
      </p:sp>
      <p:sp>
        <p:nvSpPr>
          <p:cNvPr id="17" name="Text 15"/>
          <p:cNvSpPr/>
          <p:nvPr/>
        </p:nvSpPr>
        <p:spPr>
          <a:xfrm>
            <a:off x="6263640" y="3246120"/>
            <a:ext cx="2331720" cy="1188720"/>
          </a:xfrm>
          <a:prstGeom prst="rect">
            <a:avLst/>
          </a:prstGeom>
          <a:noFill/>
          <a:ln/>
        </p:spPr>
        <p:txBody>
          <a:bodyPr wrap="square" lIns="0" tIns="0" rIns="0" bIns="0" rtlCol="0" anchor="ctr"/>
          <a:lstStyle/>
          <a:p>
            <a:pPr marL="0" indent="0">
              <a:buNone/>
            </a:pPr>
            <a:r>
              <a:rPr lang="en-US" sz="1200">
                <a:solidFill>
                  <a:srgbClr val="52606D"/>
                </a:solidFill>
                <a:latin typeface="Calibri" pitchFamily="34" charset="0"/>
                <a:ea typeface="Calibri" pitchFamily="34" charset="-122"/>
                <a:cs typeface="Calibri" pitchFamily="34" charset="-120"/>
              </a:rPr>
              <a:t>Without baselines, quality drift goes unnoticed until users complain.</a:t>
            </a:r>
            <a:endParaRPr lang="en-US" sz="1200"/>
          </a:p>
        </p:txBody>
      </p:sp>
      <p:sp>
        <p:nvSpPr>
          <p:cNvPr id="18" name="Text 16"/>
          <p:cNvSpPr/>
          <p:nvPr/>
        </p:nvSpPr>
        <p:spPr>
          <a:xfrm>
            <a:off x="457200" y="4823460"/>
            <a:ext cx="5486400" cy="228600"/>
          </a:xfrm>
          <a:prstGeom prst="rect">
            <a:avLst/>
          </a:prstGeom>
          <a:noFill/>
          <a:ln/>
        </p:spPr>
        <p:txBody>
          <a:bodyPr wrap="square" lIns="0" tIns="0" rIns="0" bIns="0" rtlCol="0" anchor="ctr"/>
          <a:lstStyle/>
          <a:p>
            <a:pPr marL="0" indent="0">
              <a:buNone/>
            </a:pPr>
            <a:r>
              <a:rPr lang="en-US" sz="900">
                <a:solidFill>
                  <a:srgbClr val="52606D"/>
                </a:solidFill>
                <a:latin typeface="Calibri" pitchFamily="34" charset="0"/>
                <a:ea typeface="Calibri" pitchFamily="34" charset="-122"/>
                <a:cs typeface="Calibri" pitchFamily="34" charset="-120"/>
              </a:rPr>
              <a:t>AI Evaluations  ·  Microsoft Agent Framework</a:t>
            </a:r>
            <a:endParaRPr lang="en-US" sz="900"/>
          </a:p>
        </p:txBody>
      </p:sp>
      <p:sp>
        <p:nvSpPr>
          <p:cNvPr id="19" name="Text 17"/>
          <p:cNvSpPr/>
          <p:nvPr/>
        </p:nvSpPr>
        <p:spPr>
          <a:xfrm>
            <a:off x="8046720" y="4823460"/>
            <a:ext cx="640080" cy="228600"/>
          </a:xfrm>
          <a:prstGeom prst="rect">
            <a:avLst/>
          </a:prstGeom>
          <a:noFill/>
          <a:ln/>
        </p:spPr>
        <p:txBody>
          <a:bodyPr wrap="square" lIns="0" tIns="0" rIns="0" bIns="0" rtlCol="0" anchor="ctr"/>
          <a:lstStyle/>
          <a:p>
            <a:pPr marL="0" indent="0" algn="r">
              <a:buNone/>
            </a:pPr>
            <a:r>
              <a:rPr lang="en-US" sz="900">
                <a:solidFill>
                  <a:srgbClr val="52606D"/>
                </a:solidFill>
                <a:latin typeface="Calibri" pitchFamily="34" charset="0"/>
                <a:ea typeface="Calibri" pitchFamily="34" charset="-122"/>
                <a:cs typeface="Calibri" pitchFamily="34" charset="-120"/>
              </a:rPr>
              <a:t>2 / 19</a:t>
            </a:r>
            <a:endParaRPr lang="en-US" sz="9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marL="0" indent="0">
              <a:buNone/>
            </a:pPr>
            <a:r>
              <a:rPr lang="en-US" sz="1000" b="1" kern="0" spc="400">
                <a:solidFill>
                  <a:srgbClr val="0F6E73"/>
                </a:solidFill>
                <a:latin typeface="Calibri" pitchFamily="34" charset="0"/>
                <a:ea typeface="Calibri" pitchFamily="34" charset="-122"/>
                <a:cs typeface="Calibri" pitchFamily="34" charset="-120"/>
              </a:rPr>
              <a:t>FOUR CATEGORIES</a:t>
            </a:r>
            <a:endParaRPr lang="en-US" sz="1000"/>
          </a:p>
        </p:txBody>
      </p:sp>
      <p:sp>
        <p:nvSpPr>
          <p:cNvPr id="3" name="Text 1"/>
          <p:cNvSpPr/>
          <p:nvPr/>
        </p:nvSpPr>
        <p:spPr>
          <a:xfrm>
            <a:off x="457200" y="566928"/>
            <a:ext cx="8229600" cy="640080"/>
          </a:xfrm>
          <a:prstGeom prst="rect">
            <a:avLst/>
          </a:prstGeom>
          <a:noFill/>
          <a:ln/>
        </p:spPr>
        <p:txBody>
          <a:bodyPr wrap="square" lIns="0" tIns="0" rIns="0" bIns="0" rtlCol="0" anchor="ctr"/>
          <a:lstStyle/>
          <a:p>
            <a:pPr marL="0" indent="0">
              <a:buNone/>
            </a:pPr>
            <a:r>
              <a:rPr lang="en-US" sz="2800" b="1">
                <a:solidFill>
                  <a:srgbClr val="1F2933"/>
                </a:solidFill>
                <a:latin typeface="Calibri" pitchFamily="34" charset="0"/>
                <a:ea typeface="Calibri" pitchFamily="34" charset="-122"/>
                <a:cs typeface="Calibri" pitchFamily="34" charset="-120"/>
              </a:rPr>
              <a:t>What you're actually measuring</a:t>
            </a:r>
            <a:endParaRPr lang="en-US" sz="2800"/>
          </a:p>
        </p:txBody>
      </p:sp>
      <p:sp>
        <p:nvSpPr>
          <p:cNvPr id="4" name="Shape 2"/>
          <p:cNvSpPr/>
          <p:nvPr/>
        </p:nvSpPr>
        <p:spPr>
          <a:xfrm>
            <a:off x="457200" y="1225296"/>
            <a:ext cx="731520" cy="0"/>
          </a:xfrm>
          <a:prstGeom prst="line">
            <a:avLst/>
          </a:prstGeom>
          <a:noFill/>
          <a:ln w="25400">
            <a:solidFill>
              <a:srgbClr val="0F6E73"/>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594360" y="1627632"/>
            <a:ext cx="411480" cy="411480"/>
          </a:xfrm>
          <a:prstGeom prst="rect">
            <a:avLst/>
          </a:prstGeom>
        </p:spPr>
      </p:pic>
      <p:sp>
        <p:nvSpPr>
          <p:cNvPr id="6" name="Text 3"/>
          <p:cNvSpPr/>
          <p:nvPr/>
        </p:nvSpPr>
        <p:spPr>
          <a:xfrm>
            <a:off x="1143000" y="1572768"/>
            <a:ext cx="3291840" cy="365760"/>
          </a:xfrm>
          <a:prstGeom prst="rect">
            <a:avLst/>
          </a:prstGeom>
          <a:noFill/>
          <a:ln/>
        </p:spPr>
        <p:txBody>
          <a:bodyPr wrap="square" lIns="0" tIns="0" rIns="0" bIns="0" rtlCol="0" anchor="ctr"/>
          <a:lstStyle/>
          <a:p>
            <a:pPr marL="0" indent="0">
              <a:buNone/>
            </a:pPr>
            <a:r>
              <a:rPr lang="en-US" sz="1600" b="1">
                <a:solidFill>
                  <a:srgbClr val="1F2933"/>
                </a:solidFill>
                <a:latin typeface="Calibri" pitchFamily="34" charset="0"/>
                <a:ea typeface="Calibri" pitchFamily="34" charset="-122"/>
                <a:cs typeface="Calibri" pitchFamily="34" charset="-120"/>
              </a:rPr>
              <a:t>Response Quality</a:t>
            </a:r>
            <a:endParaRPr lang="en-US" sz="1600"/>
          </a:p>
        </p:txBody>
      </p:sp>
      <p:sp>
        <p:nvSpPr>
          <p:cNvPr id="7" name="Text 4"/>
          <p:cNvSpPr/>
          <p:nvPr/>
        </p:nvSpPr>
        <p:spPr>
          <a:xfrm>
            <a:off x="1143000" y="1965960"/>
            <a:ext cx="3291840" cy="731520"/>
          </a:xfrm>
          <a:prstGeom prst="rect">
            <a:avLst/>
          </a:prstGeom>
          <a:noFill/>
          <a:ln/>
        </p:spPr>
        <p:txBody>
          <a:bodyPr wrap="square" lIns="0" tIns="0" rIns="0" bIns="0" rtlCol="0" anchor="ctr"/>
          <a:lstStyle/>
          <a:p>
            <a:pPr marL="0" indent="0">
              <a:buNone/>
            </a:pPr>
            <a:r>
              <a:rPr lang="en-US" sz="1200">
                <a:solidFill>
                  <a:srgbClr val="52606D"/>
                </a:solidFill>
                <a:latin typeface="Calibri" pitchFamily="34" charset="0"/>
                <a:ea typeface="Calibri" pitchFamily="34" charset="-122"/>
                <a:cs typeface="Calibri" pitchFamily="34" charset="-120"/>
              </a:rPr>
              <a:t>Accuracy, coherence, fluency, groundedness of generated text.</a:t>
            </a:r>
            <a:endParaRPr lang="en-US" sz="1200"/>
          </a:p>
        </p:txBody>
      </p:sp>
      <p:sp>
        <p:nvSpPr>
          <p:cNvPr id="8" name="Shape 5"/>
          <p:cNvSpPr/>
          <p:nvPr/>
        </p:nvSpPr>
        <p:spPr>
          <a:xfrm>
            <a:off x="457200" y="2788920"/>
            <a:ext cx="4114800" cy="0"/>
          </a:xfrm>
          <a:prstGeom prst="line">
            <a:avLst/>
          </a:prstGeom>
          <a:noFill/>
          <a:ln w="9525">
            <a:solidFill>
              <a:srgbClr val="D8DDE2"/>
            </a:solidFill>
            <a:prstDash val="solid"/>
          </a:ln>
        </p:spPr>
        <p:txBody>
          <a:bodyPr/>
          <a:lstStyle/>
          <a:p>
            <a:endParaRPr lang="en-US"/>
          </a:p>
        </p:txBody>
      </p:sp>
      <p:pic>
        <p:nvPicPr>
          <p:cNvPr id="9" name="Image 1" descr="preencoded.png"/>
          <p:cNvPicPr>
            <a:picLocks noChangeAspect="1"/>
          </p:cNvPicPr>
          <p:nvPr/>
        </p:nvPicPr>
        <p:blipFill>
          <a:blip r:embed="rId4"/>
          <a:stretch>
            <a:fillRect/>
          </a:stretch>
        </p:blipFill>
        <p:spPr>
          <a:xfrm>
            <a:off x="4892040" y="1627632"/>
            <a:ext cx="411480" cy="411480"/>
          </a:xfrm>
          <a:prstGeom prst="rect">
            <a:avLst/>
          </a:prstGeom>
        </p:spPr>
      </p:pic>
      <p:sp>
        <p:nvSpPr>
          <p:cNvPr id="10" name="Text 6"/>
          <p:cNvSpPr/>
          <p:nvPr/>
        </p:nvSpPr>
        <p:spPr>
          <a:xfrm>
            <a:off x="5440680" y="1572768"/>
            <a:ext cx="3291840" cy="365760"/>
          </a:xfrm>
          <a:prstGeom prst="rect">
            <a:avLst/>
          </a:prstGeom>
          <a:noFill/>
          <a:ln/>
        </p:spPr>
        <p:txBody>
          <a:bodyPr wrap="square" lIns="0" tIns="0" rIns="0" bIns="0" rtlCol="0" anchor="ctr"/>
          <a:lstStyle/>
          <a:p>
            <a:pPr marL="0" indent="0">
              <a:buNone/>
            </a:pPr>
            <a:r>
              <a:rPr lang="en-US" sz="1600" b="1">
                <a:solidFill>
                  <a:srgbClr val="1F2933"/>
                </a:solidFill>
                <a:latin typeface="Calibri" pitchFamily="34" charset="0"/>
                <a:ea typeface="Calibri" pitchFamily="34" charset="-122"/>
                <a:cs typeface="Calibri" pitchFamily="34" charset="-120"/>
              </a:rPr>
              <a:t>Task Completion</a:t>
            </a:r>
            <a:endParaRPr lang="en-US" sz="1600"/>
          </a:p>
        </p:txBody>
      </p:sp>
      <p:sp>
        <p:nvSpPr>
          <p:cNvPr id="11" name="Text 7"/>
          <p:cNvSpPr/>
          <p:nvPr/>
        </p:nvSpPr>
        <p:spPr>
          <a:xfrm>
            <a:off x="5440680" y="1965960"/>
            <a:ext cx="3291840" cy="731520"/>
          </a:xfrm>
          <a:prstGeom prst="rect">
            <a:avLst/>
          </a:prstGeom>
          <a:noFill/>
          <a:ln/>
        </p:spPr>
        <p:txBody>
          <a:bodyPr wrap="square" lIns="0" tIns="0" rIns="0" bIns="0" rtlCol="0" anchor="ctr"/>
          <a:lstStyle/>
          <a:p>
            <a:pPr marL="0" indent="0">
              <a:buNone/>
            </a:pPr>
            <a:r>
              <a:rPr lang="en-US" sz="1200">
                <a:solidFill>
                  <a:srgbClr val="52606D"/>
                </a:solidFill>
                <a:latin typeface="Calibri" pitchFamily="34" charset="0"/>
                <a:ea typeface="Calibri" pitchFamily="34" charset="-122"/>
                <a:cs typeface="Calibri" pitchFamily="34" charset="-120"/>
              </a:rPr>
              <a:t>Whether agents follow instructions, pick the right tools, and finish the job.</a:t>
            </a:r>
            <a:endParaRPr lang="en-US" sz="1200"/>
          </a:p>
        </p:txBody>
      </p:sp>
      <p:sp>
        <p:nvSpPr>
          <p:cNvPr id="12" name="Shape 8"/>
          <p:cNvSpPr/>
          <p:nvPr/>
        </p:nvSpPr>
        <p:spPr>
          <a:xfrm>
            <a:off x="4754880" y="2788920"/>
            <a:ext cx="4114800" cy="0"/>
          </a:xfrm>
          <a:prstGeom prst="line">
            <a:avLst/>
          </a:prstGeom>
          <a:noFill/>
          <a:ln w="9525">
            <a:solidFill>
              <a:srgbClr val="D8DDE2"/>
            </a:solidFill>
            <a:prstDash val="solid"/>
          </a:ln>
        </p:spPr>
        <p:txBody>
          <a:bodyPr/>
          <a:lstStyle/>
          <a:p>
            <a:endParaRPr lang="en-US"/>
          </a:p>
        </p:txBody>
      </p:sp>
      <p:pic>
        <p:nvPicPr>
          <p:cNvPr id="13" name="Image 2" descr="preencoded.png"/>
          <p:cNvPicPr>
            <a:picLocks noChangeAspect="1"/>
          </p:cNvPicPr>
          <p:nvPr/>
        </p:nvPicPr>
        <p:blipFill>
          <a:blip r:embed="rId5"/>
          <a:stretch>
            <a:fillRect/>
          </a:stretch>
        </p:blipFill>
        <p:spPr>
          <a:xfrm>
            <a:off x="594360" y="3136392"/>
            <a:ext cx="411480" cy="411480"/>
          </a:xfrm>
          <a:prstGeom prst="rect">
            <a:avLst/>
          </a:prstGeom>
        </p:spPr>
      </p:pic>
      <p:sp>
        <p:nvSpPr>
          <p:cNvPr id="14" name="Text 9"/>
          <p:cNvSpPr/>
          <p:nvPr/>
        </p:nvSpPr>
        <p:spPr>
          <a:xfrm>
            <a:off x="1143000" y="3081528"/>
            <a:ext cx="3291840" cy="365760"/>
          </a:xfrm>
          <a:prstGeom prst="rect">
            <a:avLst/>
          </a:prstGeom>
          <a:noFill/>
          <a:ln/>
        </p:spPr>
        <p:txBody>
          <a:bodyPr wrap="square" lIns="0" tIns="0" rIns="0" bIns="0" rtlCol="0" anchor="ctr"/>
          <a:lstStyle/>
          <a:p>
            <a:pPr marL="0" indent="0">
              <a:buNone/>
            </a:pPr>
            <a:r>
              <a:rPr lang="en-US" sz="1600" b="1">
                <a:solidFill>
                  <a:srgbClr val="1F2933"/>
                </a:solidFill>
                <a:latin typeface="Calibri" pitchFamily="34" charset="0"/>
                <a:ea typeface="Calibri" pitchFamily="34" charset="-122"/>
                <a:cs typeface="Calibri" pitchFamily="34" charset="-120"/>
              </a:rPr>
              <a:t>Safety &amp; Content Risk</a:t>
            </a:r>
            <a:endParaRPr lang="en-US" sz="1600"/>
          </a:p>
        </p:txBody>
      </p:sp>
      <p:sp>
        <p:nvSpPr>
          <p:cNvPr id="15" name="Text 10"/>
          <p:cNvSpPr/>
          <p:nvPr/>
        </p:nvSpPr>
        <p:spPr>
          <a:xfrm>
            <a:off x="1143000" y="3474720"/>
            <a:ext cx="3291840" cy="731520"/>
          </a:xfrm>
          <a:prstGeom prst="rect">
            <a:avLst/>
          </a:prstGeom>
          <a:noFill/>
          <a:ln/>
        </p:spPr>
        <p:txBody>
          <a:bodyPr wrap="square" lIns="0" tIns="0" rIns="0" bIns="0" rtlCol="0" anchor="ctr"/>
          <a:lstStyle/>
          <a:p>
            <a:pPr marL="0" indent="0">
              <a:buNone/>
            </a:pPr>
            <a:r>
              <a:rPr lang="en-US" sz="1200">
                <a:solidFill>
                  <a:srgbClr val="52606D"/>
                </a:solidFill>
                <a:latin typeface="Calibri" pitchFamily="34" charset="0"/>
                <a:ea typeface="Calibri" pitchFamily="34" charset="-122"/>
                <a:cs typeface="Calibri" pitchFamily="34" charset="-120"/>
              </a:rPr>
              <a:t>Harmful, biased, violent, sexual, or self-harm content in outputs.</a:t>
            </a:r>
            <a:endParaRPr lang="en-US" sz="1200"/>
          </a:p>
        </p:txBody>
      </p:sp>
      <p:sp>
        <p:nvSpPr>
          <p:cNvPr id="16" name="Shape 11"/>
          <p:cNvSpPr/>
          <p:nvPr/>
        </p:nvSpPr>
        <p:spPr>
          <a:xfrm>
            <a:off x="457200" y="4297680"/>
            <a:ext cx="4114800" cy="0"/>
          </a:xfrm>
          <a:prstGeom prst="line">
            <a:avLst/>
          </a:prstGeom>
          <a:noFill/>
          <a:ln w="9525">
            <a:solidFill>
              <a:srgbClr val="D8DDE2"/>
            </a:solidFill>
            <a:prstDash val="solid"/>
          </a:ln>
        </p:spPr>
        <p:txBody>
          <a:bodyPr/>
          <a:lstStyle/>
          <a:p>
            <a:endParaRPr lang="en-US"/>
          </a:p>
        </p:txBody>
      </p:sp>
      <p:pic>
        <p:nvPicPr>
          <p:cNvPr id="17" name="Image 3" descr="preencoded.png"/>
          <p:cNvPicPr>
            <a:picLocks noChangeAspect="1"/>
          </p:cNvPicPr>
          <p:nvPr/>
        </p:nvPicPr>
        <p:blipFill>
          <a:blip r:embed="rId6"/>
          <a:stretch>
            <a:fillRect/>
          </a:stretch>
        </p:blipFill>
        <p:spPr>
          <a:xfrm>
            <a:off x="4892040" y="3136392"/>
            <a:ext cx="411480" cy="411480"/>
          </a:xfrm>
          <a:prstGeom prst="rect">
            <a:avLst/>
          </a:prstGeom>
        </p:spPr>
      </p:pic>
      <p:sp>
        <p:nvSpPr>
          <p:cNvPr id="18" name="Text 12"/>
          <p:cNvSpPr/>
          <p:nvPr/>
        </p:nvSpPr>
        <p:spPr>
          <a:xfrm>
            <a:off x="5440680" y="3081528"/>
            <a:ext cx="3291840" cy="365760"/>
          </a:xfrm>
          <a:prstGeom prst="rect">
            <a:avLst/>
          </a:prstGeom>
          <a:noFill/>
          <a:ln/>
        </p:spPr>
        <p:txBody>
          <a:bodyPr wrap="square" lIns="0" tIns="0" rIns="0" bIns="0" rtlCol="0" anchor="ctr"/>
          <a:lstStyle/>
          <a:p>
            <a:pPr marL="0" indent="0">
              <a:buNone/>
            </a:pPr>
            <a:r>
              <a:rPr lang="en-US" sz="1600" b="1">
                <a:solidFill>
                  <a:srgbClr val="1F2933"/>
                </a:solidFill>
                <a:latin typeface="Calibri" pitchFamily="34" charset="0"/>
                <a:ea typeface="Calibri" pitchFamily="34" charset="-122"/>
                <a:cs typeface="Calibri" pitchFamily="34" charset="-120"/>
              </a:rPr>
              <a:t>Adversarial Resilience</a:t>
            </a:r>
            <a:endParaRPr lang="en-US" sz="1600"/>
          </a:p>
        </p:txBody>
      </p:sp>
      <p:sp>
        <p:nvSpPr>
          <p:cNvPr id="19" name="Text 13"/>
          <p:cNvSpPr/>
          <p:nvPr/>
        </p:nvSpPr>
        <p:spPr>
          <a:xfrm>
            <a:off x="5440680" y="3474720"/>
            <a:ext cx="3291840" cy="731520"/>
          </a:xfrm>
          <a:prstGeom prst="rect">
            <a:avLst/>
          </a:prstGeom>
          <a:noFill/>
          <a:ln/>
        </p:spPr>
        <p:txBody>
          <a:bodyPr wrap="square" lIns="0" tIns="0" rIns="0" bIns="0" rtlCol="0" anchor="ctr"/>
          <a:lstStyle/>
          <a:p>
            <a:pPr marL="0" indent="0">
              <a:buNone/>
            </a:pPr>
            <a:r>
              <a:rPr lang="en-US" sz="1200">
                <a:solidFill>
                  <a:srgbClr val="52606D"/>
                </a:solidFill>
                <a:latin typeface="Calibri" pitchFamily="34" charset="0"/>
                <a:ea typeface="Calibri" pitchFamily="34" charset="-122"/>
                <a:cs typeface="Calibri" pitchFamily="34" charset="-120"/>
              </a:rPr>
              <a:t>Resistance to prompt injection, jailbreaks, and manipulation.</a:t>
            </a:r>
            <a:endParaRPr lang="en-US" sz="1200"/>
          </a:p>
        </p:txBody>
      </p:sp>
      <p:sp>
        <p:nvSpPr>
          <p:cNvPr id="20" name="Shape 14"/>
          <p:cNvSpPr/>
          <p:nvPr/>
        </p:nvSpPr>
        <p:spPr>
          <a:xfrm>
            <a:off x="4754880" y="4297680"/>
            <a:ext cx="4114800" cy="0"/>
          </a:xfrm>
          <a:prstGeom prst="line">
            <a:avLst/>
          </a:prstGeom>
          <a:noFill/>
          <a:ln w="9525">
            <a:solidFill>
              <a:srgbClr val="D8DDE2"/>
            </a:solidFill>
            <a:prstDash val="solid"/>
          </a:ln>
        </p:spPr>
        <p:txBody>
          <a:bodyPr/>
          <a:lstStyle/>
          <a:p>
            <a:endParaRPr lang="en-US"/>
          </a:p>
        </p:txBody>
      </p:sp>
      <p:sp>
        <p:nvSpPr>
          <p:cNvPr id="21" name="Text 15"/>
          <p:cNvSpPr/>
          <p:nvPr/>
        </p:nvSpPr>
        <p:spPr>
          <a:xfrm>
            <a:off x="457200" y="4823460"/>
            <a:ext cx="5486400" cy="228600"/>
          </a:xfrm>
          <a:prstGeom prst="rect">
            <a:avLst/>
          </a:prstGeom>
          <a:noFill/>
          <a:ln/>
        </p:spPr>
        <p:txBody>
          <a:bodyPr wrap="square" lIns="0" tIns="0" rIns="0" bIns="0" rtlCol="0" anchor="ctr"/>
          <a:lstStyle/>
          <a:p>
            <a:pPr marL="0" indent="0">
              <a:buNone/>
            </a:pPr>
            <a:r>
              <a:rPr lang="en-US" sz="900">
                <a:solidFill>
                  <a:srgbClr val="52606D"/>
                </a:solidFill>
                <a:latin typeface="Calibri" pitchFamily="34" charset="0"/>
                <a:ea typeface="Calibri" pitchFamily="34" charset="-122"/>
                <a:cs typeface="Calibri" pitchFamily="34" charset="-120"/>
              </a:rPr>
              <a:t>AI Evaluations  ·  Microsoft Agent Framework</a:t>
            </a:r>
            <a:endParaRPr lang="en-US" sz="900"/>
          </a:p>
        </p:txBody>
      </p:sp>
      <p:sp>
        <p:nvSpPr>
          <p:cNvPr id="22" name="Text 16"/>
          <p:cNvSpPr/>
          <p:nvPr/>
        </p:nvSpPr>
        <p:spPr>
          <a:xfrm>
            <a:off x="8046720" y="4823460"/>
            <a:ext cx="640080" cy="228600"/>
          </a:xfrm>
          <a:prstGeom prst="rect">
            <a:avLst/>
          </a:prstGeom>
          <a:noFill/>
          <a:ln/>
        </p:spPr>
        <p:txBody>
          <a:bodyPr wrap="square" lIns="0" tIns="0" rIns="0" bIns="0" rtlCol="0" anchor="ctr"/>
          <a:lstStyle/>
          <a:p>
            <a:pPr marL="0" indent="0" algn="r">
              <a:buNone/>
            </a:pPr>
            <a:r>
              <a:rPr lang="en-US" sz="900">
                <a:solidFill>
                  <a:srgbClr val="52606D"/>
                </a:solidFill>
                <a:latin typeface="Calibri" pitchFamily="34" charset="0"/>
                <a:ea typeface="Calibri" pitchFamily="34" charset="-122"/>
                <a:cs typeface="Calibri" pitchFamily="34" charset="-120"/>
              </a:rPr>
              <a:t>3 / 19</a:t>
            </a:r>
            <a:endParaRPr lang="en-US" sz="9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marL="0" indent="0">
              <a:buNone/>
            </a:pPr>
            <a:r>
              <a:rPr lang="en-US" sz="1000" b="1" kern="0" spc="400">
                <a:solidFill>
                  <a:srgbClr val="0F6E73"/>
                </a:solidFill>
                <a:latin typeface="Calibri" pitchFamily="34" charset="0"/>
                <a:ea typeface="Calibri" pitchFamily="34" charset="-122"/>
                <a:cs typeface="Calibri" pitchFamily="34" charset="-120"/>
              </a:rPr>
              <a:t>BUILT-IN &amp; CUSTOM</a:t>
            </a:r>
            <a:endParaRPr lang="en-US" sz="1000"/>
          </a:p>
        </p:txBody>
      </p:sp>
      <p:sp>
        <p:nvSpPr>
          <p:cNvPr id="3" name="Text 1"/>
          <p:cNvSpPr/>
          <p:nvPr/>
        </p:nvSpPr>
        <p:spPr>
          <a:xfrm>
            <a:off x="457200" y="566928"/>
            <a:ext cx="8229600" cy="640080"/>
          </a:xfrm>
          <a:prstGeom prst="rect">
            <a:avLst/>
          </a:prstGeom>
          <a:noFill/>
          <a:ln/>
        </p:spPr>
        <p:txBody>
          <a:bodyPr wrap="square" lIns="0" tIns="0" rIns="0" bIns="0" rtlCol="0" anchor="ctr"/>
          <a:lstStyle/>
          <a:p>
            <a:pPr marL="0" indent="0">
              <a:buNone/>
            </a:pPr>
            <a:r>
              <a:rPr lang="en-US" sz="2800" b="1">
                <a:solidFill>
                  <a:srgbClr val="1F2933"/>
                </a:solidFill>
                <a:latin typeface="Calibri" pitchFamily="34" charset="0"/>
                <a:ea typeface="Calibri" pitchFamily="34" charset="-122"/>
                <a:cs typeface="Calibri" pitchFamily="34" charset="-120"/>
              </a:rPr>
              <a:t>The Foundry evaluator landscape</a:t>
            </a:r>
            <a:endParaRPr lang="en-US" sz="2800"/>
          </a:p>
        </p:txBody>
      </p:sp>
      <p:sp>
        <p:nvSpPr>
          <p:cNvPr id="4" name="Shape 2"/>
          <p:cNvSpPr/>
          <p:nvPr/>
        </p:nvSpPr>
        <p:spPr>
          <a:xfrm>
            <a:off x="457200" y="1225296"/>
            <a:ext cx="731520" cy="0"/>
          </a:xfrm>
          <a:prstGeom prst="line">
            <a:avLst/>
          </a:prstGeom>
          <a:noFill/>
          <a:ln w="25400">
            <a:solidFill>
              <a:srgbClr val="0F6E73"/>
            </a:solidFill>
            <a:prstDash val="solid"/>
          </a:ln>
        </p:spPr>
        <p:txBody>
          <a:bodyPr/>
          <a:lstStyle/>
          <a:p>
            <a:endParaRPr lang="en-US"/>
          </a:p>
        </p:txBody>
      </p:sp>
      <p:sp>
        <p:nvSpPr>
          <p:cNvPr id="5" name="Text 3"/>
          <p:cNvSpPr/>
          <p:nvPr/>
        </p:nvSpPr>
        <p:spPr>
          <a:xfrm>
            <a:off x="457200" y="1417320"/>
            <a:ext cx="8229600" cy="457200"/>
          </a:xfrm>
          <a:prstGeom prst="rect">
            <a:avLst/>
          </a:prstGeom>
          <a:noFill/>
          <a:ln/>
        </p:spPr>
        <p:txBody>
          <a:bodyPr wrap="square" lIns="0" tIns="0" rIns="0" bIns="0" rtlCol="0" anchor="ctr"/>
          <a:lstStyle/>
          <a:p>
            <a:pPr marL="0" indent="0">
              <a:buNone/>
            </a:pPr>
            <a:r>
              <a:rPr lang="en-US" sz="1300">
                <a:solidFill>
                  <a:srgbClr val="52606D"/>
                </a:solidFill>
                <a:latin typeface="Calibri" pitchFamily="34" charset="0"/>
                <a:ea typeface="Calibri" pitchFamily="34" charset="-122"/>
                <a:cs typeface="Calibri" pitchFamily="34" charset="-120"/>
              </a:rPr>
              <a:t>Microsoft Foundry ships evaluators across five families. Combine them — one evaluator measures one dimension.</a:t>
            </a:r>
            <a:endParaRPr lang="en-US" sz="1300"/>
          </a:p>
        </p:txBody>
      </p:sp>
      <p:sp>
        <p:nvSpPr>
          <p:cNvPr id="6" name="Shape 4"/>
          <p:cNvSpPr/>
          <p:nvPr/>
        </p:nvSpPr>
        <p:spPr>
          <a:xfrm>
            <a:off x="457200" y="2057400"/>
            <a:ext cx="1645920" cy="2377440"/>
          </a:xfrm>
          <a:prstGeom prst="rect">
            <a:avLst/>
          </a:prstGeom>
          <a:solidFill>
            <a:srgbClr val="FFFFFF"/>
          </a:solidFill>
          <a:ln w="9525">
            <a:solidFill>
              <a:srgbClr val="D8DDE2"/>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1051560" y="2240280"/>
            <a:ext cx="457200" cy="457200"/>
          </a:xfrm>
          <a:prstGeom prst="rect">
            <a:avLst/>
          </a:prstGeom>
        </p:spPr>
      </p:pic>
      <p:sp>
        <p:nvSpPr>
          <p:cNvPr id="8" name="Text 5"/>
          <p:cNvSpPr/>
          <p:nvPr/>
        </p:nvSpPr>
        <p:spPr>
          <a:xfrm>
            <a:off x="548640" y="2788920"/>
            <a:ext cx="1463040" cy="365760"/>
          </a:xfrm>
          <a:prstGeom prst="rect">
            <a:avLst/>
          </a:prstGeom>
          <a:noFill/>
          <a:ln/>
        </p:spPr>
        <p:txBody>
          <a:bodyPr wrap="square" lIns="0" tIns="0" rIns="0" bIns="0" rtlCol="0" anchor="ctr"/>
          <a:lstStyle/>
          <a:p>
            <a:pPr marL="0" indent="0" algn="ctr">
              <a:buNone/>
            </a:pPr>
            <a:r>
              <a:rPr lang="en-US" sz="1300" b="1">
                <a:solidFill>
                  <a:srgbClr val="1F2933"/>
                </a:solidFill>
                <a:latin typeface="Calibri" pitchFamily="34" charset="0"/>
                <a:ea typeface="Calibri" pitchFamily="34" charset="-122"/>
                <a:cs typeface="Calibri" pitchFamily="34" charset="-120"/>
              </a:rPr>
              <a:t>General purpose</a:t>
            </a:r>
            <a:endParaRPr lang="en-US" sz="1300"/>
          </a:p>
        </p:txBody>
      </p:sp>
      <p:sp>
        <p:nvSpPr>
          <p:cNvPr id="9" name="Text 6"/>
          <p:cNvSpPr/>
          <p:nvPr/>
        </p:nvSpPr>
        <p:spPr>
          <a:xfrm>
            <a:off x="548640" y="3200400"/>
            <a:ext cx="1463040" cy="1097280"/>
          </a:xfrm>
          <a:prstGeom prst="rect">
            <a:avLst/>
          </a:prstGeom>
          <a:noFill/>
          <a:ln/>
        </p:spPr>
        <p:txBody>
          <a:bodyPr wrap="square" lIns="0" tIns="0" rIns="0" bIns="0" rtlCol="0" anchor="ctr"/>
          <a:lstStyle/>
          <a:p>
            <a:pPr marL="0" indent="0" algn="ctr">
              <a:buNone/>
            </a:pPr>
            <a:r>
              <a:rPr lang="en-US" sz="1000">
                <a:solidFill>
                  <a:srgbClr val="52606D"/>
                </a:solidFill>
                <a:latin typeface="Calibri" pitchFamily="34" charset="0"/>
                <a:ea typeface="Calibri" pitchFamily="34" charset="-122"/>
                <a:cs typeface="Calibri" pitchFamily="34" charset="-120"/>
              </a:rPr>
              <a:t>Coherence, Fluency</a:t>
            </a:r>
            <a:endParaRPr lang="en-US" sz="1000"/>
          </a:p>
        </p:txBody>
      </p:sp>
      <p:sp>
        <p:nvSpPr>
          <p:cNvPr id="10" name="Shape 7"/>
          <p:cNvSpPr/>
          <p:nvPr/>
        </p:nvSpPr>
        <p:spPr>
          <a:xfrm>
            <a:off x="2148840" y="2057400"/>
            <a:ext cx="1645920" cy="2377440"/>
          </a:xfrm>
          <a:prstGeom prst="rect">
            <a:avLst/>
          </a:prstGeom>
          <a:solidFill>
            <a:srgbClr val="FFFFFF"/>
          </a:solidFill>
          <a:ln w="9525">
            <a:solidFill>
              <a:srgbClr val="D8DDE2"/>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2743200" y="2240280"/>
            <a:ext cx="457200" cy="457200"/>
          </a:xfrm>
          <a:prstGeom prst="rect">
            <a:avLst/>
          </a:prstGeom>
        </p:spPr>
      </p:pic>
      <p:sp>
        <p:nvSpPr>
          <p:cNvPr id="12" name="Text 8"/>
          <p:cNvSpPr/>
          <p:nvPr/>
        </p:nvSpPr>
        <p:spPr>
          <a:xfrm>
            <a:off x="2240280" y="2788920"/>
            <a:ext cx="1463040" cy="365760"/>
          </a:xfrm>
          <a:prstGeom prst="rect">
            <a:avLst/>
          </a:prstGeom>
          <a:noFill/>
          <a:ln/>
        </p:spPr>
        <p:txBody>
          <a:bodyPr wrap="square" lIns="0" tIns="0" rIns="0" bIns="0" rtlCol="0" anchor="ctr"/>
          <a:lstStyle/>
          <a:p>
            <a:pPr marL="0" indent="0" algn="ctr">
              <a:buNone/>
            </a:pPr>
            <a:r>
              <a:rPr lang="en-US" sz="1300" b="1">
                <a:solidFill>
                  <a:srgbClr val="1F2933"/>
                </a:solidFill>
                <a:latin typeface="Calibri" pitchFamily="34" charset="0"/>
                <a:ea typeface="Calibri" pitchFamily="34" charset="-122"/>
                <a:cs typeface="Calibri" pitchFamily="34" charset="-120"/>
              </a:rPr>
              <a:t>RAG</a:t>
            </a:r>
            <a:endParaRPr lang="en-US" sz="1300"/>
          </a:p>
        </p:txBody>
      </p:sp>
      <p:sp>
        <p:nvSpPr>
          <p:cNvPr id="13" name="Text 9"/>
          <p:cNvSpPr/>
          <p:nvPr/>
        </p:nvSpPr>
        <p:spPr>
          <a:xfrm>
            <a:off x="2240280" y="3200400"/>
            <a:ext cx="1463040" cy="1097280"/>
          </a:xfrm>
          <a:prstGeom prst="rect">
            <a:avLst/>
          </a:prstGeom>
          <a:noFill/>
          <a:ln/>
        </p:spPr>
        <p:txBody>
          <a:bodyPr wrap="square" lIns="0" tIns="0" rIns="0" bIns="0" rtlCol="0" anchor="ctr"/>
          <a:lstStyle/>
          <a:p>
            <a:pPr marL="0" indent="0" algn="ctr">
              <a:buNone/>
            </a:pPr>
            <a:r>
              <a:rPr lang="en-US" sz="1000">
                <a:solidFill>
                  <a:srgbClr val="52606D"/>
                </a:solidFill>
                <a:latin typeface="Calibri" pitchFamily="34" charset="0"/>
                <a:ea typeface="Calibri" pitchFamily="34" charset="-122"/>
                <a:cs typeface="Calibri" pitchFamily="34" charset="-120"/>
              </a:rPr>
              <a:t>Retrieval, Groundedness, Relevance, Completeness</a:t>
            </a:r>
            <a:endParaRPr lang="en-US" sz="1000"/>
          </a:p>
        </p:txBody>
      </p:sp>
      <p:sp>
        <p:nvSpPr>
          <p:cNvPr id="14" name="Shape 10"/>
          <p:cNvSpPr/>
          <p:nvPr/>
        </p:nvSpPr>
        <p:spPr>
          <a:xfrm>
            <a:off x="3840480" y="2057400"/>
            <a:ext cx="1645920" cy="2377440"/>
          </a:xfrm>
          <a:prstGeom prst="rect">
            <a:avLst/>
          </a:prstGeom>
          <a:solidFill>
            <a:srgbClr val="FFFFFF"/>
          </a:solidFill>
          <a:ln w="9525">
            <a:solidFill>
              <a:srgbClr val="D8DDE2"/>
            </a:solidFill>
            <a:prstDash val="solid"/>
          </a:ln>
        </p:spPr>
        <p:txBody>
          <a:bodyPr/>
          <a:lstStyle/>
          <a:p>
            <a:endParaRPr lang="en-US"/>
          </a:p>
        </p:txBody>
      </p:sp>
      <p:pic>
        <p:nvPicPr>
          <p:cNvPr id="15" name="Image 2" descr="preencoded.png"/>
          <p:cNvPicPr>
            <a:picLocks noChangeAspect="1"/>
          </p:cNvPicPr>
          <p:nvPr/>
        </p:nvPicPr>
        <p:blipFill>
          <a:blip r:embed="rId5"/>
          <a:stretch>
            <a:fillRect/>
          </a:stretch>
        </p:blipFill>
        <p:spPr>
          <a:xfrm>
            <a:off x="4434840" y="2240280"/>
            <a:ext cx="457200" cy="457200"/>
          </a:xfrm>
          <a:prstGeom prst="rect">
            <a:avLst/>
          </a:prstGeom>
        </p:spPr>
      </p:pic>
      <p:sp>
        <p:nvSpPr>
          <p:cNvPr id="16" name="Text 11"/>
          <p:cNvSpPr/>
          <p:nvPr/>
        </p:nvSpPr>
        <p:spPr>
          <a:xfrm>
            <a:off x="3931920" y="2788920"/>
            <a:ext cx="1463040" cy="365760"/>
          </a:xfrm>
          <a:prstGeom prst="rect">
            <a:avLst/>
          </a:prstGeom>
          <a:noFill/>
          <a:ln/>
        </p:spPr>
        <p:txBody>
          <a:bodyPr wrap="square" lIns="0" tIns="0" rIns="0" bIns="0" rtlCol="0" anchor="ctr"/>
          <a:lstStyle/>
          <a:p>
            <a:pPr marL="0" indent="0" algn="ctr">
              <a:buNone/>
            </a:pPr>
            <a:r>
              <a:rPr lang="en-US" sz="1300" b="1">
                <a:solidFill>
                  <a:srgbClr val="1F2933"/>
                </a:solidFill>
                <a:latin typeface="Calibri" pitchFamily="34" charset="0"/>
                <a:ea typeface="Calibri" pitchFamily="34" charset="-122"/>
                <a:cs typeface="Calibri" pitchFamily="34" charset="-120"/>
              </a:rPr>
              <a:t>Agent</a:t>
            </a:r>
            <a:endParaRPr lang="en-US" sz="1300"/>
          </a:p>
        </p:txBody>
      </p:sp>
      <p:sp>
        <p:nvSpPr>
          <p:cNvPr id="17" name="Text 12"/>
          <p:cNvSpPr/>
          <p:nvPr/>
        </p:nvSpPr>
        <p:spPr>
          <a:xfrm>
            <a:off x="3931920" y="3200400"/>
            <a:ext cx="1463040" cy="1097280"/>
          </a:xfrm>
          <a:prstGeom prst="rect">
            <a:avLst/>
          </a:prstGeom>
          <a:noFill/>
          <a:ln/>
        </p:spPr>
        <p:txBody>
          <a:bodyPr wrap="square" lIns="0" tIns="0" rIns="0" bIns="0" rtlCol="0" anchor="ctr"/>
          <a:lstStyle/>
          <a:p>
            <a:pPr marL="0" indent="0" algn="ctr">
              <a:buNone/>
            </a:pPr>
            <a:r>
              <a:rPr lang="en-US" sz="1000">
                <a:solidFill>
                  <a:srgbClr val="52606D"/>
                </a:solidFill>
                <a:latin typeface="Calibri" pitchFamily="34" charset="0"/>
                <a:ea typeface="Calibri" pitchFamily="34" charset="-122"/>
                <a:cs typeface="Calibri" pitchFamily="34" charset="-120"/>
              </a:rPr>
              <a:t>Task adherence, intent, tool calls</a:t>
            </a:r>
            <a:endParaRPr lang="en-US" sz="1000"/>
          </a:p>
        </p:txBody>
      </p:sp>
      <p:sp>
        <p:nvSpPr>
          <p:cNvPr id="18" name="Shape 13"/>
          <p:cNvSpPr/>
          <p:nvPr/>
        </p:nvSpPr>
        <p:spPr>
          <a:xfrm>
            <a:off x="5532120" y="2057400"/>
            <a:ext cx="1645920" cy="2377440"/>
          </a:xfrm>
          <a:prstGeom prst="rect">
            <a:avLst/>
          </a:prstGeom>
          <a:solidFill>
            <a:srgbClr val="FFFFFF"/>
          </a:solidFill>
          <a:ln w="9525">
            <a:solidFill>
              <a:srgbClr val="D8DDE2"/>
            </a:solidFill>
            <a:prstDash val="solid"/>
          </a:ln>
        </p:spPr>
        <p:txBody>
          <a:bodyPr/>
          <a:lstStyle/>
          <a:p>
            <a:endParaRPr lang="en-US"/>
          </a:p>
        </p:txBody>
      </p:sp>
      <p:pic>
        <p:nvPicPr>
          <p:cNvPr id="19" name="Image 3" descr="preencoded.png"/>
          <p:cNvPicPr>
            <a:picLocks noChangeAspect="1"/>
          </p:cNvPicPr>
          <p:nvPr/>
        </p:nvPicPr>
        <p:blipFill>
          <a:blip r:embed="rId6"/>
          <a:stretch>
            <a:fillRect/>
          </a:stretch>
        </p:blipFill>
        <p:spPr>
          <a:xfrm>
            <a:off x="6126480" y="2240280"/>
            <a:ext cx="457200" cy="457200"/>
          </a:xfrm>
          <a:prstGeom prst="rect">
            <a:avLst/>
          </a:prstGeom>
        </p:spPr>
      </p:pic>
      <p:sp>
        <p:nvSpPr>
          <p:cNvPr id="20" name="Text 14"/>
          <p:cNvSpPr/>
          <p:nvPr/>
        </p:nvSpPr>
        <p:spPr>
          <a:xfrm>
            <a:off x="5623560" y="2788920"/>
            <a:ext cx="1463040" cy="365760"/>
          </a:xfrm>
          <a:prstGeom prst="rect">
            <a:avLst/>
          </a:prstGeom>
          <a:noFill/>
          <a:ln/>
        </p:spPr>
        <p:txBody>
          <a:bodyPr wrap="square" lIns="0" tIns="0" rIns="0" bIns="0" rtlCol="0" anchor="ctr"/>
          <a:lstStyle/>
          <a:p>
            <a:pPr marL="0" indent="0" algn="ctr">
              <a:buNone/>
            </a:pPr>
            <a:r>
              <a:rPr lang="en-US" sz="1300" b="1">
                <a:solidFill>
                  <a:srgbClr val="1F2933"/>
                </a:solidFill>
                <a:latin typeface="Calibri" pitchFamily="34" charset="0"/>
                <a:ea typeface="Calibri" pitchFamily="34" charset="-122"/>
                <a:cs typeface="Calibri" pitchFamily="34" charset="-120"/>
              </a:rPr>
              <a:t>Risk &amp; safety</a:t>
            </a:r>
            <a:endParaRPr lang="en-US" sz="1300"/>
          </a:p>
        </p:txBody>
      </p:sp>
      <p:sp>
        <p:nvSpPr>
          <p:cNvPr id="21" name="Text 15"/>
          <p:cNvSpPr/>
          <p:nvPr/>
        </p:nvSpPr>
        <p:spPr>
          <a:xfrm>
            <a:off x="5623560" y="3200400"/>
            <a:ext cx="1463040" cy="1097280"/>
          </a:xfrm>
          <a:prstGeom prst="rect">
            <a:avLst/>
          </a:prstGeom>
          <a:noFill/>
          <a:ln/>
        </p:spPr>
        <p:txBody>
          <a:bodyPr wrap="square" lIns="0" tIns="0" rIns="0" bIns="0" rtlCol="0" anchor="ctr"/>
          <a:lstStyle/>
          <a:p>
            <a:pPr marL="0" indent="0" algn="ctr">
              <a:buNone/>
            </a:pPr>
            <a:r>
              <a:rPr lang="en-US" sz="1000">
                <a:solidFill>
                  <a:srgbClr val="52606D"/>
                </a:solidFill>
                <a:latin typeface="Calibri" pitchFamily="34" charset="0"/>
                <a:ea typeface="Calibri" pitchFamily="34" charset="-122"/>
                <a:cs typeface="Calibri" pitchFamily="34" charset="-120"/>
              </a:rPr>
              <a:t>Violence, hate, self-harm, XPIA, code vuln</a:t>
            </a:r>
            <a:endParaRPr lang="en-US" sz="1000"/>
          </a:p>
        </p:txBody>
      </p:sp>
      <p:sp>
        <p:nvSpPr>
          <p:cNvPr id="22" name="Shape 16"/>
          <p:cNvSpPr/>
          <p:nvPr/>
        </p:nvSpPr>
        <p:spPr>
          <a:xfrm>
            <a:off x="7223760" y="2057400"/>
            <a:ext cx="1645920" cy="2377440"/>
          </a:xfrm>
          <a:prstGeom prst="rect">
            <a:avLst/>
          </a:prstGeom>
          <a:solidFill>
            <a:srgbClr val="FFFFFF"/>
          </a:solidFill>
          <a:ln w="9525">
            <a:solidFill>
              <a:srgbClr val="D8DDE2"/>
            </a:solidFill>
            <a:prstDash val="solid"/>
          </a:ln>
        </p:spPr>
        <p:txBody>
          <a:bodyPr/>
          <a:lstStyle/>
          <a:p>
            <a:endParaRPr lang="en-US"/>
          </a:p>
        </p:txBody>
      </p:sp>
      <p:pic>
        <p:nvPicPr>
          <p:cNvPr id="23" name="Image 4" descr="preencoded.png"/>
          <p:cNvPicPr>
            <a:picLocks noChangeAspect="1"/>
          </p:cNvPicPr>
          <p:nvPr/>
        </p:nvPicPr>
        <p:blipFill>
          <a:blip r:embed="rId7"/>
          <a:stretch>
            <a:fillRect/>
          </a:stretch>
        </p:blipFill>
        <p:spPr>
          <a:xfrm>
            <a:off x="7818120" y="2240280"/>
            <a:ext cx="457200" cy="457200"/>
          </a:xfrm>
          <a:prstGeom prst="rect">
            <a:avLst/>
          </a:prstGeom>
        </p:spPr>
      </p:pic>
      <p:sp>
        <p:nvSpPr>
          <p:cNvPr id="24" name="Text 17"/>
          <p:cNvSpPr/>
          <p:nvPr/>
        </p:nvSpPr>
        <p:spPr>
          <a:xfrm>
            <a:off x="7315200" y="2788920"/>
            <a:ext cx="1463040" cy="365760"/>
          </a:xfrm>
          <a:prstGeom prst="rect">
            <a:avLst/>
          </a:prstGeom>
          <a:noFill/>
          <a:ln/>
        </p:spPr>
        <p:txBody>
          <a:bodyPr wrap="square" lIns="0" tIns="0" rIns="0" bIns="0" rtlCol="0" anchor="ctr"/>
          <a:lstStyle/>
          <a:p>
            <a:pPr marL="0" indent="0" algn="ctr">
              <a:buNone/>
            </a:pPr>
            <a:r>
              <a:rPr lang="en-US" sz="1300" b="1">
                <a:solidFill>
                  <a:srgbClr val="1F2933"/>
                </a:solidFill>
                <a:latin typeface="Calibri" pitchFamily="34" charset="0"/>
                <a:ea typeface="Calibri" pitchFamily="34" charset="-122"/>
                <a:cs typeface="Calibri" pitchFamily="34" charset="-120"/>
              </a:rPr>
              <a:t>Custom</a:t>
            </a:r>
            <a:endParaRPr lang="en-US" sz="1300"/>
          </a:p>
        </p:txBody>
      </p:sp>
      <p:sp>
        <p:nvSpPr>
          <p:cNvPr id="25" name="Text 18"/>
          <p:cNvSpPr/>
          <p:nvPr/>
        </p:nvSpPr>
        <p:spPr>
          <a:xfrm>
            <a:off x="7315200" y="3200400"/>
            <a:ext cx="1463040" cy="1097280"/>
          </a:xfrm>
          <a:prstGeom prst="rect">
            <a:avLst/>
          </a:prstGeom>
          <a:noFill/>
          <a:ln/>
        </p:spPr>
        <p:txBody>
          <a:bodyPr wrap="square" lIns="0" tIns="0" rIns="0" bIns="0" rtlCol="0" anchor="ctr"/>
          <a:lstStyle/>
          <a:p>
            <a:pPr marL="0" indent="0" algn="ctr">
              <a:buNone/>
            </a:pPr>
            <a:r>
              <a:rPr lang="en-US" sz="1000">
                <a:solidFill>
                  <a:srgbClr val="52606D"/>
                </a:solidFill>
                <a:latin typeface="Calibri" pitchFamily="34" charset="0"/>
                <a:ea typeface="Calibri" pitchFamily="34" charset="-122"/>
                <a:cs typeface="Calibri" pitchFamily="34" charset="-120"/>
              </a:rPr>
              <a:t>Rubric, code-based, or prompt-based — your rules</a:t>
            </a:r>
            <a:endParaRPr lang="en-US" sz="1000"/>
          </a:p>
        </p:txBody>
      </p:sp>
      <p:sp>
        <p:nvSpPr>
          <p:cNvPr id="26" name="Text 19"/>
          <p:cNvSpPr/>
          <p:nvPr/>
        </p:nvSpPr>
        <p:spPr>
          <a:xfrm>
            <a:off x="457200" y="4823460"/>
            <a:ext cx="5486400" cy="228600"/>
          </a:xfrm>
          <a:prstGeom prst="rect">
            <a:avLst/>
          </a:prstGeom>
          <a:noFill/>
          <a:ln/>
        </p:spPr>
        <p:txBody>
          <a:bodyPr wrap="square" lIns="0" tIns="0" rIns="0" bIns="0" rtlCol="0" anchor="ctr"/>
          <a:lstStyle/>
          <a:p>
            <a:pPr marL="0" indent="0">
              <a:buNone/>
            </a:pPr>
            <a:r>
              <a:rPr lang="en-US" sz="900">
                <a:solidFill>
                  <a:srgbClr val="52606D"/>
                </a:solidFill>
                <a:latin typeface="Calibri" pitchFamily="34" charset="0"/>
                <a:ea typeface="Calibri" pitchFamily="34" charset="-122"/>
                <a:cs typeface="Calibri" pitchFamily="34" charset="-120"/>
              </a:rPr>
              <a:t>AI Evaluations  ·  Microsoft Agent Framework</a:t>
            </a:r>
            <a:endParaRPr lang="en-US" sz="900"/>
          </a:p>
        </p:txBody>
      </p:sp>
      <p:sp>
        <p:nvSpPr>
          <p:cNvPr id="27" name="Text 20"/>
          <p:cNvSpPr/>
          <p:nvPr/>
        </p:nvSpPr>
        <p:spPr>
          <a:xfrm>
            <a:off x="8046720" y="4823460"/>
            <a:ext cx="640080" cy="228600"/>
          </a:xfrm>
          <a:prstGeom prst="rect">
            <a:avLst/>
          </a:prstGeom>
          <a:noFill/>
          <a:ln/>
        </p:spPr>
        <p:txBody>
          <a:bodyPr wrap="square" lIns="0" tIns="0" rIns="0" bIns="0" rtlCol="0" anchor="ctr"/>
          <a:lstStyle/>
          <a:p>
            <a:pPr marL="0" indent="0" algn="r">
              <a:buNone/>
            </a:pPr>
            <a:r>
              <a:rPr lang="en-US" sz="900">
                <a:solidFill>
                  <a:srgbClr val="52606D"/>
                </a:solidFill>
                <a:latin typeface="Calibri" pitchFamily="34" charset="0"/>
                <a:ea typeface="Calibri" pitchFamily="34" charset="-122"/>
                <a:cs typeface="Calibri" pitchFamily="34" charset="-120"/>
              </a:rPr>
              <a:t>4 / 19</a:t>
            </a:r>
            <a:endParaRPr lang="en-US" sz="9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marL="0" indent="0">
              <a:buNone/>
            </a:pPr>
            <a:r>
              <a:rPr lang="en-US" sz="1000" b="1" kern="0" spc="400">
                <a:solidFill>
                  <a:srgbClr val="0F6E73"/>
                </a:solidFill>
                <a:latin typeface="Calibri" pitchFamily="34" charset="0"/>
                <a:ea typeface="Calibri" pitchFamily="34" charset="-122"/>
                <a:cs typeface="Calibri" pitchFamily="34" charset="-120"/>
              </a:rPr>
              <a:t>QUALITY</a:t>
            </a:r>
            <a:endParaRPr lang="en-US" sz="1000"/>
          </a:p>
        </p:txBody>
      </p:sp>
      <p:sp>
        <p:nvSpPr>
          <p:cNvPr id="3" name="Text 1"/>
          <p:cNvSpPr/>
          <p:nvPr/>
        </p:nvSpPr>
        <p:spPr>
          <a:xfrm>
            <a:off x="457200" y="566928"/>
            <a:ext cx="8229600" cy="640080"/>
          </a:xfrm>
          <a:prstGeom prst="rect">
            <a:avLst/>
          </a:prstGeom>
          <a:noFill/>
          <a:ln/>
        </p:spPr>
        <p:txBody>
          <a:bodyPr wrap="square" lIns="0" tIns="0" rIns="0" bIns="0" rtlCol="0" anchor="ctr"/>
          <a:lstStyle/>
          <a:p>
            <a:pPr marL="0" indent="0">
              <a:buNone/>
            </a:pPr>
            <a:r>
              <a:rPr lang="en-US" sz="2800" b="1">
                <a:solidFill>
                  <a:srgbClr val="1F2933"/>
                </a:solidFill>
                <a:latin typeface="Calibri" pitchFamily="34" charset="0"/>
                <a:ea typeface="Calibri" pitchFamily="34" charset="-122"/>
                <a:cs typeface="Calibri" pitchFamily="34" charset="-120"/>
              </a:rPr>
              <a:t>General purpose evaluators</a:t>
            </a:r>
            <a:endParaRPr lang="en-US" sz="2800"/>
          </a:p>
        </p:txBody>
      </p:sp>
      <p:sp>
        <p:nvSpPr>
          <p:cNvPr id="4" name="Shape 2"/>
          <p:cNvSpPr/>
          <p:nvPr/>
        </p:nvSpPr>
        <p:spPr>
          <a:xfrm>
            <a:off x="457200" y="1225296"/>
            <a:ext cx="731520" cy="0"/>
          </a:xfrm>
          <a:prstGeom prst="line">
            <a:avLst/>
          </a:prstGeom>
          <a:noFill/>
          <a:ln w="25400">
            <a:solidFill>
              <a:srgbClr val="0F6E73"/>
            </a:solidFill>
            <a:prstDash val="solid"/>
          </a:ln>
        </p:spPr>
        <p:txBody>
          <a:bodyPr/>
          <a:lstStyle/>
          <a:p>
            <a:endParaRPr lang="en-US"/>
          </a:p>
        </p:txBody>
      </p:sp>
      <p:sp>
        <p:nvSpPr>
          <p:cNvPr id="5" name="Text 3"/>
          <p:cNvSpPr/>
          <p:nvPr/>
        </p:nvSpPr>
        <p:spPr>
          <a:xfrm>
            <a:off x="457200" y="1417320"/>
            <a:ext cx="8229600" cy="548640"/>
          </a:xfrm>
          <a:prstGeom prst="rect">
            <a:avLst/>
          </a:prstGeom>
          <a:noFill/>
          <a:ln/>
        </p:spPr>
        <p:txBody>
          <a:bodyPr wrap="square" lIns="0" tIns="0" rIns="0" bIns="0" rtlCol="0" anchor="ctr"/>
          <a:lstStyle/>
          <a:p>
            <a:pPr marL="0" indent="0">
              <a:buNone/>
            </a:pPr>
            <a:r>
              <a:rPr lang="en-US" sz="1300">
                <a:solidFill>
                  <a:srgbClr val="52606D"/>
                </a:solidFill>
                <a:latin typeface="Calibri" pitchFamily="34" charset="0"/>
                <a:ea typeface="Calibri" pitchFamily="34" charset="-122"/>
                <a:cs typeface="Calibri" pitchFamily="34" charset="-120"/>
              </a:rPr>
              <a:t>Writing quality, independent of factual correctness. LLM-as-judge on a 1–5 Likert scale (default pass threshold 3). English-language only today.</a:t>
            </a:r>
            <a:endParaRPr lang="en-US" sz="1300"/>
          </a:p>
        </p:txBody>
      </p:sp>
      <p:sp>
        <p:nvSpPr>
          <p:cNvPr id="6" name="Shape 4"/>
          <p:cNvSpPr/>
          <p:nvPr/>
        </p:nvSpPr>
        <p:spPr>
          <a:xfrm>
            <a:off x="457200" y="2103120"/>
            <a:ext cx="4023360" cy="2468880"/>
          </a:xfrm>
          <a:prstGeom prst="rect">
            <a:avLst/>
          </a:prstGeom>
          <a:solidFill>
            <a:srgbClr val="F4F6F8"/>
          </a:solidFill>
          <a:ln w="9525">
            <a:solidFill>
              <a:srgbClr val="D8DDE2"/>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685800" y="2286000"/>
            <a:ext cx="411480" cy="411480"/>
          </a:xfrm>
          <a:prstGeom prst="rect">
            <a:avLst/>
          </a:prstGeom>
        </p:spPr>
      </p:pic>
      <p:sp>
        <p:nvSpPr>
          <p:cNvPr id="8" name="Text 5"/>
          <p:cNvSpPr/>
          <p:nvPr/>
        </p:nvSpPr>
        <p:spPr>
          <a:xfrm>
            <a:off x="1234440" y="2240280"/>
            <a:ext cx="3108960" cy="457200"/>
          </a:xfrm>
          <a:prstGeom prst="rect">
            <a:avLst/>
          </a:prstGeom>
          <a:noFill/>
          <a:ln/>
        </p:spPr>
        <p:txBody>
          <a:bodyPr wrap="square" lIns="0" tIns="0" rIns="0" bIns="0" rtlCol="0" anchor="ctr"/>
          <a:lstStyle/>
          <a:p>
            <a:pPr marL="0" indent="0">
              <a:buNone/>
            </a:pPr>
            <a:r>
              <a:rPr lang="en-US" sz="1800" b="1">
                <a:solidFill>
                  <a:srgbClr val="1F2933"/>
                </a:solidFill>
                <a:latin typeface="Calibri" pitchFamily="34" charset="0"/>
                <a:ea typeface="Calibri" pitchFamily="34" charset="-122"/>
                <a:cs typeface="Calibri" pitchFamily="34" charset="-120"/>
              </a:rPr>
              <a:t>Coherence</a:t>
            </a:r>
            <a:endParaRPr lang="en-US" sz="1800"/>
          </a:p>
        </p:txBody>
      </p:sp>
      <p:sp>
        <p:nvSpPr>
          <p:cNvPr id="9" name="Text 6"/>
          <p:cNvSpPr/>
          <p:nvPr/>
        </p:nvSpPr>
        <p:spPr>
          <a:xfrm>
            <a:off x="685800" y="2834640"/>
            <a:ext cx="3657600" cy="1097280"/>
          </a:xfrm>
          <a:prstGeom prst="rect">
            <a:avLst/>
          </a:prstGeom>
          <a:noFill/>
          <a:ln/>
        </p:spPr>
        <p:txBody>
          <a:bodyPr wrap="square" lIns="0" tIns="0" rIns="0" bIns="0" rtlCol="0" anchor="ctr"/>
          <a:lstStyle/>
          <a:p>
            <a:pPr marL="0" indent="0">
              <a:buNone/>
            </a:pPr>
            <a:r>
              <a:rPr lang="en-US" sz="1200">
                <a:solidFill>
                  <a:srgbClr val="1F2933"/>
                </a:solidFill>
                <a:latin typeface="Calibri" pitchFamily="34" charset="0"/>
                <a:ea typeface="Calibri" pitchFamily="34" charset="-122"/>
                <a:cs typeface="Calibri" pitchFamily="34" charset="-120"/>
              </a:rPr>
              <a:t>Logical flow and organization. Do ideas connect? Do transitions make sense?</a:t>
            </a:r>
            <a:endParaRPr lang="en-US" sz="1200"/>
          </a:p>
        </p:txBody>
      </p:sp>
      <p:sp>
        <p:nvSpPr>
          <p:cNvPr id="10" name="Text 7"/>
          <p:cNvSpPr/>
          <p:nvPr/>
        </p:nvSpPr>
        <p:spPr>
          <a:xfrm>
            <a:off x="685800" y="4023360"/>
            <a:ext cx="3657600" cy="274320"/>
          </a:xfrm>
          <a:prstGeom prst="rect">
            <a:avLst/>
          </a:prstGeom>
          <a:noFill/>
          <a:ln/>
        </p:spPr>
        <p:txBody>
          <a:bodyPr wrap="square" lIns="0" tIns="0" rIns="0" bIns="0" rtlCol="0" anchor="ctr"/>
          <a:lstStyle/>
          <a:p>
            <a:pPr marL="0" indent="0">
              <a:buNone/>
            </a:pPr>
            <a:r>
              <a:rPr lang="en-US" sz="1000">
                <a:solidFill>
                  <a:srgbClr val="0F6E73"/>
                </a:solidFill>
                <a:latin typeface="Consolas" pitchFamily="34" charset="0"/>
                <a:ea typeface="Consolas" pitchFamily="34" charset="-122"/>
                <a:cs typeface="Consolas" pitchFamily="34" charset="-120"/>
              </a:rPr>
              <a:t>Inputs: query, response</a:t>
            </a:r>
            <a:endParaRPr lang="en-US" sz="1000"/>
          </a:p>
        </p:txBody>
      </p:sp>
      <p:sp>
        <p:nvSpPr>
          <p:cNvPr id="11" name="Shape 8"/>
          <p:cNvSpPr/>
          <p:nvPr/>
        </p:nvSpPr>
        <p:spPr>
          <a:xfrm>
            <a:off x="4663440" y="2103120"/>
            <a:ext cx="4023360" cy="2468880"/>
          </a:xfrm>
          <a:prstGeom prst="rect">
            <a:avLst/>
          </a:prstGeom>
          <a:solidFill>
            <a:srgbClr val="F4F6F8"/>
          </a:solidFill>
          <a:ln w="9525">
            <a:solidFill>
              <a:srgbClr val="D8DDE2"/>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4892040" y="2286000"/>
            <a:ext cx="411480" cy="411480"/>
          </a:xfrm>
          <a:prstGeom prst="rect">
            <a:avLst/>
          </a:prstGeom>
        </p:spPr>
      </p:pic>
      <p:sp>
        <p:nvSpPr>
          <p:cNvPr id="13" name="Text 9"/>
          <p:cNvSpPr/>
          <p:nvPr/>
        </p:nvSpPr>
        <p:spPr>
          <a:xfrm>
            <a:off x="5440680" y="2240280"/>
            <a:ext cx="3108960" cy="457200"/>
          </a:xfrm>
          <a:prstGeom prst="rect">
            <a:avLst/>
          </a:prstGeom>
          <a:noFill/>
          <a:ln/>
        </p:spPr>
        <p:txBody>
          <a:bodyPr wrap="square" lIns="0" tIns="0" rIns="0" bIns="0" rtlCol="0" anchor="ctr"/>
          <a:lstStyle/>
          <a:p>
            <a:pPr marL="0" indent="0">
              <a:buNone/>
            </a:pPr>
            <a:r>
              <a:rPr lang="en-US" sz="1800" b="1">
                <a:solidFill>
                  <a:srgbClr val="1F2933"/>
                </a:solidFill>
                <a:latin typeface="Calibri" pitchFamily="34" charset="0"/>
                <a:ea typeface="Calibri" pitchFamily="34" charset="-122"/>
                <a:cs typeface="Calibri" pitchFamily="34" charset="-120"/>
              </a:rPr>
              <a:t>Fluency</a:t>
            </a:r>
            <a:endParaRPr lang="en-US" sz="1800"/>
          </a:p>
        </p:txBody>
      </p:sp>
      <p:sp>
        <p:nvSpPr>
          <p:cNvPr id="14" name="Text 10"/>
          <p:cNvSpPr/>
          <p:nvPr/>
        </p:nvSpPr>
        <p:spPr>
          <a:xfrm>
            <a:off x="4892040" y="2834640"/>
            <a:ext cx="3657600" cy="1097280"/>
          </a:xfrm>
          <a:prstGeom prst="rect">
            <a:avLst/>
          </a:prstGeom>
          <a:noFill/>
          <a:ln/>
        </p:spPr>
        <p:txBody>
          <a:bodyPr wrap="square" lIns="0" tIns="0" rIns="0" bIns="0" rtlCol="0" anchor="ctr"/>
          <a:lstStyle/>
          <a:p>
            <a:pPr marL="0" indent="0">
              <a:buNone/>
            </a:pPr>
            <a:r>
              <a:rPr lang="en-US" sz="1200">
                <a:solidFill>
                  <a:srgbClr val="1F2933"/>
                </a:solidFill>
                <a:latin typeface="Calibri" pitchFamily="34" charset="0"/>
                <a:ea typeface="Calibri" pitchFamily="34" charset="-122"/>
                <a:cs typeface="Calibri" pitchFamily="34" charset="-120"/>
              </a:rPr>
              <a:t>Grammatical accuracy, vocabulary, readability. How smoothly does the text read?</a:t>
            </a:r>
            <a:endParaRPr lang="en-US" sz="1200"/>
          </a:p>
        </p:txBody>
      </p:sp>
      <p:sp>
        <p:nvSpPr>
          <p:cNvPr id="15" name="Text 11"/>
          <p:cNvSpPr/>
          <p:nvPr/>
        </p:nvSpPr>
        <p:spPr>
          <a:xfrm>
            <a:off x="4892040" y="4023360"/>
            <a:ext cx="3657600" cy="274320"/>
          </a:xfrm>
          <a:prstGeom prst="rect">
            <a:avLst/>
          </a:prstGeom>
          <a:noFill/>
          <a:ln/>
        </p:spPr>
        <p:txBody>
          <a:bodyPr wrap="square" lIns="0" tIns="0" rIns="0" bIns="0" rtlCol="0" anchor="ctr"/>
          <a:lstStyle/>
          <a:p>
            <a:pPr marL="0" indent="0">
              <a:buNone/>
            </a:pPr>
            <a:r>
              <a:rPr lang="en-US" sz="1000">
                <a:solidFill>
                  <a:srgbClr val="0F6E73"/>
                </a:solidFill>
                <a:latin typeface="Consolas" pitchFamily="34" charset="0"/>
                <a:ea typeface="Consolas" pitchFamily="34" charset="-122"/>
                <a:cs typeface="Consolas" pitchFamily="34" charset="-120"/>
              </a:rPr>
              <a:t>Inputs: response</a:t>
            </a:r>
            <a:endParaRPr lang="en-US" sz="1000"/>
          </a:p>
        </p:txBody>
      </p:sp>
      <p:sp>
        <p:nvSpPr>
          <p:cNvPr id="16" name="Text 12"/>
          <p:cNvSpPr/>
          <p:nvPr/>
        </p:nvSpPr>
        <p:spPr>
          <a:xfrm>
            <a:off x="457200" y="4663440"/>
            <a:ext cx="8229600" cy="274320"/>
          </a:xfrm>
          <a:prstGeom prst="rect">
            <a:avLst/>
          </a:prstGeom>
          <a:noFill/>
          <a:ln/>
        </p:spPr>
        <p:txBody>
          <a:bodyPr wrap="square" lIns="0" tIns="0" rIns="0" bIns="0" rtlCol="0" anchor="ctr"/>
          <a:lstStyle/>
          <a:p>
            <a:pPr marL="0" indent="0">
              <a:buNone/>
            </a:pPr>
            <a:r>
              <a:rPr lang="en-US" sz="1000" i="1">
                <a:solidFill>
                  <a:srgbClr val="52606D"/>
                </a:solidFill>
                <a:latin typeface="Calibri" pitchFamily="34" charset="0"/>
                <a:ea typeface="Calibri" pitchFamily="34" charset="-122"/>
                <a:cs typeface="Calibri" pitchFamily="34" charset="-120"/>
              </a:rPr>
              <a:t>Score 1–5 (higher is better)  ·  default threshold 3  ·  requires deployment_name</a:t>
            </a:r>
            <a:endParaRPr lang="en-US" sz="1000"/>
          </a:p>
        </p:txBody>
      </p:sp>
      <p:sp>
        <p:nvSpPr>
          <p:cNvPr id="17" name="Text 13"/>
          <p:cNvSpPr/>
          <p:nvPr/>
        </p:nvSpPr>
        <p:spPr>
          <a:xfrm>
            <a:off x="457200" y="4823460"/>
            <a:ext cx="5486400" cy="228600"/>
          </a:xfrm>
          <a:prstGeom prst="rect">
            <a:avLst/>
          </a:prstGeom>
          <a:noFill/>
          <a:ln/>
        </p:spPr>
        <p:txBody>
          <a:bodyPr wrap="square" lIns="0" tIns="0" rIns="0" bIns="0" rtlCol="0" anchor="ctr"/>
          <a:lstStyle/>
          <a:p>
            <a:pPr marL="0" indent="0">
              <a:buNone/>
            </a:pPr>
            <a:r>
              <a:rPr lang="en-US" sz="900">
                <a:solidFill>
                  <a:srgbClr val="52606D"/>
                </a:solidFill>
                <a:latin typeface="Calibri" pitchFamily="34" charset="0"/>
                <a:ea typeface="Calibri" pitchFamily="34" charset="-122"/>
                <a:cs typeface="Calibri" pitchFamily="34" charset="-120"/>
              </a:rPr>
              <a:t>AI Evaluations  ·  Microsoft Agent Framework</a:t>
            </a:r>
            <a:endParaRPr lang="en-US" sz="900"/>
          </a:p>
        </p:txBody>
      </p:sp>
      <p:sp>
        <p:nvSpPr>
          <p:cNvPr id="18" name="Text 14"/>
          <p:cNvSpPr/>
          <p:nvPr/>
        </p:nvSpPr>
        <p:spPr>
          <a:xfrm>
            <a:off x="8046720" y="4823460"/>
            <a:ext cx="640080" cy="228600"/>
          </a:xfrm>
          <a:prstGeom prst="rect">
            <a:avLst/>
          </a:prstGeom>
          <a:noFill/>
          <a:ln/>
        </p:spPr>
        <p:txBody>
          <a:bodyPr wrap="square" lIns="0" tIns="0" rIns="0" bIns="0" rtlCol="0" anchor="ctr"/>
          <a:lstStyle/>
          <a:p>
            <a:pPr marL="0" indent="0" algn="r">
              <a:buNone/>
            </a:pPr>
            <a:r>
              <a:rPr lang="en-US" sz="900">
                <a:solidFill>
                  <a:srgbClr val="52606D"/>
                </a:solidFill>
                <a:latin typeface="Calibri" pitchFamily="34" charset="0"/>
                <a:ea typeface="Calibri" pitchFamily="34" charset="-122"/>
                <a:cs typeface="Calibri" pitchFamily="34" charset="-120"/>
              </a:rPr>
              <a:t>5 / 19</a:t>
            </a:r>
            <a:endParaRPr lang="en-US" sz="9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marL="0" indent="0">
              <a:buNone/>
            </a:pPr>
            <a:r>
              <a:rPr lang="en-US" sz="1000" b="1" kern="0" spc="400">
                <a:solidFill>
                  <a:srgbClr val="0F6E73"/>
                </a:solidFill>
                <a:latin typeface="Calibri" pitchFamily="34" charset="0"/>
                <a:ea typeface="Calibri" pitchFamily="34" charset="-122"/>
                <a:cs typeface="Calibri" pitchFamily="34" charset="-120"/>
              </a:rPr>
              <a:t>RETRIEVAL-AUGMENTED GENERATION</a:t>
            </a:r>
            <a:endParaRPr lang="en-US" sz="1000"/>
          </a:p>
        </p:txBody>
      </p:sp>
      <p:sp>
        <p:nvSpPr>
          <p:cNvPr id="3" name="Text 1"/>
          <p:cNvSpPr/>
          <p:nvPr/>
        </p:nvSpPr>
        <p:spPr>
          <a:xfrm>
            <a:off x="457200" y="566928"/>
            <a:ext cx="8229600" cy="640080"/>
          </a:xfrm>
          <a:prstGeom prst="rect">
            <a:avLst/>
          </a:prstGeom>
          <a:noFill/>
          <a:ln/>
        </p:spPr>
        <p:txBody>
          <a:bodyPr wrap="square" lIns="0" tIns="0" rIns="0" bIns="0" rtlCol="0" anchor="ctr"/>
          <a:lstStyle/>
          <a:p>
            <a:pPr marL="0" indent="0">
              <a:buNone/>
            </a:pPr>
            <a:r>
              <a:rPr lang="en-US" sz="2800" b="1">
                <a:solidFill>
                  <a:srgbClr val="1F2933"/>
                </a:solidFill>
                <a:latin typeface="Calibri" pitchFamily="34" charset="0"/>
                <a:ea typeface="Calibri" pitchFamily="34" charset="-122"/>
                <a:cs typeface="Calibri" pitchFamily="34" charset="-120"/>
              </a:rPr>
              <a:t>RAG evaluators</a:t>
            </a:r>
            <a:endParaRPr lang="en-US" sz="2800"/>
          </a:p>
        </p:txBody>
      </p:sp>
      <p:sp>
        <p:nvSpPr>
          <p:cNvPr id="4" name="Shape 2"/>
          <p:cNvSpPr/>
          <p:nvPr/>
        </p:nvSpPr>
        <p:spPr>
          <a:xfrm>
            <a:off x="457200" y="1225296"/>
            <a:ext cx="731520" cy="0"/>
          </a:xfrm>
          <a:prstGeom prst="line">
            <a:avLst/>
          </a:prstGeom>
          <a:noFill/>
          <a:ln w="25400">
            <a:solidFill>
              <a:srgbClr val="0F6E73"/>
            </a:solidFill>
            <a:prstDash val="solid"/>
          </a:ln>
        </p:spPr>
        <p:txBody>
          <a:bodyPr/>
          <a:lstStyle/>
          <a:p>
            <a:endParaRPr lang="en-US"/>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2880360"/>
        </p:xfrm>
        <a:graphic>
          <a:graphicData uri="http://schemas.openxmlformats.org/drawingml/2006/table">
            <a:tbl>
              <a:tblPr/>
              <a:tblGrid>
                <a:gridCol w="18288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411480">
                <a:tc>
                  <a:txBody>
                    <a:bodyPr/>
                    <a:lstStyle/>
                    <a:p>
                      <a:pPr marL="0" indent="0">
                        <a:buNone/>
                      </a:pPr>
                      <a:r>
                        <a:rPr lang="en-US" sz="1100" b="1">
                          <a:solidFill>
                            <a:srgbClr val="FFFFFF"/>
                          </a:solidFill>
                          <a:latin typeface="Calibri" pitchFamily="34" charset="0"/>
                          <a:ea typeface="Calibri" pitchFamily="34" charset="-122"/>
                          <a:cs typeface="Calibri" pitchFamily="34" charset="-120"/>
                        </a:rPr>
                        <a:t>Evaluator</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solidFill>
                      <a:srgbClr val="0F6E73"/>
                    </a:solidFill>
                  </a:tcPr>
                </a:tc>
                <a:tc>
                  <a:txBody>
                    <a:bodyPr/>
                    <a:lstStyle/>
                    <a:p>
                      <a:pPr marL="0" indent="0">
                        <a:buNone/>
                      </a:pPr>
                      <a:r>
                        <a:rPr lang="en-US" sz="1100" b="1">
                          <a:solidFill>
                            <a:srgbClr val="FFFFFF"/>
                          </a:solidFill>
                          <a:latin typeface="Calibri" pitchFamily="34" charset="0"/>
                          <a:ea typeface="Calibri" pitchFamily="34" charset="-122"/>
                          <a:cs typeface="Calibri" pitchFamily="34" charset="-120"/>
                        </a:rPr>
                        <a:t>What it measures</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solidFill>
                      <a:srgbClr val="0F6E73"/>
                    </a:solidFill>
                  </a:tcPr>
                </a:tc>
                <a:tc>
                  <a:txBody>
                    <a:bodyPr/>
                    <a:lstStyle/>
                    <a:p>
                      <a:pPr marL="0" indent="0">
                        <a:buNone/>
                      </a:pPr>
                      <a:r>
                        <a:rPr lang="en-US" sz="1100" b="1">
                          <a:solidFill>
                            <a:srgbClr val="FFFFFF"/>
                          </a:solidFill>
                          <a:latin typeface="Calibri" pitchFamily="34" charset="0"/>
                          <a:ea typeface="Calibri" pitchFamily="34" charset="-122"/>
                          <a:cs typeface="Calibri" pitchFamily="34" charset="-120"/>
                        </a:rPr>
                        <a:t>Required inputs</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solidFill>
                      <a:srgbClr val="0F6E73"/>
                    </a:solidFill>
                  </a:tcPr>
                </a:tc>
                <a:extLst>
                  <a:ext uri="{0D108BD9-81ED-4DB2-BD59-A6C34878D82A}">
                    <a16:rowId xmlns:a16="http://schemas.microsoft.com/office/drawing/2014/main" val="10000"/>
                  </a:ext>
                </a:extLst>
              </a:tr>
              <a:tr h="411480">
                <a:tc>
                  <a:txBody>
                    <a:bodyPr/>
                    <a:lstStyle/>
                    <a:p>
                      <a:pPr marL="0" indent="0">
                        <a:buNone/>
                      </a:pPr>
                      <a:r>
                        <a:rPr lang="en-US" sz="1100" b="1">
                          <a:solidFill>
                            <a:srgbClr val="1F2933"/>
                          </a:solidFill>
                          <a:latin typeface="Calibri" pitchFamily="34" charset="0"/>
                          <a:ea typeface="Calibri" pitchFamily="34" charset="-122"/>
                          <a:cs typeface="Calibri" pitchFamily="34" charset="-120"/>
                        </a:rPr>
                        <a:t>Retrieval</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How relevant are the retrieved chunks to the query?</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000">
                          <a:solidFill>
                            <a:srgbClr val="0F6E73"/>
                          </a:solidFill>
                          <a:latin typeface="Consolas" pitchFamily="34" charset="0"/>
                          <a:ea typeface="Consolas" pitchFamily="34" charset="-122"/>
                          <a:cs typeface="Consolas" pitchFamily="34" charset="-120"/>
                        </a:rPr>
                        <a:t>query, context</a:t>
                      </a:r>
                      <a:endParaRPr lang="en-US" sz="1000">
                        <a:latin typeface="Consolas" charset="0"/>
                        <a:ea typeface="Consolas" charset="0"/>
                        <a:cs typeface="Consolas"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100" b="1">
                          <a:solidFill>
                            <a:srgbClr val="1F2933"/>
                          </a:solidFill>
                          <a:latin typeface="Calibri" pitchFamily="34" charset="0"/>
                          <a:ea typeface="Calibri" pitchFamily="34" charset="-122"/>
                          <a:cs typeface="Calibri" pitchFamily="34" charset="-120"/>
                        </a:rPr>
                        <a:t>Document Retrieval</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Search quality vs ground truth (NDCG, fidelity, holes)</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000">
                          <a:solidFill>
                            <a:srgbClr val="0F6E73"/>
                          </a:solidFill>
                          <a:latin typeface="Consolas" pitchFamily="34" charset="0"/>
                          <a:ea typeface="Consolas" pitchFamily="34" charset="-122"/>
                          <a:cs typeface="Consolas" pitchFamily="34" charset="-120"/>
                        </a:rPr>
                        <a:t>ground_truth, retrieved</a:t>
                      </a:r>
                      <a:endParaRPr lang="en-US" sz="1000">
                        <a:latin typeface="Consolas" charset="0"/>
                        <a:ea typeface="Consolas" charset="0"/>
                        <a:cs typeface="Consolas"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buNone/>
                      </a:pPr>
                      <a:r>
                        <a:rPr lang="en-US" sz="1100" b="1">
                          <a:solidFill>
                            <a:srgbClr val="1F2933"/>
                          </a:solidFill>
                          <a:latin typeface="Calibri" pitchFamily="34" charset="0"/>
                          <a:ea typeface="Calibri" pitchFamily="34" charset="-122"/>
                          <a:cs typeface="Calibri" pitchFamily="34" charset="-120"/>
                        </a:rPr>
                        <a:t>Groundedness</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Response stays within the provided context (precision)</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000">
                          <a:solidFill>
                            <a:srgbClr val="0F6E73"/>
                          </a:solidFill>
                          <a:latin typeface="Consolas" pitchFamily="34" charset="0"/>
                          <a:ea typeface="Consolas" pitchFamily="34" charset="-122"/>
                          <a:cs typeface="Consolas" pitchFamily="34" charset="-120"/>
                        </a:rPr>
                        <a:t>response, context</a:t>
                      </a:r>
                      <a:endParaRPr lang="en-US" sz="1000">
                        <a:latin typeface="Consolas" charset="0"/>
                        <a:ea typeface="Consolas" charset="0"/>
                        <a:cs typeface="Consolas"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100" b="1">
                          <a:solidFill>
                            <a:srgbClr val="1F2933"/>
                          </a:solidFill>
                          <a:latin typeface="Calibri" pitchFamily="34" charset="0"/>
                          <a:ea typeface="Calibri" pitchFamily="34" charset="-122"/>
                          <a:cs typeface="Calibri" pitchFamily="34" charset="-120"/>
                        </a:rPr>
                        <a:t>Groundedness Pro</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Strict grounding via Azure AI Content Safety</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000">
                          <a:solidFill>
                            <a:srgbClr val="0F6E73"/>
                          </a:solidFill>
                          <a:latin typeface="Consolas" pitchFamily="34" charset="0"/>
                          <a:ea typeface="Consolas" pitchFamily="34" charset="-122"/>
                          <a:cs typeface="Consolas" pitchFamily="34" charset="-120"/>
                        </a:rPr>
                        <a:t>query, response, context</a:t>
                      </a:r>
                      <a:endParaRPr lang="en-US" sz="1000">
                        <a:latin typeface="Consolas" charset="0"/>
                        <a:ea typeface="Consolas" charset="0"/>
                        <a:cs typeface="Consolas"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extLst>
                  <a:ext uri="{0D108BD9-81ED-4DB2-BD59-A6C34878D82A}">
                    <a16:rowId xmlns:a16="http://schemas.microsoft.com/office/drawing/2014/main" val="10004"/>
                  </a:ext>
                </a:extLst>
              </a:tr>
              <a:tr h="411480">
                <a:tc>
                  <a:txBody>
                    <a:bodyPr/>
                    <a:lstStyle/>
                    <a:p>
                      <a:pPr marL="0" indent="0">
                        <a:buNone/>
                      </a:pPr>
                      <a:r>
                        <a:rPr lang="en-US" sz="1100" b="1">
                          <a:solidFill>
                            <a:srgbClr val="1F2933"/>
                          </a:solidFill>
                          <a:latin typeface="Calibri" pitchFamily="34" charset="0"/>
                          <a:ea typeface="Calibri" pitchFamily="34" charset="-122"/>
                          <a:cs typeface="Calibri" pitchFamily="34" charset="-120"/>
                        </a:rPr>
                        <a:t>Relevance</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Does the response actually answer the query?</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000">
                          <a:solidFill>
                            <a:srgbClr val="0F6E73"/>
                          </a:solidFill>
                          <a:latin typeface="Consolas" pitchFamily="34" charset="0"/>
                          <a:ea typeface="Consolas" pitchFamily="34" charset="-122"/>
                          <a:cs typeface="Consolas" pitchFamily="34" charset="-120"/>
                        </a:rPr>
                        <a:t>query, response</a:t>
                      </a:r>
                      <a:endParaRPr lang="en-US" sz="1000">
                        <a:latin typeface="Consolas" charset="0"/>
                        <a:ea typeface="Consolas" charset="0"/>
                        <a:cs typeface="Consolas"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extLst>
                  <a:ext uri="{0D108BD9-81ED-4DB2-BD59-A6C34878D82A}">
                    <a16:rowId xmlns:a16="http://schemas.microsoft.com/office/drawing/2014/main" val="10005"/>
                  </a:ext>
                </a:extLst>
              </a:tr>
              <a:tr h="411480">
                <a:tc>
                  <a:txBody>
                    <a:bodyPr/>
                    <a:lstStyle/>
                    <a:p>
                      <a:pPr marL="0" indent="0">
                        <a:buNone/>
                      </a:pPr>
                      <a:r>
                        <a:rPr lang="en-US" sz="1100" b="1">
                          <a:solidFill>
                            <a:srgbClr val="1F2933"/>
                          </a:solidFill>
                          <a:latin typeface="Calibri" pitchFamily="34" charset="0"/>
                          <a:ea typeface="Calibri" pitchFamily="34" charset="-122"/>
                          <a:cs typeface="Calibri" pitchFamily="34" charset="-120"/>
                        </a:rPr>
                        <a:t>Response Completeness</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Covers all critical info from ground truth (recall)</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000">
                          <a:solidFill>
                            <a:srgbClr val="0F6E73"/>
                          </a:solidFill>
                          <a:latin typeface="Consolas" pitchFamily="34" charset="0"/>
                          <a:ea typeface="Consolas" pitchFamily="34" charset="-122"/>
                          <a:cs typeface="Consolas" pitchFamily="34" charset="-120"/>
                        </a:rPr>
                        <a:t>ground_truth, response</a:t>
                      </a:r>
                      <a:endParaRPr lang="en-US" sz="1000">
                        <a:latin typeface="Consolas" charset="0"/>
                        <a:ea typeface="Consolas" charset="0"/>
                        <a:cs typeface="Consolas"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6" name="Text 3"/>
          <p:cNvSpPr/>
          <p:nvPr/>
        </p:nvSpPr>
        <p:spPr>
          <a:xfrm>
            <a:off x="457200" y="4617720"/>
            <a:ext cx="8229600" cy="274320"/>
          </a:xfrm>
          <a:prstGeom prst="rect">
            <a:avLst/>
          </a:prstGeom>
          <a:noFill/>
          <a:ln/>
        </p:spPr>
        <p:txBody>
          <a:bodyPr wrap="square" lIns="0" tIns="0" rIns="0" bIns="0" rtlCol="0" anchor="ctr"/>
          <a:lstStyle/>
          <a:p>
            <a:pPr marL="0" indent="0">
              <a:buNone/>
            </a:pPr>
            <a:r>
              <a:rPr lang="en-US" sz="1100" i="1">
                <a:solidFill>
                  <a:srgbClr val="52606D"/>
                </a:solidFill>
                <a:latin typeface="Calibri" pitchFamily="34" charset="0"/>
                <a:ea typeface="Calibri" pitchFamily="34" charset="-122"/>
                <a:cs typeface="Calibri" pitchFamily="34" charset="-120"/>
              </a:rPr>
              <a:t>Process evaluation = retrieval quality.  System evaluation = response quality. Combine both for a complete RAG view.</a:t>
            </a:r>
            <a:endParaRPr lang="en-US" sz="1100"/>
          </a:p>
        </p:txBody>
      </p:sp>
      <p:sp>
        <p:nvSpPr>
          <p:cNvPr id="5" name="Text 4"/>
          <p:cNvSpPr/>
          <p:nvPr/>
        </p:nvSpPr>
        <p:spPr>
          <a:xfrm>
            <a:off x="457200" y="4823460"/>
            <a:ext cx="5486400" cy="228600"/>
          </a:xfrm>
          <a:prstGeom prst="rect">
            <a:avLst/>
          </a:prstGeom>
          <a:noFill/>
          <a:ln/>
        </p:spPr>
        <p:txBody>
          <a:bodyPr wrap="square" lIns="0" tIns="0" rIns="0" bIns="0" rtlCol="0" anchor="ctr"/>
          <a:lstStyle/>
          <a:p>
            <a:pPr marL="0" indent="0">
              <a:buNone/>
            </a:pPr>
            <a:r>
              <a:rPr lang="en-US" sz="900">
                <a:solidFill>
                  <a:srgbClr val="52606D"/>
                </a:solidFill>
                <a:latin typeface="Calibri" pitchFamily="34" charset="0"/>
                <a:ea typeface="Calibri" pitchFamily="34" charset="-122"/>
                <a:cs typeface="Calibri" pitchFamily="34" charset="-120"/>
              </a:rPr>
              <a:t>AI Evaluations  ·  Microsoft Agent Framework</a:t>
            </a:r>
            <a:endParaRPr lang="en-US" sz="900"/>
          </a:p>
        </p:txBody>
      </p:sp>
      <p:sp>
        <p:nvSpPr>
          <p:cNvPr id="8" name="Text 5"/>
          <p:cNvSpPr/>
          <p:nvPr/>
        </p:nvSpPr>
        <p:spPr>
          <a:xfrm>
            <a:off x="8046720" y="4823460"/>
            <a:ext cx="640080" cy="228600"/>
          </a:xfrm>
          <a:prstGeom prst="rect">
            <a:avLst/>
          </a:prstGeom>
          <a:noFill/>
          <a:ln/>
        </p:spPr>
        <p:txBody>
          <a:bodyPr wrap="square" lIns="0" tIns="0" rIns="0" bIns="0" rtlCol="0" anchor="ctr"/>
          <a:lstStyle/>
          <a:p>
            <a:pPr marL="0" indent="0" algn="r">
              <a:buNone/>
            </a:pPr>
            <a:r>
              <a:rPr lang="en-US" sz="900">
                <a:solidFill>
                  <a:srgbClr val="52606D"/>
                </a:solidFill>
                <a:latin typeface="Calibri" pitchFamily="34" charset="0"/>
                <a:ea typeface="Calibri" pitchFamily="34" charset="-122"/>
                <a:cs typeface="Calibri" pitchFamily="34" charset="-120"/>
              </a:rPr>
              <a:t>6 / 19</a:t>
            </a:r>
            <a:endParaRPr lang="en-US" sz="9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marL="0" indent="0">
              <a:buNone/>
            </a:pPr>
            <a:r>
              <a:rPr lang="en-US" sz="1000" b="1" kern="0" spc="400">
                <a:solidFill>
                  <a:srgbClr val="0F6E73"/>
                </a:solidFill>
                <a:latin typeface="Calibri" pitchFamily="34" charset="0"/>
                <a:ea typeface="Calibri" pitchFamily="34" charset="-122"/>
                <a:cs typeface="Calibri" pitchFamily="34" charset="-120"/>
              </a:rPr>
              <a:t>END-TO-END OUTCOMES</a:t>
            </a:r>
            <a:endParaRPr lang="en-US" sz="1000"/>
          </a:p>
        </p:txBody>
      </p:sp>
      <p:sp>
        <p:nvSpPr>
          <p:cNvPr id="3" name="Text 1"/>
          <p:cNvSpPr/>
          <p:nvPr/>
        </p:nvSpPr>
        <p:spPr>
          <a:xfrm>
            <a:off x="457200" y="566928"/>
            <a:ext cx="8229600" cy="640080"/>
          </a:xfrm>
          <a:prstGeom prst="rect">
            <a:avLst/>
          </a:prstGeom>
          <a:noFill/>
          <a:ln/>
        </p:spPr>
        <p:txBody>
          <a:bodyPr wrap="square" lIns="0" tIns="0" rIns="0" bIns="0" rtlCol="0" anchor="ctr"/>
          <a:lstStyle/>
          <a:p>
            <a:pPr marL="0" indent="0">
              <a:buNone/>
            </a:pPr>
            <a:r>
              <a:rPr lang="en-US" sz="2800" b="1">
                <a:solidFill>
                  <a:srgbClr val="1F2933"/>
                </a:solidFill>
                <a:latin typeface="Calibri" pitchFamily="34" charset="0"/>
                <a:ea typeface="Calibri" pitchFamily="34" charset="-122"/>
                <a:cs typeface="Calibri" pitchFamily="34" charset="-120"/>
              </a:rPr>
              <a:t>Agent evaluators — System evaluation</a:t>
            </a:r>
            <a:endParaRPr lang="en-US" sz="2800"/>
          </a:p>
        </p:txBody>
      </p:sp>
      <p:sp>
        <p:nvSpPr>
          <p:cNvPr id="4" name="Shape 2"/>
          <p:cNvSpPr/>
          <p:nvPr/>
        </p:nvSpPr>
        <p:spPr>
          <a:xfrm>
            <a:off x="457200" y="1225296"/>
            <a:ext cx="731520" cy="0"/>
          </a:xfrm>
          <a:prstGeom prst="line">
            <a:avLst/>
          </a:prstGeom>
          <a:noFill/>
          <a:ln w="25400">
            <a:solidFill>
              <a:srgbClr val="0F6E73"/>
            </a:solidFill>
            <a:prstDash val="solid"/>
          </a:ln>
        </p:spPr>
        <p:txBody>
          <a:bodyPr/>
          <a:lstStyle/>
          <a:p>
            <a:endParaRPr lang="en-US"/>
          </a:p>
        </p:txBody>
      </p:sp>
      <p:sp>
        <p:nvSpPr>
          <p:cNvPr id="5" name="Text 3"/>
          <p:cNvSpPr/>
          <p:nvPr/>
        </p:nvSpPr>
        <p:spPr>
          <a:xfrm>
            <a:off x="457200" y="1417320"/>
            <a:ext cx="8229600" cy="365760"/>
          </a:xfrm>
          <a:prstGeom prst="rect">
            <a:avLst/>
          </a:prstGeom>
          <a:noFill/>
          <a:ln/>
        </p:spPr>
        <p:txBody>
          <a:bodyPr wrap="square" lIns="0" tIns="0" rIns="0" bIns="0" rtlCol="0" anchor="ctr"/>
          <a:lstStyle/>
          <a:p>
            <a:pPr marL="0" indent="0">
              <a:buNone/>
            </a:pPr>
            <a:r>
              <a:rPr lang="en-US" sz="1300">
                <a:solidFill>
                  <a:srgbClr val="52606D"/>
                </a:solidFill>
                <a:latin typeface="Calibri" pitchFamily="34" charset="0"/>
                <a:ea typeface="Calibri" pitchFamily="34" charset="-122"/>
                <a:cs typeface="Calibri" pitchFamily="34" charset="-120"/>
              </a:rPr>
              <a:t>Did the agent do the right thing overall? These look at the final outcome of the workflow.</a:t>
            </a:r>
            <a:endParaRPr lang="en-US" sz="1300"/>
          </a:p>
        </p:txBody>
      </p:sp>
      <p:pic>
        <p:nvPicPr>
          <p:cNvPr id="6" name="Image 0" descr="preencoded.png"/>
          <p:cNvPicPr>
            <a:picLocks noChangeAspect="1"/>
          </p:cNvPicPr>
          <p:nvPr/>
        </p:nvPicPr>
        <p:blipFill>
          <a:blip r:embed="rId3"/>
          <a:stretch>
            <a:fillRect/>
          </a:stretch>
        </p:blipFill>
        <p:spPr>
          <a:xfrm>
            <a:off x="457200" y="1965960"/>
            <a:ext cx="365760" cy="365760"/>
          </a:xfrm>
          <a:prstGeom prst="rect">
            <a:avLst/>
          </a:prstGeom>
        </p:spPr>
      </p:pic>
      <p:sp>
        <p:nvSpPr>
          <p:cNvPr id="7" name="Text 4"/>
          <p:cNvSpPr/>
          <p:nvPr/>
        </p:nvSpPr>
        <p:spPr>
          <a:xfrm>
            <a:off x="960120" y="1920240"/>
            <a:ext cx="3657600" cy="365760"/>
          </a:xfrm>
          <a:prstGeom prst="rect">
            <a:avLst/>
          </a:prstGeom>
          <a:noFill/>
          <a:ln/>
        </p:spPr>
        <p:txBody>
          <a:bodyPr wrap="square" lIns="0" tIns="0" rIns="0" bIns="0" rtlCol="0" anchor="ctr"/>
          <a:lstStyle/>
          <a:p>
            <a:pPr marL="0" indent="0">
              <a:buNone/>
            </a:pPr>
            <a:r>
              <a:rPr lang="en-US" sz="1500" b="1">
                <a:solidFill>
                  <a:srgbClr val="1F2933"/>
                </a:solidFill>
                <a:latin typeface="Calibri" pitchFamily="34" charset="0"/>
                <a:ea typeface="Calibri" pitchFamily="34" charset="-122"/>
                <a:cs typeface="Calibri" pitchFamily="34" charset="-120"/>
              </a:rPr>
              <a:t>Task Completion</a:t>
            </a:r>
            <a:endParaRPr lang="en-US" sz="1500"/>
          </a:p>
        </p:txBody>
      </p:sp>
      <p:sp>
        <p:nvSpPr>
          <p:cNvPr id="8" name="Text 5"/>
          <p:cNvSpPr/>
          <p:nvPr/>
        </p:nvSpPr>
        <p:spPr>
          <a:xfrm>
            <a:off x="960120" y="2286000"/>
            <a:ext cx="3657600" cy="822960"/>
          </a:xfrm>
          <a:prstGeom prst="rect">
            <a:avLst/>
          </a:prstGeom>
          <a:noFill/>
          <a:ln/>
        </p:spPr>
        <p:txBody>
          <a:bodyPr wrap="square" lIns="0" tIns="0" rIns="0" bIns="0" rtlCol="0" anchor="ctr"/>
          <a:lstStyle/>
          <a:p>
            <a:pPr marL="0" indent="0">
              <a:buNone/>
            </a:pPr>
            <a:r>
              <a:rPr lang="en-US" sz="1100">
                <a:solidFill>
                  <a:srgbClr val="52606D"/>
                </a:solidFill>
                <a:latin typeface="Calibri" pitchFamily="34" charset="0"/>
                <a:ea typeface="Calibri" pitchFamily="34" charset="-122"/>
                <a:cs typeface="Calibri" pitchFamily="34" charset="-120"/>
              </a:rPr>
              <a:t>Did the agent finish with a usable deliverable that meets requirements?</a:t>
            </a:r>
            <a:endParaRPr lang="en-US" sz="1100"/>
          </a:p>
        </p:txBody>
      </p:sp>
      <p:pic>
        <p:nvPicPr>
          <p:cNvPr id="9" name="Image 1" descr="preencoded.png"/>
          <p:cNvPicPr>
            <a:picLocks noChangeAspect="1"/>
          </p:cNvPicPr>
          <p:nvPr/>
        </p:nvPicPr>
        <p:blipFill>
          <a:blip r:embed="rId4"/>
          <a:stretch>
            <a:fillRect/>
          </a:stretch>
        </p:blipFill>
        <p:spPr>
          <a:xfrm>
            <a:off x="4663440" y="1965960"/>
            <a:ext cx="365760" cy="365760"/>
          </a:xfrm>
          <a:prstGeom prst="rect">
            <a:avLst/>
          </a:prstGeom>
        </p:spPr>
      </p:pic>
      <p:sp>
        <p:nvSpPr>
          <p:cNvPr id="10" name="Text 6"/>
          <p:cNvSpPr/>
          <p:nvPr/>
        </p:nvSpPr>
        <p:spPr>
          <a:xfrm>
            <a:off x="5166360" y="1920240"/>
            <a:ext cx="3657600" cy="365760"/>
          </a:xfrm>
          <a:prstGeom prst="rect">
            <a:avLst/>
          </a:prstGeom>
          <a:noFill/>
          <a:ln/>
        </p:spPr>
        <p:txBody>
          <a:bodyPr wrap="square" lIns="0" tIns="0" rIns="0" bIns="0" rtlCol="0" anchor="ctr"/>
          <a:lstStyle/>
          <a:p>
            <a:pPr marL="0" indent="0">
              <a:buNone/>
            </a:pPr>
            <a:r>
              <a:rPr lang="en-US" sz="1500" b="1">
                <a:solidFill>
                  <a:srgbClr val="1F2933"/>
                </a:solidFill>
                <a:latin typeface="Calibri" pitchFamily="34" charset="0"/>
                <a:ea typeface="Calibri" pitchFamily="34" charset="-122"/>
                <a:cs typeface="Calibri" pitchFamily="34" charset="-120"/>
              </a:rPr>
              <a:t>Task Adherence</a:t>
            </a:r>
            <a:endParaRPr lang="en-US" sz="1500"/>
          </a:p>
        </p:txBody>
      </p:sp>
      <p:sp>
        <p:nvSpPr>
          <p:cNvPr id="11" name="Text 7"/>
          <p:cNvSpPr/>
          <p:nvPr/>
        </p:nvSpPr>
        <p:spPr>
          <a:xfrm>
            <a:off x="5166360" y="2286000"/>
            <a:ext cx="3657600" cy="822960"/>
          </a:xfrm>
          <a:prstGeom prst="rect">
            <a:avLst/>
          </a:prstGeom>
          <a:noFill/>
          <a:ln/>
        </p:spPr>
        <p:txBody>
          <a:bodyPr wrap="square" lIns="0" tIns="0" rIns="0" bIns="0" rtlCol="0" anchor="ctr"/>
          <a:lstStyle/>
          <a:p>
            <a:pPr marL="0" indent="0">
              <a:buNone/>
            </a:pPr>
            <a:r>
              <a:rPr lang="en-US" sz="1100">
                <a:solidFill>
                  <a:srgbClr val="52606D"/>
                </a:solidFill>
                <a:latin typeface="Calibri" pitchFamily="34" charset="0"/>
                <a:ea typeface="Calibri" pitchFamily="34" charset="-122"/>
                <a:cs typeface="Calibri" pitchFamily="34" charset="-120"/>
              </a:rPr>
              <a:t>Did the agent follow system instructions, rules, and policy constraints?</a:t>
            </a:r>
            <a:endParaRPr lang="en-US" sz="1100"/>
          </a:p>
        </p:txBody>
      </p:sp>
      <p:pic>
        <p:nvPicPr>
          <p:cNvPr id="12" name="Image 2" descr="preencoded.png"/>
          <p:cNvPicPr>
            <a:picLocks noChangeAspect="1"/>
          </p:cNvPicPr>
          <p:nvPr/>
        </p:nvPicPr>
        <p:blipFill>
          <a:blip r:embed="rId5"/>
          <a:stretch>
            <a:fillRect/>
          </a:stretch>
        </p:blipFill>
        <p:spPr>
          <a:xfrm>
            <a:off x="457200" y="3337560"/>
            <a:ext cx="365760" cy="365760"/>
          </a:xfrm>
          <a:prstGeom prst="rect">
            <a:avLst/>
          </a:prstGeom>
        </p:spPr>
      </p:pic>
      <p:sp>
        <p:nvSpPr>
          <p:cNvPr id="13" name="Text 8"/>
          <p:cNvSpPr/>
          <p:nvPr/>
        </p:nvSpPr>
        <p:spPr>
          <a:xfrm>
            <a:off x="960120" y="3291840"/>
            <a:ext cx="3657600" cy="365760"/>
          </a:xfrm>
          <a:prstGeom prst="rect">
            <a:avLst/>
          </a:prstGeom>
          <a:noFill/>
          <a:ln/>
        </p:spPr>
        <p:txBody>
          <a:bodyPr wrap="square" lIns="0" tIns="0" rIns="0" bIns="0" rtlCol="0" anchor="ctr"/>
          <a:lstStyle/>
          <a:p>
            <a:pPr marL="0" indent="0">
              <a:buNone/>
            </a:pPr>
            <a:r>
              <a:rPr lang="en-US" sz="1500" b="1">
                <a:solidFill>
                  <a:srgbClr val="1F2933"/>
                </a:solidFill>
                <a:latin typeface="Calibri" pitchFamily="34" charset="0"/>
                <a:ea typeface="Calibri" pitchFamily="34" charset="-122"/>
                <a:cs typeface="Calibri" pitchFamily="34" charset="-120"/>
              </a:rPr>
              <a:t>Task Navigation Efficiency</a:t>
            </a:r>
            <a:endParaRPr lang="en-US" sz="1500"/>
          </a:p>
        </p:txBody>
      </p:sp>
      <p:sp>
        <p:nvSpPr>
          <p:cNvPr id="14" name="Text 9"/>
          <p:cNvSpPr/>
          <p:nvPr/>
        </p:nvSpPr>
        <p:spPr>
          <a:xfrm>
            <a:off x="960120" y="3657600"/>
            <a:ext cx="3657600" cy="822960"/>
          </a:xfrm>
          <a:prstGeom prst="rect">
            <a:avLst/>
          </a:prstGeom>
          <a:noFill/>
          <a:ln/>
        </p:spPr>
        <p:txBody>
          <a:bodyPr wrap="square" lIns="0" tIns="0" rIns="0" bIns="0" rtlCol="0" anchor="ctr"/>
          <a:lstStyle/>
          <a:p>
            <a:pPr marL="0" indent="0">
              <a:buNone/>
            </a:pPr>
            <a:r>
              <a:rPr lang="en-US" sz="1100">
                <a:solidFill>
                  <a:srgbClr val="52606D"/>
                </a:solidFill>
                <a:latin typeface="Calibri" pitchFamily="34" charset="0"/>
                <a:ea typeface="Calibri" pitchFamily="34" charset="-122"/>
                <a:cs typeface="Calibri" pitchFamily="34" charset="-120"/>
              </a:rPr>
              <a:t>Did the agent take an optimal path vs an expected sequence (ground truth)?</a:t>
            </a:r>
            <a:endParaRPr lang="en-US" sz="1100"/>
          </a:p>
        </p:txBody>
      </p:sp>
      <p:pic>
        <p:nvPicPr>
          <p:cNvPr id="15" name="Image 3" descr="preencoded.png"/>
          <p:cNvPicPr>
            <a:picLocks noChangeAspect="1"/>
          </p:cNvPicPr>
          <p:nvPr/>
        </p:nvPicPr>
        <p:blipFill>
          <a:blip r:embed="rId6"/>
          <a:stretch>
            <a:fillRect/>
          </a:stretch>
        </p:blipFill>
        <p:spPr>
          <a:xfrm>
            <a:off x="4663440" y="3337560"/>
            <a:ext cx="365760" cy="365760"/>
          </a:xfrm>
          <a:prstGeom prst="rect">
            <a:avLst/>
          </a:prstGeom>
        </p:spPr>
      </p:pic>
      <p:sp>
        <p:nvSpPr>
          <p:cNvPr id="16" name="Text 10"/>
          <p:cNvSpPr/>
          <p:nvPr/>
        </p:nvSpPr>
        <p:spPr>
          <a:xfrm>
            <a:off x="5166360" y="3291840"/>
            <a:ext cx="3657600" cy="365760"/>
          </a:xfrm>
          <a:prstGeom prst="rect">
            <a:avLst/>
          </a:prstGeom>
          <a:noFill/>
          <a:ln/>
        </p:spPr>
        <p:txBody>
          <a:bodyPr wrap="square" lIns="0" tIns="0" rIns="0" bIns="0" rtlCol="0" anchor="ctr"/>
          <a:lstStyle/>
          <a:p>
            <a:pPr marL="0" indent="0">
              <a:buNone/>
            </a:pPr>
            <a:r>
              <a:rPr lang="en-US" sz="1500" b="1">
                <a:solidFill>
                  <a:srgbClr val="1F2933"/>
                </a:solidFill>
                <a:latin typeface="Calibri" pitchFamily="34" charset="0"/>
                <a:ea typeface="Calibri" pitchFamily="34" charset="-122"/>
                <a:cs typeface="Calibri" pitchFamily="34" charset="-120"/>
              </a:rPr>
              <a:t>Intent Resolution</a:t>
            </a:r>
            <a:endParaRPr lang="en-US" sz="1500"/>
          </a:p>
        </p:txBody>
      </p:sp>
      <p:sp>
        <p:nvSpPr>
          <p:cNvPr id="17" name="Text 11"/>
          <p:cNvSpPr/>
          <p:nvPr/>
        </p:nvSpPr>
        <p:spPr>
          <a:xfrm>
            <a:off x="5166360" y="3657600"/>
            <a:ext cx="3657600" cy="822960"/>
          </a:xfrm>
          <a:prstGeom prst="rect">
            <a:avLst/>
          </a:prstGeom>
          <a:noFill/>
          <a:ln/>
        </p:spPr>
        <p:txBody>
          <a:bodyPr wrap="square" lIns="0" tIns="0" rIns="0" bIns="0" rtlCol="0" anchor="ctr"/>
          <a:lstStyle/>
          <a:p>
            <a:pPr marL="0" indent="0">
              <a:buNone/>
            </a:pPr>
            <a:r>
              <a:rPr lang="en-US" sz="1100">
                <a:solidFill>
                  <a:srgbClr val="52606D"/>
                </a:solidFill>
                <a:latin typeface="Calibri" pitchFamily="34" charset="0"/>
                <a:ea typeface="Calibri" pitchFamily="34" charset="-122"/>
                <a:cs typeface="Calibri" pitchFamily="34" charset="-120"/>
              </a:rPr>
              <a:t>Did the agent correctly identify and address the user's intent?</a:t>
            </a:r>
            <a:endParaRPr lang="en-US" sz="1100"/>
          </a:p>
        </p:txBody>
      </p:sp>
      <p:sp>
        <p:nvSpPr>
          <p:cNvPr id="18" name="Text 12"/>
          <p:cNvSpPr/>
          <p:nvPr/>
        </p:nvSpPr>
        <p:spPr>
          <a:xfrm>
            <a:off x="457200" y="4663440"/>
            <a:ext cx="8229600" cy="274320"/>
          </a:xfrm>
          <a:prstGeom prst="rect">
            <a:avLst/>
          </a:prstGeom>
          <a:noFill/>
          <a:ln/>
        </p:spPr>
        <p:txBody>
          <a:bodyPr wrap="square" lIns="0" tIns="0" rIns="0" bIns="0" rtlCol="0" anchor="ctr"/>
          <a:lstStyle/>
          <a:p>
            <a:pPr marL="0" indent="0">
              <a:buNone/>
            </a:pPr>
            <a:r>
              <a:rPr lang="en-US" sz="1000" i="1">
                <a:solidFill>
                  <a:srgbClr val="52606D"/>
                </a:solidFill>
                <a:latin typeface="Calibri" pitchFamily="34" charset="0"/>
                <a:ea typeface="Calibri" pitchFamily="34" charset="-122"/>
                <a:cs typeface="Calibri" pitchFamily="34" charset="-120"/>
              </a:rPr>
              <a:t>Output: binary Pass / Fail  ·  some use a 1–5 score thresholded to binary</a:t>
            </a:r>
            <a:endParaRPr lang="en-US" sz="1000"/>
          </a:p>
        </p:txBody>
      </p:sp>
      <p:sp>
        <p:nvSpPr>
          <p:cNvPr id="19" name="Text 13"/>
          <p:cNvSpPr/>
          <p:nvPr/>
        </p:nvSpPr>
        <p:spPr>
          <a:xfrm>
            <a:off x="457200" y="4823460"/>
            <a:ext cx="5486400" cy="228600"/>
          </a:xfrm>
          <a:prstGeom prst="rect">
            <a:avLst/>
          </a:prstGeom>
          <a:noFill/>
          <a:ln/>
        </p:spPr>
        <p:txBody>
          <a:bodyPr wrap="square" lIns="0" tIns="0" rIns="0" bIns="0" rtlCol="0" anchor="ctr"/>
          <a:lstStyle/>
          <a:p>
            <a:pPr marL="0" indent="0">
              <a:buNone/>
            </a:pPr>
            <a:r>
              <a:rPr lang="en-US" sz="900">
                <a:solidFill>
                  <a:srgbClr val="52606D"/>
                </a:solidFill>
                <a:latin typeface="Calibri" pitchFamily="34" charset="0"/>
                <a:ea typeface="Calibri" pitchFamily="34" charset="-122"/>
                <a:cs typeface="Calibri" pitchFamily="34" charset="-120"/>
              </a:rPr>
              <a:t>AI Evaluations  ·  Microsoft Agent Framework</a:t>
            </a:r>
            <a:endParaRPr lang="en-US" sz="900"/>
          </a:p>
        </p:txBody>
      </p:sp>
      <p:sp>
        <p:nvSpPr>
          <p:cNvPr id="20" name="Text 14"/>
          <p:cNvSpPr/>
          <p:nvPr/>
        </p:nvSpPr>
        <p:spPr>
          <a:xfrm>
            <a:off x="8046720" y="4823460"/>
            <a:ext cx="640080" cy="228600"/>
          </a:xfrm>
          <a:prstGeom prst="rect">
            <a:avLst/>
          </a:prstGeom>
          <a:noFill/>
          <a:ln/>
        </p:spPr>
        <p:txBody>
          <a:bodyPr wrap="square" lIns="0" tIns="0" rIns="0" bIns="0" rtlCol="0" anchor="ctr"/>
          <a:lstStyle/>
          <a:p>
            <a:pPr marL="0" indent="0" algn="r">
              <a:buNone/>
            </a:pPr>
            <a:r>
              <a:rPr lang="en-US" sz="900">
                <a:solidFill>
                  <a:srgbClr val="52606D"/>
                </a:solidFill>
                <a:latin typeface="Calibri" pitchFamily="34" charset="0"/>
                <a:ea typeface="Calibri" pitchFamily="34" charset="-122"/>
                <a:cs typeface="Calibri" pitchFamily="34" charset="-120"/>
              </a:rPr>
              <a:t>7 / 19</a:t>
            </a:r>
            <a:endParaRPr lang="en-US" sz="9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marL="0" indent="0">
              <a:buNone/>
            </a:pPr>
            <a:r>
              <a:rPr lang="en-US" sz="1000" b="1" kern="0" spc="400">
                <a:solidFill>
                  <a:srgbClr val="0F6E73"/>
                </a:solidFill>
                <a:latin typeface="Calibri" pitchFamily="34" charset="0"/>
                <a:ea typeface="Calibri" pitchFamily="34" charset="-122"/>
                <a:cs typeface="Calibri" pitchFamily="34" charset="-120"/>
              </a:rPr>
              <a:t>STEP-BY-STEP TOOL USE</a:t>
            </a:r>
            <a:endParaRPr lang="en-US" sz="1000"/>
          </a:p>
        </p:txBody>
      </p:sp>
      <p:sp>
        <p:nvSpPr>
          <p:cNvPr id="3" name="Text 1"/>
          <p:cNvSpPr/>
          <p:nvPr/>
        </p:nvSpPr>
        <p:spPr>
          <a:xfrm>
            <a:off x="457200" y="566928"/>
            <a:ext cx="8229600" cy="640080"/>
          </a:xfrm>
          <a:prstGeom prst="rect">
            <a:avLst/>
          </a:prstGeom>
          <a:noFill/>
          <a:ln/>
        </p:spPr>
        <p:txBody>
          <a:bodyPr wrap="square" lIns="0" tIns="0" rIns="0" bIns="0" rtlCol="0" anchor="ctr"/>
          <a:lstStyle/>
          <a:p>
            <a:pPr marL="0" indent="0">
              <a:buNone/>
            </a:pPr>
            <a:r>
              <a:rPr lang="en-US" sz="2800" b="1">
                <a:solidFill>
                  <a:srgbClr val="1F2933"/>
                </a:solidFill>
                <a:latin typeface="Calibri" pitchFamily="34" charset="0"/>
                <a:ea typeface="Calibri" pitchFamily="34" charset="-122"/>
                <a:cs typeface="Calibri" pitchFamily="34" charset="-120"/>
              </a:rPr>
              <a:t>Agent evaluators — Process evaluation</a:t>
            </a:r>
            <a:endParaRPr lang="en-US" sz="2800"/>
          </a:p>
        </p:txBody>
      </p:sp>
      <p:sp>
        <p:nvSpPr>
          <p:cNvPr id="4" name="Shape 2"/>
          <p:cNvSpPr/>
          <p:nvPr/>
        </p:nvSpPr>
        <p:spPr>
          <a:xfrm>
            <a:off x="457200" y="1225296"/>
            <a:ext cx="731520" cy="0"/>
          </a:xfrm>
          <a:prstGeom prst="line">
            <a:avLst/>
          </a:prstGeom>
          <a:noFill/>
          <a:ln w="25400">
            <a:solidFill>
              <a:srgbClr val="0F6E73"/>
            </a:solidFill>
            <a:prstDash val="solid"/>
          </a:ln>
        </p:spPr>
        <p:txBody>
          <a:bodyPr/>
          <a:lstStyle/>
          <a:p>
            <a:endParaRPr lang="en-US"/>
          </a:p>
        </p:txBody>
      </p:sp>
      <p:sp>
        <p:nvSpPr>
          <p:cNvPr id="5" name="Text 3"/>
          <p:cNvSpPr/>
          <p:nvPr/>
        </p:nvSpPr>
        <p:spPr>
          <a:xfrm>
            <a:off x="457200" y="1417320"/>
            <a:ext cx="8229600" cy="365760"/>
          </a:xfrm>
          <a:prstGeom prst="rect">
            <a:avLst/>
          </a:prstGeom>
          <a:noFill/>
          <a:ln/>
        </p:spPr>
        <p:txBody>
          <a:bodyPr wrap="square" lIns="0" tIns="0" rIns="0" bIns="0" rtlCol="0" anchor="ctr"/>
          <a:lstStyle/>
          <a:p>
            <a:pPr marL="0" indent="0">
              <a:buNone/>
            </a:pPr>
            <a:r>
              <a:rPr lang="en-US" sz="1300">
                <a:solidFill>
                  <a:srgbClr val="52606D"/>
                </a:solidFill>
                <a:latin typeface="Calibri" pitchFamily="34" charset="0"/>
                <a:ea typeface="Calibri" pitchFamily="34" charset="-122"/>
                <a:cs typeface="Calibri" pitchFamily="34" charset="-120"/>
              </a:rPr>
              <a:t>Did each tool call go right? Process evaluators are unit tests for the steps inside the workflow.</a:t>
            </a:r>
            <a:endParaRPr lang="en-US" sz="1300"/>
          </a:p>
        </p:txBody>
      </p:sp>
      <p:pic>
        <p:nvPicPr>
          <p:cNvPr id="6" name="Image 0" descr="preencoded.png"/>
          <p:cNvPicPr>
            <a:picLocks noChangeAspect="1"/>
          </p:cNvPicPr>
          <p:nvPr/>
        </p:nvPicPr>
        <p:blipFill>
          <a:blip r:embed="rId3"/>
          <a:stretch>
            <a:fillRect/>
          </a:stretch>
        </p:blipFill>
        <p:spPr>
          <a:xfrm>
            <a:off x="457200" y="1965960"/>
            <a:ext cx="320040" cy="320040"/>
          </a:xfrm>
          <a:prstGeom prst="rect">
            <a:avLst/>
          </a:prstGeom>
        </p:spPr>
      </p:pic>
      <p:sp>
        <p:nvSpPr>
          <p:cNvPr id="7" name="Text 4"/>
          <p:cNvSpPr/>
          <p:nvPr/>
        </p:nvSpPr>
        <p:spPr>
          <a:xfrm>
            <a:off x="914400" y="1920240"/>
            <a:ext cx="2377440" cy="365760"/>
          </a:xfrm>
          <a:prstGeom prst="rect">
            <a:avLst/>
          </a:prstGeom>
          <a:noFill/>
          <a:ln/>
        </p:spPr>
        <p:txBody>
          <a:bodyPr wrap="square" lIns="0" tIns="0" rIns="0" bIns="0" rtlCol="0" anchor="ctr"/>
          <a:lstStyle/>
          <a:p>
            <a:pPr marL="0" indent="0">
              <a:buNone/>
            </a:pPr>
            <a:r>
              <a:rPr lang="en-US" sz="1300" b="1">
                <a:solidFill>
                  <a:srgbClr val="1F2933"/>
                </a:solidFill>
                <a:latin typeface="Calibri" pitchFamily="34" charset="0"/>
                <a:ea typeface="Calibri" pitchFamily="34" charset="-122"/>
                <a:cs typeface="Calibri" pitchFamily="34" charset="-120"/>
              </a:rPr>
              <a:t>Tool Call Accuracy</a:t>
            </a:r>
            <a:endParaRPr lang="en-US" sz="1300"/>
          </a:p>
        </p:txBody>
      </p:sp>
      <p:sp>
        <p:nvSpPr>
          <p:cNvPr id="8" name="Text 5"/>
          <p:cNvSpPr/>
          <p:nvPr/>
        </p:nvSpPr>
        <p:spPr>
          <a:xfrm>
            <a:off x="3383280" y="1920240"/>
            <a:ext cx="5303520" cy="457200"/>
          </a:xfrm>
          <a:prstGeom prst="rect">
            <a:avLst/>
          </a:prstGeom>
          <a:noFill/>
          <a:ln/>
        </p:spPr>
        <p:txBody>
          <a:bodyPr wrap="square" lIns="0" tIns="0" rIns="0" bIns="0" rtlCol="0" anchor="ctr"/>
          <a:lstStyle/>
          <a:p>
            <a:pPr marL="0" indent="0">
              <a:buNone/>
            </a:pPr>
            <a:r>
              <a:rPr lang="en-US" sz="1200">
                <a:solidFill>
                  <a:srgbClr val="52606D"/>
                </a:solidFill>
                <a:latin typeface="Calibri" pitchFamily="34" charset="0"/>
                <a:ea typeface="Calibri" pitchFamily="34" charset="-122"/>
                <a:cs typeface="Calibri" pitchFamily="34" charset="-120"/>
              </a:rPr>
              <a:t>Right tools, right parameters, no redundant calls.</a:t>
            </a:r>
            <a:endParaRPr lang="en-US" sz="1200"/>
          </a:p>
        </p:txBody>
      </p:sp>
      <p:sp>
        <p:nvSpPr>
          <p:cNvPr id="9" name="Shape 6"/>
          <p:cNvSpPr/>
          <p:nvPr/>
        </p:nvSpPr>
        <p:spPr>
          <a:xfrm>
            <a:off x="457200" y="2377440"/>
            <a:ext cx="8229600" cy="0"/>
          </a:xfrm>
          <a:prstGeom prst="line">
            <a:avLst/>
          </a:prstGeom>
          <a:noFill/>
          <a:ln w="6350">
            <a:solidFill>
              <a:srgbClr val="D8DDE2"/>
            </a:solidFill>
            <a:prstDash val="solid"/>
          </a:ln>
        </p:spPr>
        <p:txBody>
          <a:bodyPr/>
          <a:lstStyle/>
          <a:p>
            <a:endParaRPr lang="en-US"/>
          </a:p>
        </p:txBody>
      </p:sp>
      <p:pic>
        <p:nvPicPr>
          <p:cNvPr id="10" name="Image 1" descr="preencoded.png"/>
          <p:cNvPicPr>
            <a:picLocks noChangeAspect="1"/>
          </p:cNvPicPr>
          <p:nvPr/>
        </p:nvPicPr>
        <p:blipFill>
          <a:blip r:embed="rId4"/>
          <a:stretch>
            <a:fillRect/>
          </a:stretch>
        </p:blipFill>
        <p:spPr>
          <a:xfrm>
            <a:off x="457200" y="2468880"/>
            <a:ext cx="320040" cy="320040"/>
          </a:xfrm>
          <a:prstGeom prst="rect">
            <a:avLst/>
          </a:prstGeom>
        </p:spPr>
      </p:pic>
      <p:sp>
        <p:nvSpPr>
          <p:cNvPr id="11" name="Text 7"/>
          <p:cNvSpPr/>
          <p:nvPr/>
        </p:nvSpPr>
        <p:spPr>
          <a:xfrm>
            <a:off x="914400" y="2423160"/>
            <a:ext cx="2377440" cy="365760"/>
          </a:xfrm>
          <a:prstGeom prst="rect">
            <a:avLst/>
          </a:prstGeom>
          <a:noFill/>
          <a:ln/>
        </p:spPr>
        <p:txBody>
          <a:bodyPr wrap="square" lIns="0" tIns="0" rIns="0" bIns="0" rtlCol="0" anchor="ctr"/>
          <a:lstStyle/>
          <a:p>
            <a:pPr marL="0" indent="0">
              <a:buNone/>
            </a:pPr>
            <a:r>
              <a:rPr lang="en-US" sz="1300" b="1">
                <a:solidFill>
                  <a:srgbClr val="1F2933"/>
                </a:solidFill>
                <a:latin typeface="Calibri" pitchFamily="34" charset="0"/>
                <a:ea typeface="Calibri" pitchFamily="34" charset="-122"/>
                <a:cs typeface="Calibri" pitchFamily="34" charset="-120"/>
              </a:rPr>
              <a:t>Tool Selection</a:t>
            </a:r>
            <a:endParaRPr lang="en-US" sz="1300"/>
          </a:p>
        </p:txBody>
      </p:sp>
      <p:sp>
        <p:nvSpPr>
          <p:cNvPr id="12" name="Text 8"/>
          <p:cNvSpPr/>
          <p:nvPr/>
        </p:nvSpPr>
        <p:spPr>
          <a:xfrm>
            <a:off x="3383280" y="2423160"/>
            <a:ext cx="5303520" cy="457200"/>
          </a:xfrm>
          <a:prstGeom prst="rect">
            <a:avLst/>
          </a:prstGeom>
          <a:noFill/>
          <a:ln/>
        </p:spPr>
        <p:txBody>
          <a:bodyPr wrap="square" lIns="0" tIns="0" rIns="0" bIns="0" rtlCol="0" anchor="ctr"/>
          <a:lstStyle/>
          <a:p>
            <a:pPr marL="0" indent="0">
              <a:buNone/>
            </a:pPr>
            <a:r>
              <a:rPr lang="en-US" sz="1200">
                <a:solidFill>
                  <a:srgbClr val="52606D"/>
                </a:solidFill>
                <a:latin typeface="Calibri" pitchFamily="34" charset="0"/>
                <a:ea typeface="Calibri" pitchFamily="34" charset="-122"/>
                <a:cs typeface="Calibri" pitchFamily="34" charset="-120"/>
              </a:rPr>
              <a:t>Selected the correct tools without picking unnecessary ones.</a:t>
            </a:r>
            <a:endParaRPr lang="en-US" sz="1200"/>
          </a:p>
        </p:txBody>
      </p:sp>
      <p:sp>
        <p:nvSpPr>
          <p:cNvPr id="13" name="Shape 9"/>
          <p:cNvSpPr/>
          <p:nvPr/>
        </p:nvSpPr>
        <p:spPr>
          <a:xfrm>
            <a:off x="457200" y="2880360"/>
            <a:ext cx="8229600" cy="0"/>
          </a:xfrm>
          <a:prstGeom prst="line">
            <a:avLst/>
          </a:prstGeom>
          <a:noFill/>
          <a:ln w="6350">
            <a:solidFill>
              <a:srgbClr val="D8DDE2"/>
            </a:solidFill>
            <a:prstDash val="solid"/>
          </a:ln>
        </p:spPr>
        <p:txBody>
          <a:bodyPr/>
          <a:lstStyle/>
          <a:p>
            <a:endParaRPr lang="en-US"/>
          </a:p>
        </p:txBody>
      </p:sp>
      <p:pic>
        <p:nvPicPr>
          <p:cNvPr id="14" name="Image 2" descr="preencoded.png"/>
          <p:cNvPicPr>
            <a:picLocks noChangeAspect="1"/>
          </p:cNvPicPr>
          <p:nvPr/>
        </p:nvPicPr>
        <p:blipFill>
          <a:blip r:embed="rId5"/>
          <a:stretch>
            <a:fillRect/>
          </a:stretch>
        </p:blipFill>
        <p:spPr>
          <a:xfrm>
            <a:off x="457200" y="2971800"/>
            <a:ext cx="320040" cy="320040"/>
          </a:xfrm>
          <a:prstGeom prst="rect">
            <a:avLst/>
          </a:prstGeom>
        </p:spPr>
      </p:pic>
      <p:sp>
        <p:nvSpPr>
          <p:cNvPr id="15" name="Text 10"/>
          <p:cNvSpPr/>
          <p:nvPr/>
        </p:nvSpPr>
        <p:spPr>
          <a:xfrm>
            <a:off x="914400" y="2926080"/>
            <a:ext cx="2377440" cy="365760"/>
          </a:xfrm>
          <a:prstGeom prst="rect">
            <a:avLst/>
          </a:prstGeom>
          <a:noFill/>
          <a:ln/>
        </p:spPr>
        <p:txBody>
          <a:bodyPr wrap="square" lIns="0" tIns="0" rIns="0" bIns="0" rtlCol="0" anchor="ctr"/>
          <a:lstStyle/>
          <a:p>
            <a:pPr marL="0" indent="0">
              <a:buNone/>
            </a:pPr>
            <a:r>
              <a:rPr lang="en-US" sz="1300" b="1">
                <a:solidFill>
                  <a:srgbClr val="1F2933"/>
                </a:solidFill>
                <a:latin typeface="Calibri" pitchFamily="34" charset="0"/>
                <a:ea typeface="Calibri" pitchFamily="34" charset="-122"/>
                <a:cs typeface="Calibri" pitchFamily="34" charset="-120"/>
              </a:rPr>
              <a:t>Tool Input Accuracy</a:t>
            </a:r>
            <a:endParaRPr lang="en-US" sz="1300"/>
          </a:p>
        </p:txBody>
      </p:sp>
      <p:sp>
        <p:nvSpPr>
          <p:cNvPr id="16" name="Text 11"/>
          <p:cNvSpPr/>
          <p:nvPr/>
        </p:nvSpPr>
        <p:spPr>
          <a:xfrm>
            <a:off x="3383280" y="2926080"/>
            <a:ext cx="5303520" cy="457200"/>
          </a:xfrm>
          <a:prstGeom prst="rect">
            <a:avLst/>
          </a:prstGeom>
          <a:noFill/>
          <a:ln/>
        </p:spPr>
        <p:txBody>
          <a:bodyPr wrap="square" lIns="0" tIns="0" rIns="0" bIns="0" rtlCol="0" anchor="ctr"/>
          <a:lstStyle/>
          <a:p>
            <a:pPr marL="0" indent="0">
              <a:buNone/>
            </a:pPr>
            <a:r>
              <a:rPr lang="en-US" sz="1200">
                <a:solidFill>
                  <a:srgbClr val="52606D"/>
                </a:solidFill>
                <a:latin typeface="Calibri" pitchFamily="34" charset="0"/>
                <a:ea typeface="Calibri" pitchFamily="34" charset="-122"/>
                <a:cs typeface="Calibri" pitchFamily="34" charset="-120"/>
              </a:rPr>
              <a:t>Parameters pass six strict checks: grounded, typed, formatted, required, expected, appropriate.</a:t>
            </a:r>
            <a:endParaRPr lang="en-US" sz="1200"/>
          </a:p>
        </p:txBody>
      </p:sp>
      <p:sp>
        <p:nvSpPr>
          <p:cNvPr id="17" name="Shape 12"/>
          <p:cNvSpPr/>
          <p:nvPr/>
        </p:nvSpPr>
        <p:spPr>
          <a:xfrm>
            <a:off x="457200" y="3383280"/>
            <a:ext cx="8229600" cy="0"/>
          </a:xfrm>
          <a:prstGeom prst="line">
            <a:avLst/>
          </a:prstGeom>
          <a:noFill/>
          <a:ln w="6350">
            <a:solidFill>
              <a:srgbClr val="D8DDE2"/>
            </a:solidFill>
            <a:prstDash val="solid"/>
          </a:ln>
        </p:spPr>
        <p:txBody>
          <a:bodyPr/>
          <a:lstStyle/>
          <a:p>
            <a:endParaRPr lang="en-US"/>
          </a:p>
        </p:txBody>
      </p:sp>
      <p:pic>
        <p:nvPicPr>
          <p:cNvPr id="18" name="Image 3" descr="preencoded.png"/>
          <p:cNvPicPr>
            <a:picLocks noChangeAspect="1"/>
          </p:cNvPicPr>
          <p:nvPr/>
        </p:nvPicPr>
        <p:blipFill>
          <a:blip r:embed="rId6"/>
          <a:stretch>
            <a:fillRect/>
          </a:stretch>
        </p:blipFill>
        <p:spPr>
          <a:xfrm>
            <a:off x="457200" y="3474720"/>
            <a:ext cx="320040" cy="320040"/>
          </a:xfrm>
          <a:prstGeom prst="rect">
            <a:avLst/>
          </a:prstGeom>
        </p:spPr>
      </p:pic>
      <p:sp>
        <p:nvSpPr>
          <p:cNvPr id="19" name="Text 13"/>
          <p:cNvSpPr/>
          <p:nvPr/>
        </p:nvSpPr>
        <p:spPr>
          <a:xfrm>
            <a:off x="914400" y="3429000"/>
            <a:ext cx="2377440" cy="365760"/>
          </a:xfrm>
          <a:prstGeom prst="rect">
            <a:avLst/>
          </a:prstGeom>
          <a:noFill/>
          <a:ln/>
        </p:spPr>
        <p:txBody>
          <a:bodyPr wrap="square" lIns="0" tIns="0" rIns="0" bIns="0" rtlCol="0" anchor="ctr"/>
          <a:lstStyle/>
          <a:p>
            <a:pPr marL="0" indent="0">
              <a:buNone/>
            </a:pPr>
            <a:r>
              <a:rPr lang="en-US" sz="1300" b="1">
                <a:solidFill>
                  <a:srgbClr val="1F2933"/>
                </a:solidFill>
                <a:latin typeface="Calibri" pitchFamily="34" charset="0"/>
                <a:ea typeface="Calibri" pitchFamily="34" charset="-122"/>
                <a:cs typeface="Calibri" pitchFamily="34" charset="-120"/>
              </a:rPr>
              <a:t>Tool Output Utilization</a:t>
            </a:r>
            <a:endParaRPr lang="en-US" sz="1300"/>
          </a:p>
        </p:txBody>
      </p:sp>
      <p:sp>
        <p:nvSpPr>
          <p:cNvPr id="20" name="Text 14"/>
          <p:cNvSpPr/>
          <p:nvPr/>
        </p:nvSpPr>
        <p:spPr>
          <a:xfrm>
            <a:off x="3383280" y="3429000"/>
            <a:ext cx="5303520" cy="457200"/>
          </a:xfrm>
          <a:prstGeom prst="rect">
            <a:avLst/>
          </a:prstGeom>
          <a:noFill/>
          <a:ln/>
        </p:spPr>
        <p:txBody>
          <a:bodyPr wrap="square" lIns="0" tIns="0" rIns="0" bIns="0" rtlCol="0" anchor="ctr"/>
          <a:lstStyle/>
          <a:p>
            <a:pPr marL="0" indent="0">
              <a:buNone/>
            </a:pPr>
            <a:r>
              <a:rPr lang="en-US" sz="1200">
                <a:solidFill>
                  <a:srgbClr val="52606D"/>
                </a:solidFill>
                <a:latin typeface="Calibri" pitchFamily="34" charset="0"/>
                <a:ea typeface="Calibri" pitchFamily="34" charset="-122"/>
                <a:cs typeface="Calibri" pitchFamily="34" charset="-120"/>
              </a:rPr>
              <a:t>Used tool results correctly in reasoning and follow-up calls.</a:t>
            </a:r>
            <a:endParaRPr lang="en-US" sz="1200"/>
          </a:p>
        </p:txBody>
      </p:sp>
      <p:sp>
        <p:nvSpPr>
          <p:cNvPr id="21" name="Shape 15"/>
          <p:cNvSpPr/>
          <p:nvPr/>
        </p:nvSpPr>
        <p:spPr>
          <a:xfrm>
            <a:off x="457200" y="3886200"/>
            <a:ext cx="8229600" cy="0"/>
          </a:xfrm>
          <a:prstGeom prst="line">
            <a:avLst/>
          </a:prstGeom>
          <a:noFill/>
          <a:ln w="6350">
            <a:solidFill>
              <a:srgbClr val="D8DDE2"/>
            </a:solidFill>
            <a:prstDash val="solid"/>
          </a:ln>
        </p:spPr>
        <p:txBody>
          <a:bodyPr/>
          <a:lstStyle/>
          <a:p>
            <a:endParaRPr lang="en-US"/>
          </a:p>
        </p:txBody>
      </p:sp>
      <p:pic>
        <p:nvPicPr>
          <p:cNvPr id="22" name="Image 4" descr="preencoded.png"/>
          <p:cNvPicPr>
            <a:picLocks noChangeAspect="1"/>
          </p:cNvPicPr>
          <p:nvPr/>
        </p:nvPicPr>
        <p:blipFill>
          <a:blip r:embed="rId7"/>
          <a:stretch>
            <a:fillRect/>
          </a:stretch>
        </p:blipFill>
        <p:spPr>
          <a:xfrm>
            <a:off x="457200" y="3977640"/>
            <a:ext cx="320040" cy="320040"/>
          </a:xfrm>
          <a:prstGeom prst="rect">
            <a:avLst/>
          </a:prstGeom>
        </p:spPr>
      </p:pic>
      <p:sp>
        <p:nvSpPr>
          <p:cNvPr id="23" name="Text 16"/>
          <p:cNvSpPr/>
          <p:nvPr/>
        </p:nvSpPr>
        <p:spPr>
          <a:xfrm>
            <a:off x="914400" y="3931920"/>
            <a:ext cx="2377440" cy="365760"/>
          </a:xfrm>
          <a:prstGeom prst="rect">
            <a:avLst/>
          </a:prstGeom>
          <a:noFill/>
          <a:ln/>
        </p:spPr>
        <p:txBody>
          <a:bodyPr wrap="square" lIns="0" tIns="0" rIns="0" bIns="0" rtlCol="0" anchor="ctr"/>
          <a:lstStyle/>
          <a:p>
            <a:pPr marL="0" indent="0">
              <a:buNone/>
            </a:pPr>
            <a:r>
              <a:rPr lang="en-US" sz="1300" b="1">
                <a:solidFill>
                  <a:srgbClr val="1F2933"/>
                </a:solidFill>
                <a:latin typeface="Calibri" pitchFamily="34" charset="0"/>
                <a:ea typeface="Calibri" pitchFamily="34" charset="-122"/>
                <a:cs typeface="Calibri" pitchFamily="34" charset="-120"/>
              </a:rPr>
              <a:t>Tool Call Success</a:t>
            </a:r>
            <a:endParaRPr lang="en-US" sz="1300"/>
          </a:p>
        </p:txBody>
      </p:sp>
      <p:sp>
        <p:nvSpPr>
          <p:cNvPr id="24" name="Text 17"/>
          <p:cNvSpPr/>
          <p:nvPr/>
        </p:nvSpPr>
        <p:spPr>
          <a:xfrm>
            <a:off x="3383280" y="3931920"/>
            <a:ext cx="5303520" cy="457200"/>
          </a:xfrm>
          <a:prstGeom prst="rect">
            <a:avLst/>
          </a:prstGeom>
          <a:noFill/>
          <a:ln/>
        </p:spPr>
        <p:txBody>
          <a:bodyPr wrap="square" lIns="0" tIns="0" rIns="0" bIns="0" rtlCol="0" anchor="ctr"/>
          <a:lstStyle/>
          <a:p>
            <a:pPr marL="0" indent="0">
              <a:buNone/>
            </a:pPr>
            <a:r>
              <a:rPr lang="en-US" sz="1200">
                <a:solidFill>
                  <a:srgbClr val="52606D"/>
                </a:solidFill>
                <a:latin typeface="Calibri" pitchFamily="34" charset="0"/>
                <a:ea typeface="Calibri" pitchFamily="34" charset="-122"/>
                <a:cs typeface="Calibri" pitchFamily="34" charset="-120"/>
              </a:rPr>
              <a:t>Executed without exceptions, timeouts, or technical failures.</a:t>
            </a:r>
            <a:endParaRPr lang="en-US" sz="1200"/>
          </a:p>
        </p:txBody>
      </p:sp>
      <p:sp>
        <p:nvSpPr>
          <p:cNvPr id="25" name="Shape 18"/>
          <p:cNvSpPr/>
          <p:nvPr/>
        </p:nvSpPr>
        <p:spPr>
          <a:xfrm>
            <a:off x="457200" y="4389120"/>
            <a:ext cx="8229600" cy="0"/>
          </a:xfrm>
          <a:prstGeom prst="line">
            <a:avLst/>
          </a:prstGeom>
          <a:noFill/>
          <a:ln w="6350">
            <a:solidFill>
              <a:srgbClr val="D8DDE2"/>
            </a:solidFill>
            <a:prstDash val="solid"/>
          </a:ln>
        </p:spPr>
        <p:txBody>
          <a:bodyPr/>
          <a:lstStyle/>
          <a:p>
            <a:endParaRPr lang="en-US"/>
          </a:p>
        </p:txBody>
      </p:sp>
      <p:sp>
        <p:nvSpPr>
          <p:cNvPr id="26" name="Text 19"/>
          <p:cNvSpPr/>
          <p:nvPr/>
        </p:nvSpPr>
        <p:spPr>
          <a:xfrm>
            <a:off x="457200" y="4823460"/>
            <a:ext cx="5486400" cy="228600"/>
          </a:xfrm>
          <a:prstGeom prst="rect">
            <a:avLst/>
          </a:prstGeom>
          <a:noFill/>
          <a:ln/>
        </p:spPr>
        <p:txBody>
          <a:bodyPr wrap="square" lIns="0" tIns="0" rIns="0" bIns="0" rtlCol="0" anchor="ctr"/>
          <a:lstStyle/>
          <a:p>
            <a:pPr marL="0" indent="0">
              <a:buNone/>
            </a:pPr>
            <a:r>
              <a:rPr lang="en-US" sz="900">
                <a:solidFill>
                  <a:srgbClr val="52606D"/>
                </a:solidFill>
                <a:latin typeface="Calibri" pitchFamily="34" charset="0"/>
                <a:ea typeface="Calibri" pitchFamily="34" charset="-122"/>
                <a:cs typeface="Calibri" pitchFamily="34" charset="-120"/>
              </a:rPr>
              <a:t>AI Evaluations  ·  Microsoft Agent Framework</a:t>
            </a:r>
            <a:endParaRPr lang="en-US" sz="900"/>
          </a:p>
        </p:txBody>
      </p:sp>
      <p:sp>
        <p:nvSpPr>
          <p:cNvPr id="27" name="Text 20"/>
          <p:cNvSpPr/>
          <p:nvPr/>
        </p:nvSpPr>
        <p:spPr>
          <a:xfrm>
            <a:off x="8046720" y="4823460"/>
            <a:ext cx="640080" cy="228600"/>
          </a:xfrm>
          <a:prstGeom prst="rect">
            <a:avLst/>
          </a:prstGeom>
          <a:noFill/>
          <a:ln/>
        </p:spPr>
        <p:txBody>
          <a:bodyPr wrap="square" lIns="0" tIns="0" rIns="0" bIns="0" rtlCol="0" anchor="ctr"/>
          <a:lstStyle/>
          <a:p>
            <a:pPr marL="0" indent="0" algn="r">
              <a:buNone/>
            </a:pPr>
            <a:r>
              <a:rPr lang="en-US" sz="900">
                <a:solidFill>
                  <a:srgbClr val="52606D"/>
                </a:solidFill>
                <a:latin typeface="Calibri" pitchFamily="34" charset="0"/>
                <a:ea typeface="Calibri" pitchFamily="34" charset="-122"/>
                <a:cs typeface="Calibri" pitchFamily="34" charset="-120"/>
              </a:rPr>
              <a:t>8 / 19</a:t>
            </a:r>
            <a:endParaRPr lang="en-US" sz="9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marL="0" indent="0">
              <a:buNone/>
            </a:pPr>
            <a:r>
              <a:rPr lang="en-US" sz="1000" b="1" kern="0" spc="400">
                <a:solidFill>
                  <a:srgbClr val="0F6E73"/>
                </a:solidFill>
                <a:latin typeface="Calibri" pitchFamily="34" charset="0"/>
                <a:ea typeface="Calibri" pitchFamily="34" charset="-122"/>
                <a:cs typeface="Calibri" pitchFamily="34" charset="-120"/>
              </a:rPr>
              <a:t>RESPONSIBLE AI</a:t>
            </a:r>
            <a:endParaRPr lang="en-US" sz="1000"/>
          </a:p>
        </p:txBody>
      </p:sp>
      <p:sp>
        <p:nvSpPr>
          <p:cNvPr id="3" name="Text 1"/>
          <p:cNvSpPr/>
          <p:nvPr/>
        </p:nvSpPr>
        <p:spPr>
          <a:xfrm>
            <a:off x="457200" y="566928"/>
            <a:ext cx="8229600" cy="640080"/>
          </a:xfrm>
          <a:prstGeom prst="rect">
            <a:avLst/>
          </a:prstGeom>
          <a:noFill/>
          <a:ln/>
        </p:spPr>
        <p:txBody>
          <a:bodyPr wrap="square" lIns="0" tIns="0" rIns="0" bIns="0" rtlCol="0" anchor="ctr"/>
          <a:lstStyle/>
          <a:p>
            <a:pPr marL="0" indent="0">
              <a:buNone/>
            </a:pPr>
            <a:r>
              <a:rPr lang="en-US" sz="2800" b="1">
                <a:solidFill>
                  <a:srgbClr val="1F2933"/>
                </a:solidFill>
                <a:latin typeface="Calibri" pitchFamily="34" charset="0"/>
                <a:ea typeface="Calibri" pitchFamily="34" charset="-122"/>
                <a:cs typeface="Calibri" pitchFamily="34" charset="-120"/>
              </a:rPr>
              <a:t>Risk &amp; safety evaluators</a:t>
            </a:r>
            <a:endParaRPr lang="en-US" sz="2800"/>
          </a:p>
        </p:txBody>
      </p:sp>
      <p:sp>
        <p:nvSpPr>
          <p:cNvPr id="4" name="Shape 2"/>
          <p:cNvSpPr/>
          <p:nvPr/>
        </p:nvSpPr>
        <p:spPr>
          <a:xfrm>
            <a:off x="457200" y="1225296"/>
            <a:ext cx="731520" cy="0"/>
          </a:xfrm>
          <a:prstGeom prst="line">
            <a:avLst/>
          </a:prstGeom>
          <a:noFill/>
          <a:ln w="25400">
            <a:solidFill>
              <a:srgbClr val="0F6E73"/>
            </a:solidFill>
            <a:prstDash val="solid"/>
          </a:ln>
        </p:spPr>
        <p:txBody>
          <a:bodyPr/>
          <a:lstStyle/>
          <a:p>
            <a:endParaRPr lang="en-US"/>
          </a:p>
        </p:txBody>
      </p:sp>
      <p:sp>
        <p:nvSpPr>
          <p:cNvPr id="5" name="Text 3"/>
          <p:cNvSpPr/>
          <p:nvPr/>
        </p:nvSpPr>
        <p:spPr>
          <a:xfrm>
            <a:off x="457200" y="1417320"/>
            <a:ext cx="8229600" cy="365760"/>
          </a:xfrm>
          <a:prstGeom prst="rect">
            <a:avLst/>
          </a:prstGeom>
          <a:noFill/>
          <a:ln/>
        </p:spPr>
        <p:txBody>
          <a:bodyPr wrap="square" lIns="0" tIns="0" rIns="0" bIns="0" rtlCol="0" anchor="ctr"/>
          <a:lstStyle/>
          <a:p>
            <a:pPr marL="0" indent="0">
              <a:buNone/>
            </a:pPr>
            <a:r>
              <a:rPr lang="en-US" sz="1300">
                <a:solidFill>
                  <a:srgbClr val="52606D"/>
                </a:solidFill>
                <a:latin typeface="Calibri" pitchFamily="34" charset="0"/>
                <a:ea typeface="Calibri" pitchFamily="34" charset="-122"/>
                <a:cs typeface="Calibri" pitchFamily="34" charset="-120"/>
              </a:rPr>
              <a:t>Hosted by the Foundry evaluation service — no deployment_name needed. Severity 0–7 with a default threshold of 3.</a:t>
            </a:r>
            <a:endParaRPr lang="en-US" sz="1300"/>
          </a:p>
        </p:txBody>
      </p:sp>
      <p:sp>
        <p:nvSpPr>
          <p:cNvPr id="6" name="Shape 4"/>
          <p:cNvSpPr/>
          <p:nvPr/>
        </p:nvSpPr>
        <p:spPr>
          <a:xfrm>
            <a:off x="457200" y="1920240"/>
            <a:ext cx="45720" cy="411480"/>
          </a:xfrm>
          <a:prstGeom prst="rect">
            <a:avLst/>
          </a:prstGeom>
          <a:solidFill>
            <a:srgbClr val="9C3D2F"/>
          </a:solidFill>
          <a:ln/>
        </p:spPr>
        <p:txBody>
          <a:bodyPr/>
          <a:lstStyle/>
          <a:p>
            <a:endParaRPr lang="en-US"/>
          </a:p>
        </p:txBody>
      </p:sp>
      <p:sp>
        <p:nvSpPr>
          <p:cNvPr id="7" name="Text 5"/>
          <p:cNvSpPr/>
          <p:nvPr/>
        </p:nvSpPr>
        <p:spPr>
          <a:xfrm>
            <a:off x="621792" y="1901952"/>
            <a:ext cx="3657600" cy="22860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Hate &amp; Unfairness</a:t>
            </a:r>
            <a:endParaRPr lang="en-US" sz="1200"/>
          </a:p>
        </p:txBody>
      </p:sp>
      <p:sp>
        <p:nvSpPr>
          <p:cNvPr id="8" name="Text 6"/>
          <p:cNvSpPr/>
          <p:nvPr/>
        </p:nvSpPr>
        <p:spPr>
          <a:xfrm>
            <a:off x="621792" y="2103120"/>
            <a:ext cx="3657600" cy="274320"/>
          </a:xfrm>
          <a:prstGeom prst="rect">
            <a:avLst/>
          </a:prstGeom>
          <a:noFill/>
          <a:ln/>
        </p:spPr>
        <p:txBody>
          <a:bodyPr wrap="square" lIns="0" tIns="0" rIns="0" bIns="0" rtlCol="0" anchor="ctr"/>
          <a:lstStyle/>
          <a:p>
            <a:pPr marL="0" indent="0">
              <a:buNone/>
            </a:pPr>
            <a:r>
              <a:rPr lang="en-US" sz="1000">
                <a:solidFill>
                  <a:srgbClr val="52606D"/>
                </a:solidFill>
                <a:latin typeface="Calibri" pitchFamily="34" charset="0"/>
                <a:ea typeface="Calibri" pitchFamily="34" charset="-122"/>
                <a:cs typeface="Calibri" pitchFamily="34" charset="-120"/>
              </a:rPr>
              <a:t>Biased or discriminatory language toward social groups</a:t>
            </a:r>
            <a:endParaRPr lang="en-US" sz="1000"/>
          </a:p>
        </p:txBody>
      </p:sp>
      <p:sp>
        <p:nvSpPr>
          <p:cNvPr id="9" name="Shape 7"/>
          <p:cNvSpPr/>
          <p:nvPr/>
        </p:nvSpPr>
        <p:spPr>
          <a:xfrm>
            <a:off x="457200" y="2423160"/>
            <a:ext cx="45720" cy="411480"/>
          </a:xfrm>
          <a:prstGeom prst="rect">
            <a:avLst/>
          </a:prstGeom>
          <a:solidFill>
            <a:srgbClr val="9C3D2F"/>
          </a:solidFill>
          <a:ln/>
        </p:spPr>
        <p:txBody>
          <a:bodyPr/>
          <a:lstStyle/>
          <a:p>
            <a:endParaRPr lang="en-US"/>
          </a:p>
        </p:txBody>
      </p:sp>
      <p:sp>
        <p:nvSpPr>
          <p:cNvPr id="10" name="Text 8"/>
          <p:cNvSpPr/>
          <p:nvPr/>
        </p:nvSpPr>
        <p:spPr>
          <a:xfrm>
            <a:off x="621792" y="2404872"/>
            <a:ext cx="3657600" cy="22860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Sexual</a:t>
            </a:r>
            <a:endParaRPr lang="en-US" sz="1200"/>
          </a:p>
        </p:txBody>
      </p:sp>
      <p:sp>
        <p:nvSpPr>
          <p:cNvPr id="11" name="Text 9"/>
          <p:cNvSpPr/>
          <p:nvPr/>
        </p:nvSpPr>
        <p:spPr>
          <a:xfrm>
            <a:off x="621792" y="2606040"/>
            <a:ext cx="3657600" cy="274320"/>
          </a:xfrm>
          <a:prstGeom prst="rect">
            <a:avLst/>
          </a:prstGeom>
          <a:noFill/>
          <a:ln/>
        </p:spPr>
        <p:txBody>
          <a:bodyPr wrap="square" lIns="0" tIns="0" rIns="0" bIns="0" rtlCol="0" anchor="ctr"/>
          <a:lstStyle/>
          <a:p>
            <a:pPr marL="0" indent="0">
              <a:buNone/>
            </a:pPr>
            <a:r>
              <a:rPr lang="en-US" sz="1000">
                <a:solidFill>
                  <a:srgbClr val="52606D"/>
                </a:solidFill>
                <a:latin typeface="Calibri" pitchFamily="34" charset="0"/>
                <a:ea typeface="Calibri" pitchFamily="34" charset="-122"/>
                <a:cs typeface="Calibri" pitchFamily="34" charset="-120"/>
              </a:rPr>
              <a:t>Sexual or explicit content</a:t>
            </a:r>
            <a:endParaRPr lang="en-US" sz="1000"/>
          </a:p>
        </p:txBody>
      </p:sp>
      <p:sp>
        <p:nvSpPr>
          <p:cNvPr id="12" name="Shape 10"/>
          <p:cNvSpPr/>
          <p:nvPr/>
        </p:nvSpPr>
        <p:spPr>
          <a:xfrm>
            <a:off x="457200" y="2926080"/>
            <a:ext cx="45720" cy="411480"/>
          </a:xfrm>
          <a:prstGeom prst="rect">
            <a:avLst/>
          </a:prstGeom>
          <a:solidFill>
            <a:srgbClr val="9C3D2F"/>
          </a:solidFill>
          <a:ln/>
        </p:spPr>
        <p:txBody>
          <a:bodyPr/>
          <a:lstStyle/>
          <a:p>
            <a:endParaRPr lang="en-US"/>
          </a:p>
        </p:txBody>
      </p:sp>
      <p:sp>
        <p:nvSpPr>
          <p:cNvPr id="13" name="Text 11"/>
          <p:cNvSpPr/>
          <p:nvPr/>
        </p:nvSpPr>
        <p:spPr>
          <a:xfrm>
            <a:off x="621792" y="2907792"/>
            <a:ext cx="3657600" cy="22860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Violence</a:t>
            </a:r>
            <a:endParaRPr lang="en-US" sz="1200"/>
          </a:p>
        </p:txBody>
      </p:sp>
      <p:sp>
        <p:nvSpPr>
          <p:cNvPr id="14" name="Text 12"/>
          <p:cNvSpPr/>
          <p:nvPr/>
        </p:nvSpPr>
        <p:spPr>
          <a:xfrm>
            <a:off x="621792" y="3108960"/>
            <a:ext cx="3657600" cy="274320"/>
          </a:xfrm>
          <a:prstGeom prst="rect">
            <a:avLst/>
          </a:prstGeom>
          <a:noFill/>
          <a:ln/>
        </p:spPr>
        <p:txBody>
          <a:bodyPr wrap="square" lIns="0" tIns="0" rIns="0" bIns="0" rtlCol="0" anchor="ctr"/>
          <a:lstStyle/>
          <a:p>
            <a:pPr marL="0" indent="0">
              <a:buNone/>
            </a:pPr>
            <a:r>
              <a:rPr lang="en-US" sz="1000">
                <a:solidFill>
                  <a:srgbClr val="52606D"/>
                </a:solidFill>
                <a:latin typeface="Calibri" pitchFamily="34" charset="0"/>
                <a:ea typeface="Calibri" pitchFamily="34" charset="-122"/>
                <a:cs typeface="Calibri" pitchFamily="34" charset="-120"/>
              </a:rPr>
              <a:t>Physical harm, weapons, incitement</a:t>
            </a:r>
            <a:endParaRPr lang="en-US" sz="1000"/>
          </a:p>
        </p:txBody>
      </p:sp>
      <p:sp>
        <p:nvSpPr>
          <p:cNvPr id="15" name="Shape 13"/>
          <p:cNvSpPr/>
          <p:nvPr/>
        </p:nvSpPr>
        <p:spPr>
          <a:xfrm>
            <a:off x="457200" y="3429000"/>
            <a:ext cx="45720" cy="411480"/>
          </a:xfrm>
          <a:prstGeom prst="rect">
            <a:avLst/>
          </a:prstGeom>
          <a:solidFill>
            <a:srgbClr val="9C3D2F"/>
          </a:solidFill>
          <a:ln/>
        </p:spPr>
        <p:txBody>
          <a:bodyPr/>
          <a:lstStyle/>
          <a:p>
            <a:endParaRPr lang="en-US"/>
          </a:p>
        </p:txBody>
      </p:sp>
      <p:sp>
        <p:nvSpPr>
          <p:cNvPr id="16" name="Text 14"/>
          <p:cNvSpPr/>
          <p:nvPr/>
        </p:nvSpPr>
        <p:spPr>
          <a:xfrm>
            <a:off x="621792" y="3410712"/>
            <a:ext cx="3657600" cy="22860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Self-Harm</a:t>
            </a:r>
            <a:endParaRPr lang="en-US" sz="1200"/>
          </a:p>
        </p:txBody>
      </p:sp>
      <p:sp>
        <p:nvSpPr>
          <p:cNvPr id="17" name="Text 15"/>
          <p:cNvSpPr/>
          <p:nvPr/>
        </p:nvSpPr>
        <p:spPr>
          <a:xfrm>
            <a:off x="621792" y="3611880"/>
            <a:ext cx="3657600" cy="274320"/>
          </a:xfrm>
          <a:prstGeom prst="rect">
            <a:avLst/>
          </a:prstGeom>
          <a:noFill/>
          <a:ln/>
        </p:spPr>
        <p:txBody>
          <a:bodyPr wrap="square" lIns="0" tIns="0" rIns="0" bIns="0" rtlCol="0" anchor="ctr"/>
          <a:lstStyle/>
          <a:p>
            <a:pPr marL="0" indent="0">
              <a:buNone/>
            </a:pPr>
            <a:r>
              <a:rPr lang="en-US" sz="1000">
                <a:solidFill>
                  <a:srgbClr val="52606D"/>
                </a:solidFill>
                <a:latin typeface="Calibri" pitchFamily="34" charset="0"/>
                <a:ea typeface="Calibri" pitchFamily="34" charset="-122"/>
                <a:cs typeface="Calibri" pitchFamily="34" charset="-120"/>
              </a:rPr>
              <a:t>Content describing or promoting self-harm</a:t>
            </a:r>
            <a:endParaRPr lang="en-US" sz="1000"/>
          </a:p>
        </p:txBody>
      </p:sp>
      <p:sp>
        <p:nvSpPr>
          <p:cNvPr id="18" name="Shape 16"/>
          <p:cNvSpPr/>
          <p:nvPr/>
        </p:nvSpPr>
        <p:spPr>
          <a:xfrm>
            <a:off x="457200" y="3931920"/>
            <a:ext cx="45720" cy="411480"/>
          </a:xfrm>
          <a:prstGeom prst="rect">
            <a:avLst/>
          </a:prstGeom>
          <a:solidFill>
            <a:srgbClr val="9C3D2F"/>
          </a:solidFill>
          <a:ln/>
        </p:spPr>
        <p:txBody>
          <a:bodyPr/>
          <a:lstStyle/>
          <a:p>
            <a:endParaRPr lang="en-US"/>
          </a:p>
        </p:txBody>
      </p:sp>
      <p:sp>
        <p:nvSpPr>
          <p:cNvPr id="19" name="Text 17"/>
          <p:cNvSpPr/>
          <p:nvPr/>
        </p:nvSpPr>
        <p:spPr>
          <a:xfrm>
            <a:off x="621792" y="3913632"/>
            <a:ext cx="3657600" cy="22860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Protected Materials</a:t>
            </a:r>
            <a:endParaRPr lang="en-US" sz="1200"/>
          </a:p>
        </p:txBody>
      </p:sp>
      <p:sp>
        <p:nvSpPr>
          <p:cNvPr id="20" name="Text 18"/>
          <p:cNvSpPr/>
          <p:nvPr/>
        </p:nvSpPr>
        <p:spPr>
          <a:xfrm>
            <a:off x="621792" y="4114800"/>
            <a:ext cx="3657600" cy="274320"/>
          </a:xfrm>
          <a:prstGeom prst="rect">
            <a:avLst/>
          </a:prstGeom>
          <a:noFill/>
          <a:ln/>
        </p:spPr>
        <p:txBody>
          <a:bodyPr wrap="square" lIns="0" tIns="0" rIns="0" bIns="0" rtlCol="0" anchor="ctr"/>
          <a:lstStyle/>
          <a:p>
            <a:pPr marL="0" indent="0">
              <a:buNone/>
            </a:pPr>
            <a:r>
              <a:rPr lang="en-US" sz="1000">
                <a:solidFill>
                  <a:srgbClr val="52606D"/>
                </a:solidFill>
                <a:latin typeface="Calibri" pitchFamily="34" charset="0"/>
                <a:ea typeface="Calibri" pitchFamily="34" charset="-122"/>
                <a:cs typeface="Calibri" pitchFamily="34" charset="-120"/>
              </a:rPr>
              <a:t>Copyrighted content (lyrics, articles, recipes)</a:t>
            </a:r>
            <a:endParaRPr lang="en-US" sz="1000"/>
          </a:p>
        </p:txBody>
      </p:sp>
      <p:sp>
        <p:nvSpPr>
          <p:cNvPr id="21" name="Shape 19"/>
          <p:cNvSpPr/>
          <p:nvPr/>
        </p:nvSpPr>
        <p:spPr>
          <a:xfrm>
            <a:off x="4663440" y="1920240"/>
            <a:ext cx="45720" cy="411480"/>
          </a:xfrm>
          <a:prstGeom prst="rect">
            <a:avLst/>
          </a:prstGeom>
          <a:solidFill>
            <a:srgbClr val="9C3D2F"/>
          </a:solidFill>
          <a:ln/>
        </p:spPr>
        <p:txBody>
          <a:bodyPr/>
          <a:lstStyle/>
          <a:p>
            <a:endParaRPr lang="en-US"/>
          </a:p>
        </p:txBody>
      </p:sp>
      <p:sp>
        <p:nvSpPr>
          <p:cNvPr id="22" name="Text 20"/>
          <p:cNvSpPr/>
          <p:nvPr/>
        </p:nvSpPr>
        <p:spPr>
          <a:xfrm>
            <a:off x="4828032" y="1901952"/>
            <a:ext cx="3657600" cy="22860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Indirect Attack (XPIA)</a:t>
            </a:r>
            <a:endParaRPr lang="en-US" sz="1200"/>
          </a:p>
        </p:txBody>
      </p:sp>
      <p:sp>
        <p:nvSpPr>
          <p:cNvPr id="23" name="Text 21"/>
          <p:cNvSpPr/>
          <p:nvPr/>
        </p:nvSpPr>
        <p:spPr>
          <a:xfrm>
            <a:off x="4828032" y="2103120"/>
            <a:ext cx="3657600" cy="274320"/>
          </a:xfrm>
          <a:prstGeom prst="rect">
            <a:avLst/>
          </a:prstGeom>
          <a:noFill/>
          <a:ln/>
        </p:spPr>
        <p:txBody>
          <a:bodyPr wrap="square" lIns="0" tIns="0" rIns="0" bIns="0" rtlCol="0" anchor="ctr"/>
          <a:lstStyle/>
          <a:p>
            <a:pPr marL="0" indent="0">
              <a:buNone/>
            </a:pPr>
            <a:r>
              <a:rPr lang="en-US" sz="1000">
                <a:solidFill>
                  <a:srgbClr val="52606D"/>
                </a:solidFill>
                <a:latin typeface="Calibri" pitchFamily="34" charset="0"/>
                <a:ea typeface="Calibri" pitchFamily="34" charset="-122"/>
                <a:cs typeface="Calibri" pitchFamily="34" charset="-120"/>
              </a:rPr>
              <a:t>Injected jailbreaks via retrieved context</a:t>
            </a:r>
            <a:endParaRPr lang="en-US" sz="1000"/>
          </a:p>
        </p:txBody>
      </p:sp>
      <p:sp>
        <p:nvSpPr>
          <p:cNvPr id="24" name="Shape 22"/>
          <p:cNvSpPr/>
          <p:nvPr/>
        </p:nvSpPr>
        <p:spPr>
          <a:xfrm>
            <a:off x="4663440" y="2423160"/>
            <a:ext cx="45720" cy="411480"/>
          </a:xfrm>
          <a:prstGeom prst="rect">
            <a:avLst/>
          </a:prstGeom>
          <a:solidFill>
            <a:srgbClr val="9C3D2F"/>
          </a:solidFill>
          <a:ln/>
        </p:spPr>
        <p:txBody>
          <a:bodyPr/>
          <a:lstStyle/>
          <a:p>
            <a:endParaRPr lang="en-US"/>
          </a:p>
        </p:txBody>
      </p:sp>
      <p:sp>
        <p:nvSpPr>
          <p:cNvPr id="25" name="Text 23"/>
          <p:cNvSpPr/>
          <p:nvPr/>
        </p:nvSpPr>
        <p:spPr>
          <a:xfrm>
            <a:off x="4828032" y="2404872"/>
            <a:ext cx="3657600" cy="22860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Code Vulnerability</a:t>
            </a:r>
            <a:endParaRPr lang="en-US" sz="1200"/>
          </a:p>
        </p:txBody>
      </p:sp>
      <p:sp>
        <p:nvSpPr>
          <p:cNvPr id="26" name="Text 24"/>
          <p:cNvSpPr/>
          <p:nvPr/>
        </p:nvSpPr>
        <p:spPr>
          <a:xfrm>
            <a:off x="4828032" y="2606040"/>
            <a:ext cx="3657600" cy="274320"/>
          </a:xfrm>
          <a:prstGeom prst="rect">
            <a:avLst/>
          </a:prstGeom>
          <a:noFill/>
          <a:ln/>
        </p:spPr>
        <p:txBody>
          <a:bodyPr wrap="square" lIns="0" tIns="0" rIns="0" bIns="0" rtlCol="0" anchor="ctr"/>
          <a:lstStyle/>
          <a:p>
            <a:pPr marL="0" indent="0">
              <a:buNone/>
            </a:pPr>
            <a:r>
              <a:rPr lang="en-US" sz="1000">
                <a:solidFill>
                  <a:srgbClr val="52606D"/>
                </a:solidFill>
                <a:latin typeface="Calibri" pitchFamily="34" charset="0"/>
                <a:ea typeface="Calibri" pitchFamily="34" charset="-122"/>
                <a:cs typeface="Calibri" pitchFamily="34" charset="-120"/>
              </a:rPr>
              <a:t>SQL injection, path traversal, weak crypto, etc.</a:t>
            </a:r>
            <a:endParaRPr lang="en-US" sz="1000"/>
          </a:p>
        </p:txBody>
      </p:sp>
      <p:sp>
        <p:nvSpPr>
          <p:cNvPr id="27" name="Shape 25"/>
          <p:cNvSpPr/>
          <p:nvPr/>
        </p:nvSpPr>
        <p:spPr>
          <a:xfrm>
            <a:off x="4663440" y="2926080"/>
            <a:ext cx="45720" cy="411480"/>
          </a:xfrm>
          <a:prstGeom prst="rect">
            <a:avLst/>
          </a:prstGeom>
          <a:solidFill>
            <a:srgbClr val="9C3D2F"/>
          </a:solidFill>
          <a:ln/>
        </p:spPr>
        <p:txBody>
          <a:bodyPr/>
          <a:lstStyle/>
          <a:p>
            <a:endParaRPr lang="en-US"/>
          </a:p>
        </p:txBody>
      </p:sp>
      <p:sp>
        <p:nvSpPr>
          <p:cNvPr id="28" name="Text 26"/>
          <p:cNvSpPr/>
          <p:nvPr/>
        </p:nvSpPr>
        <p:spPr>
          <a:xfrm>
            <a:off x="4828032" y="2907792"/>
            <a:ext cx="3657600" cy="22860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Ungrounded Attributes</a:t>
            </a:r>
            <a:endParaRPr lang="en-US" sz="1200"/>
          </a:p>
        </p:txBody>
      </p:sp>
      <p:sp>
        <p:nvSpPr>
          <p:cNvPr id="29" name="Text 27"/>
          <p:cNvSpPr/>
          <p:nvPr/>
        </p:nvSpPr>
        <p:spPr>
          <a:xfrm>
            <a:off x="4828032" y="3108960"/>
            <a:ext cx="3657600" cy="274320"/>
          </a:xfrm>
          <a:prstGeom prst="rect">
            <a:avLst/>
          </a:prstGeom>
          <a:noFill/>
          <a:ln/>
        </p:spPr>
        <p:txBody>
          <a:bodyPr wrap="square" lIns="0" tIns="0" rIns="0" bIns="0" rtlCol="0" anchor="ctr"/>
          <a:lstStyle/>
          <a:p>
            <a:pPr marL="0" indent="0">
              <a:buNone/>
            </a:pPr>
            <a:r>
              <a:rPr lang="en-US" sz="1000">
                <a:solidFill>
                  <a:srgbClr val="52606D"/>
                </a:solidFill>
                <a:latin typeface="Calibri" pitchFamily="34" charset="0"/>
                <a:ea typeface="Calibri" pitchFamily="34" charset="-122"/>
                <a:cs typeface="Calibri" pitchFamily="34" charset="-120"/>
              </a:rPr>
              <a:t>Hallucinated personal traits or emotional state</a:t>
            </a:r>
            <a:endParaRPr lang="en-US" sz="1000"/>
          </a:p>
        </p:txBody>
      </p:sp>
      <p:sp>
        <p:nvSpPr>
          <p:cNvPr id="30" name="Shape 28"/>
          <p:cNvSpPr/>
          <p:nvPr/>
        </p:nvSpPr>
        <p:spPr>
          <a:xfrm>
            <a:off x="4663440" y="3429000"/>
            <a:ext cx="45720" cy="411480"/>
          </a:xfrm>
          <a:prstGeom prst="rect">
            <a:avLst/>
          </a:prstGeom>
          <a:solidFill>
            <a:srgbClr val="9C3D2F"/>
          </a:solidFill>
          <a:ln/>
        </p:spPr>
        <p:txBody>
          <a:bodyPr/>
          <a:lstStyle/>
          <a:p>
            <a:endParaRPr lang="en-US"/>
          </a:p>
        </p:txBody>
      </p:sp>
      <p:sp>
        <p:nvSpPr>
          <p:cNvPr id="31" name="Text 29"/>
          <p:cNvSpPr/>
          <p:nvPr/>
        </p:nvSpPr>
        <p:spPr>
          <a:xfrm>
            <a:off x="4828032" y="3410712"/>
            <a:ext cx="3657600" cy="22860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Prohibited Actions</a:t>
            </a:r>
            <a:endParaRPr lang="en-US" sz="1200"/>
          </a:p>
        </p:txBody>
      </p:sp>
      <p:sp>
        <p:nvSpPr>
          <p:cNvPr id="32" name="Text 30"/>
          <p:cNvSpPr/>
          <p:nvPr/>
        </p:nvSpPr>
        <p:spPr>
          <a:xfrm>
            <a:off x="4828032" y="3611880"/>
            <a:ext cx="3657600" cy="274320"/>
          </a:xfrm>
          <a:prstGeom prst="rect">
            <a:avLst/>
          </a:prstGeom>
          <a:noFill/>
          <a:ln/>
        </p:spPr>
        <p:txBody>
          <a:bodyPr wrap="square" lIns="0" tIns="0" rIns="0" bIns="0" rtlCol="0" anchor="ctr"/>
          <a:lstStyle/>
          <a:p>
            <a:pPr marL="0" indent="0">
              <a:buNone/>
            </a:pPr>
            <a:r>
              <a:rPr lang="en-US" sz="1000">
                <a:solidFill>
                  <a:srgbClr val="52606D"/>
                </a:solidFill>
                <a:latin typeface="Calibri" pitchFamily="34" charset="0"/>
                <a:ea typeface="Calibri" pitchFamily="34" charset="-122"/>
                <a:cs typeface="Calibri" pitchFamily="34" charset="-120"/>
              </a:rPr>
              <a:t>Agent took a disallowed action (preview)</a:t>
            </a:r>
            <a:endParaRPr lang="en-US" sz="1000"/>
          </a:p>
        </p:txBody>
      </p:sp>
      <p:sp>
        <p:nvSpPr>
          <p:cNvPr id="33" name="Shape 31"/>
          <p:cNvSpPr/>
          <p:nvPr/>
        </p:nvSpPr>
        <p:spPr>
          <a:xfrm>
            <a:off x="4663440" y="3931920"/>
            <a:ext cx="45720" cy="411480"/>
          </a:xfrm>
          <a:prstGeom prst="rect">
            <a:avLst/>
          </a:prstGeom>
          <a:solidFill>
            <a:srgbClr val="9C3D2F"/>
          </a:solidFill>
          <a:ln/>
        </p:spPr>
        <p:txBody>
          <a:bodyPr/>
          <a:lstStyle/>
          <a:p>
            <a:endParaRPr lang="en-US"/>
          </a:p>
        </p:txBody>
      </p:sp>
      <p:sp>
        <p:nvSpPr>
          <p:cNvPr id="34" name="Text 32"/>
          <p:cNvSpPr/>
          <p:nvPr/>
        </p:nvSpPr>
        <p:spPr>
          <a:xfrm>
            <a:off x="4828032" y="3913632"/>
            <a:ext cx="3657600" cy="22860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Sensitive Data Leakage</a:t>
            </a:r>
            <a:endParaRPr lang="en-US" sz="1200"/>
          </a:p>
        </p:txBody>
      </p:sp>
      <p:sp>
        <p:nvSpPr>
          <p:cNvPr id="35" name="Text 33"/>
          <p:cNvSpPr/>
          <p:nvPr/>
        </p:nvSpPr>
        <p:spPr>
          <a:xfrm>
            <a:off x="4828032" y="4114800"/>
            <a:ext cx="3657600" cy="274320"/>
          </a:xfrm>
          <a:prstGeom prst="rect">
            <a:avLst/>
          </a:prstGeom>
          <a:noFill/>
          <a:ln/>
        </p:spPr>
        <p:txBody>
          <a:bodyPr wrap="square" lIns="0" tIns="0" rIns="0" bIns="0" rtlCol="0" anchor="ctr"/>
          <a:lstStyle/>
          <a:p>
            <a:pPr marL="0" indent="0">
              <a:buNone/>
            </a:pPr>
            <a:r>
              <a:rPr lang="en-US" sz="1000">
                <a:solidFill>
                  <a:srgbClr val="52606D"/>
                </a:solidFill>
                <a:latin typeface="Calibri" pitchFamily="34" charset="0"/>
                <a:ea typeface="Calibri" pitchFamily="34" charset="-122"/>
                <a:cs typeface="Calibri" pitchFamily="34" charset="-120"/>
              </a:rPr>
              <a:t>Agent exposed PII or secrets (preview)</a:t>
            </a:r>
            <a:endParaRPr lang="en-US" sz="1000"/>
          </a:p>
        </p:txBody>
      </p:sp>
      <p:sp>
        <p:nvSpPr>
          <p:cNvPr id="36" name="Text 34"/>
          <p:cNvSpPr/>
          <p:nvPr/>
        </p:nvSpPr>
        <p:spPr>
          <a:xfrm>
            <a:off x="457200" y="4823460"/>
            <a:ext cx="5486400" cy="228600"/>
          </a:xfrm>
          <a:prstGeom prst="rect">
            <a:avLst/>
          </a:prstGeom>
          <a:noFill/>
          <a:ln/>
        </p:spPr>
        <p:txBody>
          <a:bodyPr wrap="square" lIns="0" tIns="0" rIns="0" bIns="0" rtlCol="0" anchor="ctr"/>
          <a:lstStyle/>
          <a:p>
            <a:pPr marL="0" indent="0">
              <a:buNone/>
            </a:pPr>
            <a:r>
              <a:rPr lang="en-US" sz="900">
                <a:solidFill>
                  <a:srgbClr val="52606D"/>
                </a:solidFill>
                <a:latin typeface="Calibri" pitchFamily="34" charset="0"/>
                <a:ea typeface="Calibri" pitchFamily="34" charset="-122"/>
                <a:cs typeface="Calibri" pitchFamily="34" charset="-120"/>
              </a:rPr>
              <a:t>AI Evaluations  ·  Microsoft Agent Framework</a:t>
            </a:r>
            <a:endParaRPr lang="en-US" sz="900"/>
          </a:p>
        </p:txBody>
      </p:sp>
      <p:sp>
        <p:nvSpPr>
          <p:cNvPr id="37" name="Text 35"/>
          <p:cNvSpPr/>
          <p:nvPr/>
        </p:nvSpPr>
        <p:spPr>
          <a:xfrm>
            <a:off x="8046720" y="4823460"/>
            <a:ext cx="640080" cy="228600"/>
          </a:xfrm>
          <a:prstGeom prst="rect">
            <a:avLst/>
          </a:prstGeom>
          <a:noFill/>
          <a:ln/>
        </p:spPr>
        <p:txBody>
          <a:bodyPr wrap="square" lIns="0" tIns="0" rIns="0" bIns="0" rtlCol="0" anchor="ctr"/>
          <a:lstStyle/>
          <a:p>
            <a:pPr marL="0" indent="0" algn="r">
              <a:buNone/>
            </a:pPr>
            <a:r>
              <a:rPr lang="en-US" sz="900">
                <a:solidFill>
                  <a:srgbClr val="52606D"/>
                </a:solidFill>
                <a:latin typeface="Calibri" pitchFamily="34" charset="0"/>
                <a:ea typeface="Calibri" pitchFamily="34" charset="-122"/>
                <a:cs typeface="Calibri" pitchFamily="34" charset="-120"/>
              </a:rPr>
              <a:t>9 / 19</a:t>
            </a:r>
            <a:endParaRPr lang="en-US" sz="9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marL="0" indent="0">
              <a:buNone/>
            </a:pPr>
            <a:r>
              <a:rPr lang="en-US" sz="1000" b="1" kern="0" spc="400">
                <a:solidFill>
                  <a:srgbClr val="0F6E73"/>
                </a:solidFill>
                <a:latin typeface="Calibri" pitchFamily="34" charset="0"/>
                <a:ea typeface="Calibri" pitchFamily="34" charset="-122"/>
                <a:cs typeface="Calibri" pitchFamily="34" charset="-120"/>
              </a:rPr>
              <a:t>READING THE RESULTS</a:t>
            </a:r>
            <a:endParaRPr lang="en-US" sz="1000"/>
          </a:p>
        </p:txBody>
      </p:sp>
      <p:sp>
        <p:nvSpPr>
          <p:cNvPr id="3" name="Text 1"/>
          <p:cNvSpPr/>
          <p:nvPr/>
        </p:nvSpPr>
        <p:spPr>
          <a:xfrm>
            <a:off x="457200" y="566928"/>
            <a:ext cx="8229600" cy="640080"/>
          </a:xfrm>
          <a:prstGeom prst="rect">
            <a:avLst/>
          </a:prstGeom>
          <a:noFill/>
          <a:ln/>
        </p:spPr>
        <p:txBody>
          <a:bodyPr wrap="square" lIns="0" tIns="0" rIns="0" bIns="0" rtlCol="0" anchor="ctr"/>
          <a:lstStyle/>
          <a:p>
            <a:pPr marL="0" indent="0">
              <a:buNone/>
            </a:pPr>
            <a:r>
              <a:rPr lang="en-US" sz="2800" b="1">
                <a:solidFill>
                  <a:srgbClr val="1F2933"/>
                </a:solidFill>
                <a:latin typeface="Calibri" pitchFamily="34" charset="0"/>
                <a:ea typeface="Calibri" pitchFamily="34" charset="-122"/>
                <a:cs typeface="Calibri" pitchFamily="34" charset="-120"/>
              </a:rPr>
              <a:t>Score scales and thresholds</a:t>
            </a:r>
            <a:endParaRPr lang="en-US" sz="2800"/>
          </a:p>
        </p:txBody>
      </p:sp>
      <p:sp>
        <p:nvSpPr>
          <p:cNvPr id="4" name="Shape 2"/>
          <p:cNvSpPr/>
          <p:nvPr/>
        </p:nvSpPr>
        <p:spPr>
          <a:xfrm>
            <a:off x="457200" y="1225296"/>
            <a:ext cx="731520" cy="0"/>
          </a:xfrm>
          <a:prstGeom prst="line">
            <a:avLst/>
          </a:prstGeom>
          <a:noFill/>
          <a:ln w="25400">
            <a:solidFill>
              <a:srgbClr val="0F6E73"/>
            </a:solidFill>
            <a:prstDash val="solid"/>
          </a:ln>
        </p:spPr>
        <p:txBody>
          <a:bodyPr/>
          <a:lstStyle/>
          <a:p>
            <a:endParaRPr lang="en-US"/>
          </a:p>
        </p:txBody>
      </p:sp>
      <p:sp>
        <p:nvSpPr>
          <p:cNvPr id="5" name="Shape 3"/>
          <p:cNvSpPr/>
          <p:nvPr/>
        </p:nvSpPr>
        <p:spPr>
          <a:xfrm>
            <a:off x="457200" y="1508760"/>
            <a:ext cx="1920240" cy="2971800"/>
          </a:xfrm>
          <a:prstGeom prst="rect">
            <a:avLst/>
          </a:prstGeom>
          <a:solidFill>
            <a:srgbClr val="F4F6F8"/>
          </a:solidFill>
          <a:ln w="9525">
            <a:solidFill>
              <a:srgbClr val="D8DDE2"/>
            </a:solidFill>
            <a:prstDash val="solid"/>
          </a:ln>
        </p:spPr>
        <p:txBody>
          <a:bodyPr/>
          <a:lstStyle/>
          <a:p>
            <a:endParaRPr lang="en-US"/>
          </a:p>
        </p:txBody>
      </p:sp>
      <p:sp>
        <p:nvSpPr>
          <p:cNvPr id="6" name="Text 4"/>
          <p:cNvSpPr/>
          <p:nvPr/>
        </p:nvSpPr>
        <p:spPr>
          <a:xfrm>
            <a:off x="548640" y="1645920"/>
            <a:ext cx="1737360" cy="365760"/>
          </a:xfrm>
          <a:prstGeom prst="rect">
            <a:avLst/>
          </a:prstGeom>
          <a:noFill/>
          <a:ln/>
        </p:spPr>
        <p:txBody>
          <a:bodyPr wrap="square" lIns="0" tIns="0" rIns="0" bIns="0" rtlCol="0" anchor="ctr"/>
          <a:lstStyle/>
          <a:p>
            <a:pPr marL="0" indent="0">
              <a:buNone/>
            </a:pPr>
            <a:r>
              <a:rPr lang="en-US" sz="1600" b="1">
                <a:solidFill>
                  <a:srgbClr val="1F2933"/>
                </a:solidFill>
                <a:latin typeface="Calibri" pitchFamily="34" charset="0"/>
                <a:ea typeface="Calibri" pitchFamily="34" charset="-122"/>
                <a:cs typeface="Calibri" pitchFamily="34" charset="-120"/>
              </a:rPr>
              <a:t>Quality</a:t>
            </a:r>
            <a:endParaRPr lang="en-US" sz="1600"/>
          </a:p>
        </p:txBody>
      </p:sp>
      <p:sp>
        <p:nvSpPr>
          <p:cNvPr id="7" name="Text 5"/>
          <p:cNvSpPr/>
          <p:nvPr/>
        </p:nvSpPr>
        <p:spPr>
          <a:xfrm>
            <a:off x="548640" y="2057400"/>
            <a:ext cx="1737360" cy="365760"/>
          </a:xfrm>
          <a:prstGeom prst="rect">
            <a:avLst/>
          </a:prstGeom>
          <a:noFill/>
          <a:ln/>
        </p:spPr>
        <p:txBody>
          <a:bodyPr wrap="square" lIns="0" tIns="0" rIns="0" bIns="0" rtlCol="0" anchor="ctr"/>
          <a:lstStyle/>
          <a:p>
            <a:pPr marL="0" indent="0">
              <a:buNone/>
            </a:pPr>
            <a:r>
              <a:rPr lang="en-US" sz="1200">
                <a:solidFill>
                  <a:srgbClr val="0F6E73"/>
                </a:solidFill>
                <a:latin typeface="Consolas" pitchFamily="34" charset="0"/>
                <a:ea typeface="Consolas" pitchFamily="34" charset="-122"/>
                <a:cs typeface="Consolas" pitchFamily="34" charset="-120"/>
              </a:rPr>
              <a:t>1 ———— 5</a:t>
            </a:r>
            <a:endParaRPr lang="en-US" sz="1200"/>
          </a:p>
        </p:txBody>
      </p:sp>
      <p:sp>
        <p:nvSpPr>
          <p:cNvPr id="8" name="Shape 6"/>
          <p:cNvSpPr/>
          <p:nvPr/>
        </p:nvSpPr>
        <p:spPr>
          <a:xfrm>
            <a:off x="548640" y="2514600"/>
            <a:ext cx="1737360" cy="9525"/>
          </a:xfrm>
          <a:prstGeom prst="line">
            <a:avLst/>
          </a:prstGeom>
          <a:noFill/>
          <a:ln w="9525">
            <a:solidFill>
              <a:srgbClr val="D8DDE2"/>
            </a:solidFill>
            <a:prstDash val="solid"/>
          </a:ln>
        </p:spPr>
        <p:txBody>
          <a:bodyPr/>
          <a:lstStyle/>
          <a:p>
            <a:endParaRPr lang="en-US"/>
          </a:p>
        </p:txBody>
      </p:sp>
      <p:sp>
        <p:nvSpPr>
          <p:cNvPr id="9" name="Text 7"/>
          <p:cNvSpPr/>
          <p:nvPr/>
        </p:nvSpPr>
        <p:spPr>
          <a:xfrm>
            <a:off x="548640" y="2606040"/>
            <a:ext cx="1737360" cy="1188720"/>
          </a:xfrm>
          <a:prstGeom prst="rect">
            <a:avLst/>
          </a:prstGeom>
          <a:noFill/>
          <a:ln/>
        </p:spPr>
        <p:txBody>
          <a:bodyPr wrap="square" lIns="0" tIns="0" rIns="0" bIns="0" rtlCol="0" anchor="ctr"/>
          <a:lstStyle/>
          <a:p>
            <a:pPr marL="0" indent="0">
              <a:buNone/>
            </a:pPr>
            <a:r>
              <a:rPr lang="en-US" sz="1100">
                <a:solidFill>
                  <a:srgbClr val="52606D"/>
                </a:solidFill>
                <a:latin typeface="Calibri" pitchFamily="34" charset="0"/>
                <a:ea typeface="Calibri" pitchFamily="34" charset="-122"/>
                <a:cs typeface="Calibri" pitchFamily="34" charset="-120"/>
              </a:rPr>
              <a:t>Coherence, fluency, groundedness, relevance. LLM-as-judge, default pass = 3. Higher is better.</a:t>
            </a:r>
            <a:endParaRPr lang="en-US" sz="1100"/>
          </a:p>
        </p:txBody>
      </p:sp>
      <p:sp>
        <p:nvSpPr>
          <p:cNvPr id="10" name="Text 8"/>
          <p:cNvSpPr/>
          <p:nvPr/>
        </p:nvSpPr>
        <p:spPr>
          <a:xfrm>
            <a:off x="548640" y="4023360"/>
            <a:ext cx="1737360" cy="365760"/>
          </a:xfrm>
          <a:prstGeom prst="rect">
            <a:avLst/>
          </a:prstGeom>
          <a:noFill/>
          <a:ln/>
        </p:spPr>
        <p:txBody>
          <a:bodyPr wrap="square" lIns="0" tIns="0" rIns="0" bIns="0" rtlCol="0" anchor="ctr"/>
          <a:lstStyle/>
          <a:p>
            <a:pPr marL="0" indent="0">
              <a:buNone/>
            </a:pPr>
            <a:r>
              <a:rPr lang="en-US" sz="1100" i="1">
                <a:solidFill>
                  <a:srgbClr val="1F2933"/>
                </a:solidFill>
                <a:latin typeface="Calibri" pitchFamily="34" charset="0"/>
                <a:ea typeface="Calibri" pitchFamily="34" charset="-122"/>
                <a:cs typeface="Calibri" pitchFamily="34" charset="-120"/>
              </a:rPr>
              <a:t>Typical: ≥ 4 customer-facing</a:t>
            </a:r>
            <a:endParaRPr lang="en-US" sz="1100"/>
          </a:p>
        </p:txBody>
      </p:sp>
      <p:sp>
        <p:nvSpPr>
          <p:cNvPr id="11" name="Shape 9"/>
          <p:cNvSpPr/>
          <p:nvPr/>
        </p:nvSpPr>
        <p:spPr>
          <a:xfrm>
            <a:off x="2560320" y="1508760"/>
            <a:ext cx="1920240" cy="2971800"/>
          </a:xfrm>
          <a:prstGeom prst="rect">
            <a:avLst/>
          </a:prstGeom>
          <a:solidFill>
            <a:srgbClr val="F4F6F8"/>
          </a:solidFill>
          <a:ln w="9525">
            <a:solidFill>
              <a:srgbClr val="D8DDE2"/>
            </a:solidFill>
            <a:prstDash val="solid"/>
          </a:ln>
        </p:spPr>
        <p:txBody>
          <a:bodyPr/>
          <a:lstStyle/>
          <a:p>
            <a:endParaRPr lang="en-US"/>
          </a:p>
        </p:txBody>
      </p:sp>
      <p:sp>
        <p:nvSpPr>
          <p:cNvPr id="12" name="Text 10"/>
          <p:cNvSpPr/>
          <p:nvPr/>
        </p:nvSpPr>
        <p:spPr>
          <a:xfrm>
            <a:off x="2651760" y="1645920"/>
            <a:ext cx="1737360" cy="365760"/>
          </a:xfrm>
          <a:prstGeom prst="rect">
            <a:avLst/>
          </a:prstGeom>
          <a:noFill/>
          <a:ln/>
        </p:spPr>
        <p:txBody>
          <a:bodyPr wrap="square" lIns="0" tIns="0" rIns="0" bIns="0" rtlCol="0" anchor="ctr"/>
          <a:lstStyle/>
          <a:p>
            <a:pPr marL="0" indent="0">
              <a:buNone/>
            </a:pPr>
            <a:r>
              <a:rPr lang="en-US" sz="1600" b="1">
                <a:solidFill>
                  <a:srgbClr val="1F2933"/>
                </a:solidFill>
                <a:latin typeface="Calibri" pitchFamily="34" charset="0"/>
                <a:ea typeface="Calibri" pitchFamily="34" charset="-122"/>
                <a:cs typeface="Calibri" pitchFamily="34" charset="-120"/>
              </a:rPr>
              <a:t>Safety</a:t>
            </a:r>
            <a:endParaRPr lang="en-US" sz="1600"/>
          </a:p>
        </p:txBody>
      </p:sp>
      <p:sp>
        <p:nvSpPr>
          <p:cNvPr id="13" name="Text 11"/>
          <p:cNvSpPr/>
          <p:nvPr/>
        </p:nvSpPr>
        <p:spPr>
          <a:xfrm>
            <a:off x="2651760" y="2057400"/>
            <a:ext cx="1737360" cy="365760"/>
          </a:xfrm>
          <a:prstGeom prst="rect">
            <a:avLst/>
          </a:prstGeom>
          <a:noFill/>
          <a:ln/>
        </p:spPr>
        <p:txBody>
          <a:bodyPr wrap="square" lIns="0" tIns="0" rIns="0" bIns="0" rtlCol="0" anchor="ctr"/>
          <a:lstStyle/>
          <a:p>
            <a:pPr marL="0" indent="0">
              <a:buNone/>
            </a:pPr>
            <a:r>
              <a:rPr lang="en-US" sz="1200">
                <a:solidFill>
                  <a:srgbClr val="0F6E73"/>
                </a:solidFill>
                <a:latin typeface="Consolas" pitchFamily="34" charset="0"/>
                <a:ea typeface="Consolas" pitchFamily="34" charset="-122"/>
                <a:cs typeface="Consolas" pitchFamily="34" charset="-120"/>
              </a:rPr>
              <a:t>0 Low … 7 High</a:t>
            </a:r>
            <a:endParaRPr lang="en-US" sz="1200"/>
          </a:p>
        </p:txBody>
      </p:sp>
      <p:sp>
        <p:nvSpPr>
          <p:cNvPr id="14" name="Shape 12"/>
          <p:cNvSpPr/>
          <p:nvPr/>
        </p:nvSpPr>
        <p:spPr>
          <a:xfrm>
            <a:off x="2651760" y="2514600"/>
            <a:ext cx="1737360" cy="9525"/>
          </a:xfrm>
          <a:prstGeom prst="line">
            <a:avLst/>
          </a:prstGeom>
          <a:noFill/>
          <a:ln w="9525">
            <a:solidFill>
              <a:srgbClr val="D8DDE2"/>
            </a:solidFill>
            <a:prstDash val="solid"/>
          </a:ln>
        </p:spPr>
        <p:txBody>
          <a:bodyPr/>
          <a:lstStyle/>
          <a:p>
            <a:endParaRPr lang="en-US"/>
          </a:p>
        </p:txBody>
      </p:sp>
      <p:sp>
        <p:nvSpPr>
          <p:cNvPr id="15" name="Text 13"/>
          <p:cNvSpPr/>
          <p:nvPr/>
        </p:nvSpPr>
        <p:spPr>
          <a:xfrm>
            <a:off x="2651760" y="2606040"/>
            <a:ext cx="1737360" cy="1188720"/>
          </a:xfrm>
          <a:prstGeom prst="rect">
            <a:avLst/>
          </a:prstGeom>
          <a:noFill/>
          <a:ln/>
        </p:spPr>
        <p:txBody>
          <a:bodyPr wrap="square" lIns="0" tIns="0" rIns="0" bIns="0" rtlCol="0" anchor="ctr"/>
          <a:lstStyle/>
          <a:p>
            <a:pPr marL="0" indent="0">
              <a:buNone/>
            </a:pPr>
            <a:r>
              <a:rPr lang="en-US" sz="1100">
                <a:solidFill>
                  <a:srgbClr val="52606D"/>
                </a:solidFill>
                <a:latin typeface="Calibri" pitchFamily="34" charset="0"/>
                <a:ea typeface="Calibri" pitchFamily="34" charset="-122"/>
                <a:cs typeface="Calibri" pitchFamily="34" charset="-120"/>
              </a:rPr>
              <a:t>Severity from the Foundry safety service. Default pass = score ≤ 3. Lower is better.</a:t>
            </a:r>
            <a:endParaRPr lang="en-US" sz="1100"/>
          </a:p>
        </p:txBody>
      </p:sp>
      <p:sp>
        <p:nvSpPr>
          <p:cNvPr id="16" name="Text 14"/>
          <p:cNvSpPr/>
          <p:nvPr/>
        </p:nvSpPr>
        <p:spPr>
          <a:xfrm>
            <a:off x="2651760" y="4023360"/>
            <a:ext cx="1737360" cy="365760"/>
          </a:xfrm>
          <a:prstGeom prst="rect">
            <a:avLst/>
          </a:prstGeom>
          <a:noFill/>
          <a:ln/>
        </p:spPr>
        <p:txBody>
          <a:bodyPr wrap="square" lIns="0" tIns="0" rIns="0" bIns="0" rtlCol="0" anchor="ctr"/>
          <a:lstStyle/>
          <a:p>
            <a:pPr marL="0" indent="0">
              <a:buNone/>
            </a:pPr>
            <a:r>
              <a:rPr lang="en-US" sz="1100" i="1">
                <a:solidFill>
                  <a:srgbClr val="1F2933"/>
                </a:solidFill>
                <a:latin typeface="Calibri" pitchFamily="34" charset="0"/>
                <a:ea typeface="Calibri" pitchFamily="34" charset="-122"/>
                <a:cs typeface="Calibri" pitchFamily="34" charset="-120"/>
              </a:rPr>
              <a:t>Typical: ≤ 1 for high-risk apps</a:t>
            </a:r>
            <a:endParaRPr lang="en-US" sz="1100"/>
          </a:p>
        </p:txBody>
      </p:sp>
      <p:sp>
        <p:nvSpPr>
          <p:cNvPr id="17" name="Shape 15"/>
          <p:cNvSpPr/>
          <p:nvPr/>
        </p:nvSpPr>
        <p:spPr>
          <a:xfrm>
            <a:off x="4663440" y="1508760"/>
            <a:ext cx="1920240" cy="2971800"/>
          </a:xfrm>
          <a:prstGeom prst="rect">
            <a:avLst/>
          </a:prstGeom>
          <a:solidFill>
            <a:srgbClr val="F4F6F8"/>
          </a:solidFill>
          <a:ln w="9525">
            <a:solidFill>
              <a:srgbClr val="D8DDE2"/>
            </a:solidFill>
            <a:prstDash val="solid"/>
          </a:ln>
        </p:spPr>
        <p:txBody>
          <a:bodyPr/>
          <a:lstStyle/>
          <a:p>
            <a:endParaRPr lang="en-US"/>
          </a:p>
        </p:txBody>
      </p:sp>
      <p:sp>
        <p:nvSpPr>
          <p:cNvPr id="18" name="Text 16"/>
          <p:cNvSpPr/>
          <p:nvPr/>
        </p:nvSpPr>
        <p:spPr>
          <a:xfrm>
            <a:off x="4754880" y="1645920"/>
            <a:ext cx="1737360" cy="365760"/>
          </a:xfrm>
          <a:prstGeom prst="rect">
            <a:avLst/>
          </a:prstGeom>
          <a:noFill/>
          <a:ln/>
        </p:spPr>
        <p:txBody>
          <a:bodyPr wrap="square" lIns="0" tIns="0" rIns="0" bIns="0" rtlCol="0" anchor="ctr"/>
          <a:lstStyle/>
          <a:p>
            <a:pPr marL="0" indent="0">
              <a:buNone/>
            </a:pPr>
            <a:r>
              <a:rPr lang="en-US" sz="1600" b="1">
                <a:solidFill>
                  <a:srgbClr val="1F2933"/>
                </a:solidFill>
                <a:latin typeface="Calibri" pitchFamily="34" charset="0"/>
                <a:ea typeface="Calibri" pitchFamily="34" charset="-122"/>
                <a:cs typeface="Calibri" pitchFamily="34" charset="-120"/>
              </a:rPr>
              <a:t>Agent</a:t>
            </a:r>
            <a:endParaRPr lang="en-US" sz="1600"/>
          </a:p>
        </p:txBody>
      </p:sp>
      <p:sp>
        <p:nvSpPr>
          <p:cNvPr id="19" name="Text 17"/>
          <p:cNvSpPr/>
          <p:nvPr/>
        </p:nvSpPr>
        <p:spPr>
          <a:xfrm>
            <a:off x="4754880" y="2057400"/>
            <a:ext cx="1737360" cy="365760"/>
          </a:xfrm>
          <a:prstGeom prst="rect">
            <a:avLst/>
          </a:prstGeom>
          <a:noFill/>
          <a:ln/>
        </p:spPr>
        <p:txBody>
          <a:bodyPr wrap="square" lIns="0" tIns="0" rIns="0" bIns="0" rtlCol="0" anchor="ctr"/>
          <a:lstStyle/>
          <a:p>
            <a:pPr marL="0" indent="0">
              <a:buNone/>
            </a:pPr>
            <a:r>
              <a:rPr lang="en-US" sz="1200">
                <a:solidFill>
                  <a:srgbClr val="0F6E73"/>
                </a:solidFill>
                <a:latin typeface="Consolas" pitchFamily="34" charset="0"/>
                <a:ea typeface="Consolas" pitchFamily="34" charset="-122"/>
                <a:cs typeface="Consolas" pitchFamily="34" charset="-120"/>
              </a:rPr>
              <a:t>Pass  ·  Fail</a:t>
            </a:r>
            <a:endParaRPr lang="en-US" sz="1200"/>
          </a:p>
        </p:txBody>
      </p:sp>
      <p:sp>
        <p:nvSpPr>
          <p:cNvPr id="20" name="Shape 18"/>
          <p:cNvSpPr/>
          <p:nvPr/>
        </p:nvSpPr>
        <p:spPr>
          <a:xfrm>
            <a:off x="4754880" y="2514600"/>
            <a:ext cx="1737360" cy="9525"/>
          </a:xfrm>
          <a:prstGeom prst="line">
            <a:avLst/>
          </a:prstGeom>
          <a:noFill/>
          <a:ln w="9525">
            <a:solidFill>
              <a:srgbClr val="D8DDE2"/>
            </a:solidFill>
            <a:prstDash val="solid"/>
          </a:ln>
        </p:spPr>
        <p:txBody>
          <a:bodyPr/>
          <a:lstStyle/>
          <a:p>
            <a:endParaRPr lang="en-US"/>
          </a:p>
        </p:txBody>
      </p:sp>
      <p:sp>
        <p:nvSpPr>
          <p:cNvPr id="21" name="Text 19"/>
          <p:cNvSpPr/>
          <p:nvPr/>
        </p:nvSpPr>
        <p:spPr>
          <a:xfrm>
            <a:off x="4754880" y="2606040"/>
            <a:ext cx="1737360" cy="1188720"/>
          </a:xfrm>
          <a:prstGeom prst="rect">
            <a:avLst/>
          </a:prstGeom>
          <a:noFill/>
          <a:ln/>
        </p:spPr>
        <p:txBody>
          <a:bodyPr wrap="square" lIns="0" tIns="0" rIns="0" bIns="0" rtlCol="0" anchor="ctr"/>
          <a:lstStyle/>
          <a:p>
            <a:pPr marL="0" indent="0">
              <a:buNone/>
            </a:pPr>
            <a:r>
              <a:rPr lang="en-US" sz="1100">
                <a:solidFill>
                  <a:srgbClr val="52606D"/>
                </a:solidFill>
                <a:latin typeface="Calibri" pitchFamily="34" charset="0"/>
                <a:ea typeface="Calibri" pitchFamily="34" charset="-122"/>
                <a:cs typeface="Calibri" pitchFamily="34" charset="-120"/>
              </a:rPr>
              <a:t>Binary per interaction. Aggregate over the golden dataset for a pass rate.</a:t>
            </a:r>
            <a:endParaRPr lang="en-US" sz="1100"/>
          </a:p>
        </p:txBody>
      </p:sp>
      <p:sp>
        <p:nvSpPr>
          <p:cNvPr id="22" name="Text 20"/>
          <p:cNvSpPr/>
          <p:nvPr/>
        </p:nvSpPr>
        <p:spPr>
          <a:xfrm>
            <a:off x="4754880" y="4023360"/>
            <a:ext cx="1737360" cy="365760"/>
          </a:xfrm>
          <a:prstGeom prst="rect">
            <a:avLst/>
          </a:prstGeom>
          <a:noFill/>
          <a:ln/>
        </p:spPr>
        <p:txBody>
          <a:bodyPr wrap="square" lIns="0" tIns="0" rIns="0" bIns="0" rtlCol="0" anchor="ctr"/>
          <a:lstStyle/>
          <a:p>
            <a:pPr marL="0" indent="0">
              <a:buNone/>
            </a:pPr>
            <a:r>
              <a:rPr lang="en-US" sz="1100" i="1">
                <a:solidFill>
                  <a:srgbClr val="1F2933"/>
                </a:solidFill>
                <a:latin typeface="Calibri" pitchFamily="34" charset="0"/>
                <a:ea typeface="Calibri" pitchFamily="34" charset="-122"/>
                <a:cs typeface="Calibri" pitchFamily="34" charset="-120"/>
              </a:rPr>
              <a:t>Typical: ≥ 90 % tool-call pass</a:t>
            </a:r>
            <a:endParaRPr lang="en-US" sz="1100"/>
          </a:p>
        </p:txBody>
      </p:sp>
      <p:sp>
        <p:nvSpPr>
          <p:cNvPr id="23" name="Text 21"/>
          <p:cNvSpPr/>
          <p:nvPr/>
        </p:nvSpPr>
        <p:spPr>
          <a:xfrm>
            <a:off x="457200" y="4526280"/>
            <a:ext cx="8229600" cy="274320"/>
          </a:xfrm>
          <a:prstGeom prst="rect">
            <a:avLst/>
          </a:prstGeom>
          <a:noFill/>
          <a:ln/>
        </p:spPr>
        <p:txBody>
          <a:bodyPr wrap="square" lIns="0" tIns="0" rIns="0" bIns="0" rtlCol="0" anchor="ctr"/>
          <a:lstStyle/>
          <a:p>
            <a:pPr marL="0" indent="0">
              <a:buNone/>
            </a:pPr>
            <a:r>
              <a:rPr lang="en-US" sz="1000" i="1">
                <a:solidFill>
                  <a:srgbClr val="52606D"/>
                </a:solidFill>
                <a:latin typeface="Calibri" pitchFamily="34" charset="0"/>
                <a:ea typeface="Calibri" pitchFamily="34" charset="-122"/>
                <a:cs typeface="Calibri" pitchFamily="34" charset="-120"/>
              </a:rPr>
              <a:t>Thresholds are a business decision — product, compliance, and engineering set them together.</a:t>
            </a:r>
            <a:endParaRPr lang="en-US" sz="1000"/>
          </a:p>
        </p:txBody>
      </p:sp>
      <p:sp>
        <p:nvSpPr>
          <p:cNvPr id="24" name="Text 22"/>
          <p:cNvSpPr/>
          <p:nvPr/>
        </p:nvSpPr>
        <p:spPr>
          <a:xfrm>
            <a:off x="457200" y="4823460"/>
            <a:ext cx="5486400" cy="228600"/>
          </a:xfrm>
          <a:prstGeom prst="rect">
            <a:avLst/>
          </a:prstGeom>
          <a:noFill/>
          <a:ln/>
        </p:spPr>
        <p:txBody>
          <a:bodyPr wrap="square" lIns="0" tIns="0" rIns="0" bIns="0" rtlCol="0" anchor="ctr"/>
          <a:lstStyle/>
          <a:p>
            <a:pPr marL="0" indent="0">
              <a:buNone/>
            </a:pPr>
            <a:r>
              <a:rPr lang="en-US" sz="900">
                <a:solidFill>
                  <a:srgbClr val="52606D"/>
                </a:solidFill>
                <a:latin typeface="Calibri" pitchFamily="34" charset="0"/>
                <a:ea typeface="Calibri" pitchFamily="34" charset="-122"/>
                <a:cs typeface="Calibri" pitchFamily="34" charset="-120"/>
              </a:rPr>
              <a:t>AI Evaluations  ·  Microsoft Agent Framework</a:t>
            </a:r>
            <a:endParaRPr lang="en-US" sz="900"/>
          </a:p>
        </p:txBody>
      </p:sp>
      <p:sp>
        <p:nvSpPr>
          <p:cNvPr id="25" name="Text 23"/>
          <p:cNvSpPr/>
          <p:nvPr/>
        </p:nvSpPr>
        <p:spPr>
          <a:xfrm>
            <a:off x="8046720" y="4823460"/>
            <a:ext cx="640080" cy="228600"/>
          </a:xfrm>
          <a:prstGeom prst="rect">
            <a:avLst/>
          </a:prstGeom>
          <a:noFill/>
          <a:ln/>
        </p:spPr>
        <p:txBody>
          <a:bodyPr wrap="square" lIns="0" tIns="0" rIns="0" bIns="0" rtlCol="0" anchor="ctr"/>
          <a:lstStyle/>
          <a:p>
            <a:pPr marL="0" indent="0" algn="r">
              <a:buNone/>
            </a:pPr>
            <a:r>
              <a:rPr lang="en-US" sz="900">
                <a:solidFill>
                  <a:srgbClr val="52606D"/>
                </a:solidFill>
                <a:latin typeface="Calibri" pitchFamily="34" charset="0"/>
                <a:ea typeface="Calibri" pitchFamily="34" charset="-122"/>
                <a:cs typeface="Calibri" pitchFamily="34" charset="-120"/>
              </a:rPr>
              <a:t>10 / 19</a:t>
            </a:r>
            <a:endParaRPr lang="en-US" sz="900"/>
          </a:p>
        </p:txBody>
      </p:sp>
      <p:sp>
        <p:nvSpPr>
          <p:cNvPr id="26" name="Shape 15">
            <a:extLst>
              <a:ext uri="{FF2B5EF4-FFF2-40B4-BE49-F238E27FC236}">
                <a16:creationId xmlns:a16="http://schemas.microsoft.com/office/drawing/2014/main" id="{EB511D49-5FB6-5323-3147-D618E5EBF167}"/>
              </a:ext>
            </a:extLst>
          </p:cNvPr>
          <p:cNvSpPr/>
          <p:nvPr/>
        </p:nvSpPr>
        <p:spPr>
          <a:xfrm>
            <a:off x="6766560" y="1508760"/>
            <a:ext cx="1920240" cy="2971800"/>
          </a:xfrm>
          <a:prstGeom prst="rect">
            <a:avLst/>
          </a:prstGeom>
          <a:solidFill>
            <a:srgbClr val="F4F6F8"/>
          </a:solidFill>
          <a:ln w="9525">
            <a:solidFill>
              <a:srgbClr val="D8DDE2"/>
            </a:solidFill>
            <a:prstDash val="solid"/>
          </a:ln>
        </p:spPr>
        <p:txBody>
          <a:bodyPr/>
          <a:lstStyle/>
          <a:p>
            <a:endParaRPr lang="en-US"/>
          </a:p>
        </p:txBody>
      </p:sp>
      <p:sp>
        <p:nvSpPr>
          <p:cNvPr id="27" name="Text 16">
            <a:extLst>
              <a:ext uri="{FF2B5EF4-FFF2-40B4-BE49-F238E27FC236}">
                <a16:creationId xmlns:a16="http://schemas.microsoft.com/office/drawing/2014/main" id="{43636809-9B04-C719-1E48-63A46A4DC356}"/>
              </a:ext>
            </a:extLst>
          </p:cNvPr>
          <p:cNvSpPr/>
          <p:nvPr/>
        </p:nvSpPr>
        <p:spPr>
          <a:xfrm>
            <a:off x="6858000" y="1645920"/>
            <a:ext cx="1737360" cy="365760"/>
          </a:xfrm>
          <a:prstGeom prst="rect">
            <a:avLst/>
          </a:prstGeom>
          <a:noFill/>
          <a:ln/>
        </p:spPr>
        <p:txBody>
          <a:bodyPr wrap="square" lIns="0" tIns="0" rIns="0" bIns="0" rtlCol="0" anchor="ctr"/>
          <a:lstStyle/>
          <a:p>
            <a:pPr marL="0" indent="0">
              <a:buNone/>
            </a:pPr>
            <a:r>
              <a:rPr lang="en-US" sz="1600" b="1">
                <a:solidFill>
                  <a:srgbClr val="1F2933"/>
                </a:solidFill>
                <a:latin typeface="Calibri" pitchFamily="34" charset="0"/>
                <a:ea typeface="Calibri" pitchFamily="34" charset="-122"/>
                <a:cs typeface="Calibri" pitchFamily="34" charset="-120"/>
              </a:rPr>
              <a:t>Rubric</a:t>
            </a:r>
            <a:endParaRPr lang="en-US" sz="1600"/>
          </a:p>
        </p:txBody>
      </p:sp>
      <p:sp>
        <p:nvSpPr>
          <p:cNvPr id="28" name="Text 17">
            <a:extLst>
              <a:ext uri="{FF2B5EF4-FFF2-40B4-BE49-F238E27FC236}">
                <a16:creationId xmlns:a16="http://schemas.microsoft.com/office/drawing/2014/main" id="{0C2BA6FB-E31B-61FA-4E83-9054CCF7AE0C}"/>
              </a:ext>
            </a:extLst>
          </p:cNvPr>
          <p:cNvSpPr/>
          <p:nvPr/>
        </p:nvSpPr>
        <p:spPr>
          <a:xfrm>
            <a:off x="6858000" y="2057400"/>
            <a:ext cx="1737360" cy="365760"/>
          </a:xfrm>
          <a:prstGeom prst="rect">
            <a:avLst/>
          </a:prstGeom>
          <a:noFill/>
          <a:ln/>
        </p:spPr>
        <p:txBody>
          <a:bodyPr wrap="square" lIns="0" tIns="0" rIns="0" bIns="0" rtlCol="0" anchor="ctr"/>
          <a:lstStyle/>
          <a:p>
            <a:pPr marL="0" indent="0">
              <a:buNone/>
            </a:pPr>
            <a:r>
              <a:rPr lang="en-US" sz="1200">
                <a:solidFill>
                  <a:srgbClr val="0F6E73"/>
                </a:solidFill>
                <a:latin typeface="Consolas" pitchFamily="34" charset="0"/>
                <a:ea typeface="Consolas" pitchFamily="34" charset="-122"/>
                <a:cs typeface="Consolas" pitchFamily="34" charset="-120"/>
              </a:rPr>
              <a:t>0.00 ——— 1.00</a:t>
            </a:r>
            <a:endParaRPr lang="en-US" sz="1200"/>
          </a:p>
        </p:txBody>
      </p:sp>
      <p:sp>
        <p:nvSpPr>
          <p:cNvPr id="29" name="Shape 18">
            <a:extLst>
              <a:ext uri="{FF2B5EF4-FFF2-40B4-BE49-F238E27FC236}">
                <a16:creationId xmlns:a16="http://schemas.microsoft.com/office/drawing/2014/main" id="{7F5D17B5-B462-54F2-B043-337F9DCF99B2}"/>
              </a:ext>
            </a:extLst>
          </p:cNvPr>
          <p:cNvSpPr/>
          <p:nvPr/>
        </p:nvSpPr>
        <p:spPr>
          <a:xfrm>
            <a:off x="6858000" y="2514600"/>
            <a:ext cx="1737360" cy="9525"/>
          </a:xfrm>
          <a:prstGeom prst="line">
            <a:avLst/>
          </a:prstGeom>
          <a:noFill/>
          <a:ln w="9525">
            <a:solidFill>
              <a:srgbClr val="D8DDE2"/>
            </a:solidFill>
            <a:prstDash val="solid"/>
          </a:ln>
        </p:spPr>
        <p:txBody>
          <a:bodyPr/>
          <a:lstStyle/>
          <a:p>
            <a:endParaRPr lang="en-US"/>
          </a:p>
        </p:txBody>
      </p:sp>
      <p:sp>
        <p:nvSpPr>
          <p:cNvPr id="30" name="Text 19">
            <a:extLst>
              <a:ext uri="{FF2B5EF4-FFF2-40B4-BE49-F238E27FC236}">
                <a16:creationId xmlns:a16="http://schemas.microsoft.com/office/drawing/2014/main" id="{F687592C-E2F0-ADBA-2F31-95BB59779D97}"/>
              </a:ext>
            </a:extLst>
          </p:cNvPr>
          <p:cNvSpPr/>
          <p:nvPr/>
        </p:nvSpPr>
        <p:spPr>
          <a:xfrm>
            <a:off x="6858000" y="2606040"/>
            <a:ext cx="1737360" cy="1188720"/>
          </a:xfrm>
          <a:prstGeom prst="rect">
            <a:avLst/>
          </a:prstGeom>
          <a:noFill/>
          <a:ln/>
        </p:spPr>
        <p:txBody>
          <a:bodyPr wrap="square" lIns="0" tIns="0" rIns="0" bIns="0" rtlCol="0" anchor="ctr"/>
          <a:lstStyle/>
          <a:p>
            <a:pPr marL="0" indent="0">
              <a:buNone/>
            </a:pPr>
            <a:r>
              <a:rPr lang="en-US" sz="1100">
                <a:solidFill>
                  <a:srgbClr val="52606D"/>
                </a:solidFill>
                <a:latin typeface="Calibri" pitchFamily="34" charset="0"/>
                <a:ea typeface="Calibri" pitchFamily="34" charset="-122"/>
                <a:cs typeface="Calibri" pitchFamily="34" charset="-120"/>
              </a:rPr>
              <a:t>Weighted average of your 1–5 criteria, normalized. Default pass = 0.50. Higher is better.</a:t>
            </a:r>
            <a:endParaRPr lang="en-US" sz="1100"/>
          </a:p>
        </p:txBody>
      </p:sp>
      <p:sp>
        <p:nvSpPr>
          <p:cNvPr id="31" name="Text 20">
            <a:extLst>
              <a:ext uri="{FF2B5EF4-FFF2-40B4-BE49-F238E27FC236}">
                <a16:creationId xmlns:a16="http://schemas.microsoft.com/office/drawing/2014/main" id="{502BAC56-D6D5-B877-9BAC-38BE893AFC38}"/>
              </a:ext>
            </a:extLst>
          </p:cNvPr>
          <p:cNvSpPr/>
          <p:nvPr/>
        </p:nvSpPr>
        <p:spPr>
          <a:xfrm>
            <a:off x="6858000" y="4023360"/>
            <a:ext cx="1737360" cy="365760"/>
          </a:xfrm>
          <a:prstGeom prst="rect">
            <a:avLst/>
          </a:prstGeom>
          <a:noFill/>
          <a:ln/>
        </p:spPr>
        <p:txBody>
          <a:bodyPr wrap="square" lIns="0" tIns="0" rIns="0" bIns="0" rtlCol="0" anchor="ctr"/>
          <a:lstStyle/>
          <a:p>
            <a:pPr marL="0" indent="0">
              <a:buNone/>
            </a:pPr>
            <a:r>
              <a:rPr lang="en-US" sz="1100" i="1">
                <a:solidFill>
                  <a:srgbClr val="1F2933"/>
                </a:solidFill>
                <a:latin typeface="Calibri" pitchFamily="34" charset="0"/>
                <a:ea typeface="Calibri" pitchFamily="34" charset="-122"/>
                <a:cs typeface="Calibri" pitchFamily="34" charset="-120"/>
              </a:rPr>
              <a:t>Weights run 1–10 per criterion</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marL="0" indent="0">
              <a:buNone/>
            </a:pPr>
            <a:r>
              <a:rPr lang="en-US" sz="1000" b="1" kern="0" spc="400">
                <a:solidFill>
                  <a:srgbClr val="0F6E73"/>
                </a:solidFill>
                <a:latin typeface="Calibri" pitchFamily="34" charset="0"/>
                <a:ea typeface="Calibri" pitchFamily="34" charset="-122"/>
                <a:cs typeface="Calibri" pitchFamily="34" charset="-120"/>
              </a:rPr>
              <a:t>WHEN BUILT-IN ISN'T ENOUGH</a:t>
            </a:r>
            <a:endParaRPr lang="en-US" sz="1000"/>
          </a:p>
        </p:txBody>
      </p:sp>
      <p:sp>
        <p:nvSpPr>
          <p:cNvPr id="3" name="Text 1"/>
          <p:cNvSpPr/>
          <p:nvPr/>
        </p:nvSpPr>
        <p:spPr>
          <a:xfrm>
            <a:off x="457200" y="566928"/>
            <a:ext cx="8229600" cy="640080"/>
          </a:xfrm>
          <a:prstGeom prst="rect">
            <a:avLst/>
          </a:prstGeom>
          <a:noFill/>
          <a:ln/>
        </p:spPr>
        <p:txBody>
          <a:bodyPr wrap="square" lIns="0" tIns="0" rIns="0" bIns="0" rtlCol="0" anchor="ctr"/>
          <a:lstStyle/>
          <a:p>
            <a:pPr marL="0" indent="0">
              <a:buNone/>
            </a:pPr>
            <a:r>
              <a:rPr lang="en-US" sz="2800" b="1">
                <a:solidFill>
                  <a:srgbClr val="1F2933"/>
                </a:solidFill>
                <a:latin typeface="Calibri" pitchFamily="34" charset="0"/>
                <a:ea typeface="Calibri" pitchFamily="34" charset="-122"/>
                <a:cs typeface="Calibri" pitchFamily="34" charset="-120"/>
              </a:rPr>
              <a:t>Custom evaluators</a:t>
            </a:r>
            <a:endParaRPr lang="en-US" sz="2800"/>
          </a:p>
        </p:txBody>
      </p:sp>
      <p:sp>
        <p:nvSpPr>
          <p:cNvPr id="4" name="Shape 2"/>
          <p:cNvSpPr/>
          <p:nvPr/>
        </p:nvSpPr>
        <p:spPr>
          <a:xfrm>
            <a:off x="457200" y="1225296"/>
            <a:ext cx="731520" cy="0"/>
          </a:xfrm>
          <a:prstGeom prst="line">
            <a:avLst/>
          </a:prstGeom>
          <a:noFill/>
          <a:ln w="25400">
            <a:solidFill>
              <a:srgbClr val="0F6E73"/>
            </a:solidFill>
            <a:prstDash val="solid"/>
          </a:ln>
        </p:spPr>
        <p:txBody>
          <a:bodyPr/>
          <a:lstStyle/>
          <a:p>
            <a:endParaRPr lang="en-US"/>
          </a:p>
        </p:txBody>
      </p:sp>
      <p:sp>
        <p:nvSpPr>
          <p:cNvPr id="5" name="Text 3"/>
          <p:cNvSpPr/>
          <p:nvPr/>
        </p:nvSpPr>
        <p:spPr>
          <a:xfrm>
            <a:off x="457200" y="1417320"/>
            <a:ext cx="8229600" cy="457200"/>
          </a:xfrm>
          <a:prstGeom prst="rect">
            <a:avLst/>
          </a:prstGeom>
          <a:noFill/>
          <a:ln/>
        </p:spPr>
        <p:txBody>
          <a:bodyPr wrap="square" lIns="0" tIns="0" rIns="0" bIns="0" rtlCol="0" anchor="ctr"/>
          <a:lstStyle/>
          <a:p>
            <a:pPr marL="0" indent="0">
              <a:buNone/>
            </a:pPr>
            <a:r>
              <a:rPr lang="en-US" sz="1300">
                <a:solidFill>
                  <a:srgbClr val="52606D"/>
                </a:solidFill>
                <a:latin typeface="Calibri" pitchFamily="34" charset="0"/>
                <a:ea typeface="Calibri" pitchFamily="34" charset="-122"/>
                <a:cs typeface="Calibri" pitchFamily="34" charset="-120"/>
              </a:rPr>
              <a:t>Custom evaluators encode domain-specific quality rules. Add them to your Foundry catalog and use them alongside built-ins.</a:t>
            </a:r>
            <a:endParaRPr lang="en-US" sz="1300"/>
          </a:p>
        </p:txBody>
      </p:sp>
      <p:sp>
        <p:nvSpPr>
          <p:cNvPr id="6" name="Shape 4"/>
          <p:cNvSpPr/>
          <p:nvPr/>
        </p:nvSpPr>
        <p:spPr>
          <a:xfrm>
            <a:off x="457200" y="1965960"/>
            <a:ext cx="3977640" cy="2423160"/>
          </a:xfrm>
          <a:prstGeom prst="rect">
            <a:avLst/>
          </a:prstGeom>
          <a:solidFill>
            <a:srgbClr val="FFFFFF"/>
          </a:solidFill>
          <a:ln w="9525">
            <a:solidFill>
              <a:srgbClr val="D8DDE2"/>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685800" y="2103120"/>
            <a:ext cx="457200" cy="457200"/>
          </a:xfrm>
          <a:prstGeom prst="rect">
            <a:avLst/>
          </a:prstGeom>
        </p:spPr>
      </p:pic>
      <p:sp>
        <p:nvSpPr>
          <p:cNvPr id="8" name="Text 5"/>
          <p:cNvSpPr/>
          <p:nvPr/>
        </p:nvSpPr>
        <p:spPr>
          <a:xfrm>
            <a:off x="1280160" y="2148840"/>
            <a:ext cx="3017520" cy="365760"/>
          </a:xfrm>
          <a:prstGeom prst="rect">
            <a:avLst/>
          </a:prstGeom>
          <a:noFill/>
          <a:ln/>
        </p:spPr>
        <p:txBody>
          <a:bodyPr wrap="square" lIns="0" tIns="0" rIns="0" bIns="0" rtlCol="0" anchor="ctr"/>
          <a:lstStyle/>
          <a:p>
            <a:pPr marL="0" indent="0">
              <a:buNone/>
            </a:pPr>
            <a:r>
              <a:rPr lang="en-US" sz="1800" b="1">
                <a:solidFill>
                  <a:srgbClr val="1F2933"/>
                </a:solidFill>
                <a:latin typeface="Calibri" pitchFamily="34" charset="0"/>
                <a:ea typeface="Calibri" pitchFamily="34" charset="-122"/>
                <a:cs typeface="Calibri" pitchFamily="34" charset="-120"/>
              </a:rPr>
              <a:t>Code-based</a:t>
            </a:r>
            <a:endParaRPr lang="en-US" sz="1800"/>
          </a:p>
        </p:txBody>
      </p:sp>
      <p:sp>
        <p:nvSpPr>
          <p:cNvPr id="9" name="Text 6"/>
          <p:cNvSpPr/>
          <p:nvPr/>
        </p:nvSpPr>
        <p:spPr>
          <a:xfrm>
            <a:off x="685800" y="2651760"/>
            <a:ext cx="3566160" cy="640080"/>
          </a:xfrm>
          <a:prstGeom prst="rect">
            <a:avLst/>
          </a:prstGeom>
          <a:noFill/>
          <a:ln/>
        </p:spPr>
        <p:txBody>
          <a:bodyPr wrap="square" lIns="0" tIns="0" rIns="0" bIns="0" rtlCol="0" anchor="ctr"/>
          <a:lstStyle/>
          <a:p>
            <a:pPr marL="0" indent="0">
              <a:buNone/>
            </a:pPr>
            <a:r>
              <a:rPr lang="en-US" sz="1200">
                <a:solidFill>
                  <a:srgbClr val="1F2933"/>
                </a:solidFill>
                <a:latin typeface="Calibri" pitchFamily="34" charset="0"/>
                <a:ea typeface="Calibri" pitchFamily="34" charset="-122"/>
                <a:cs typeface="Calibri" pitchFamily="34" charset="-120"/>
              </a:rPr>
              <a:t>A Python grade(sample, item) function returning a float 0.0–1.0.</a:t>
            </a:r>
            <a:endParaRPr lang="en-US" sz="1200"/>
          </a:p>
        </p:txBody>
      </p:sp>
      <p:sp>
        <p:nvSpPr>
          <p:cNvPr id="10" name="Text 7"/>
          <p:cNvSpPr/>
          <p:nvPr/>
        </p:nvSpPr>
        <p:spPr>
          <a:xfrm>
            <a:off x="685800" y="3337560"/>
            <a:ext cx="3566160" cy="640080"/>
          </a:xfrm>
          <a:prstGeom prst="rect">
            <a:avLst/>
          </a:prstGeom>
          <a:noFill/>
          <a:ln/>
        </p:spPr>
        <p:txBody>
          <a:bodyPr wrap="square" lIns="0" tIns="0" rIns="0" bIns="0" rtlCol="0" anchor="ctr"/>
          <a:lstStyle/>
          <a:p>
            <a:pPr marL="0" indent="0">
              <a:buNone/>
            </a:pPr>
            <a:r>
              <a:rPr lang="en-US" sz="1100">
                <a:solidFill>
                  <a:srgbClr val="52606D"/>
                </a:solidFill>
                <a:latin typeface="Calibri" pitchFamily="34" charset="0"/>
                <a:ea typeface="Calibri" pitchFamily="34" charset="-122"/>
                <a:cs typeface="Calibri" pitchFamily="34" charset="-120"/>
              </a:rPr>
              <a:t>Best for: Rule-based checks, keyword matching, format validation, length limits.</a:t>
            </a:r>
            <a:endParaRPr lang="en-US" sz="1100"/>
          </a:p>
        </p:txBody>
      </p:sp>
      <p:sp>
        <p:nvSpPr>
          <p:cNvPr id="11" name="Text 8"/>
          <p:cNvSpPr/>
          <p:nvPr/>
        </p:nvSpPr>
        <p:spPr>
          <a:xfrm>
            <a:off x="685800" y="3977640"/>
            <a:ext cx="3566160" cy="365760"/>
          </a:xfrm>
          <a:prstGeom prst="rect">
            <a:avLst/>
          </a:prstGeom>
          <a:noFill/>
          <a:ln/>
        </p:spPr>
        <p:txBody>
          <a:bodyPr wrap="square" lIns="0" tIns="0" rIns="0" bIns="0" rtlCol="0" anchor="ctr"/>
          <a:lstStyle/>
          <a:p>
            <a:pPr marL="0" indent="0">
              <a:buNone/>
            </a:pPr>
            <a:r>
              <a:rPr lang="en-US" sz="1100">
                <a:solidFill>
                  <a:srgbClr val="0F6E73"/>
                </a:solidFill>
                <a:latin typeface="Consolas" pitchFamily="34" charset="0"/>
                <a:ea typeface="Consolas" pitchFamily="34" charset="-122"/>
                <a:cs typeface="Consolas" pitchFamily="34" charset="-120"/>
              </a:rPr>
              <a:t>→ float 0.0–1.0 (higher is better)</a:t>
            </a:r>
            <a:endParaRPr lang="en-US" sz="1100"/>
          </a:p>
        </p:txBody>
      </p:sp>
      <p:sp>
        <p:nvSpPr>
          <p:cNvPr id="12" name="Shape 9"/>
          <p:cNvSpPr/>
          <p:nvPr/>
        </p:nvSpPr>
        <p:spPr>
          <a:xfrm>
            <a:off x="4709160" y="1965960"/>
            <a:ext cx="3977640" cy="2423160"/>
          </a:xfrm>
          <a:prstGeom prst="rect">
            <a:avLst/>
          </a:prstGeom>
          <a:solidFill>
            <a:srgbClr val="FFFFFF"/>
          </a:solidFill>
          <a:ln w="9525">
            <a:solidFill>
              <a:srgbClr val="D8DDE2"/>
            </a:solidFill>
            <a:prstDash val="solid"/>
          </a:ln>
        </p:spPr>
        <p:txBody>
          <a:bodyPr/>
          <a:lstStyle/>
          <a:p>
            <a:endParaRPr lang="en-US"/>
          </a:p>
        </p:txBody>
      </p:sp>
      <p:pic>
        <p:nvPicPr>
          <p:cNvPr id="13" name="Image 1" descr="preencoded.png"/>
          <p:cNvPicPr>
            <a:picLocks noChangeAspect="1"/>
          </p:cNvPicPr>
          <p:nvPr/>
        </p:nvPicPr>
        <p:blipFill>
          <a:blip r:embed="rId4"/>
          <a:stretch>
            <a:fillRect/>
          </a:stretch>
        </p:blipFill>
        <p:spPr>
          <a:xfrm>
            <a:off x="4937760" y="2103120"/>
            <a:ext cx="457200" cy="457200"/>
          </a:xfrm>
          <a:prstGeom prst="rect">
            <a:avLst/>
          </a:prstGeom>
        </p:spPr>
      </p:pic>
      <p:sp>
        <p:nvSpPr>
          <p:cNvPr id="14" name="Text 10"/>
          <p:cNvSpPr/>
          <p:nvPr/>
        </p:nvSpPr>
        <p:spPr>
          <a:xfrm>
            <a:off x="5532120" y="2148840"/>
            <a:ext cx="3017520" cy="365760"/>
          </a:xfrm>
          <a:prstGeom prst="rect">
            <a:avLst/>
          </a:prstGeom>
          <a:noFill/>
          <a:ln/>
        </p:spPr>
        <p:txBody>
          <a:bodyPr wrap="square" lIns="0" tIns="0" rIns="0" bIns="0" rtlCol="0" anchor="ctr"/>
          <a:lstStyle/>
          <a:p>
            <a:pPr marL="0" indent="0">
              <a:buNone/>
            </a:pPr>
            <a:r>
              <a:rPr lang="en-US" sz="1800" b="1">
                <a:solidFill>
                  <a:srgbClr val="1F2933"/>
                </a:solidFill>
                <a:latin typeface="Calibri" pitchFamily="34" charset="0"/>
                <a:ea typeface="Calibri" pitchFamily="34" charset="-122"/>
                <a:cs typeface="Calibri" pitchFamily="34" charset="-120"/>
              </a:rPr>
              <a:t>Prompt-based</a:t>
            </a:r>
            <a:endParaRPr lang="en-US" sz="1800"/>
          </a:p>
        </p:txBody>
      </p:sp>
      <p:sp>
        <p:nvSpPr>
          <p:cNvPr id="15" name="Text 11"/>
          <p:cNvSpPr/>
          <p:nvPr/>
        </p:nvSpPr>
        <p:spPr>
          <a:xfrm>
            <a:off x="4937760" y="2651760"/>
            <a:ext cx="3566160" cy="640080"/>
          </a:xfrm>
          <a:prstGeom prst="rect">
            <a:avLst/>
          </a:prstGeom>
          <a:noFill/>
          <a:ln/>
        </p:spPr>
        <p:txBody>
          <a:bodyPr wrap="square" lIns="0" tIns="0" rIns="0" bIns="0" rtlCol="0" anchor="ctr"/>
          <a:lstStyle/>
          <a:p>
            <a:pPr marL="0" indent="0">
              <a:buNone/>
            </a:pPr>
            <a:r>
              <a:rPr lang="en-US" sz="1200">
                <a:solidFill>
                  <a:srgbClr val="1F2933"/>
                </a:solidFill>
                <a:latin typeface="Calibri" pitchFamily="34" charset="0"/>
                <a:ea typeface="Calibri" pitchFamily="34" charset="-122"/>
                <a:cs typeface="Calibri" pitchFamily="34" charset="-120"/>
              </a:rPr>
              <a:t>A judge prompt template scored by an LLM. Returns { result, reason } as JSON.</a:t>
            </a:r>
            <a:endParaRPr lang="en-US" sz="1200"/>
          </a:p>
        </p:txBody>
      </p:sp>
      <p:sp>
        <p:nvSpPr>
          <p:cNvPr id="16" name="Text 12"/>
          <p:cNvSpPr/>
          <p:nvPr/>
        </p:nvSpPr>
        <p:spPr>
          <a:xfrm>
            <a:off x="4937760" y="3337560"/>
            <a:ext cx="3566160" cy="640080"/>
          </a:xfrm>
          <a:prstGeom prst="rect">
            <a:avLst/>
          </a:prstGeom>
          <a:noFill/>
          <a:ln/>
        </p:spPr>
        <p:txBody>
          <a:bodyPr wrap="square" lIns="0" tIns="0" rIns="0" bIns="0" rtlCol="0" anchor="ctr"/>
          <a:lstStyle/>
          <a:p>
            <a:pPr marL="0" indent="0">
              <a:buNone/>
            </a:pPr>
            <a:r>
              <a:rPr lang="en-US" sz="1100">
                <a:solidFill>
                  <a:srgbClr val="52606D"/>
                </a:solidFill>
                <a:latin typeface="Calibri" pitchFamily="34" charset="0"/>
                <a:ea typeface="Calibri" pitchFamily="34" charset="-122"/>
                <a:cs typeface="Calibri" pitchFamily="34" charset="-120"/>
              </a:rPr>
              <a:t>Best for: Subjective judgments — brand tone, semantic similarity, style.</a:t>
            </a:r>
            <a:endParaRPr lang="en-US" sz="1100"/>
          </a:p>
        </p:txBody>
      </p:sp>
      <p:sp>
        <p:nvSpPr>
          <p:cNvPr id="17" name="Text 13"/>
          <p:cNvSpPr/>
          <p:nvPr/>
        </p:nvSpPr>
        <p:spPr>
          <a:xfrm>
            <a:off x="4937760" y="3977640"/>
            <a:ext cx="3566160" cy="365760"/>
          </a:xfrm>
          <a:prstGeom prst="rect">
            <a:avLst/>
          </a:prstGeom>
          <a:noFill/>
          <a:ln/>
        </p:spPr>
        <p:txBody>
          <a:bodyPr wrap="square" lIns="0" tIns="0" rIns="0" bIns="0" rtlCol="0" anchor="ctr"/>
          <a:lstStyle/>
          <a:p>
            <a:pPr marL="0" indent="0">
              <a:buNone/>
            </a:pPr>
            <a:r>
              <a:rPr lang="en-US" sz="1100">
                <a:solidFill>
                  <a:srgbClr val="0F6E73"/>
                </a:solidFill>
                <a:latin typeface="Consolas" pitchFamily="34" charset="0"/>
                <a:ea typeface="Consolas" pitchFamily="34" charset="-122"/>
                <a:cs typeface="Consolas" pitchFamily="34" charset="-120"/>
              </a:rPr>
              <a:t>→ ordinal, continuous, or binary</a:t>
            </a:r>
            <a:endParaRPr lang="en-US" sz="1100"/>
          </a:p>
        </p:txBody>
      </p:sp>
      <p:sp>
        <p:nvSpPr>
          <p:cNvPr id="18" name="Text 14"/>
          <p:cNvSpPr/>
          <p:nvPr/>
        </p:nvSpPr>
        <p:spPr>
          <a:xfrm>
            <a:off x="457200" y="4480560"/>
            <a:ext cx="8229600" cy="274320"/>
          </a:xfrm>
          <a:prstGeom prst="rect">
            <a:avLst/>
          </a:prstGeom>
          <a:noFill/>
          <a:ln/>
        </p:spPr>
        <p:txBody>
          <a:bodyPr wrap="square" lIns="0" tIns="0" rIns="0" bIns="0" rtlCol="0" anchor="ctr"/>
          <a:lstStyle/>
          <a:p>
            <a:pPr marL="0" indent="0">
              <a:buNone/>
            </a:pPr>
            <a:r>
              <a:rPr lang="en-US" sz="1000" i="1">
                <a:solidFill>
                  <a:srgbClr val="52606D"/>
                </a:solidFill>
                <a:latin typeface="Calibri" pitchFamily="34" charset="0"/>
                <a:ea typeface="Calibri" pitchFamily="34" charset="-122"/>
                <a:cs typeface="Calibri" pitchFamily="34" charset="-120"/>
              </a:rPr>
              <a:t>Sandboxed runtime: 2 min / call, no network, 2 GB RAM, 2 CPU. NumPy, pandas, sklearn, NLTK, ROUGE preloaded.</a:t>
            </a:r>
            <a:endParaRPr lang="en-US" sz="1000"/>
          </a:p>
        </p:txBody>
      </p:sp>
      <p:sp>
        <p:nvSpPr>
          <p:cNvPr id="19" name="Text 15"/>
          <p:cNvSpPr/>
          <p:nvPr/>
        </p:nvSpPr>
        <p:spPr>
          <a:xfrm>
            <a:off x="457200" y="4823460"/>
            <a:ext cx="5486400" cy="228600"/>
          </a:xfrm>
          <a:prstGeom prst="rect">
            <a:avLst/>
          </a:prstGeom>
          <a:noFill/>
          <a:ln/>
        </p:spPr>
        <p:txBody>
          <a:bodyPr wrap="square" lIns="0" tIns="0" rIns="0" bIns="0" rtlCol="0" anchor="ctr"/>
          <a:lstStyle/>
          <a:p>
            <a:pPr marL="0" indent="0">
              <a:buNone/>
            </a:pPr>
            <a:r>
              <a:rPr lang="en-US" sz="900">
                <a:solidFill>
                  <a:srgbClr val="52606D"/>
                </a:solidFill>
                <a:latin typeface="Calibri" pitchFamily="34" charset="0"/>
                <a:ea typeface="Calibri" pitchFamily="34" charset="-122"/>
                <a:cs typeface="Calibri" pitchFamily="34" charset="-120"/>
              </a:rPr>
              <a:t>AI Evaluations  ·  Microsoft Agent Framework</a:t>
            </a:r>
            <a:endParaRPr lang="en-US" sz="900"/>
          </a:p>
        </p:txBody>
      </p:sp>
      <p:sp>
        <p:nvSpPr>
          <p:cNvPr id="20" name="Text 16"/>
          <p:cNvSpPr/>
          <p:nvPr/>
        </p:nvSpPr>
        <p:spPr>
          <a:xfrm>
            <a:off x="8046720" y="4823460"/>
            <a:ext cx="640080" cy="228600"/>
          </a:xfrm>
          <a:prstGeom prst="rect">
            <a:avLst/>
          </a:prstGeom>
          <a:noFill/>
          <a:ln/>
        </p:spPr>
        <p:txBody>
          <a:bodyPr wrap="square" lIns="0" tIns="0" rIns="0" bIns="0" rtlCol="0" anchor="ctr"/>
          <a:lstStyle/>
          <a:p>
            <a:pPr marL="0" indent="0" algn="r">
              <a:buNone/>
            </a:pPr>
            <a:r>
              <a:rPr lang="en-US" sz="900">
                <a:solidFill>
                  <a:srgbClr val="52606D"/>
                </a:solidFill>
                <a:latin typeface="Calibri" pitchFamily="34" charset="0"/>
                <a:ea typeface="Calibri" pitchFamily="34" charset="-122"/>
                <a:cs typeface="Calibri" pitchFamily="34" charset="-120"/>
              </a:rPr>
              <a:t>11 / 19</a:t>
            </a:r>
            <a:endParaRPr lang="en-US" sz="9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eyebrow">
            <a:extLst>
              <a:ext uri="{FF2B5EF4-FFF2-40B4-BE49-F238E27FC236}">
                <a16:creationId xmlns:a16="http://schemas.microsoft.com/office/drawing/2014/main" id="{921B5AE8-8D0E-FA55-49E7-0F81A1CC4CD5}"/>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b="1" spc="400">
                <a:solidFill>
                  <a:srgbClr val="0F6E73"/>
                </a:solidFill>
                <a:effectLst/>
                <a:latin typeface="Calibri" panose="020F0502020204030204" pitchFamily="34" charset="0"/>
              </a:rPr>
              <a:t>DEFINE WHAT GOOD MEANS</a:t>
            </a:r>
          </a:p>
          <a:p>
            <a:pPr algn="l">
              <a:buNone/>
            </a:pPr>
            <a:r>
              <a:rPr lang="en-US" sz="100">
                <a:effectLst/>
              </a:rPr>
              <a:t> </a:t>
            </a:r>
            <a:endParaRPr lang="en-US"/>
          </a:p>
        </p:txBody>
      </p:sp>
      <p:sp>
        <p:nvSpPr>
          <p:cNvPr id="40" name="title">
            <a:extLst>
              <a:ext uri="{FF2B5EF4-FFF2-40B4-BE49-F238E27FC236}">
                <a16:creationId xmlns:a16="http://schemas.microsoft.com/office/drawing/2014/main" id="{013B9802-44C4-2918-3CA7-5B19ABFE907A}"/>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Rubric evaluators (preview)</a:t>
            </a:r>
          </a:p>
          <a:p>
            <a:pPr algn="l">
              <a:buNone/>
            </a:pPr>
            <a:r>
              <a:rPr lang="en-US" sz="100">
                <a:effectLst/>
              </a:rPr>
              <a:t> </a:t>
            </a:r>
            <a:endParaRPr lang="en-US"/>
          </a:p>
        </p:txBody>
      </p:sp>
      <p:sp>
        <p:nvSpPr>
          <p:cNvPr id="43" name="rule">
            <a:extLst>
              <a:ext uri="{FF2B5EF4-FFF2-40B4-BE49-F238E27FC236}">
                <a16:creationId xmlns:a16="http://schemas.microsoft.com/office/drawing/2014/main" id="{084AA91B-EE93-4ED2-E5BF-347EBBEB0A05}"/>
              </a:ext>
            </a:extLst>
          </p:cNvPr>
          <p:cNvSpPr/>
          <p:nvPr/>
        </p:nvSpPr>
        <p:spPr>
          <a:xfrm>
            <a:off x="457200" y="1225296"/>
            <a:ext cx="731520" cy="25400"/>
          </a:xfrm>
          <a:prstGeom prst="rect">
            <a:avLst/>
          </a:prstGeom>
          <a:solidFill>
            <a:srgbClr val="0F6E7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intro">
            <a:extLst>
              <a:ext uri="{FF2B5EF4-FFF2-40B4-BE49-F238E27FC236}">
                <a16:creationId xmlns:a16="http://schemas.microsoft.com/office/drawing/2014/main" id="{9428FA0D-ED41-6F77-A2C2-6D6FC741B9F4}"/>
              </a:ext>
            </a:extLst>
          </p:cNvPr>
          <p:cNvSpPr/>
          <p:nvPr/>
        </p:nvSpPr>
        <p:spPr>
          <a:xfrm>
            <a:off x="365760" y="141732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Weighted criteria you define, scored 1–5 by an LLM judge — Foundry's recommended primary measure of agent quality.</a:t>
            </a:r>
          </a:p>
          <a:p>
            <a:pPr algn="l">
              <a:buNone/>
            </a:pPr>
            <a:r>
              <a:rPr lang="en-US" sz="100">
                <a:effectLst/>
              </a:rPr>
              <a:t> </a:t>
            </a:r>
            <a:endParaRPr lang="en-US"/>
          </a:p>
        </p:txBody>
      </p:sp>
      <p:sp>
        <p:nvSpPr>
          <p:cNvPr id="52" name="cardL">
            <a:extLst>
              <a:ext uri="{FF2B5EF4-FFF2-40B4-BE49-F238E27FC236}">
                <a16:creationId xmlns:a16="http://schemas.microsoft.com/office/drawing/2014/main" id="{BB2451D3-9994-D1D1-4C92-81AE636BE004}"/>
              </a:ext>
            </a:extLst>
          </p:cNvPr>
          <p:cNvSpPr/>
          <p:nvPr/>
        </p:nvSpPr>
        <p:spPr>
          <a:xfrm>
            <a:off x="457200" y="1965960"/>
            <a:ext cx="4663440" cy="2423160"/>
          </a:xfrm>
          <a:prstGeom prst="rect">
            <a:avLst/>
          </a:prstGeom>
          <a:solidFill>
            <a:srgbClr val="FFFFFF"/>
          </a:solidFill>
          <a:ln w="9525">
            <a:solidFill>
              <a:srgbClr val="D8DDE2"/>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FC62BF44-2F65-755B-346E-07986EB4F625}"/>
              </a:ext>
            </a:extLst>
          </p:cNvPr>
          <p:cNvSpPr/>
          <p:nvPr/>
        </p:nvSpPr>
        <p:spPr>
          <a:xfrm>
            <a:off x="594360" y="2057400"/>
            <a:ext cx="43891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800" b="1">
                <a:solidFill>
                  <a:srgbClr val="1F2933"/>
                </a:solidFill>
                <a:effectLst/>
                <a:latin typeface="Calibri" panose="020F0502020204030204" pitchFamily="34" charset="0"/>
              </a:rPr>
              <a:t>Weighted criteria</a:t>
            </a:r>
          </a:p>
          <a:p>
            <a:pPr algn="l">
              <a:buNone/>
            </a:pPr>
            <a:r>
              <a:rPr lang="en-US" sz="100">
                <a:effectLst/>
              </a:rPr>
              <a:t> </a:t>
            </a:r>
            <a:endParaRPr lang="en-US"/>
          </a:p>
        </p:txBody>
      </p:sp>
      <p:sp>
        <p:nvSpPr>
          <p:cNvPr id="65" name="Rectangle 64">
            <a:extLst>
              <a:ext uri="{FF2B5EF4-FFF2-40B4-BE49-F238E27FC236}">
                <a16:creationId xmlns:a16="http://schemas.microsoft.com/office/drawing/2014/main" id="{FCF87F15-BCA7-5E92-5365-BEB52408BF61}"/>
              </a:ext>
            </a:extLst>
          </p:cNvPr>
          <p:cNvSpPr/>
          <p:nvPr/>
        </p:nvSpPr>
        <p:spPr>
          <a:xfrm>
            <a:off x="594360" y="2331720"/>
            <a:ext cx="43891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Each dimension carries a weight from 1 to 10.</a:t>
            </a:r>
          </a:p>
          <a:p>
            <a:pPr algn="l">
              <a:buNone/>
            </a:pPr>
            <a:r>
              <a:rPr lang="en-US" sz="100">
                <a:effectLst/>
              </a:rPr>
              <a:t> </a:t>
            </a:r>
            <a:endParaRPr lang="en-US"/>
          </a:p>
        </p:txBody>
      </p:sp>
      <p:sp>
        <p:nvSpPr>
          <p:cNvPr id="73" name="Rectangle 72">
            <a:extLst>
              <a:ext uri="{FF2B5EF4-FFF2-40B4-BE49-F238E27FC236}">
                <a16:creationId xmlns:a16="http://schemas.microsoft.com/office/drawing/2014/main" id="{C6C0EA85-AA95-215B-D43D-3EFBD266D910}"/>
              </a:ext>
            </a:extLst>
          </p:cNvPr>
          <p:cNvSpPr/>
          <p:nvPr/>
        </p:nvSpPr>
        <p:spPr>
          <a:xfrm>
            <a:off x="2606040" y="2715768"/>
            <a:ext cx="1554480" cy="100584"/>
          </a:xfrm>
          <a:prstGeom prst="rect">
            <a:avLst/>
          </a:prstGeom>
          <a:solidFill>
            <a:srgbClr val="E6ECED"/>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50E93A9D-E484-6DB8-C565-27812FDE7139}"/>
              </a:ext>
            </a:extLst>
          </p:cNvPr>
          <p:cNvSpPr/>
          <p:nvPr/>
        </p:nvSpPr>
        <p:spPr>
          <a:xfrm>
            <a:off x="2606040" y="2715768"/>
            <a:ext cx="1399032" cy="100584"/>
          </a:xfrm>
          <a:prstGeom prst="rect">
            <a:avLst/>
          </a:prstGeom>
          <a:solidFill>
            <a:srgbClr val="0F6E7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ectangle 91">
            <a:extLst>
              <a:ext uri="{FF2B5EF4-FFF2-40B4-BE49-F238E27FC236}">
                <a16:creationId xmlns:a16="http://schemas.microsoft.com/office/drawing/2014/main" id="{C4297C45-F885-1B70-66CD-9E80527D4175}"/>
              </a:ext>
            </a:extLst>
          </p:cNvPr>
          <p:cNvSpPr/>
          <p:nvPr/>
        </p:nvSpPr>
        <p:spPr>
          <a:xfrm>
            <a:off x="594360" y="2651760"/>
            <a:ext cx="2011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1F2933"/>
                </a:solidFill>
                <a:effectLst/>
                <a:latin typeface="Consolas" panose="020B0609020204030204" pitchFamily="49" charset="0"/>
              </a:rPr>
              <a:t>intent_recognition</a:t>
            </a:r>
          </a:p>
          <a:p>
            <a:pPr algn="l">
              <a:buNone/>
            </a:pPr>
            <a:r>
              <a:rPr lang="en-US" sz="100">
                <a:effectLst/>
              </a:rPr>
              <a:t> </a:t>
            </a:r>
            <a:endParaRPr lang="en-US"/>
          </a:p>
        </p:txBody>
      </p:sp>
      <p:sp>
        <p:nvSpPr>
          <p:cNvPr id="103" name="Rectangle 102">
            <a:extLst>
              <a:ext uri="{FF2B5EF4-FFF2-40B4-BE49-F238E27FC236}">
                <a16:creationId xmlns:a16="http://schemas.microsoft.com/office/drawing/2014/main" id="{A14A0D52-391C-9AC4-2916-FD8C6D6C638F}"/>
              </a:ext>
            </a:extLst>
          </p:cNvPr>
          <p:cNvSpPr/>
          <p:nvPr/>
        </p:nvSpPr>
        <p:spPr>
          <a:xfrm>
            <a:off x="4206240" y="2651760"/>
            <a:ext cx="54864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b="1">
                <a:solidFill>
                  <a:srgbClr val="1F2933"/>
                </a:solidFill>
                <a:effectLst/>
                <a:latin typeface="Calibri" panose="020F0502020204030204" pitchFamily="34" charset="0"/>
              </a:rPr>
              <a:t>9</a:t>
            </a:r>
          </a:p>
          <a:p>
            <a:pPr algn="l">
              <a:buNone/>
            </a:pPr>
            <a:r>
              <a:rPr lang="en-US" sz="100">
                <a:effectLst/>
              </a:rPr>
              <a:t> </a:t>
            </a:r>
            <a:endParaRPr lang="en-US"/>
          </a:p>
        </p:txBody>
      </p:sp>
      <p:sp>
        <p:nvSpPr>
          <p:cNvPr id="115" name="Rectangle 114">
            <a:extLst>
              <a:ext uri="{FF2B5EF4-FFF2-40B4-BE49-F238E27FC236}">
                <a16:creationId xmlns:a16="http://schemas.microsoft.com/office/drawing/2014/main" id="{4A8F2FC5-AF35-CEC1-C3D6-8B1F583C815F}"/>
              </a:ext>
            </a:extLst>
          </p:cNvPr>
          <p:cNvSpPr/>
          <p:nvPr/>
        </p:nvSpPr>
        <p:spPr>
          <a:xfrm>
            <a:off x="2606040" y="2990088"/>
            <a:ext cx="1554480" cy="100584"/>
          </a:xfrm>
          <a:prstGeom prst="rect">
            <a:avLst/>
          </a:prstGeom>
          <a:solidFill>
            <a:srgbClr val="E6ECED"/>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a:extLst>
              <a:ext uri="{FF2B5EF4-FFF2-40B4-BE49-F238E27FC236}">
                <a16:creationId xmlns:a16="http://schemas.microsoft.com/office/drawing/2014/main" id="{9E89F238-ACE8-0B8F-7D93-2AC7BA95FB60}"/>
              </a:ext>
            </a:extLst>
          </p:cNvPr>
          <p:cNvSpPr/>
          <p:nvPr/>
        </p:nvSpPr>
        <p:spPr>
          <a:xfrm>
            <a:off x="2606040" y="2990088"/>
            <a:ext cx="932688" cy="100584"/>
          </a:xfrm>
          <a:prstGeom prst="rect">
            <a:avLst/>
          </a:prstGeom>
          <a:solidFill>
            <a:srgbClr val="8FBEC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a:extLst>
              <a:ext uri="{FF2B5EF4-FFF2-40B4-BE49-F238E27FC236}">
                <a16:creationId xmlns:a16="http://schemas.microsoft.com/office/drawing/2014/main" id="{4872B818-1AD3-110B-FA27-58DF8DF38ECB}"/>
              </a:ext>
            </a:extLst>
          </p:cNvPr>
          <p:cNvSpPr/>
          <p:nvPr/>
        </p:nvSpPr>
        <p:spPr>
          <a:xfrm>
            <a:off x="594360" y="2926080"/>
            <a:ext cx="2011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1F2933"/>
                </a:solidFill>
                <a:effectLst/>
                <a:latin typeface="Consolas" panose="020B0609020204030204" pitchFamily="49" charset="0"/>
              </a:rPr>
              <a:t>tool_usage_accuracy</a:t>
            </a:r>
          </a:p>
          <a:p>
            <a:pPr algn="l">
              <a:buNone/>
            </a:pPr>
            <a:r>
              <a:rPr lang="en-US" sz="100">
                <a:effectLst/>
              </a:rPr>
              <a:t> </a:t>
            </a:r>
            <a:endParaRPr lang="en-US"/>
          </a:p>
        </p:txBody>
      </p:sp>
      <p:sp>
        <p:nvSpPr>
          <p:cNvPr id="157" name="Rectangle 156">
            <a:extLst>
              <a:ext uri="{FF2B5EF4-FFF2-40B4-BE49-F238E27FC236}">
                <a16:creationId xmlns:a16="http://schemas.microsoft.com/office/drawing/2014/main" id="{1B7890AF-BA73-E680-B636-5ED63DB38D33}"/>
              </a:ext>
            </a:extLst>
          </p:cNvPr>
          <p:cNvSpPr/>
          <p:nvPr/>
        </p:nvSpPr>
        <p:spPr>
          <a:xfrm>
            <a:off x="4206240" y="2926080"/>
            <a:ext cx="54864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b="1">
                <a:solidFill>
                  <a:srgbClr val="1F2933"/>
                </a:solidFill>
                <a:effectLst/>
                <a:latin typeface="Calibri" panose="020F0502020204030204" pitchFamily="34" charset="0"/>
              </a:rPr>
              <a:t>6</a:t>
            </a:r>
          </a:p>
          <a:p>
            <a:pPr algn="l">
              <a:buNone/>
            </a:pPr>
            <a:r>
              <a:rPr lang="en-US" sz="100">
                <a:effectLst/>
              </a:rPr>
              <a:t> </a:t>
            </a:r>
            <a:endParaRPr lang="en-US"/>
          </a:p>
        </p:txBody>
      </p:sp>
      <p:sp>
        <p:nvSpPr>
          <p:cNvPr id="173" name="Rectangle 172">
            <a:extLst>
              <a:ext uri="{FF2B5EF4-FFF2-40B4-BE49-F238E27FC236}">
                <a16:creationId xmlns:a16="http://schemas.microsoft.com/office/drawing/2014/main" id="{0F8ED21A-06EC-9C89-8869-519715B6A55E}"/>
              </a:ext>
            </a:extLst>
          </p:cNvPr>
          <p:cNvSpPr/>
          <p:nvPr/>
        </p:nvSpPr>
        <p:spPr>
          <a:xfrm>
            <a:off x="2606040" y="3264408"/>
            <a:ext cx="1554480" cy="100584"/>
          </a:xfrm>
          <a:prstGeom prst="rect">
            <a:avLst/>
          </a:prstGeom>
          <a:solidFill>
            <a:srgbClr val="E6ECED"/>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189">
            <a:extLst>
              <a:ext uri="{FF2B5EF4-FFF2-40B4-BE49-F238E27FC236}">
                <a16:creationId xmlns:a16="http://schemas.microsoft.com/office/drawing/2014/main" id="{086DABDD-9597-1C2E-4B63-871580B41825}"/>
              </a:ext>
            </a:extLst>
          </p:cNvPr>
          <p:cNvSpPr/>
          <p:nvPr/>
        </p:nvSpPr>
        <p:spPr>
          <a:xfrm>
            <a:off x="2606040" y="3264408"/>
            <a:ext cx="777240" cy="100584"/>
          </a:xfrm>
          <a:prstGeom prst="rect">
            <a:avLst/>
          </a:prstGeom>
          <a:solidFill>
            <a:srgbClr val="8FBEC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8" name="Rectangle 207">
            <a:extLst>
              <a:ext uri="{FF2B5EF4-FFF2-40B4-BE49-F238E27FC236}">
                <a16:creationId xmlns:a16="http://schemas.microsoft.com/office/drawing/2014/main" id="{D81A8F79-44E1-E915-A5CB-74A28449A838}"/>
              </a:ext>
            </a:extLst>
          </p:cNvPr>
          <p:cNvSpPr/>
          <p:nvPr/>
        </p:nvSpPr>
        <p:spPr>
          <a:xfrm>
            <a:off x="594360" y="3200400"/>
            <a:ext cx="2011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1F2933"/>
                </a:solidFill>
                <a:effectLst/>
                <a:latin typeface="Consolas" panose="020B0609020204030204" pitchFamily="49" charset="0"/>
              </a:rPr>
              <a:t>policy_enforcement</a:t>
            </a:r>
          </a:p>
          <a:p>
            <a:pPr algn="l">
              <a:buNone/>
            </a:pPr>
            <a:r>
              <a:rPr lang="en-US" sz="100">
                <a:effectLst/>
              </a:rPr>
              <a:t> </a:t>
            </a:r>
            <a:endParaRPr lang="en-US"/>
          </a:p>
        </p:txBody>
      </p:sp>
      <p:sp>
        <p:nvSpPr>
          <p:cNvPr id="227" name="Rectangle 226">
            <a:extLst>
              <a:ext uri="{FF2B5EF4-FFF2-40B4-BE49-F238E27FC236}">
                <a16:creationId xmlns:a16="http://schemas.microsoft.com/office/drawing/2014/main" id="{84C1E921-8B72-1AA4-A4DA-625EEF484A89}"/>
              </a:ext>
            </a:extLst>
          </p:cNvPr>
          <p:cNvSpPr/>
          <p:nvPr/>
        </p:nvSpPr>
        <p:spPr>
          <a:xfrm>
            <a:off x="4206240" y="3200400"/>
            <a:ext cx="54864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b="1">
                <a:solidFill>
                  <a:srgbClr val="1F2933"/>
                </a:solidFill>
                <a:effectLst/>
                <a:latin typeface="Calibri" panose="020F0502020204030204" pitchFamily="34" charset="0"/>
              </a:rPr>
              <a:t>5</a:t>
            </a:r>
          </a:p>
          <a:p>
            <a:pPr algn="l">
              <a:buNone/>
            </a:pPr>
            <a:r>
              <a:rPr lang="en-US" sz="100">
                <a:effectLst/>
              </a:rPr>
              <a:t> </a:t>
            </a:r>
            <a:endParaRPr lang="en-US"/>
          </a:p>
        </p:txBody>
      </p:sp>
      <p:sp>
        <p:nvSpPr>
          <p:cNvPr id="247" name="Rectangle 246">
            <a:extLst>
              <a:ext uri="{FF2B5EF4-FFF2-40B4-BE49-F238E27FC236}">
                <a16:creationId xmlns:a16="http://schemas.microsoft.com/office/drawing/2014/main" id="{390CE8E2-24C8-9B55-BDD0-ACC3C002FA7E}"/>
              </a:ext>
            </a:extLst>
          </p:cNvPr>
          <p:cNvSpPr/>
          <p:nvPr/>
        </p:nvSpPr>
        <p:spPr>
          <a:xfrm>
            <a:off x="2606040" y="3538728"/>
            <a:ext cx="1554480" cy="100584"/>
          </a:xfrm>
          <a:prstGeom prst="rect">
            <a:avLst/>
          </a:prstGeom>
          <a:solidFill>
            <a:srgbClr val="E6ECED"/>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Rectangle 267">
            <a:extLst>
              <a:ext uri="{FF2B5EF4-FFF2-40B4-BE49-F238E27FC236}">
                <a16:creationId xmlns:a16="http://schemas.microsoft.com/office/drawing/2014/main" id="{23422A89-0557-CAC6-4967-EDAB0BF5FAFE}"/>
              </a:ext>
            </a:extLst>
          </p:cNvPr>
          <p:cNvSpPr/>
          <p:nvPr/>
        </p:nvSpPr>
        <p:spPr>
          <a:xfrm>
            <a:off x="2606040" y="3538728"/>
            <a:ext cx="777240" cy="100584"/>
          </a:xfrm>
          <a:prstGeom prst="rect">
            <a:avLst/>
          </a:prstGeom>
          <a:solidFill>
            <a:srgbClr val="8FBEC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0" name="Rectangle 289">
            <a:extLst>
              <a:ext uri="{FF2B5EF4-FFF2-40B4-BE49-F238E27FC236}">
                <a16:creationId xmlns:a16="http://schemas.microsoft.com/office/drawing/2014/main" id="{ED8577B8-3784-B35A-A9A0-B9D1F9CB84F6}"/>
              </a:ext>
            </a:extLst>
          </p:cNvPr>
          <p:cNvSpPr/>
          <p:nvPr/>
        </p:nvSpPr>
        <p:spPr>
          <a:xfrm>
            <a:off x="594360" y="3474720"/>
            <a:ext cx="2011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1F2933"/>
                </a:solidFill>
                <a:effectLst/>
                <a:latin typeface="Consolas" panose="020B0609020204030204" pitchFamily="49" charset="0"/>
              </a:rPr>
              <a:t>general_quality</a:t>
            </a:r>
          </a:p>
          <a:p>
            <a:pPr algn="l">
              <a:buNone/>
            </a:pPr>
            <a:r>
              <a:rPr lang="en-US" sz="100">
                <a:effectLst/>
              </a:rPr>
              <a:t> </a:t>
            </a:r>
            <a:endParaRPr lang="en-US"/>
          </a:p>
        </p:txBody>
      </p:sp>
      <p:sp>
        <p:nvSpPr>
          <p:cNvPr id="313" name="Rectangle 312">
            <a:extLst>
              <a:ext uri="{FF2B5EF4-FFF2-40B4-BE49-F238E27FC236}">
                <a16:creationId xmlns:a16="http://schemas.microsoft.com/office/drawing/2014/main" id="{EA4DA205-1D29-6D41-2F96-7091DD377989}"/>
              </a:ext>
            </a:extLst>
          </p:cNvPr>
          <p:cNvSpPr/>
          <p:nvPr/>
        </p:nvSpPr>
        <p:spPr>
          <a:xfrm>
            <a:off x="4206240" y="3474720"/>
            <a:ext cx="54864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b="1">
                <a:solidFill>
                  <a:srgbClr val="1F2933"/>
                </a:solidFill>
                <a:effectLst/>
                <a:latin typeface="Calibri" panose="020F0502020204030204" pitchFamily="34" charset="0"/>
              </a:rPr>
              <a:t>5</a:t>
            </a:r>
          </a:p>
          <a:p>
            <a:pPr algn="l">
              <a:buNone/>
            </a:pPr>
            <a:r>
              <a:rPr lang="en-US" sz="100">
                <a:effectLst/>
              </a:rPr>
              <a:t> </a:t>
            </a:r>
            <a:endParaRPr lang="en-US"/>
          </a:p>
        </p:txBody>
      </p:sp>
      <p:sp>
        <p:nvSpPr>
          <p:cNvPr id="337" name="Rectangle 336">
            <a:extLst>
              <a:ext uri="{FF2B5EF4-FFF2-40B4-BE49-F238E27FC236}">
                <a16:creationId xmlns:a16="http://schemas.microsoft.com/office/drawing/2014/main" id="{6594A01A-EC04-4698-6457-EC2A52B493AA}"/>
              </a:ext>
            </a:extLst>
          </p:cNvPr>
          <p:cNvSpPr/>
          <p:nvPr/>
        </p:nvSpPr>
        <p:spPr>
          <a:xfrm>
            <a:off x="2606040" y="3813048"/>
            <a:ext cx="1554480" cy="100584"/>
          </a:xfrm>
          <a:prstGeom prst="rect">
            <a:avLst/>
          </a:prstGeom>
          <a:solidFill>
            <a:srgbClr val="E6ECED"/>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2" name="Rectangle 361">
            <a:extLst>
              <a:ext uri="{FF2B5EF4-FFF2-40B4-BE49-F238E27FC236}">
                <a16:creationId xmlns:a16="http://schemas.microsoft.com/office/drawing/2014/main" id="{0A5A50BB-9277-F681-63E6-F2BEFA044631}"/>
              </a:ext>
            </a:extLst>
          </p:cNvPr>
          <p:cNvSpPr/>
          <p:nvPr/>
        </p:nvSpPr>
        <p:spPr>
          <a:xfrm>
            <a:off x="2606040" y="3813048"/>
            <a:ext cx="621792" cy="100584"/>
          </a:xfrm>
          <a:prstGeom prst="rect">
            <a:avLst/>
          </a:prstGeom>
          <a:solidFill>
            <a:srgbClr val="8FBEC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8" name="Rectangle 387">
            <a:extLst>
              <a:ext uri="{FF2B5EF4-FFF2-40B4-BE49-F238E27FC236}">
                <a16:creationId xmlns:a16="http://schemas.microsoft.com/office/drawing/2014/main" id="{F977230B-D05C-074B-6373-DC86BCEBAA04}"/>
              </a:ext>
            </a:extLst>
          </p:cNvPr>
          <p:cNvSpPr/>
          <p:nvPr/>
        </p:nvSpPr>
        <p:spPr>
          <a:xfrm>
            <a:off x="594360" y="3749040"/>
            <a:ext cx="2011680" cy="4038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1F2933"/>
                </a:solidFill>
                <a:effectLst/>
                <a:latin typeface="Consolas" panose="020B0609020204030204" pitchFamily="49" charset="0"/>
              </a:rPr>
              <a:t>information_gathering</a:t>
            </a:r>
          </a:p>
          <a:p>
            <a:pPr algn="l">
              <a:buNone/>
            </a:pPr>
            <a:r>
              <a:rPr lang="en-US" sz="100">
                <a:effectLst/>
              </a:rPr>
              <a:t> </a:t>
            </a:r>
            <a:endParaRPr lang="en-US"/>
          </a:p>
        </p:txBody>
      </p:sp>
      <p:sp>
        <p:nvSpPr>
          <p:cNvPr id="415" name="Rectangle 414">
            <a:extLst>
              <a:ext uri="{FF2B5EF4-FFF2-40B4-BE49-F238E27FC236}">
                <a16:creationId xmlns:a16="http://schemas.microsoft.com/office/drawing/2014/main" id="{B8841ECB-90B7-7377-E001-6035589195C7}"/>
              </a:ext>
            </a:extLst>
          </p:cNvPr>
          <p:cNvSpPr/>
          <p:nvPr/>
        </p:nvSpPr>
        <p:spPr>
          <a:xfrm>
            <a:off x="4206240" y="3749040"/>
            <a:ext cx="548640" cy="42001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b="1">
                <a:solidFill>
                  <a:srgbClr val="1F2933"/>
                </a:solidFill>
                <a:effectLst/>
                <a:latin typeface="Calibri" panose="020F0502020204030204" pitchFamily="34" charset="0"/>
              </a:rPr>
              <a:t>4</a:t>
            </a:r>
          </a:p>
          <a:p>
            <a:pPr algn="l">
              <a:buNone/>
            </a:pPr>
            <a:r>
              <a:rPr lang="en-US" sz="100">
                <a:effectLst/>
              </a:rPr>
              <a:t> </a:t>
            </a:r>
            <a:endParaRPr lang="en-US"/>
          </a:p>
        </p:txBody>
      </p:sp>
      <p:sp>
        <p:nvSpPr>
          <p:cNvPr id="443" name="Rectangle 442">
            <a:extLst>
              <a:ext uri="{FF2B5EF4-FFF2-40B4-BE49-F238E27FC236}">
                <a16:creationId xmlns:a16="http://schemas.microsoft.com/office/drawing/2014/main" id="{99BC1192-F0DF-BA83-3B53-7DC497D85CF5}"/>
              </a:ext>
            </a:extLst>
          </p:cNvPr>
          <p:cNvSpPr/>
          <p:nvPr/>
        </p:nvSpPr>
        <p:spPr>
          <a:xfrm>
            <a:off x="2606040" y="4087368"/>
            <a:ext cx="1554480" cy="100584"/>
          </a:xfrm>
          <a:prstGeom prst="rect">
            <a:avLst/>
          </a:prstGeom>
          <a:solidFill>
            <a:srgbClr val="E6ECED"/>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2" name="Rectangle 471">
            <a:extLst>
              <a:ext uri="{FF2B5EF4-FFF2-40B4-BE49-F238E27FC236}">
                <a16:creationId xmlns:a16="http://schemas.microsoft.com/office/drawing/2014/main" id="{0CBD2B5E-4683-DA9E-2617-C4E18E6F648A}"/>
              </a:ext>
            </a:extLst>
          </p:cNvPr>
          <p:cNvSpPr/>
          <p:nvPr/>
        </p:nvSpPr>
        <p:spPr>
          <a:xfrm>
            <a:off x="2606040" y="4087368"/>
            <a:ext cx="310896" cy="100584"/>
          </a:xfrm>
          <a:prstGeom prst="rect">
            <a:avLst/>
          </a:prstGeom>
          <a:solidFill>
            <a:srgbClr val="8FBEC1"/>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2" name="Rectangle 501">
            <a:extLst>
              <a:ext uri="{FF2B5EF4-FFF2-40B4-BE49-F238E27FC236}">
                <a16:creationId xmlns:a16="http://schemas.microsoft.com/office/drawing/2014/main" id="{59A767FA-095B-173E-BB8A-5CAF7BC72D1B}"/>
              </a:ext>
            </a:extLst>
          </p:cNvPr>
          <p:cNvSpPr/>
          <p:nvPr/>
        </p:nvSpPr>
        <p:spPr>
          <a:xfrm>
            <a:off x="594360" y="4023360"/>
            <a:ext cx="2011680" cy="4038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1F2933"/>
                </a:solidFill>
                <a:effectLst/>
                <a:latin typeface="Consolas" panose="020B0609020204030204" pitchFamily="49" charset="0"/>
              </a:rPr>
              <a:t>communication_clarity</a:t>
            </a:r>
          </a:p>
          <a:p>
            <a:pPr algn="l">
              <a:buNone/>
            </a:pPr>
            <a:r>
              <a:rPr lang="en-US" sz="100">
                <a:effectLst/>
              </a:rPr>
              <a:t> </a:t>
            </a:r>
            <a:endParaRPr lang="en-US"/>
          </a:p>
        </p:txBody>
      </p:sp>
      <p:sp>
        <p:nvSpPr>
          <p:cNvPr id="533" name="Rectangle 532">
            <a:extLst>
              <a:ext uri="{FF2B5EF4-FFF2-40B4-BE49-F238E27FC236}">
                <a16:creationId xmlns:a16="http://schemas.microsoft.com/office/drawing/2014/main" id="{43D5CC80-B687-CC88-50AE-00F9E6A21E86}"/>
              </a:ext>
            </a:extLst>
          </p:cNvPr>
          <p:cNvSpPr/>
          <p:nvPr/>
        </p:nvSpPr>
        <p:spPr>
          <a:xfrm>
            <a:off x="4206240" y="4023360"/>
            <a:ext cx="548640" cy="42001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b="1">
                <a:solidFill>
                  <a:srgbClr val="1F2933"/>
                </a:solidFill>
                <a:effectLst/>
                <a:latin typeface="Calibri" panose="020F0502020204030204" pitchFamily="34" charset="0"/>
              </a:rPr>
              <a:t>2</a:t>
            </a:r>
          </a:p>
          <a:p>
            <a:pPr algn="l">
              <a:buNone/>
            </a:pPr>
            <a:r>
              <a:rPr lang="en-US" sz="100">
                <a:effectLst/>
              </a:rPr>
              <a:t> </a:t>
            </a:r>
            <a:endParaRPr lang="en-US"/>
          </a:p>
        </p:txBody>
      </p:sp>
      <p:sp>
        <p:nvSpPr>
          <p:cNvPr id="565" name="cardA">
            <a:extLst>
              <a:ext uri="{FF2B5EF4-FFF2-40B4-BE49-F238E27FC236}">
                <a16:creationId xmlns:a16="http://schemas.microsoft.com/office/drawing/2014/main" id="{8712325F-A09D-8030-5C41-759AA7704680}"/>
              </a:ext>
            </a:extLst>
          </p:cNvPr>
          <p:cNvSpPr/>
          <p:nvPr/>
        </p:nvSpPr>
        <p:spPr>
          <a:xfrm>
            <a:off x="5303520" y="1965960"/>
            <a:ext cx="3383280" cy="1234440"/>
          </a:xfrm>
          <a:prstGeom prst="rect">
            <a:avLst/>
          </a:prstGeom>
          <a:solidFill>
            <a:srgbClr val="FFFFFF"/>
          </a:solidFill>
          <a:ln w="9525">
            <a:solidFill>
              <a:srgbClr val="D8DDE2"/>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8" name="Rectangle 597">
            <a:extLst>
              <a:ext uri="{FF2B5EF4-FFF2-40B4-BE49-F238E27FC236}">
                <a16:creationId xmlns:a16="http://schemas.microsoft.com/office/drawing/2014/main" id="{5E83AC13-BA7D-E789-D936-452A1705527B}"/>
              </a:ext>
            </a:extLst>
          </p:cNvPr>
          <p:cNvSpPr/>
          <p:nvPr/>
        </p:nvSpPr>
        <p:spPr>
          <a:xfrm>
            <a:off x="5394960" y="2057400"/>
            <a:ext cx="320040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How it scores</a:t>
            </a:r>
          </a:p>
          <a:p>
            <a:pPr algn="l">
              <a:buNone/>
            </a:pPr>
            <a:r>
              <a:rPr lang="en-US" sz="100">
                <a:effectLst/>
              </a:rPr>
              <a:t> </a:t>
            </a:r>
            <a:endParaRPr lang="en-US"/>
          </a:p>
        </p:txBody>
      </p:sp>
      <p:sp>
        <p:nvSpPr>
          <p:cNvPr id="632" name="Rectangle 631">
            <a:extLst>
              <a:ext uri="{FF2B5EF4-FFF2-40B4-BE49-F238E27FC236}">
                <a16:creationId xmlns:a16="http://schemas.microsoft.com/office/drawing/2014/main" id="{44B73183-5547-2953-EE82-E9703C0F4E71}"/>
              </a:ext>
            </a:extLst>
          </p:cNvPr>
          <p:cNvSpPr/>
          <p:nvPr/>
        </p:nvSpPr>
        <p:spPr>
          <a:xfrm>
            <a:off x="5394960" y="2286000"/>
            <a:ext cx="3200400" cy="2057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Each dimension scored 1–5</a:t>
            </a:r>
          </a:p>
          <a:p>
            <a:pPr algn="l">
              <a:buNone/>
            </a:pPr>
            <a:r>
              <a:rPr lang="en-US" sz="100">
                <a:effectLst/>
              </a:rPr>
              <a:t> </a:t>
            </a:r>
            <a:endParaRPr lang="en-US"/>
          </a:p>
        </p:txBody>
      </p:sp>
      <p:sp>
        <p:nvSpPr>
          <p:cNvPr id="667" name="Rectangle 666">
            <a:extLst>
              <a:ext uri="{FF2B5EF4-FFF2-40B4-BE49-F238E27FC236}">
                <a16:creationId xmlns:a16="http://schemas.microsoft.com/office/drawing/2014/main" id="{7DE80EA8-FFAF-9096-9586-EA0C9F7D20B5}"/>
              </a:ext>
            </a:extLst>
          </p:cNvPr>
          <p:cNvSpPr/>
          <p:nvPr/>
        </p:nvSpPr>
        <p:spPr>
          <a:xfrm>
            <a:off x="5394960" y="2491740"/>
            <a:ext cx="3200400" cy="2057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Overall = weighted average</a:t>
            </a:r>
          </a:p>
          <a:p>
            <a:pPr algn="l">
              <a:buNone/>
            </a:pPr>
            <a:r>
              <a:rPr lang="en-US" sz="100">
                <a:effectLst/>
              </a:rPr>
              <a:t> </a:t>
            </a:r>
            <a:endParaRPr lang="en-US"/>
          </a:p>
        </p:txBody>
      </p:sp>
      <p:sp>
        <p:nvSpPr>
          <p:cNvPr id="703" name="Rectangle 702">
            <a:extLst>
              <a:ext uri="{FF2B5EF4-FFF2-40B4-BE49-F238E27FC236}">
                <a16:creationId xmlns:a16="http://schemas.microsoft.com/office/drawing/2014/main" id="{D47432F8-3D33-7884-24EA-407D6B9D8052}"/>
              </a:ext>
            </a:extLst>
          </p:cNvPr>
          <p:cNvSpPr/>
          <p:nvPr/>
        </p:nvSpPr>
        <p:spPr>
          <a:xfrm>
            <a:off x="5394960" y="2697480"/>
            <a:ext cx="3200400" cy="42001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Normalized to a 0–1 range</a:t>
            </a:r>
          </a:p>
          <a:p>
            <a:pPr algn="l">
              <a:buNone/>
            </a:pPr>
            <a:r>
              <a:rPr lang="en-US" sz="100">
                <a:effectLst/>
              </a:rPr>
              <a:t> </a:t>
            </a:r>
            <a:endParaRPr lang="en-US"/>
          </a:p>
        </p:txBody>
      </p:sp>
      <p:sp>
        <p:nvSpPr>
          <p:cNvPr id="740" name="Rectangle 739">
            <a:extLst>
              <a:ext uri="{FF2B5EF4-FFF2-40B4-BE49-F238E27FC236}">
                <a16:creationId xmlns:a16="http://schemas.microsoft.com/office/drawing/2014/main" id="{BF29160B-3AB0-6659-D3D4-C49FB7BDDEA8}"/>
              </a:ext>
            </a:extLst>
          </p:cNvPr>
          <p:cNvSpPr/>
          <p:nvPr/>
        </p:nvSpPr>
        <p:spPr>
          <a:xfrm>
            <a:off x="5394960" y="2903220"/>
            <a:ext cx="3200400" cy="3886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0F6E73"/>
                </a:solidFill>
                <a:effectLst/>
                <a:latin typeface="Consolas" panose="020B0609020204030204" pitchFamily="49" charset="0"/>
              </a:rPr>
              <a:t>→ pass if ≥ 0.50 (default)</a:t>
            </a:r>
          </a:p>
          <a:p>
            <a:pPr algn="l">
              <a:buNone/>
            </a:pPr>
            <a:r>
              <a:rPr lang="en-US" sz="100">
                <a:effectLst/>
              </a:rPr>
              <a:t> </a:t>
            </a:r>
            <a:endParaRPr lang="en-US"/>
          </a:p>
        </p:txBody>
      </p:sp>
      <p:sp>
        <p:nvSpPr>
          <p:cNvPr id="778" name="cardB">
            <a:extLst>
              <a:ext uri="{FF2B5EF4-FFF2-40B4-BE49-F238E27FC236}">
                <a16:creationId xmlns:a16="http://schemas.microsoft.com/office/drawing/2014/main" id="{F4A5F0CC-F8C1-6616-D925-DCF5DC070661}"/>
              </a:ext>
            </a:extLst>
          </p:cNvPr>
          <p:cNvSpPr/>
          <p:nvPr/>
        </p:nvSpPr>
        <p:spPr>
          <a:xfrm>
            <a:off x="5303520" y="3291840"/>
            <a:ext cx="3383280" cy="1097280"/>
          </a:xfrm>
          <a:prstGeom prst="rect">
            <a:avLst/>
          </a:prstGeom>
          <a:solidFill>
            <a:srgbClr val="FFFFFF"/>
          </a:solidFill>
          <a:ln w="9525">
            <a:solidFill>
              <a:srgbClr val="D8DDE2"/>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7" name="Rectangle 816">
            <a:extLst>
              <a:ext uri="{FF2B5EF4-FFF2-40B4-BE49-F238E27FC236}">
                <a16:creationId xmlns:a16="http://schemas.microsoft.com/office/drawing/2014/main" id="{FE6D11FB-C9B3-D205-5256-206035841DE2}"/>
              </a:ext>
            </a:extLst>
          </p:cNvPr>
          <p:cNvSpPr/>
          <p:nvPr/>
        </p:nvSpPr>
        <p:spPr>
          <a:xfrm>
            <a:off x="5394960" y="3383280"/>
            <a:ext cx="320040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Where rubrics come from</a:t>
            </a:r>
          </a:p>
          <a:p>
            <a:pPr algn="l">
              <a:buNone/>
            </a:pPr>
            <a:r>
              <a:rPr lang="en-US" sz="100">
                <a:effectLst/>
              </a:rPr>
              <a:t> </a:t>
            </a:r>
            <a:endParaRPr lang="en-US"/>
          </a:p>
        </p:txBody>
      </p:sp>
      <p:sp>
        <p:nvSpPr>
          <p:cNvPr id="857" name="Rectangle 856">
            <a:extLst>
              <a:ext uri="{FF2B5EF4-FFF2-40B4-BE49-F238E27FC236}">
                <a16:creationId xmlns:a16="http://schemas.microsoft.com/office/drawing/2014/main" id="{42206DF6-952C-DD46-9C70-FA7E6EE4844B}"/>
              </a:ext>
            </a:extLst>
          </p:cNvPr>
          <p:cNvSpPr/>
          <p:nvPr/>
        </p:nvSpPr>
        <p:spPr>
          <a:xfrm>
            <a:off x="5394960" y="3611880"/>
            <a:ext cx="320040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Auto-generate (recommended)</a:t>
            </a:r>
          </a:p>
          <a:p>
            <a:pPr algn="l">
              <a:buNone/>
            </a:pPr>
            <a:r>
              <a:rPr lang="en-US" sz="100">
                <a:effectLst/>
              </a:rPr>
              <a:t> </a:t>
            </a:r>
            <a:endParaRPr lang="en-US"/>
          </a:p>
        </p:txBody>
      </p:sp>
      <p:sp>
        <p:nvSpPr>
          <p:cNvPr id="898" name="Rectangle 897">
            <a:extLst>
              <a:ext uri="{FF2B5EF4-FFF2-40B4-BE49-F238E27FC236}">
                <a16:creationId xmlns:a16="http://schemas.microsoft.com/office/drawing/2014/main" id="{A6E4DED1-EAF5-16AD-501F-83D7B2E6E444}"/>
              </a:ext>
            </a:extLst>
          </p:cNvPr>
          <p:cNvSpPr/>
          <p:nvPr/>
        </p:nvSpPr>
        <p:spPr>
          <a:xfrm>
            <a:off x="5394960" y="3840480"/>
            <a:ext cx="3200400" cy="42001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Agent, prompt, or ref files</a:t>
            </a:r>
          </a:p>
          <a:p>
            <a:pPr algn="l">
              <a:buNone/>
            </a:pPr>
            <a:r>
              <a:rPr lang="en-US" sz="100">
                <a:effectLst/>
              </a:rPr>
              <a:t> </a:t>
            </a:r>
            <a:endParaRPr lang="en-US"/>
          </a:p>
        </p:txBody>
      </p:sp>
      <p:sp>
        <p:nvSpPr>
          <p:cNvPr id="940" name="Rectangle 939">
            <a:extLst>
              <a:ext uri="{FF2B5EF4-FFF2-40B4-BE49-F238E27FC236}">
                <a16:creationId xmlns:a16="http://schemas.microsoft.com/office/drawing/2014/main" id="{86850CE5-AD57-CDB2-57BB-23B6748F4D85}"/>
              </a:ext>
            </a:extLst>
          </p:cNvPr>
          <p:cNvSpPr/>
          <p:nvPr/>
        </p:nvSpPr>
        <p:spPr>
          <a:xfrm>
            <a:off x="5394960" y="4069080"/>
            <a:ext cx="320040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Plus traces from real usage</a:t>
            </a:r>
          </a:p>
          <a:p>
            <a:pPr algn="l">
              <a:buNone/>
            </a:pPr>
            <a:r>
              <a:rPr lang="en-US" sz="100">
                <a:effectLst/>
              </a:rPr>
              <a:t> </a:t>
            </a:r>
            <a:endParaRPr lang="en-US"/>
          </a:p>
        </p:txBody>
      </p:sp>
      <p:sp>
        <p:nvSpPr>
          <p:cNvPr id="983" name="Rectangle 982">
            <a:extLst>
              <a:ext uri="{FF2B5EF4-FFF2-40B4-BE49-F238E27FC236}">
                <a16:creationId xmlns:a16="http://schemas.microsoft.com/office/drawing/2014/main" id="{33472FED-78A3-9A38-4EB6-ABB4D15DB8A5}"/>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i="1">
                <a:solidFill>
                  <a:srgbClr val="52606D"/>
                </a:solidFill>
                <a:effectLst/>
                <a:latin typeface="Calibri" panose="020F0502020204030204" pitchFamily="34" charset="0"/>
              </a:rPr>
              <a:t>Pair rubrics with built-in safety and groundedness evaluators. Example from Microsoft Learn.</a:t>
            </a:r>
          </a:p>
          <a:p>
            <a:pPr algn="l">
              <a:buNone/>
            </a:pPr>
            <a:r>
              <a:rPr lang="en-US" sz="100">
                <a:effectLst/>
              </a:rPr>
              <a:t> </a:t>
            </a:r>
            <a:endParaRPr lang="en-US"/>
          </a:p>
        </p:txBody>
      </p:sp>
      <p:sp>
        <p:nvSpPr>
          <p:cNvPr id="1027" name="Rectangle 1026">
            <a:extLst>
              <a:ext uri="{FF2B5EF4-FFF2-40B4-BE49-F238E27FC236}">
                <a16:creationId xmlns:a16="http://schemas.microsoft.com/office/drawing/2014/main" id="{A6D4CE53-8DB6-53DF-EE17-4CDFEA4534FD}"/>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a:solidFill>
                  <a:srgbClr val="52606D"/>
                </a:solidFill>
                <a:effectLst/>
                <a:latin typeface="Calibri" panose="020F0502020204030204" pitchFamily="34" charset="0"/>
              </a:rPr>
              <a:t>AI Evaluations  ·  Microsoft Agent Framework</a:t>
            </a:r>
          </a:p>
          <a:p>
            <a:pPr algn="l">
              <a:buNone/>
            </a:pPr>
            <a:r>
              <a:rPr lang="en-US" sz="100">
                <a:effectLst/>
              </a:rPr>
              <a:t> </a:t>
            </a:r>
            <a:endParaRPr lang="en-US"/>
          </a:p>
        </p:txBody>
      </p:sp>
      <p:sp>
        <p:nvSpPr>
          <p:cNvPr id="1072" name="Rectangle 1071">
            <a:extLst>
              <a:ext uri="{FF2B5EF4-FFF2-40B4-BE49-F238E27FC236}">
                <a16:creationId xmlns:a16="http://schemas.microsoft.com/office/drawing/2014/main" id="{2F060C97-3484-B498-26A8-CF33F57E7E6D}"/>
              </a:ext>
            </a:extLst>
          </p:cNvPr>
          <p:cNvSpPr/>
          <p:nvPr/>
        </p:nvSpPr>
        <p:spPr>
          <a:xfrm>
            <a:off x="7955280" y="4823460"/>
            <a:ext cx="8229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900">
                <a:solidFill>
                  <a:srgbClr val="52606D"/>
                </a:solidFill>
                <a:effectLst/>
                <a:latin typeface="Calibri" panose="020F0502020204030204" pitchFamily="34" charset="0"/>
              </a:rPr>
              <a:t>12 / 19</a:t>
            </a:r>
            <a:endParaRPr lang="en-US"/>
          </a:p>
        </p:txBody>
      </p:sp>
    </p:spTree>
    <p:extLst>
      <p:ext uri="{BB962C8B-B14F-4D97-AF65-F5344CB8AC3E}">
        <p14:creationId xmlns:p14="http://schemas.microsoft.com/office/powerpoint/2010/main" val="37300766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marL="0" indent="0">
              <a:buNone/>
            </a:pPr>
            <a:r>
              <a:rPr lang="en-US" sz="1000" b="1" kern="0" spc="400">
                <a:solidFill>
                  <a:srgbClr val="0F6E73"/>
                </a:solidFill>
                <a:latin typeface="Calibri" pitchFamily="34" charset="0"/>
                <a:ea typeface="Calibri" pitchFamily="34" charset="-122"/>
                <a:cs typeface="Calibri" pitchFamily="34" charset="-120"/>
              </a:rPr>
              <a:t>RECOMMENDED BUNDLES</a:t>
            </a:r>
            <a:endParaRPr lang="en-US" sz="1000"/>
          </a:p>
        </p:txBody>
      </p:sp>
      <p:sp>
        <p:nvSpPr>
          <p:cNvPr id="3" name="Text 1"/>
          <p:cNvSpPr/>
          <p:nvPr/>
        </p:nvSpPr>
        <p:spPr>
          <a:xfrm>
            <a:off x="457200" y="566928"/>
            <a:ext cx="8229600" cy="640080"/>
          </a:xfrm>
          <a:prstGeom prst="rect">
            <a:avLst/>
          </a:prstGeom>
          <a:noFill/>
          <a:ln/>
        </p:spPr>
        <p:txBody>
          <a:bodyPr wrap="square" lIns="0" tIns="0" rIns="0" bIns="0" rtlCol="0" anchor="ctr"/>
          <a:lstStyle/>
          <a:p>
            <a:pPr marL="0" indent="0">
              <a:buNone/>
            </a:pPr>
            <a:r>
              <a:rPr lang="en-US" sz="2800" b="1">
                <a:solidFill>
                  <a:srgbClr val="1F2933"/>
                </a:solidFill>
                <a:latin typeface="Calibri" pitchFamily="34" charset="0"/>
                <a:ea typeface="Calibri" pitchFamily="34" charset="-122"/>
                <a:cs typeface="Calibri" pitchFamily="34" charset="-120"/>
              </a:rPr>
              <a:t>Which evaluators for which app</a:t>
            </a:r>
            <a:endParaRPr lang="en-US" sz="2800"/>
          </a:p>
        </p:txBody>
      </p:sp>
      <p:sp>
        <p:nvSpPr>
          <p:cNvPr id="4" name="Shape 2"/>
          <p:cNvSpPr/>
          <p:nvPr/>
        </p:nvSpPr>
        <p:spPr>
          <a:xfrm>
            <a:off x="457200" y="1225296"/>
            <a:ext cx="731520" cy="0"/>
          </a:xfrm>
          <a:prstGeom prst="line">
            <a:avLst/>
          </a:prstGeom>
          <a:noFill/>
          <a:ln w="25400">
            <a:solidFill>
              <a:srgbClr val="0F6E73"/>
            </a:solidFill>
            <a:prstDash val="solid"/>
          </a:ln>
        </p:spPr>
        <p:txBody>
          <a:bodyPr/>
          <a:lstStyle/>
          <a:p>
            <a:endParaRPr lang="en-US"/>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2743200"/>
        </p:xfrm>
        <a:graphic>
          <a:graphicData uri="http://schemas.openxmlformats.org/drawingml/2006/table">
            <a:tbl>
              <a:tblPr/>
              <a:tblGrid>
                <a:gridCol w="20116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457200">
                <a:tc>
                  <a:txBody>
                    <a:bodyPr/>
                    <a:lstStyle/>
                    <a:p>
                      <a:pPr marL="0" indent="0">
                        <a:buNone/>
                      </a:pPr>
                      <a:r>
                        <a:rPr lang="en-US" sz="1100" b="1">
                          <a:solidFill>
                            <a:srgbClr val="FFFFFF"/>
                          </a:solidFill>
                          <a:latin typeface="Calibri" pitchFamily="34" charset="0"/>
                          <a:ea typeface="Calibri" pitchFamily="34" charset="-122"/>
                          <a:cs typeface="Calibri" pitchFamily="34" charset="-120"/>
                        </a:rPr>
                        <a:t>Scenario</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solidFill>
                      <a:srgbClr val="0F6E73"/>
                    </a:solidFill>
                  </a:tcPr>
                </a:tc>
                <a:tc>
                  <a:txBody>
                    <a:bodyPr/>
                    <a:lstStyle/>
                    <a:p>
                      <a:pPr marL="0" indent="0">
                        <a:buNone/>
                      </a:pPr>
                      <a:r>
                        <a:rPr lang="en-US" sz="1100" b="1">
                          <a:solidFill>
                            <a:srgbClr val="FFFFFF"/>
                          </a:solidFill>
                          <a:latin typeface="Calibri" pitchFamily="34" charset="0"/>
                          <a:ea typeface="Calibri" pitchFamily="34" charset="-122"/>
                          <a:cs typeface="Calibri" pitchFamily="34" charset="-120"/>
                        </a:rPr>
                        <a:t>Bundle</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solidFill>
                      <a:srgbClr val="0F6E73"/>
                    </a:solidFill>
                  </a:tcPr>
                </a:tc>
                <a:tc>
                  <a:txBody>
                    <a:bodyPr/>
                    <a:lstStyle/>
                    <a:p>
                      <a:pPr marL="0" indent="0">
                        <a:buNone/>
                      </a:pPr>
                      <a:r>
                        <a:rPr lang="en-US" sz="1100" b="1">
                          <a:solidFill>
                            <a:srgbClr val="FFFFFF"/>
                          </a:solidFill>
                          <a:latin typeface="Calibri" pitchFamily="34" charset="0"/>
                          <a:ea typeface="Calibri" pitchFamily="34" charset="-122"/>
                          <a:cs typeface="Calibri" pitchFamily="34" charset="-120"/>
                        </a:rPr>
                        <a:t>When to add</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solidFill>
                      <a:srgbClr val="0F6E73"/>
                    </a:solidFill>
                  </a:tcPr>
                </a:tc>
                <a:extLst>
                  <a:ext uri="{0D108BD9-81ED-4DB2-BD59-A6C34878D82A}">
                    <a16:rowId xmlns:a16="http://schemas.microsoft.com/office/drawing/2014/main" val="10000"/>
                  </a:ext>
                </a:extLst>
              </a:tr>
              <a:tr h="457200">
                <a:tc>
                  <a:txBody>
                    <a:bodyPr/>
                    <a:lstStyle/>
                    <a:p>
                      <a:pPr marL="0" indent="0">
                        <a:buNone/>
                      </a:pPr>
                      <a:r>
                        <a:rPr lang="en-US" sz="1100">
                          <a:solidFill>
                            <a:srgbClr val="1F2933"/>
                          </a:solidFill>
                          <a:latin typeface="Calibri" pitchFamily="34" charset="0"/>
                          <a:ea typeface="Calibri" pitchFamily="34" charset="-122"/>
                          <a:cs typeface="Calibri" pitchFamily="34" charset="-120"/>
                        </a:rPr>
                        <a:t>RAG app, external users</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Coherence + Groundedness + Relevance + Safety + Red teaming</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Day one</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100">
                          <a:solidFill>
                            <a:srgbClr val="1F2933"/>
                          </a:solidFill>
                          <a:latin typeface="Calibri" pitchFamily="34" charset="0"/>
                          <a:ea typeface="Calibri" pitchFamily="34" charset="-122"/>
                          <a:cs typeface="Calibri" pitchFamily="34" charset="-120"/>
                        </a:rPr>
                        <a:t>Agent with tool use</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Task Adherence + Tool Accuracy + Tool Selection + Safety + Red teaming</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Day one</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100">
                          <a:solidFill>
                            <a:srgbClr val="1F2933"/>
                          </a:solidFill>
                          <a:latin typeface="Calibri" pitchFamily="34" charset="0"/>
                          <a:ea typeface="Calibri" pitchFamily="34" charset="-122"/>
                          <a:cs typeface="Calibri" pitchFamily="34" charset="-120"/>
                        </a:rPr>
                        <a:t>Internal assistant</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Coherence + Fluency + Violence + Hate</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Day one; expand before wider rollout</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100">
                          <a:solidFill>
                            <a:srgbClr val="1F2933"/>
                          </a:solidFill>
                          <a:latin typeface="Calibri" pitchFamily="34" charset="0"/>
                          <a:ea typeface="Calibri" pitchFamily="34" charset="-122"/>
                          <a:cs typeface="Calibri" pitchFamily="34" charset="-120"/>
                        </a:rPr>
                        <a:t>Model endpoint (API)</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Coherence + Groundedness + Safety</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Day one; add red teaming pre-customer</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100">
                          <a:solidFill>
                            <a:srgbClr val="1F2933"/>
                          </a:solidFill>
                          <a:latin typeface="Calibri" pitchFamily="34" charset="0"/>
                          <a:ea typeface="Calibri" pitchFamily="34" charset="-122"/>
                          <a:cs typeface="Calibri" pitchFamily="34" charset="-120"/>
                        </a:rPr>
                        <a:t>Translation</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BLEU + METEOR + Fluency + Coherence</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tc>
                  <a:txBody>
                    <a:bodyPr/>
                    <a:lstStyle/>
                    <a:p>
                      <a:pPr marL="0" indent="0">
                        <a:buNone/>
                      </a:pPr>
                      <a:r>
                        <a:rPr lang="en-US" sz="1100">
                          <a:solidFill>
                            <a:srgbClr val="1F2933"/>
                          </a:solidFill>
                          <a:latin typeface="Calibri" pitchFamily="34" charset="0"/>
                          <a:ea typeface="Calibri" pitchFamily="34" charset="-122"/>
                          <a:cs typeface="Calibri" pitchFamily="34" charset="-120"/>
                        </a:rPr>
                        <a:t>Day one</a:t>
                      </a:r>
                      <a:endParaRPr lang="en-US" sz="1100">
                        <a:latin typeface="Calibri" charset="0"/>
                        <a:ea typeface="Calibri" charset="0"/>
                        <a:cs typeface="Calibri" charset="0"/>
                      </a:endParaRPr>
                    </a:p>
                  </a:txBody>
                  <a:tcPr>
                    <a:lnL w="6350" cap="flat" cmpd="sng" algn="ctr">
                      <a:solidFill>
                        <a:srgbClr val="D8DDE2"/>
                      </a:solidFill>
                      <a:prstDash val="solid"/>
                      <a:round/>
                      <a:headEnd type="none" w="med" len="med"/>
                      <a:tailEnd type="none" w="med" len="med"/>
                    </a:lnL>
                    <a:lnR w="6350" cap="flat" cmpd="sng" algn="ctr">
                      <a:solidFill>
                        <a:srgbClr val="D8DDE2"/>
                      </a:solidFill>
                      <a:prstDash val="solid"/>
                      <a:round/>
                      <a:headEnd type="none" w="med" len="med"/>
                      <a:tailEnd type="none" w="med" len="med"/>
                    </a:lnR>
                    <a:lnT w="6350" cap="flat" cmpd="sng" algn="ctr">
                      <a:solidFill>
                        <a:srgbClr val="D8DDE2"/>
                      </a:solidFill>
                      <a:prstDash val="solid"/>
                      <a:round/>
                      <a:headEnd type="none" w="med" len="med"/>
                      <a:tailEnd type="none" w="med" len="med"/>
                    </a:lnT>
                    <a:lnB w="6350" cap="flat" cmpd="sng" algn="ctr">
                      <a:solidFill>
                        <a:srgbClr val="D8DDE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3"/>
          <p:cNvSpPr/>
          <p:nvPr/>
        </p:nvSpPr>
        <p:spPr>
          <a:xfrm>
            <a:off x="457200" y="4663440"/>
            <a:ext cx="8229600" cy="274320"/>
          </a:xfrm>
          <a:prstGeom prst="rect">
            <a:avLst/>
          </a:prstGeom>
          <a:noFill/>
          <a:ln/>
        </p:spPr>
        <p:txBody>
          <a:bodyPr wrap="square" lIns="0" tIns="0" rIns="0" bIns="0" rtlCol="0" anchor="ctr"/>
          <a:lstStyle/>
          <a:p>
            <a:pPr marL="0" indent="0">
              <a:buNone/>
            </a:pPr>
            <a:r>
              <a:rPr lang="en-US" sz="1100" i="1">
                <a:solidFill>
                  <a:srgbClr val="1F2933"/>
                </a:solidFill>
                <a:latin typeface="Calibri" pitchFamily="34" charset="0"/>
                <a:ea typeface="Calibri" pitchFamily="34" charset="-122"/>
                <a:cs typeface="Calibri" pitchFamily="34" charset="-120"/>
              </a:rPr>
              <a:t>Every application gets the safety bundle: Hate &amp; Unfairness, Sexual, Violence, Self-Harm.</a:t>
            </a:r>
            <a:endParaRPr lang="en-US" sz="1100"/>
          </a:p>
        </p:txBody>
      </p:sp>
      <p:sp>
        <p:nvSpPr>
          <p:cNvPr id="7" name="Text 4"/>
          <p:cNvSpPr/>
          <p:nvPr/>
        </p:nvSpPr>
        <p:spPr>
          <a:xfrm>
            <a:off x="457200" y="4823460"/>
            <a:ext cx="5486400" cy="228600"/>
          </a:xfrm>
          <a:prstGeom prst="rect">
            <a:avLst/>
          </a:prstGeom>
          <a:noFill/>
          <a:ln/>
        </p:spPr>
        <p:txBody>
          <a:bodyPr wrap="square" lIns="0" tIns="0" rIns="0" bIns="0" rtlCol="0" anchor="ctr"/>
          <a:lstStyle/>
          <a:p>
            <a:pPr marL="0" indent="0">
              <a:buNone/>
            </a:pPr>
            <a:r>
              <a:rPr lang="en-US" sz="900">
                <a:solidFill>
                  <a:srgbClr val="52606D"/>
                </a:solidFill>
                <a:latin typeface="Calibri" pitchFamily="34" charset="0"/>
                <a:ea typeface="Calibri" pitchFamily="34" charset="-122"/>
                <a:cs typeface="Calibri" pitchFamily="34" charset="-120"/>
              </a:rPr>
              <a:t>AI Evaluations  ·  Microsoft Agent Framework</a:t>
            </a:r>
            <a:endParaRPr lang="en-US" sz="900"/>
          </a:p>
        </p:txBody>
      </p:sp>
      <p:sp>
        <p:nvSpPr>
          <p:cNvPr id="8" name="Text 5"/>
          <p:cNvSpPr/>
          <p:nvPr/>
        </p:nvSpPr>
        <p:spPr>
          <a:xfrm>
            <a:off x="8046720" y="4823460"/>
            <a:ext cx="640080" cy="228600"/>
          </a:xfrm>
          <a:prstGeom prst="rect">
            <a:avLst/>
          </a:prstGeom>
          <a:noFill/>
          <a:ln/>
        </p:spPr>
        <p:txBody>
          <a:bodyPr wrap="square" lIns="0" tIns="0" rIns="0" bIns="0" rtlCol="0" anchor="ctr"/>
          <a:lstStyle/>
          <a:p>
            <a:pPr marL="0" indent="0" algn="r">
              <a:buNone/>
            </a:pPr>
            <a:r>
              <a:rPr lang="en-US" sz="900">
                <a:solidFill>
                  <a:srgbClr val="52606D"/>
                </a:solidFill>
                <a:latin typeface="Calibri" pitchFamily="34" charset="0"/>
                <a:ea typeface="Calibri" pitchFamily="34" charset="-122"/>
                <a:cs typeface="Calibri" pitchFamily="34" charset="-120"/>
              </a:rPr>
              <a:t>13 / 19</a:t>
            </a:r>
            <a:endParaRPr lang="en-US" sz="900"/>
          </a:p>
        </p:txBody>
      </p:sp>
      <p:sp>
        <p:nvSpPr>
          <p:cNvPr id="1608" name="Rectangle 1607">
            <a:extLst>
              <a:ext uri="{FF2B5EF4-FFF2-40B4-BE49-F238E27FC236}">
                <a16:creationId xmlns:a16="http://schemas.microsoft.com/office/drawing/2014/main" id="{5B444DA1-647C-997A-937E-2E852A7D7821}"/>
              </a:ext>
            </a:extLst>
          </p:cNvPr>
          <p:cNvSpPr/>
          <p:nvPr/>
        </p:nvSpPr>
        <p:spPr>
          <a:xfrm>
            <a:off x="457200" y="4160520"/>
            <a:ext cx="8229600" cy="457200"/>
          </a:xfrm>
          <a:prstGeom prst="rect">
            <a:avLst/>
          </a:prstGeom>
          <a:solidFill>
            <a:srgbClr val="F4F6F8"/>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0" name="Rectangle 1609">
            <a:extLst>
              <a:ext uri="{FF2B5EF4-FFF2-40B4-BE49-F238E27FC236}">
                <a16:creationId xmlns:a16="http://schemas.microsoft.com/office/drawing/2014/main" id="{6F26B940-8111-DB82-FCDB-45D2A261B2DD}"/>
              </a:ext>
            </a:extLst>
          </p:cNvPr>
          <p:cNvSpPr/>
          <p:nvPr/>
        </p:nvSpPr>
        <p:spPr>
          <a:xfrm>
            <a:off x="457200" y="4608195"/>
            <a:ext cx="8229600" cy="9525"/>
          </a:xfrm>
          <a:prstGeom prst="rect">
            <a:avLst/>
          </a:prstGeom>
          <a:solidFill>
            <a:srgbClr val="D8DDE2"/>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13" name="Rectangle 1612">
            <a:extLst>
              <a:ext uri="{FF2B5EF4-FFF2-40B4-BE49-F238E27FC236}">
                <a16:creationId xmlns:a16="http://schemas.microsoft.com/office/drawing/2014/main" id="{987D2713-69A1-4C6F-ED3B-9F9924F4FFA8}"/>
              </a:ext>
            </a:extLst>
          </p:cNvPr>
          <p:cNvSpPr/>
          <p:nvPr/>
        </p:nvSpPr>
        <p:spPr>
          <a:xfrm>
            <a:off x="457200" y="4160520"/>
            <a:ext cx="20116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Domain-specific quality</a:t>
            </a:r>
          </a:p>
          <a:p>
            <a:pPr algn="l">
              <a:buNone/>
            </a:pPr>
            <a:r>
              <a:rPr lang="en-US" sz="100">
                <a:effectLst/>
              </a:rPr>
              <a:t> </a:t>
            </a:r>
            <a:endParaRPr lang="en-US"/>
          </a:p>
        </p:txBody>
      </p:sp>
      <p:sp>
        <p:nvSpPr>
          <p:cNvPr id="1617" name="Rectangle 1616">
            <a:extLst>
              <a:ext uri="{FF2B5EF4-FFF2-40B4-BE49-F238E27FC236}">
                <a16:creationId xmlns:a16="http://schemas.microsoft.com/office/drawing/2014/main" id="{104DEDD8-C677-C89D-66D5-614790F6FEF2}"/>
              </a:ext>
            </a:extLst>
          </p:cNvPr>
          <p:cNvSpPr/>
          <p:nvPr/>
        </p:nvSpPr>
        <p:spPr>
          <a:xfrm>
            <a:off x="2468880" y="4160520"/>
            <a:ext cx="420624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Rubric (your weighted criteria) + Safety</a:t>
            </a:r>
          </a:p>
          <a:p>
            <a:pPr algn="l">
              <a:buNone/>
            </a:pPr>
            <a:r>
              <a:rPr lang="en-US" sz="100">
                <a:effectLst/>
              </a:rPr>
              <a:t> </a:t>
            </a:r>
            <a:endParaRPr lang="en-US"/>
          </a:p>
        </p:txBody>
      </p:sp>
      <p:sp>
        <p:nvSpPr>
          <p:cNvPr id="1622" name="Rectangle 1621">
            <a:extLst>
              <a:ext uri="{FF2B5EF4-FFF2-40B4-BE49-F238E27FC236}">
                <a16:creationId xmlns:a16="http://schemas.microsoft.com/office/drawing/2014/main" id="{B4046966-6610-4B77-A9BE-1C8CBFF180F1}"/>
              </a:ext>
            </a:extLst>
          </p:cNvPr>
          <p:cNvSpPr/>
          <p:nvPr/>
        </p:nvSpPr>
        <p:spPr>
          <a:xfrm>
            <a:off x="6675120" y="4160520"/>
            <a:ext cx="20116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Day one for agents</a:t>
            </a:r>
          </a:p>
          <a:p>
            <a:pPr algn="l">
              <a:buNone/>
            </a:pPr>
            <a:r>
              <a:rPr lang="en-US" sz="100">
                <a:effectLst/>
              </a:rPr>
              <a:t> </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marL="0" indent="0">
              <a:buNone/>
            </a:pPr>
            <a:r>
              <a:rPr lang="en-US" sz="1000" b="1" kern="0" spc="400">
                <a:solidFill>
                  <a:srgbClr val="0F6E73"/>
                </a:solidFill>
                <a:latin typeface="Calibri" pitchFamily="34" charset="0"/>
                <a:ea typeface="Calibri" pitchFamily="34" charset="-122"/>
                <a:cs typeface="Calibri" pitchFamily="34" charset="-120"/>
              </a:rPr>
              <a:t>DEV → TEST → PROD</a:t>
            </a:r>
            <a:endParaRPr lang="en-US" sz="1000"/>
          </a:p>
        </p:txBody>
      </p:sp>
      <p:sp>
        <p:nvSpPr>
          <p:cNvPr id="3" name="Text 1"/>
          <p:cNvSpPr/>
          <p:nvPr/>
        </p:nvSpPr>
        <p:spPr>
          <a:xfrm>
            <a:off x="457200" y="566928"/>
            <a:ext cx="8229600" cy="640080"/>
          </a:xfrm>
          <a:prstGeom prst="rect">
            <a:avLst/>
          </a:prstGeom>
          <a:noFill/>
          <a:ln/>
        </p:spPr>
        <p:txBody>
          <a:bodyPr wrap="square" lIns="0" tIns="0" rIns="0" bIns="0" rtlCol="0" anchor="ctr"/>
          <a:lstStyle/>
          <a:p>
            <a:pPr marL="0" indent="0">
              <a:buNone/>
            </a:pPr>
            <a:r>
              <a:rPr lang="en-US" sz="2800" b="1">
                <a:solidFill>
                  <a:srgbClr val="1F2933"/>
                </a:solidFill>
                <a:latin typeface="Calibri" pitchFamily="34" charset="0"/>
                <a:ea typeface="Calibri" pitchFamily="34" charset="-122"/>
                <a:cs typeface="Calibri" pitchFamily="34" charset="-120"/>
              </a:rPr>
              <a:t>Evaluation across the delivery lifecycle</a:t>
            </a:r>
            <a:endParaRPr lang="en-US" sz="2800"/>
          </a:p>
        </p:txBody>
      </p:sp>
      <p:sp>
        <p:nvSpPr>
          <p:cNvPr id="4" name="Shape 2"/>
          <p:cNvSpPr/>
          <p:nvPr/>
        </p:nvSpPr>
        <p:spPr>
          <a:xfrm>
            <a:off x="457200" y="1225296"/>
            <a:ext cx="731520" cy="0"/>
          </a:xfrm>
          <a:prstGeom prst="line">
            <a:avLst/>
          </a:prstGeom>
          <a:noFill/>
          <a:ln w="25400">
            <a:solidFill>
              <a:srgbClr val="0F6E73"/>
            </a:solidFill>
            <a:prstDash val="solid"/>
          </a:ln>
        </p:spPr>
        <p:txBody>
          <a:bodyPr/>
          <a:lstStyle/>
          <a:p>
            <a:endParaRPr lang="en-US"/>
          </a:p>
        </p:txBody>
      </p:sp>
      <p:sp>
        <p:nvSpPr>
          <p:cNvPr id="5" name="Shape 3"/>
          <p:cNvSpPr/>
          <p:nvPr/>
        </p:nvSpPr>
        <p:spPr>
          <a:xfrm>
            <a:off x="457200" y="1554480"/>
            <a:ext cx="2697480" cy="3017520"/>
          </a:xfrm>
          <a:prstGeom prst="rect">
            <a:avLst/>
          </a:prstGeom>
          <a:solidFill>
            <a:srgbClr val="F4F6F8"/>
          </a:solidFill>
          <a:ln w="9525">
            <a:solidFill>
              <a:srgbClr val="D8DDE2"/>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1577340" y="1783080"/>
            <a:ext cx="457200" cy="457200"/>
          </a:xfrm>
          <a:prstGeom prst="rect">
            <a:avLst/>
          </a:prstGeom>
        </p:spPr>
      </p:pic>
      <p:sp>
        <p:nvSpPr>
          <p:cNvPr id="7" name="Text 4"/>
          <p:cNvSpPr/>
          <p:nvPr/>
        </p:nvSpPr>
        <p:spPr>
          <a:xfrm>
            <a:off x="640080" y="2331720"/>
            <a:ext cx="2331720" cy="365760"/>
          </a:xfrm>
          <a:prstGeom prst="rect">
            <a:avLst/>
          </a:prstGeom>
          <a:noFill/>
          <a:ln/>
        </p:spPr>
        <p:txBody>
          <a:bodyPr wrap="square" lIns="0" tIns="0" rIns="0" bIns="0" rtlCol="0" anchor="ctr"/>
          <a:lstStyle/>
          <a:p>
            <a:pPr marL="0" indent="0" algn="ctr">
              <a:buNone/>
            </a:pPr>
            <a:r>
              <a:rPr lang="en-US" sz="1600" b="1">
                <a:solidFill>
                  <a:srgbClr val="1F2933"/>
                </a:solidFill>
                <a:latin typeface="Calibri" pitchFamily="34" charset="0"/>
                <a:ea typeface="Calibri" pitchFamily="34" charset="-122"/>
                <a:cs typeface="Calibri" pitchFamily="34" charset="-120"/>
              </a:rPr>
              <a:t>Development</a:t>
            </a:r>
            <a:endParaRPr lang="en-US" sz="1600"/>
          </a:p>
        </p:txBody>
      </p:sp>
      <p:sp>
        <p:nvSpPr>
          <p:cNvPr id="8" name="Text 5"/>
          <p:cNvSpPr/>
          <p:nvPr/>
        </p:nvSpPr>
        <p:spPr>
          <a:xfrm>
            <a:off x="731520" y="2788920"/>
            <a:ext cx="2148840" cy="1645920"/>
          </a:xfrm>
          <a:prstGeom prst="rect">
            <a:avLst/>
          </a:prstGeom>
          <a:noFill/>
          <a:ln/>
        </p:spPr>
        <p:txBody>
          <a:bodyPr wrap="square" lIns="0" tIns="0" rIns="0" bIns="0" rtlCol="0" anchor="ctr"/>
          <a:lstStyle/>
          <a:p>
            <a:pPr marL="0" indent="0">
              <a:buNone/>
            </a:pPr>
            <a:r>
              <a:rPr lang="en-US" sz="1150">
                <a:solidFill>
                  <a:srgbClr val="52606D"/>
                </a:solidFill>
                <a:latin typeface="Calibri" pitchFamily="34" charset="0"/>
                <a:ea typeface="Calibri" pitchFamily="34" charset="-122"/>
                <a:cs typeface="Calibri" pitchFamily="34" charset="-120"/>
              </a:rPr>
              <a:t>Fast directional signal. Small dataset (≈10 rows), few evaluators, local execution. Run after each prompt change.</a:t>
            </a:r>
            <a:endParaRPr lang="en-US" sz="1150"/>
          </a:p>
        </p:txBody>
      </p:sp>
      <p:sp>
        <p:nvSpPr>
          <p:cNvPr id="9" name="Shape 6"/>
          <p:cNvSpPr/>
          <p:nvPr/>
        </p:nvSpPr>
        <p:spPr>
          <a:xfrm>
            <a:off x="3154680" y="3063240"/>
            <a:ext cx="68580" cy="0"/>
          </a:xfrm>
          <a:prstGeom prst="line">
            <a:avLst/>
          </a:prstGeom>
          <a:noFill/>
          <a:ln w="25400">
            <a:solidFill>
              <a:srgbClr val="0F6E73"/>
            </a:solidFill>
            <a:prstDash val="solid"/>
            <a:tailEnd type="triangle"/>
          </a:ln>
        </p:spPr>
        <p:txBody>
          <a:bodyPr/>
          <a:lstStyle/>
          <a:p>
            <a:endParaRPr lang="en-US"/>
          </a:p>
        </p:txBody>
      </p:sp>
      <p:sp>
        <p:nvSpPr>
          <p:cNvPr id="10" name="Shape 7"/>
          <p:cNvSpPr/>
          <p:nvPr/>
        </p:nvSpPr>
        <p:spPr>
          <a:xfrm>
            <a:off x="3223260" y="1554480"/>
            <a:ext cx="2697480" cy="3017520"/>
          </a:xfrm>
          <a:prstGeom prst="rect">
            <a:avLst/>
          </a:prstGeom>
          <a:solidFill>
            <a:srgbClr val="F4F6F8"/>
          </a:solidFill>
          <a:ln w="9525">
            <a:solidFill>
              <a:srgbClr val="D8DDE2"/>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4343400" y="1783080"/>
            <a:ext cx="457200" cy="457200"/>
          </a:xfrm>
          <a:prstGeom prst="rect">
            <a:avLst/>
          </a:prstGeom>
        </p:spPr>
      </p:pic>
      <p:sp>
        <p:nvSpPr>
          <p:cNvPr id="12" name="Text 8"/>
          <p:cNvSpPr/>
          <p:nvPr/>
        </p:nvSpPr>
        <p:spPr>
          <a:xfrm>
            <a:off x="3406140" y="2331720"/>
            <a:ext cx="2331720" cy="365760"/>
          </a:xfrm>
          <a:prstGeom prst="rect">
            <a:avLst/>
          </a:prstGeom>
          <a:noFill/>
          <a:ln/>
        </p:spPr>
        <p:txBody>
          <a:bodyPr wrap="square" lIns="0" tIns="0" rIns="0" bIns="0" rtlCol="0" anchor="ctr"/>
          <a:lstStyle/>
          <a:p>
            <a:pPr marL="0" indent="0" algn="ctr">
              <a:buNone/>
            </a:pPr>
            <a:r>
              <a:rPr lang="en-US" sz="1600" b="1">
                <a:solidFill>
                  <a:srgbClr val="1F2933"/>
                </a:solidFill>
                <a:latin typeface="Calibri" pitchFamily="34" charset="0"/>
                <a:ea typeface="Calibri" pitchFamily="34" charset="-122"/>
                <a:cs typeface="Calibri" pitchFamily="34" charset="-120"/>
              </a:rPr>
              <a:t>Test / Staging</a:t>
            </a:r>
            <a:endParaRPr lang="en-US" sz="1600"/>
          </a:p>
        </p:txBody>
      </p:sp>
      <p:sp>
        <p:nvSpPr>
          <p:cNvPr id="13" name="Text 9"/>
          <p:cNvSpPr/>
          <p:nvPr/>
        </p:nvSpPr>
        <p:spPr>
          <a:xfrm>
            <a:off x="3497580" y="2788920"/>
            <a:ext cx="2148840" cy="1645920"/>
          </a:xfrm>
          <a:prstGeom prst="rect">
            <a:avLst/>
          </a:prstGeom>
          <a:noFill/>
          <a:ln/>
        </p:spPr>
        <p:txBody>
          <a:bodyPr wrap="square" lIns="0" tIns="0" rIns="0" bIns="0" rtlCol="0" anchor="ctr"/>
          <a:lstStyle/>
          <a:p>
            <a:pPr marL="0" indent="0">
              <a:buNone/>
            </a:pPr>
            <a:r>
              <a:rPr lang="en-US" sz="1150">
                <a:solidFill>
                  <a:srgbClr val="52606D"/>
                </a:solidFill>
                <a:latin typeface="Calibri" pitchFamily="34" charset="0"/>
                <a:ea typeface="Calibri" pitchFamily="34" charset="-122"/>
                <a:cs typeface="Calibri" pitchFamily="34" charset="-120"/>
              </a:rPr>
              <a:t>Full evaluator suite + full golden dataset on every PR. Automated gates block merges below threshold. Add human review for high-risk apps.</a:t>
            </a:r>
            <a:endParaRPr lang="en-US" sz="1150"/>
          </a:p>
        </p:txBody>
      </p:sp>
      <p:sp>
        <p:nvSpPr>
          <p:cNvPr id="14" name="Shape 10"/>
          <p:cNvSpPr/>
          <p:nvPr/>
        </p:nvSpPr>
        <p:spPr>
          <a:xfrm>
            <a:off x="5920740" y="3063240"/>
            <a:ext cx="68580" cy="0"/>
          </a:xfrm>
          <a:prstGeom prst="line">
            <a:avLst/>
          </a:prstGeom>
          <a:noFill/>
          <a:ln w="25400">
            <a:solidFill>
              <a:srgbClr val="0F6E73"/>
            </a:solidFill>
            <a:prstDash val="solid"/>
            <a:tailEnd type="triangle"/>
          </a:ln>
        </p:spPr>
        <p:txBody>
          <a:bodyPr/>
          <a:lstStyle/>
          <a:p>
            <a:endParaRPr lang="en-US"/>
          </a:p>
        </p:txBody>
      </p:sp>
      <p:sp>
        <p:nvSpPr>
          <p:cNvPr id="15" name="Shape 11"/>
          <p:cNvSpPr/>
          <p:nvPr/>
        </p:nvSpPr>
        <p:spPr>
          <a:xfrm>
            <a:off x="5989320" y="1554480"/>
            <a:ext cx="2697480" cy="3017520"/>
          </a:xfrm>
          <a:prstGeom prst="rect">
            <a:avLst/>
          </a:prstGeom>
          <a:solidFill>
            <a:srgbClr val="F4F6F8"/>
          </a:solidFill>
          <a:ln w="9525">
            <a:solidFill>
              <a:srgbClr val="D8DDE2"/>
            </a:solidFill>
            <a:prstDash val="solid"/>
          </a:ln>
        </p:spPr>
        <p:txBody>
          <a:bodyPr/>
          <a:lstStyle/>
          <a:p>
            <a:endParaRPr lang="en-US"/>
          </a:p>
        </p:txBody>
      </p:sp>
      <p:pic>
        <p:nvPicPr>
          <p:cNvPr id="16" name="Image 2" descr="preencoded.png"/>
          <p:cNvPicPr>
            <a:picLocks noChangeAspect="1"/>
          </p:cNvPicPr>
          <p:nvPr/>
        </p:nvPicPr>
        <p:blipFill>
          <a:blip r:embed="rId5"/>
          <a:stretch>
            <a:fillRect/>
          </a:stretch>
        </p:blipFill>
        <p:spPr>
          <a:xfrm>
            <a:off x="7109460" y="1783080"/>
            <a:ext cx="457200" cy="457200"/>
          </a:xfrm>
          <a:prstGeom prst="rect">
            <a:avLst/>
          </a:prstGeom>
        </p:spPr>
      </p:pic>
      <p:sp>
        <p:nvSpPr>
          <p:cNvPr id="17" name="Text 12"/>
          <p:cNvSpPr/>
          <p:nvPr/>
        </p:nvSpPr>
        <p:spPr>
          <a:xfrm>
            <a:off x="6172200" y="2331720"/>
            <a:ext cx="2331720" cy="365760"/>
          </a:xfrm>
          <a:prstGeom prst="rect">
            <a:avLst/>
          </a:prstGeom>
          <a:noFill/>
          <a:ln/>
        </p:spPr>
        <p:txBody>
          <a:bodyPr wrap="square" lIns="0" tIns="0" rIns="0" bIns="0" rtlCol="0" anchor="ctr"/>
          <a:lstStyle/>
          <a:p>
            <a:pPr marL="0" indent="0" algn="ctr">
              <a:buNone/>
            </a:pPr>
            <a:r>
              <a:rPr lang="en-US" sz="1600" b="1">
                <a:solidFill>
                  <a:srgbClr val="1F2933"/>
                </a:solidFill>
                <a:latin typeface="Calibri" pitchFamily="34" charset="0"/>
                <a:ea typeface="Calibri" pitchFamily="34" charset="-122"/>
                <a:cs typeface="Calibri" pitchFamily="34" charset="-120"/>
              </a:rPr>
              <a:t>Production</a:t>
            </a:r>
            <a:endParaRPr lang="en-US" sz="1600"/>
          </a:p>
        </p:txBody>
      </p:sp>
      <p:sp>
        <p:nvSpPr>
          <p:cNvPr id="18" name="Text 13"/>
          <p:cNvSpPr/>
          <p:nvPr/>
        </p:nvSpPr>
        <p:spPr>
          <a:xfrm>
            <a:off x="6263640" y="2788920"/>
            <a:ext cx="2148840" cy="1645920"/>
          </a:xfrm>
          <a:prstGeom prst="rect">
            <a:avLst/>
          </a:prstGeom>
          <a:noFill/>
          <a:ln/>
        </p:spPr>
        <p:txBody>
          <a:bodyPr wrap="square" lIns="0" tIns="0" rIns="0" bIns="0" rtlCol="0" anchor="ctr"/>
          <a:lstStyle/>
          <a:p>
            <a:pPr marL="0" indent="0">
              <a:buNone/>
            </a:pPr>
            <a:r>
              <a:rPr lang="en-US" sz="1150">
                <a:solidFill>
                  <a:srgbClr val="52606D"/>
                </a:solidFill>
                <a:latin typeface="Calibri" pitchFamily="34" charset="0"/>
                <a:ea typeface="Calibri" pitchFamily="34" charset="-122"/>
                <a:cs typeface="Calibri" pitchFamily="34" charset="-120"/>
              </a:rPr>
              <a:t>Continuous evaluation samples live traffic. Alert on quality drift. Production failures feed back into the golden dataset.</a:t>
            </a:r>
            <a:endParaRPr lang="en-US" sz="1150"/>
          </a:p>
        </p:txBody>
      </p:sp>
      <p:sp>
        <p:nvSpPr>
          <p:cNvPr id="19" name="Text 14"/>
          <p:cNvSpPr/>
          <p:nvPr/>
        </p:nvSpPr>
        <p:spPr>
          <a:xfrm>
            <a:off x="457200" y="4709160"/>
            <a:ext cx="8229600" cy="274320"/>
          </a:xfrm>
          <a:prstGeom prst="rect">
            <a:avLst/>
          </a:prstGeom>
          <a:noFill/>
          <a:ln/>
        </p:spPr>
        <p:txBody>
          <a:bodyPr wrap="square" lIns="0" tIns="0" rIns="0" bIns="0" rtlCol="0" anchor="ctr"/>
          <a:lstStyle/>
          <a:p>
            <a:pPr marL="0" indent="0">
              <a:buNone/>
            </a:pPr>
            <a:r>
              <a:rPr lang="en-US" sz="1100" i="1">
                <a:solidFill>
                  <a:srgbClr val="1F2933"/>
                </a:solidFill>
                <a:latin typeface="Calibri" pitchFamily="34" charset="0"/>
                <a:ea typeface="Calibri" pitchFamily="34" charset="-122"/>
                <a:cs typeface="Calibri" pitchFamily="34" charset="-120"/>
              </a:rPr>
              <a:t>The feedback loop: production findings → new golden dataset entries → tomorrow's regression tests.</a:t>
            </a:r>
            <a:endParaRPr lang="en-US" sz="1100"/>
          </a:p>
        </p:txBody>
      </p:sp>
      <p:sp>
        <p:nvSpPr>
          <p:cNvPr id="20" name="Text 15"/>
          <p:cNvSpPr/>
          <p:nvPr/>
        </p:nvSpPr>
        <p:spPr>
          <a:xfrm>
            <a:off x="457200" y="4823460"/>
            <a:ext cx="5486400" cy="228600"/>
          </a:xfrm>
          <a:prstGeom prst="rect">
            <a:avLst/>
          </a:prstGeom>
          <a:noFill/>
          <a:ln/>
        </p:spPr>
        <p:txBody>
          <a:bodyPr wrap="square" lIns="0" tIns="0" rIns="0" bIns="0" rtlCol="0" anchor="ctr"/>
          <a:lstStyle/>
          <a:p>
            <a:pPr marL="0" indent="0">
              <a:buNone/>
            </a:pPr>
            <a:r>
              <a:rPr lang="en-US" sz="900">
                <a:solidFill>
                  <a:srgbClr val="52606D"/>
                </a:solidFill>
                <a:latin typeface="Calibri" pitchFamily="34" charset="0"/>
                <a:ea typeface="Calibri" pitchFamily="34" charset="-122"/>
                <a:cs typeface="Calibri" pitchFamily="34" charset="-120"/>
              </a:rPr>
              <a:t>AI Evaluations  ·  Microsoft Agent Framework</a:t>
            </a:r>
            <a:endParaRPr lang="en-US" sz="900"/>
          </a:p>
        </p:txBody>
      </p:sp>
      <p:sp>
        <p:nvSpPr>
          <p:cNvPr id="21" name="Text 16"/>
          <p:cNvSpPr/>
          <p:nvPr/>
        </p:nvSpPr>
        <p:spPr>
          <a:xfrm>
            <a:off x="8046720" y="4823460"/>
            <a:ext cx="640080" cy="228600"/>
          </a:xfrm>
          <a:prstGeom prst="rect">
            <a:avLst/>
          </a:prstGeom>
          <a:noFill/>
          <a:ln/>
        </p:spPr>
        <p:txBody>
          <a:bodyPr wrap="square" lIns="0" tIns="0" rIns="0" bIns="0" rtlCol="0" anchor="ctr"/>
          <a:lstStyle/>
          <a:p>
            <a:pPr marL="0" indent="0" algn="r">
              <a:buNone/>
            </a:pPr>
            <a:r>
              <a:rPr lang="en-US" sz="900">
                <a:solidFill>
                  <a:srgbClr val="52606D"/>
                </a:solidFill>
                <a:latin typeface="Calibri" pitchFamily="34" charset="0"/>
                <a:ea typeface="Calibri" pitchFamily="34" charset="-122"/>
                <a:cs typeface="Calibri" pitchFamily="34" charset="-120"/>
              </a:rPr>
              <a:t>14 / 19</a:t>
            </a:r>
            <a:endParaRPr lang="en-US" sz="9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7" name="Rectangle 1076">
            <a:extLst>
              <a:ext uri="{FF2B5EF4-FFF2-40B4-BE49-F238E27FC236}">
                <a16:creationId xmlns:a16="http://schemas.microsoft.com/office/drawing/2014/main" id="{8E77D0DD-D9BD-9D87-5221-E125F0887D9B}"/>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b="1" spc="400">
                <a:solidFill>
                  <a:srgbClr val="0F6E73"/>
                </a:solidFill>
                <a:effectLst/>
                <a:latin typeface="Calibri" panose="020F0502020204030204" pitchFamily="34" charset="0"/>
              </a:rPr>
              <a:t>EVALUATE ON EVERY PUSH</a:t>
            </a:r>
          </a:p>
          <a:p>
            <a:pPr algn="l">
              <a:buNone/>
            </a:pPr>
            <a:r>
              <a:rPr lang="en-US" sz="100">
                <a:effectLst/>
              </a:rPr>
              <a:t> </a:t>
            </a:r>
            <a:endParaRPr lang="en-US"/>
          </a:p>
        </p:txBody>
      </p:sp>
      <p:sp>
        <p:nvSpPr>
          <p:cNvPr id="1079" name="Rectangle 1078">
            <a:extLst>
              <a:ext uri="{FF2B5EF4-FFF2-40B4-BE49-F238E27FC236}">
                <a16:creationId xmlns:a16="http://schemas.microsoft.com/office/drawing/2014/main" id="{BDF43030-049D-1BEA-5356-F4F6C77B998C}"/>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GitHub Actions (preview)</a:t>
            </a:r>
          </a:p>
          <a:p>
            <a:pPr algn="l">
              <a:buNone/>
            </a:pPr>
            <a:r>
              <a:rPr lang="en-US" sz="100">
                <a:effectLst/>
              </a:rPr>
              <a:t> </a:t>
            </a:r>
            <a:endParaRPr lang="en-US"/>
          </a:p>
        </p:txBody>
      </p:sp>
      <p:sp>
        <p:nvSpPr>
          <p:cNvPr id="1082" name="Rectangle 1081">
            <a:extLst>
              <a:ext uri="{FF2B5EF4-FFF2-40B4-BE49-F238E27FC236}">
                <a16:creationId xmlns:a16="http://schemas.microsoft.com/office/drawing/2014/main" id="{0D1E52B2-A737-0AC2-4DBF-1511977CF77C}"/>
              </a:ext>
            </a:extLst>
          </p:cNvPr>
          <p:cNvSpPr/>
          <p:nvPr/>
        </p:nvSpPr>
        <p:spPr>
          <a:xfrm>
            <a:off x="457200" y="1225296"/>
            <a:ext cx="731520" cy="25400"/>
          </a:xfrm>
          <a:prstGeom prst="rect">
            <a:avLst/>
          </a:prstGeom>
          <a:solidFill>
            <a:srgbClr val="0F6E7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6" name="Rectangle 1085">
            <a:extLst>
              <a:ext uri="{FF2B5EF4-FFF2-40B4-BE49-F238E27FC236}">
                <a16:creationId xmlns:a16="http://schemas.microsoft.com/office/drawing/2014/main" id="{D0AEA581-F8FC-6906-337D-CB4C78A1B1B2}"/>
              </a:ext>
            </a:extLst>
          </p:cNvPr>
          <p:cNvSpPr/>
          <p:nvPr/>
        </p:nvSpPr>
        <p:spPr>
          <a:xfrm>
            <a:off x="365760" y="1417320"/>
            <a:ext cx="84124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Offline evaluation of Foundry agents inside your CI/CD workflow — catch regressions before an agent update reaches production.</a:t>
            </a:r>
          </a:p>
          <a:p>
            <a:pPr algn="l">
              <a:buNone/>
            </a:pPr>
            <a:r>
              <a:rPr lang="en-US" sz="100">
                <a:effectLst/>
              </a:rPr>
              <a:t> </a:t>
            </a:r>
            <a:endParaRPr lang="en-US"/>
          </a:p>
        </p:txBody>
      </p:sp>
      <p:sp>
        <p:nvSpPr>
          <p:cNvPr id="1091" name="Rectangle 1090">
            <a:extLst>
              <a:ext uri="{FF2B5EF4-FFF2-40B4-BE49-F238E27FC236}">
                <a16:creationId xmlns:a16="http://schemas.microsoft.com/office/drawing/2014/main" id="{0711F8CF-68FC-CCBD-CD56-9F6E1658A2D2}"/>
              </a:ext>
            </a:extLst>
          </p:cNvPr>
          <p:cNvSpPr/>
          <p:nvPr/>
        </p:nvSpPr>
        <p:spPr>
          <a:xfrm>
            <a:off x="457200" y="1965960"/>
            <a:ext cx="8229600" cy="1280160"/>
          </a:xfrm>
          <a:prstGeom prst="rect">
            <a:avLst/>
          </a:prstGeom>
          <a:solidFill>
            <a:srgbClr val="F4F6F8"/>
          </a:solidFill>
          <a:ln w="9525">
            <a:solidFill>
              <a:srgbClr val="D8DDE2"/>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7" name="Rectangle 1096">
            <a:extLst>
              <a:ext uri="{FF2B5EF4-FFF2-40B4-BE49-F238E27FC236}">
                <a16:creationId xmlns:a16="http://schemas.microsoft.com/office/drawing/2014/main" id="{ABF10CC6-A7C0-93D2-C9B0-33070A80CFC7}"/>
              </a:ext>
            </a:extLst>
          </p:cNvPr>
          <p:cNvSpPr/>
          <p:nvPr/>
        </p:nvSpPr>
        <p:spPr>
          <a:xfrm>
            <a:off x="594360" y="2072640"/>
            <a:ext cx="795528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0F6E73"/>
                </a:solidFill>
                <a:effectLst/>
                <a:latin typeface="Consolas" panose="020B0609020204030204" pitchFamily="49" charset="0"/>
              </a:rPr>
              <a:t>- uses: azure/login@v2</a:t>
            </a:r>
          </a:p>
          <a:p>
            <a:pPr algn="l">
              <a:buNone/>
            </a:pPr>
            <a:r>
              <a:rPr lang="en-US" sz="1000">
                <a:solidFill>
                  <a:srgbClr val="0F6E73"/>
                </a:solidFill>
                <a:effectLst/>
                <a:latin typeface="Consolas" panose="020B0609020204030204" pitchFamily="49" charset="0"/>
              </a:rPr>
              <a:t>- uses: microsoft/ai-agent-evals@v3-beta</a:t>
            </a:r>
          </a:p>
          <a:p>
            <a:pPr algn="l">
              <a:buNone/>
            </a:pPr>
            <a:r>
              <a:rPr lang="en-US" sz="1000">
                <a:solidFill>
                  <a:srgbClr val="52606D"/>
                </a:solidFill>
                <a:effectLst/>
                <a:latin typeface="Consolas" panose="020B0609020204030204" pitchFamily="49" charset="0"/>
              </a:rPr>
              <a:t>  with:</a:t>
            </a:r>
          </a:p>
          <a:p>
            <a:pPr algn="l">
              <a:buNone/>
            </a:pPr>
            <a:r>
              <a:rPr lang="en-US" sz="1000">
                <a:solidFill>
                  <a:srgbClr val="1F2933"/>
                </a:solidFill>
                <a:effectLst/>
                <a:latin typeface="Consolas" panose="020B0609020204030204" pitchFamily="49" charset="0"/>
              </a:rPr>
              <a:t>    azure-ai-project-endpoint: &lt;your-project-endpoint&gt;</a:t>
            </a:r>
          </a:p>
          <a:p>
            <a:pPr algn="l">
              <a:buNone/>
            </a:pPr>
            <a:r>
              <a:rPr lang="en-US" sz="1000">
                <a:solidFill>
                  <a:srgbClr val="1F2933"/>
                </a:solidFill>
                <a:effectLst/>
                <a:latin typeface="Consolas" panose="020B0609020204030204" pitchFamily="49" charset="0"/>
              </a:rPr>
              <a:t>    deployment-name: &lt;your-deployment-name&gt;</a:t>
            </a:r>
          </a:p>
          <a:p>
            <a:pPr algn="l">
              <a:buNone/>
            </a:pPr>
            <a:r>
              <a:rPr lang="en-US" sz="1000">
                <a:solidFill>
                  <a:srgbClr val="1F2933"/>
                </a:solidFill>
                <a:effectLst/>
                <a:latin typeface="Consolas" panose="020B0609020204030204" pitchFamily="49" charset="0"/>
              </a:rPr>
              <a:t>    agent-ids: my-agent:1,my-agent:2</a:t>
            </a:r>
          </a:p>
          <a:p>
            <a:pPr algn="l">
              <a:buNone/>
            </a:pPr>
            <a:r>
              <a:rPr lang="en-US" sz="1000">
                <a:solidFill>
                  <a:srgbClr val="1F2933"/>
                </a:solidFill>
                <a:effectLst/>
                <a:latin typeface="Consolas" panose="020B0609020204030204" pitchFamily="49" charset="0"/>
              </a:rPr>
              <a:t>    data-path: ${{ github.workspace }}/eval/dataset.json</a:t>
            </a:r>
            <a:endParaRPr lang="en-US"/>
          </a:p>
        </p:txBody>
      </p:sp>
      <p:sp>
        <p:nvSpPr>
          <p:cNvPr id="1104" name="Rectangle 1103">
            <a:extLst>
              <a:ext uri="{FF2B5EF4-FFF2-40B4-BE49-F238E27FC236}">
                <a16:creationId xmlns:a16="http://schemas.microsoft.com/office/drawing/2014/main" id="{005F4686-42C2-1CEC-2A79-1D7EAB9C676D}"/>
              </a:ext>
            </a:extLst>
          </p:cNvPr>
          <p:cNvSpPr/>
          <p:nvPr/>
        </p:nvSpPr>
        <p:spPr>
          <a:xfrm>
            <a:off x="457200" y="3337560"/>
            <a:ext cx="2651760" cy="1051560"/>
          </a:xfrm>
          <a:prstGeom prst="rect">
            <a:avLst/>
          </a:prstGeom>
          <a:solidFill>
            <a:srgbClr val="FFFFFF"/>
          </a:solidFill>
          <a:ln w="9525">
            <a:solidFill>
              <a:srgbClr val="D8DDE2"/>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2" name="Rectangle 1111">
            <a:extLst>
              <a:ext uri="{FF2B5EF4-FFF2-40B4-BE49-F238E27FC236}">
                <a16:creationId xmlns:a16="http://schemas.microsoft.com/office/drawing/2014/main" id="{721E2D65-1A59-32C6-F697-3096EB5BA703}"/>
              </a:ext>
            </a:extLst>
          </p:cNvPr>
          <p:cNvSpPr/>
          <p:nvPr/>
        </p:nvSpPr>
        <p:spPr>
          <a:xfrm>
            <a:off x="548640" y="3429000"/>
            <a:ext cx="24688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What you supply</a:t>
            </a:r>
          </a:p>
          <a:p>
            <a:pPr algn="l">
              <a:buNone/>
            </a:pPr>
            <a:r>
              <a:rPr lang="en-US" sz="100">
                <a:effectLst/>
              </a:rPr>
              <a:t> </a:t>
            </a:r>
            <a:endParaRPr lang="en-US"/>
          </a:p>
        </p:txBody>
      </p:sp>
      <p:sp>
        <p:nvSpPr>
          <p:cNvPr id="1121" name="Rectangle 1120">
            <a:extLst>
              <a:ext uri="{FF2B5EF4-FFF2-40B4-BE49-F238E27FC236}">
                <a16:creationId xmlns:a16="http://schemas.microsoft.com/office/drawing/2014/main" id="{9ADC1075-D80F-81B6-08B1-C22264373BE8}"/>
              </a:ext>
            </a:extLst>
          </p:cNvPr>
          <p:cNvSpPr/>
          <p:nvPr/>
        </p:nvSpPr>
        <p:spPr>
          <a:xfrm>
            <a:off x="548640" y="3657600"/>
            <a:ext cx="2468880" cy="2057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A JSON dataset of queries</a:t>
            </a:r>
          </a:p>
          <a:p>
            <a:pPr algn="l">
              <a:buNone/>
            </a:pPr>
            <a:r>
              <a:rPr lang="en-US" sz="100">
                <a:effectLst/>
              </a:rPr>
              <a:t> </a:t>
            </a:r>
            <a:endParaRPr lang="en-US"/>
          </a:p>
        </p:txBody>
      </p:sp>
      <p:sp>
        <p:nvSpPr>
          <p:cNvPr id="1131" name="Rectangle 1130">
            <a:extLst>
              <a:ext uri="{FF2B5EF4-FFF2-40B4-BE49-F238E27FC236}">
                <a16:creationId xmlns:a16="http://schemas.microsoft.com/office/drawing/2014/main" id="{2BE43E4C-453A-697E-A139-AB1B2015DB95}"/>
              </a:ext>
            </a:extLst>
          </p:cNvPr>
          <p:cNvSpPr/>
          <p:nvPr/>
        </p:nvSpPr>
        <p:spPr>
          <a:xfrm>
            <a:off x="548640" y="3863340"/>
            <a:ext cx="2468880" cy="42001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Evaluator names</a:t>
            </a:r>
          </a:p>
          <a:p>
            <a:pPr algn="l">
              <a:buNone/>
            </a:pPr>
            <a:r>
              <a:rPr lang="en-US" sz="100">
                <a:effectLst/>
              </a:rPr>
              <a:t> </a:t>
            </a:r>
            <a:endParaRPr lang="en-US"/>
          </a:p>
        </p:txBody>
      </p:sp>
      <p:sp>
        <p:nvSpPr>
          <p:cNvPr id="1142" name="Rectangle 1141">
            <a:extLst>
              <a:ext uri="{FF2B5EF4-FFF2-40B4-BE49-F238E27FC236}">
                <a16:creationId xmlns:a16="http://schemas.microsoft.com/office/drawing/2014/main" id="{F1F4836D-A4EA-D661-399E-EC4DFA4EAF3F}"/>
              </a:ext>
            </a:extLst>
          </p:cNvPr>
          <p:cNvSpPr/>
          <p:nvPr/>
        </p:nvSpPr>
        <p:spPr>
          <a:xfrm>
            <a:off x="548640" y="4069080"/>
            <a:ext cx="246888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Agent IDs (name:version)</a:t>
            </a:r>
          </a:p>
          <a:p>
            <a:pPr algn="l">
              <a:buNone/>
            </a:pPr>
            <a:r>
              <a:rPr lang="en-US" sz="100">
                <a:effectLst/>
              </a:rPr>
              <a:t> </a:t>
            </a:r>
            <a:endParaRPr lang="en-US"/>
          </a:p>
        </p:txBody>
      </p:sp>
      <p:sp>
        <p:nvSpPr>
          <p:cNvPr id="1154" name="Rectangle 1153">
            <a:extLst>
              <a:ext uri="{FF2B5EF4-FFF2-40B4-BE49-F238E27FC236}">
                <a16:creationId xmlns:a16="http://schemas.microsoft.com/office/drawing/2014/main" id="{E023D05D-5B1F-4325-0DC5-FFCDAB7457BF}"/>
              </a:ext>
            </a:extLst>
          </p:cNvPr>
          <p:cNvSpPr/>
          <p:nvPr/>
        </p:nvSpPr>
        <p:spPr>
          <a:xfrm>
            <a:off x="3246120" y="3337560"/>
            <a:ext cx="2651760" cy="1051560"/>
          </a:xfrm>
          <a:prstGeom prst="rect">
            <a:avLst/>
          </a:prstGeom>
          <a:solidFill>
            <a:srgbClr val="FFFFFF"/>
          </a:solidFill>
          <a:ln w="9525">
            <a:solidFill>
              <a:srgbClr val="D8DDE2"/>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67" name="Rectangle 1166">
            <a:extLst>
              <a:ext uri="{FF2B5EF4-FFF2-40B4-BE49-F238E27FC236}">
                <a16:creationId xmlns:a16="http://schemas.microsoft.com/office/drawing/2014/main" id="{45C68095-9F3D-1D53-086D-E72806ABE61C}"/>
              </a:ext>
            </a:extLst>
          </p:cNvPr>
          <p:cNvSpPr/>
          <p:nvPr/>
        </p:nvSpPr>
        <p:spPr>
          <a:xfrm>
            <a:off x="3337560" y="3429000"/>
            <a:ext cx="24688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How it authenticates</a:t>
            </a:r>
          </a:p>
          <a:p>
            <a:pPr algn="l">
              <a:buNone/>
            </a:pPr>
            <a:r>
              <a:rPr lang="en-US" sz="100">
                <a:effectLst/>
              </a:rPr>
              <a:t> </a:t>
            </a:r>
            <a:endParaRPr lang="en-US"/>
          </a:p>
        </p:txBody>
      </p:sp>
      <p:sp>
        <p:nvSpPr>
          <p:cNvPr id="1181" name="Rectangle 1180">
            <a:extLst>
              <a:ext uri="{FF2B5EF4-FFF2-40B4-BE49-F238E27FC236}">
                <a16:creationId xmlns:a16="http://schemas.microsoft.com/office/drawing/2014/main" id="{D5E508DD-3002-5523-8463-53C207D952ED}"/>
              </a:ext>
            </a:extLst>
          </p:cNvPr>
          <p:cNvSpPr/>
          <p:nvPr/>
        </p:nvSpPr>
        <p:spPr>
          <a:xfrm>
            <a:off x="3337560" y="3657600"/>
            <a:ext cx="2468880" cy="2057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Microsoft Entra ID</a:t>
            </a:r>
          </a:p>
          <a:p>
            <a:pPr algn="l">
              <a:buNone/>
            </a:pPr>
            <a:r>
              <a:rPr lang="en-US" sz="100">
                <a:effectLst/>
              </a:rPr>
              <a:t> </a:t>
            </a:r>
            <a:endParaRPr lang="en-US"/>
          </a:p>
        </p:txBody>
      </p:sp>
      <p:sp>
        <p:nvSpPr>
          <p:cNvPr id="1196" name="Rectangle 1195">
            <a:extLst>
              <a:ext uri="{FF2B5EF4-FFF2-40B4-BE49-F238E27FC236}">
                <a16:creationId xmlns:a16="http://schemas.microsoft.com/office/drawing/2014/main" id="{9F6DDDCB-E77E-0082-3056-AFEA3DFA44CE}"/>
              </a:ext>
            </a:extLst>
          </p:cNvPr>
          <p:cNvSpPr/>
          <p:nvPr/>
        </p:nvSpPr>
        <p:spPr>
          <a:xfrm>
            <a:off x="3337560" y="3863340"/>
            <a:ext cx="2468880" cy="42001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Azure Login action</a:t>
            </a:r>
          </a:p>
          <a:p>
            <a:pPr algn="l">
              <a:buNone/>
            </a:pPr>
            <a:r>
              <a:rPr lang="en-US" sz="100">
                <a:effectLst/>
              </a:rPr>
              <a:t> </a:t>
            </a:r>
            <a:endParaRPr lang="en-US"/>
          </a:p>
        </p:txBody>
      </p:sp>
      <p:sp>
        <p:nvSpPr>
          <p:cNvPr id="1212" name="Rectangle 1211">
            <a:extLst>
              <a:ext uri="{FF2B5EF4-FFF2-40B4-BE49-F238E27FC236}">
                <a16:creationId xmlns:a16="http://schemas.microsoft.com/office/drawing/2014/main" id="{57A9DC95-3793-0A4B-FFD1-A2963887CE41}"/>
              </a:ext>
            </a:extLst>
          </p:cNvPr>
          <p:cNvSpPr/>
          <p:nvPr/>
        </p:nvSpPr>
        <p:spPr>
          <a:xfrm>
            <a:off x="3337560" y="4069080"/>
            <a:ext cx="246888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OpenID Connect federation</a:t>
            </a:r>
          </a:p>
          <a:p>
            <a:pPr algn="l">
              <a:buNone/>
            </a:pPr>
            <a:r>
              <a:rPr lang="en-US" sz="100">
                <a:effectLst/>
              </a:rPr>
              <a:t> </a:t>
            </a:r>
            <a:endParaRPr lang="en-US"/>
          </a:p>
        </p:txBody>
      </p:sp>
      <p:sp>
        <p:nvSpPr>
          <p:cNvPr id="1229" name="Rectangle 1228">
            <a:extLst>
              <a:ext uri="{FF2B5EF4-FFF2-40B4-BE49-F238E27FC236}">
                <a16:creationId xmlns:a16="http://schemas.microsoft.com/office/drawing/2014/main" id="{6F8365B1-D13A-A8AA-4A0F-BD7FEA9FC051}"/>
              </a:ext>
            </a:extLst>
          </p:cNvPr>
          <p:cNvSpPr/>
          <p:nvPr/>
        </p:nvSpPr>
        <p:spPr>
          <a:xfrm>
            <a:off x="6035040" y="3337560"/>
            <a:ext cx="2651760" cy="1051560"/>
          </a:xfrm>
          <a:prstGeom prst="rect">
            <a:avLst/>
          </a:prstGeom>
          <a:solidFill>
            <a:srgbClr val="FFFFFF"/>
          </a:solidFill>
          <a:ln w="9525">
            <a:solidFill>
              <a:srgbClr val="D8DDE2"/>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7" name="Rectangle 1246">
            <a:extLst>
              <a:ext uri="{FF2B5EF4-FFF2-40B4-BE49-F238E27FC236}">
                <a16:creationId xmlns:a16="http://schemas.microsoft.com/office/drawing/2014/main" id="{CAA6ADF1-ED71-6DFB-98A9-ED160E7DBD7E}"/>
              </a:ext>
            </a:extLst>
          </p:cNvPr>
          <p:cNvSpPr/>
          <p:nvPr/>
        </p:nvSpPr>
        <p:spPr>
          <a:xfrm>
            <a:off x="6126480" y="3429000"/>
            <a:ext cx="24688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What you get back</a:t>
            </a:r>
          </a:p>
          <a:p>
            <a:pPr algn="l">
              <a:buNone/>
            </a:pPr>
            <a:r>
              <a:rPr lang="en-US" sz="100">
                <a:effectLst/>
              </a:rPr>
              <a:t> </a:t>
            </a:r>
            <a:endParaRPr lang="en-US"/>
          </a:p>
        </p:txBody>
      </p:sp>
      <p:sp>
        <p:nvSpPr>
          <p:cNvPr id="1266" name="Rectangle 1265">
            <a:extLst>
              <a:ext uri="{FF2B5EF4-FFF2-40B4-BE49-F238E27FC236}">
                <a16:creationId xmlns:a16="http://schemas.microsoft.com/office/drawing/2014/main" id="{6B81E1C2-B85B-C9DE-D638-B7A20999158D}"/>
              </a:ext>
            </a:extLst>
          </p:cNvPr>
          <p:cNvSpPr/>
          <p:nvPr/>
        </p:nvSpPr>
        <p:spPr>
          <a:xfrm>
            <a:off x="6126480" y="3657600"/>
            <a:ext cx="2468880" cy="2057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1F2933"/>
                </a:solidFill>
                <a:effectLst/>
                <a:latin typeface="Calibri" panose="020F0502020204030204" pitchFamily="34" charset="0"/>
              </a:rPr>
              <a:t>Scores for each metric</a:t>
            </a:r>
          </a:p>
          <a:p>
            <a:pPr algn="l">
              <a:buNone/>
            </a:pPr>
            <a:r>
              <a:rPr lang="en-US" sz="100">
                <a:effectLst/>
              </a:rPr>
              <a:t> </a:t>
            </a:r>
            <a:endParaRPr lang="en-US"/>
          </a:p>
        </p:txBody>
      </p:sp>
      <p:sp>
        <p:nvSpPr>
          <p:cNvPr id="1286" name="Rectangle 1285">
            <a:extLst>
              <a:ext uri="{FF2B5EF4-FFF2-40B4-BE49-F238E27FC236}">
                <a16:creationId xmlns:a16="http://schemas.microsoft.com/office/drawing/2014/main" id="{203C5BFE-AF2A-9DA3-9ACF-8D167C9094EE}"/>
              </a:ext>
            </a:extLst>
          </p:cNvPr>
          <p:cNvSpPr/>
          <p:nvPr/>
        </p:nvSpPr>
        <p:spPr>
          <a:xfrm>
            <a:off x="6126480" y="3863340"/>
            <a:ext cx="2468880" cy="42001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Confidence intervals</a:t>
            </a:r>
          </a:p>
          <a:p>
            <a:pPr algn="l">
              <a:buNone/>
            </a:pPr>
            <a:r>
              <a:rPr lang="en-US" sz="100">
                <a:effectLst/>
              </a:rPr>
              <a:t> </a:t>
            </a:r>
            <a:endParaRPr lang="en-US"/>
          </a:p>
        </p:txBody>
      </p:sp>
      <p:sp>
        <p:nvSpPr>
          <p:cNvPr id="1307" name="Rectangle 1306">
            <a:extLst>
              <a:ext uri="{FF2B5EF4-FFF2-40B4-BE49-F238E27FC236}">
                <a16:creationId xmlns:a16="http://schemas.microsoft.com/office/drawing/2014/main" id="{5F087C81-0B8F-13F5-6F18-9FA518AD9279}"/>
              </a:ext>
            </a:extLst>
          </p:cNvPr>
          <p:cNvSpPr/>
          <p:nvPr/>
        </p:nvSpPr>
        <p:spPr>
          <a:xfrm>
            <a:off x="6126480" y="4069080"/>
            <a:ext cx="246888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Pairwise statistical test</a:t>
            </a:r>
          </a:p>
          <a:p>
            <a:pPr algn="l">
              <a:buNone/>
            </a:pPr>
            <a:r>
              <a:rPr lang="en-US" sz="100">
                <a:effectLst/>
              </a:rPr>
              <a:t> </a:t>
            </a:r>
            <a:endParaRPr lang="en-US"/>
          </a:p>
        </p:txBody>
      </p:sp>
      <p:sp>
        <p:nvSpPr>
          <p:cNvPr id="1329" name="Rectangle 1328">
            <a:extLst>
              <a:ext uri="{FF2B5EF4-FFF2-40B4-BE49-F238E27FC236}">
                <a16:creationId xmlns:a16="http://schemas.microsoft.com/office/drawing/2014/main" id="{9D0C93F5-ABE9-45A1-6755-612AF3CFF672}"/>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i="1">
                <a:solidFill>
                  <a:srgbClr val="52606D"/>
                </a:solidFill>
                <a:effectLst/>
                <a:latin typeface="Calibri" panose="020F0502020204030204" pitchFamily="34" charset="0"/>
              </a:rPr>
              <a:t>Preview. To minimize costs, don't run evaluation on every commit — trigger it on PRs to main.</a:t>
            </a:r>
          </a:p>
          <a:p>
            <a:pPr algn="l">
              <a:buNone/>
            </a:pPr>
            <a:r>
              <a:rPr lang="en-US" sz="100">
                <a:effectLst/>
              </a:rPr>
              <a:t> </a:t>
            </a:r>
            <a:endParaRPr lang="en-US"/>
          </a:p>
        </p:txBody>
      </p:sp>
      <p:sp>
        <p:nvSpPr>
          <p:cNvPr id="1352" name="Rectangle 1351">
            <a:extLst>
              <a:ext uri="{FF2B5EF4-FFF2-40B4-BE49-F238E27FC236}">
                <a16:creationId xmlns:a16="http://schemas.microsoft.com/office/drawing/2014/main" id="{5A703BEA-4E91-89CD-5CBB-122C83BC1980}"/>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a:solidFill>
                  <a:srgbClr val="52606D"/>
                </a:solidFill>
                <a:effectLst/>
                <a:latin typeface="Calibri" panose="020F0502020204030204" pitchFamily="34" charset="0"/>
              </a:rPr>
              <a:t>AI Evaluations  ·  Microsoft Agent Framework</a:t>
            </a:r>
          </a:p>
          <a:p>
            <a:pPr algn="l">
              <a:buNone/>
            </a:pPr>
            <a:r>
              <a:rPr lang="en-US" sz="100">
                <a:effectLst/>
              </a:rPr>
              <a:t> </a:t>
            </a:r>
            <a:endParaRPr lang="en-US"/>
          </a:p>
        </p:txBody>
      </p:sp>
      <p:sp>
        <p:nvSpPr>
          <p:cNvPr id="1376" name="Rectangle 1375">
            <a:extLst>
              <a:ext uri="{FF2B5EF4-FFF2-40B4-BE49-F238E27FC236}">
                <a16:creationId xmlns:a16="http://schemas.microsoft.com/office/drawing/2014/main" id="{C7A3CC7B-630D-EC1E-F6D4-3F55853F6CFD}"/>
              </a:ext>
            </a:extLst>
          </p:cNvPr>
          <p:cNvSpPr/>
          <p:nvPr/>
        </p:nvSpPr>
        <p:spPr>
          <a:xfrm>
            <a:off x="7955280" y="4823460"/>
            <a:ext cx="8229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900">
                <a:solidFill>
                  <a:srgbClr val="52606D"/>
                </a:solidFill>
                <a:effectLst/>
                <a:latin typeface="Calibri" panose="020F0502020204030204" pitchFamily="34" charset="0"/>
              </a:rPr>
              <a:t>15 / 19</a:t>
            </a:r>
          </a:p>
          <a:p>
            <a:pPr algn="r">
              <a:buNone/>
            </a:pPr>
            <a:r>
              <a:rPr lang="en-US" sz="100">
                <a:effectLst/>
              </a:rPr>
              <a:t> </a:t>
            </a:r>
            <a:endParaRPr lang="en-US"/>
          </a:p>
        </p:txBody>
      </p:sp>
    </p:spTree>
    <p:extLst>
      <p:ext uri="{BB962C8B-B14F-4D97-AF65-F5344CB8AC3E}">
        <p14:creationId xmlns:p14="http://schemas.microsoft.com/office/powerpoint/2010/main" val="37268341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7" name="Rectangle 1376">
            <a:extLst>
              <a:ext uri="{FF2B5EF4-FFF2-40B4-BE49-F238E27FC236}">
                <a16:creationId xmlns:a16="http://schemas.microsoft.com/office/drawing/2014/main" id="{C04791FD-ABB7-1F94-7BD9-A953B157C6D5}"/>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b="1" spc="400">
                <a:solidFill>
                  <a:srgbClr val="0F6E73"/>
                </a:solidFill>
                <a:effectLst/>
                <a:latin typeface="Calibri" panose="020F0502020204030204" pitchFamily="34" charset="0"/>
              </a:rPr>
              <a:t>THE SAME GATE IN AZURE PIPELINES</a:t>
            </a:r>
          </a:p>
          <a:p>
            <a:pPr algn="l">
              <a:buNone/>
            </a:pPr>
            <a:r>
              <a:rPr lang="en-US" sz="100">
                <a:effectLst/>
              </a:rPr>
              <a:t> </a:t>
            </a:r>
            <a:endParaRPr lang="en-US"/>
          </a:p>
        </p:txBody>
      </p:sp>
      <p:sp>
        <p:nvSpPr>
          <p:cNvPr id="1379" name="Rectangle 1378">
            <a:extLst>
              <a:ext uri="{FF2B5EF4-FFF2-40B4-BE49-F238E27FC236}">
                <a16:creationId xmlns:a16="http://schemas.microsoft.com/office/drawing/2014/main" id="{664C71C4-86BD-4C5D-EE73-56AC005DF0C3}"/>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Azure DevOps (preview)</a:t>
            </a:r>
          </a:p>
          <a:p>
            <a:pPr algn="l">
              <a:buNone/>
            </a:pPr>
            <a:r>
              <a:rPr lang="en-US" sz="100">
                <a:effectLst/>
              </a:rPr>
              <a:t> </a:t>
            </a:r>
            <a:endParaRPr lang="en-US"/>
          </a:p>
        </p:txBody>
      </p:sp>
      <p:sp>
        <p:nvSpPr>
          <p:cNvPr id="1382" name="Rectangle 1381">
            <a:extLst>
              <a:ext uri="{FF2B5EF4-FFF2-40B4-BE49-F238E27FC236}">
                <a16:creationId xmlns:a16="http://schemas.microsoft.com/office/drawing/2014/main" id="{13FD903A-93DD-CA70-1F4C-22A6285862F1}"/>
              </a:ext>
            </a:extLst>
          </p:cNvPr>
          <p:cNvSpPr/>
          <p:nvPr/>
        </p:nvSpPr>
        <p:spPr>
          <a:xfrm>
            <a:off x="457200" y="1225296"/>
            <a:ext cx="731520" cy="25400"/>
          </a:xfrm>
          <a:prstGeom prst="rect">
            <a:avLst/>
          </a:prstGeom>
          <a:solidFill>
            <a:srgbClr val="0F6E7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6" name="Rectangle 1385">
            <a:extLst>
              <a:ext uri="{FF2B5EF4-FFF2-40B4-BE49-F238E27FC236}">
                <a16:creationId xmlns:a16="http://schemas.microsoft.com/office/drawing/2014/main" id="{6196C247-EB0C-FBCA-5455-F3A985E80693}"/>
              </a:ext>
            </a:extLst>
          </p:cNvPr>
          <p:cNvSpPr/>
          <p:nvPr/>
        </p:nvSpPr>
        <p:spPr>
          <a:xfrm>
            <a:off x="365760" y="141732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The same offline agent evaluation, delivered as an Azure Pipelines task instead of a workflow action.</a:t>
            </a:r>
          </a:p>
          <a:p>
            <a:pPr algn="l">
              <a:buNone/>
            </a:pPr>
            <a:r>
              <a:rPr lang="en-US" sz="100">
                <a:effectLst/>
              </a:rPr>
              <a:t> </a:t>
            </a:r>
            <a:endParaRPr lang="en-US"/>
          </a:p>
        </p:txBody>
      </p:sp>
      <p:sp>
        <p:nvSpPr>
          <p:cNvPr id="1391" name="Oval 1390">
            <a:extLst>
              <a:ext uri="{FF2B5EF4-FFF2-40B4-BE49-F238E27FC236}">
                <a16:creationId xmlns:a16="http://schemas.microsoft.com/office/drawing/2014/main" id="{E437EA34-1A09-FE83-0C7C-2BC4985338B8}"/>
              </a:ext>
            </a:extLst>
          </p:cNvPr>
          <p:cNvSpPr/>
          <p:nvPr/>
        </p:nvSpPr>
        <p:spPr>
          <a:xfrm>
            <a:off x="457200" y="1965960"/>
            <a:ext cx="365760" cy="365760"/>
          </a:xfrm>
          <a:prstGeom prst="ellipse">
            <a:avLst/>
          </a:prstGeom>
          <a:solidFill>
            <a:srgbClr val="0F6E7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100" b="1">
                <a:solidFill>
                  <a:srgbClr val="FFFFFF"/>
                </a:solidFill>
                <a:effectLst/>
                <a:latin typeface="Calibri" panose="020F0502020204030204" pitchFamily="34" charset="0"/>
              </a:rPr>
              <a:t>1</a:t>
            </a:r>
          </a:p>
          <a:p>
            <a:pPr algn="ctr">
              <a:buNone/>
            </a:pPr>
            <a:r>
              <a:rPr lang="en-US" sz="100">
                <a:effectLst/>
              </a:rPr>
              <a:t> </a:t>
            </a:r>
            <a:endParaRPr lang="en-US"/>
          </a:p>
        </p:txBody>
      </p:sp>
      <p:sp>
        <p:nvSpPr>
          <p:cNvPr id="1397" name="Rectangle 1396">
            <a:extLst>
              <a:ext uri="{FF2B5EF4-FFF2-40B4-BE49-F238E27FC236}">
                <a16:creationId xmlns:a16="http://schemas.microsoft.com/office/drawing/2014/main" id="{8D5C7BFC-CB81-43B0-8CC1-0E1E31469A00}"/>
              </a:ext>
            </a:extLst>
          </p:cNvPr>
          <p:cNvSpPr/>
          <p:nvPr/>
        </p:nvSpPr>
        <p:spPr>
          <a:xfrm>
            <a:off x="868680" y="1965960"/>
            <a:ext cx="36576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Install the extension</a:t>
            </a:r>
          </a:p>
          <a:p>
            <a:pPr algn="l">
              <a:buNone/>
            </a:pPr>
            <a:r>
              <a:rPr lang="en-US" sz="100">
                <a:effectLst/>
              </a:rPr>
              <a:t> </a:t>
            </a:r>
            <a:endParaRPr lang="en-US"/>
          </a:p>
        </p:txBody>
      </p:sp>
      <p:sp>
        <p:nvSpPr>
          <p:cNvPr id="1404" name="Rectangle 1403">
            <a:extLst>
              <a:ext uri="{FF2B5EF4-FFF2-40B4-BE49-F238E27FC236}">
                <a16:creationId xmlns:a16="http://schemas.microsoft.com/office/drawing/2014/main" id="{4B6A40B1-9B56-3C22-625E-24022BAD0462}"/>
              </a:ext>
            </a:extLst>
          </p:cNvPr>
          <p:cNvSpPr/>
          <p:nvPr/>
        </p:nvSpPr>
        <p:spPr>
          <a:xfrm>
            <a:off x="868680" y="2331720"/>
            <a:ext cx="36576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AI Agent Evaluation, in your Azure DevOps organization</a:t>
            </a:r>
          </a:p>
          <a:p>
            <a:pPr algn="l">
              <a:buNone/>
            </a:pPr>
            <a:r>
              <a:rPr lang="en-US" sz="100">
                <a:effectLst/>
              </a:rPr>
              <a:t> </a:t>
            </a:r>
            <a:endParaRPr lang="en-US"/>
          </a:p>
        </p:txBody>
      </p:sp>
      <p:sp>
        <p:nvSpPr>
          <p:cNvPr id="1412" name="Oval 1411">
            <a:extLst>
              <a:ext uri="{FF2B5EF4-FFF2-40B4-BE49-F238E27FC236}">
                <a16:creationId xmlns:a16="http://schemas.microsoft.com/office/drawing/2014/main" id="{5EBC84C1-22A9-43FB-9D9C-1806DFAD7539}"/>
              </a:ext>
            </a:extLst>
          </p:cNvPr>
          <p:cNvSpPr/>
          <p:nvPr/>
        </p:nvSpPr>
        <p:spPr>
          <a:xfrm>
            <a:off x="457200" y="2811780"/>
            <a:ext cx="365760" cy="365760"/>
          </a:xfrm>
          <a:prstGeom prst="ellipse">
            <a:avLst/>
          </a:prstGeom>
          <a:solidFill>
            <a:srgbClr val="0F6E7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100" b="1">
                <a:solidFill>
                  <a:srgbClr val="FFFFFF"/>
                </a:solidFill>
                <a:effectLst/>
                <a:latin typeface="Calibri" panose="020F0502020204030204" pitchFamily="34" charset="0"/>
              </a:rPr>
              <a:t>2</a:t>
            </a:r>
          </a:p>
          <a:p>
            <a:pPr algn="ctr">
              <a:buNone/>
            </a:pPr>
            <a:r>
              <a:rPr lang="en-US" sz="100">
                <a:effectLst/>
              </a:rPr>
              <a:t> </a:t>
            </a:r>
            <a:endParaRPr lang="en-US"/>
          </a:p>
        </p:txBody>
      </p:sp>
      <p:sp>
        <p:nvSpPr>
          <p:cNvPr id="1421" name="Rectangle 1420">
            <a:extLst>
              <a:ext uri="{FF2B5EF4-FFF2-40B4-BE49-F238E27FC236}">
                <a16:creationId xmlns:a16="http://schemas.microsoft.com/office/drawing/2014/main" id="{C83678D1-B667-FA86-67B8-078EA37E35DA}"/>
              </a:ext>
            </a:extLst>
          </p:cNvPr>
          <p:cNvSpPr/>
          <p:nvPr/>
        </p:nvSpPr>
        <p:spPr>
          <a:xfrm>
            <a:off x="868680" y="2811780"/>
            <a:ext cx="36576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Add a service connection</a:t>
            </a:r>
          </a:p>
          <a:p>
            <a:pPr algn="l">
              <a:buNone/>
            </a:pPr>
            <a:r>
              <a:rPr lang="en-US" sz="100">
                <a:effectLst/>
              </a:rPr>
              <a:t> </a:t>
            </a:r>
            <a:endParaRPr lang="en-US"/>
          </a:p>
        </p:txBody>
      </p:sp>
      <p:sp>
        <p:nvSpPr>
          <p:cNvPr id="1431" name="Rectangle 1430">
            <a:extLst>
              <a:ext uri="{FF2B5EF4-FFF2-40B4-BE49-F238E27FC236}">
                <a16:creationId xmlns:a16="http://schemas.microsoft.com/office/drawing/2014/main" id="{5798F242-1A8F-8057-BE89-533296B4785D}"/>
              </a:ext>
            </a:extLst>
          </p:cNvPr>
          <p:cNvSpPr/>
          <p:nvPr/>
        </p:nvSpPr>
        <p:spPr>
          <a:xfrm>
            <a:off x="868680" y="3177540"/>
            <a:ext cx="3657600" cy="4800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Azure Resource Manager, used by AzureCLI@2 before the task</a:t>
            </a:r>
          </a:p>
          <a:p>
            <a:pPr algn="l">
              <a:buNone/>
            </a:pPr>
            <a:r>
              <a:rPr lang="en-US" sz="100">
                <a:effectLst/>
              </a:rPr>
              <a:t> </a:t>
            </a:r>
            <a:endParaRPr lang="en-US"/>
          </a:p>
        </p:txBody>
      </p:sp>
      <p:sp>
        <p:nvSpPr>
          <p:cNvPr id="1442" name="Oval 1441">
            <a:extLst>
              <a:ext uri="{FF2B5EF4-FFF2-40B4-BE49-F238E27FC236}">
                <a16:creationId xmlns:a16="http://schemas.microsoft.com/office/drawing/2014/main" id="{FBCCE62B-2CAF-A37B-F79D-7F627359F9C1}"/>
              </a:ext>
            </a:extLst>
          </p:cNvPr>
          <p:cNvSpPr/>
          <p:nvPr/>
        </p:nvSpPr>
        <p:spPr>
          <a:xfrm>
            <a:off x="457200" y="3657600"/>
            <a:ext cx="365760" cy="365760"/>
          </a:xfrm>
          <a:prstGeom prst="ellipse">
            <a:avLst/>
          </a:prstGeom>
          <a:solidFill>
            <a:srgbClr val="0F6E7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100" b="1">
                <a:solidFill>
                  <a:srgbClr val="FFFFFF"/>
                </a:solidFill>
                <a:effectLst/>
                <a:latin typeface="Calibri" panose="020F0502020204030204" pitchFamily="34" charset="0"/>
              </a:rPr>
              <a:t>3</a:t>
            </a:r>
          </a:p>
          <a:p>
            <a:pPr algn="ctr">
              <a:buNone/>
            </a:pPr>
            <a:r>
              <a:rPr lang="en-US" sz="100">
                <a:effectLst/>
              </a:rPr>
              <a:t> </a:t>
            </a:r>
            <a:endParaRPr lang="en-US"/>
          </a:p>
        </p:txBody>
      </p:sp>
      <p:sp>
        <p:nvSpPr>
          <p:cNvPr id="1454" name="Rectangle 1453">
            <a:extLst>
              <a:ext uri="{FF2B5EF4-FFF2-40B4-BE49-F238E27FC236}">
                <a16:creationId xmlns:a16="http://schemas.microsoft.com/office/drawing/2014/main" id="{3B709AEB-6950-6673-EA27-3B1955F0EF6E}"/>
              </a:ext>
            </a:extLst>
          </p:cNvPr>
          <p:cNvSpPr/>
          <p:nvPr/>
        </p:nvSpPr>
        <p:spPr>
          <a:xfrm>
            <a:off x="868680" y="3657600"/>
            <a:ext cx="36576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Run the task</a:t>
            </a:r>
          </a:p>
          <a:p>
            <a:pPr algn="l">
              <a:buNone/>
            </a:pPr>
            <a:r>
              <a:rPr lang="en-US" sz="100">
                <a:effectLst/>
              </a:rPr>
              <a:t> </a:t>
            </a:r>
            <a:endParaRPr lang="en-US"/>
          </a:p>
        </p:txBody>
      </p:sp>
      <p:sp>
        <p:nvSpPr>
          <p:cNvPr id="1467" name="Rectangle 1466">
            <a:extLst>
              <a:ext uri="{FF2B5EF4-FFF2-40B4-BE49-F238E27FC236}">
                <a16:creationId xmlns:a16="http://schemas.microsoft.com/office/drawing/2014/main" id="{8ED0B106-86B1-A006-86C3-7E0A8A2A21BE}"/>
              </a:ext>
            </a:extLst>
          </p:cNvPr>
          <p:cNvSpPr/>
          <p:nvPr/>
        </p:nvSpPr>
        <p:spPr>
          <a:xfrm>
            <a:off x="868680" y="4023360"/>
            <a:ext cx="36576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AIAgentEvaluation@2 with endpoint, deployment, and agent IDs</a:t>
            </a:r>
          </a:p>
          <a:p>
            <a:pPr algn="l">
              <a:buNone/>
            </a:pPr>
            <a:r>
              <a:rPr lang="en-US" sz="100">
                <a:effectLst/>
              </a:rPr>
              <a:t> </a:t>
            </a:r>
            <a:endParaRPr lang="en-US"/>
          </a:p>
        </p:txBody>
      </p:sp>
      <p:sp>
        <p:nvSpPr>
          <p:cNvPr id="1481" name="Rectangle 1480">
            <a:extLst>
              <a:ext uri="{FF2B5EF4-FFF2-40B4-BE49-F238E27FC236}">
                <a16:creationId xmlns:a16="http://schemas.microsoft.com/office/drawing/2014/main" id="{F3B0DEDF-3468-55CB-0042-8E1065F672AE}"/>
              </a:ext>
            </a:extLst>
          </p:cNvPr>
          <p:cNvSpPr/>
          <p:nvPr/>
        </p:nvSpPr>
        <p:spPr>
          <a:xfrm>
            <a:off x="4709160" y="1965960"/>
            <a:ext cx="3977640" cy="1554480"/>
          </a:xfrm>
          <a:prstGeom prst="rect">
            <a:avLst/>
          </a:prstGeom>
          <a:solidFill>
            <a:srgbClr val="F4F6F8"/>
          </a:solidFill>
          <a:ln w="9525">
            <a:solidFill>
              <a:srgbClr val="D8DDE2"/>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6" name="Rectangle 1495">
            <a:extLst>
              <a:ext uri="{FF2B5EF4-FFF2-40B4-BE49-F238E27FC236}">
                <a16:creationId xmlns:a16="http://schemas.microsoft.com/office/drawing/2014/main" id="{802580AF-351D-1844-427F-D41FDCED4DED}"/>
              </a:ext>
            </a:extLst>
          </p:cNvPr>
          <p:cNvSpPr/>
          <p:nvPr/>
        </p:nvSpPr>
        <p:spPr>
          <a:xfrm>
            <a:off x="4846320" y="2057400"/>
            <a:ext cx="3703320" cy="1371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52606D"/>
                </a:solidFill>
                <a:effectLst/>
                <a:latin typeface="Consolas" panose="020B0609020204030204" pitchFamily="49" charset="0"/>
              </a:rPr>
              <a:t>steps:</a:t>
            </a:r>
          </a:p>
          <a:p>
            <a:pPr algn="l">
              <a:buNone/>
            </a:pPr>
            <a:r>
              <a:rPr lang="en-US" sz="1000">
                <a:solidFill>
                  <a:srgbClr val="0F6E73"/>
                </a:solidFill>
                <a:effectLst/>
                <a:latin typeface="Consolas" panose="020B0609020204030204" pitchFamily="49" charset="0"/>
              </a:rPr>
              <a:t>  - task: AIAgentEvaluation@2</a:t>
            </a:r>
          </a:p>
          <a:p>
            <a:pPr algn="l">
              <a:buNone/>
            </a:pPr>
            <a:r>
              <a:rPr lang="en-US" sz="1000">
                <a:solidFill>
                  <a:srgbClr val="52606D"/>
                </a:solidFill>
                <a:effectLst/>
                <a:latin typeface="Consolas" panose="020B0609020204030204" pitchFamily="49" charset="0"/>
              </a:rPr>
              <a:t>    displayName: Evaluate AI Agents</a:t>
            </a:r>
          </a:p>
          <a:p>
            <a:pPr algn="l">
              <a:buNone/>
            </a:pPr>
            <a:r>
              <a:rPr lang="en-US" sz="1000">
                <a:solidFill>
                  <a:srgbClr val="52606D"/>
                </a:solidFill>
                <a:effectLst/>
                <a:latin typeface="Consolas" panose="020B0609020204030204" pitchFamily="49" charset="0"/>
              </a:rPr>
              <a:t>    inputs:</a:t>
            </a:r>
          </a:p>
          <a:p>
            <a:pPr algn="l">
              <a:buNone/>
            </a:pPr>
            <a:r>
              <a:rPr lang="en-US" sz="1000">
                <a:solidFill>
                  <a:srgbClr val="1F2933"/>
                </a:solidFill>
                <a:effectLst/>
                <a:latin typeface="Consolas" panose="020B0609020204030204" pitchFamily="49" charset="0"/>
              </a:rPr>
              <a:t>      azure-ai-project-endpoint:</a:t>
            </a:r>
          </a:p>
          <a:p>
            <a:pPr algn="l">
              <a:buNone/>
            </a:pPr>
            <a:r>
              <a:rPr lang="en-US" sz="1000">
                <a:solidFill>
                  <a:srgbClr val="1F2933"/>
                </a:solidFill>
                <a:effectLst/>
                <a:latin typeface="Consolas" panose="020B0609020204030204" pitchFamily="49" charset="0"/>
              </a:rPr>
              <a:t>        $(AzureAIProjectEndpoint)</a:t>
            </a:r>
          </a:p>
          <a:p>
            <a:pPr algn="l">
              <a:buNone/>
            </a:pPr>
            <a:r>
              <a:rPr lang="en-US" sz="1000">
                <a:solidFill>
                  <a:srgbClr val="1F2933"/>
                </a:solidFill>
                <a:effectLst/>
                <a:latin typeface="Consolas" panose="020B0609020204030204" pitchFamily="49" charset="0"/>
              </a:rPr>
              <a:t>      deployment-name: $(DeploymentName)</a:t>
            </a:r>
          </a:p>
          <a:p>
            <a:pPr algn="l">
              <a:buNone/>
            </a:pPr>
            <a:r>
              <a:rPr lang="en-US" sz="1000">
                <a:solidFill>
                  <a:srgbClr val="1F2933"/>
                </a:solidFill>
                <a:effectLst/>
                <a:latin typeface="Consolas" panose="020B0609020204030204" pitchFamily="49" charset="0"/>
              </a:rPr>
              <a:t>      data-path: $(DatasetPath)</a:t>
            </a:r>
          </a:p>
          <a:p>
            <a:pPr algn="l">
              <a:buNone/>
            </a:pPr>
            <a:r>
              <a:rPr lang="en-US" sz="1000">
                <a:solidFill>
                  <a:srgbClr val="1F2933"/>
                </a:solidFill>
                <a:effectLst/>
                <a:latin typeface="Consolas" panose="020B0609020204030204" pitchFamily="49" charset="0"/>
              </a:rPr>
              <a:t>      agent-ids: $(AgentIds)</a:t>
            </a:r>
            <a:endParaRPr lang="en-US"/>
          </a:p>
        </p:txBody>
      </p:sp>
      <p:sp>
        <p:nvSpPr>
          <p:cNvPr id="1512" name="Rectangle 1511">
            <a:extLst>
              <a:ext uri="{FF2B5EF4-FFF2-40B4-BE49-F238E27FC236}">
                <a16:creationId xmlns:a16="http://schemas.microsoft.com/office/drawing/2014/main" id="{3E069F79-4E5A-8FFA-3B40-B9B0FAF50909}"/>
              </a:ext>
            </a:extLst>
          </p:cNvPr>
          <p:cNvSpPr/>
          <p:nvPr/>
        </p:nvSpPr>
        <p:spPr>
          <a:xfrm>
            <a:off x="4709160" y="3611880"/>
            <a:ext cx="3977640" cy="777240"/>
          </a:xfrm>
          <a:prstGeom prst="rect">
            <a:avLst/>
          </a:prstGeom>
          <a:solidFill>
            <a:srgbClr val="FFFFFF"/>
          </a:solidFill>
          <a:ln w="9525">
            <a:solidFill>
              <a:srgbClr val="D8DDE2"/>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9" name="Rectangle 1528">
            <a:extLst>
              <a:ext uri="{FF2B5EF4-FFF2-40B4-BE49-F238E27FC236}">
                <a16:creationId xmlns:a16="http://schemas.microsoft.com/office/drawing/2014/main" id="{5704625B-1E00-364D-798B-3F1EA4E581FE}"/>
              </a:ext>
            </a:extLst>
          </p:cNvPr>
          <p:cNvSpPr/>
          <p:nvPr/>
        </p:nvSpPr>
        <p:spPr>
          <a:xfrm>
            <a:off x="4800600" y="3703320"/>
            <a:ext cx="37947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b="1">
                <a:solidFill>
                  <a:srgbClr val="1F2933"/>
                </a:solidFill>
                <a:effectLst/>
                <a:latin typeface="Calibri" panose="020F0502020204030204" pitchFamily="34" charset="0"/>
              </a:rPr>
              <a:t>Results in the pipeline summary</a:t>
            </a:r>
          </a:p>
          <a:p>
            <a:pPr algn="l">
              <a:buNone/>
            </a:pPr>
            <a:r>
              <a:rPr lang="en-US" sz="100">
                <a:effectLst/>
              </a:rPr>
              <a:t> </a:t>
            </a:r>
            <a:endParaRPr lang="en-US"/>
          </a:p>
        </p:txBody>
      </p:sp>
      <p:sp>
        <p:nvSpPr>
          <p:cNvPr id="1547" name="Rectangle 1546">
            <a:extLst>
              <a:ext uri="{FF2B5EF4-FFF2-40B4-BE49-F238E27FC236}">
                <a16:creationId xmlns:a16="http://schemas.microsoft.com/office/drawing/2014/main" id="{45A582E7-4623-7A01-BC9C-36CBCDFEDA77}"/>
              </a:ext>
            </a:extLst>
          </p:cNvPr>
          <p:cNvSpPr/>
          <p:nvPr/>
        </p:nvSpPr>
        <p:spPr>
          <a:xfrm>
            <a:off x="4800600" y="3931920"/>
            <a:ext cx="379476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100">
                <a:solidFill>
                  <a:srgbClr val="52606D"/>
                </a:solidFill>
                <a:effectLst/>
                <a:latin typeface="Calibri" panose="020F0502020204030204" pitchFamily="34" charset="0"/>
              </a:rPr>
              <a:t>Scores per metric, confidence intervals, and a pairwise statistical comparison.</a:t>
            </a:r>
          </a:p>
          <a:p>
            <a:pPr algn="l">
              <a:buNone/>
            </a:pPr>
            <a:r>
              <a:rPr lang="en-US" sz="100">
                <a:effectLst/>
              </a:rPr>
              <a:t> </a:t>
            </a:r>
            <a:endParaRPr lang="en-US"/>
          </a:p>
        </p:txBody>
      </p:sp>
      <p:sp>
        <p:nvSpPr>
          <p:cNvPr id="1566" name="Rectangle 1565">
            <a:extLst>
              <a:ext uri="{FF2B5EF4-FFF2-40B4-BE49-F238E27FC236}">
                <a16:creationId xmlns:a16="http://schemas.microsoft.com/office/drawing/2014/main" id="{8579E876-E22B-FDE6-C3B9-EEAB0F2C957A}"/>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i="1">
                <a:solidFill>
                  <a:srgbClr val="52606D"/>
                </a:solidFill>
                <a:effectLst/>
                <a:latin typeface="Calibri" panose="020F0502020204030204" pitchFamily="34" charset="0"/>
              </a:rPr>
              <a:t>Preview. Both paths take the same dataset file and the same Foundry evaluator catalog.</a:t>
            </a:r>
          </a:p>
          <a:p>
            <a:pPr algn="l">
              <a:buNone/>
            </a:pPr>
            <a:r>
              <a:rPr lang="en-US" sz="100">
                <a:effectLst/>
              </a:rPr>
              <a:t> </a:t>
            </a:r>
            <a:endParaRPr lang="en-US"/>
          </a:p>
        </p:txBody>
      </p:sp>
      <p:sp>
        <p:nvSpPr>
          <p:cNvPr id="1586" name="Rectangle 1585">
            <a:extLst>
              <a:ext uri="{FF2B5EF4-FFF2-40B4-BE49-F238E27FC236}">
                <a16:creationId xmlns:a16="http://schemas.microsoft.com/office/drawing/2014/main" id="{505F3E48-DA5A-3AF7-08FD-05E4BB1858C0}"/>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900">
                <a:solidFill>
                  <a:srgbClr val="52606D"/>
                </a:solidFill>
                <a:effectLst/>
                <a:latin typeface="Calibri" panose="020F0502020204030204" pitchFamily="34" charset="0"/>
              </a:rPr>
              <a:t>AI Evaluations  ·  Microsoft Agent Framework</a:t>
            </a:r>
          </a:p>
          <a:p>
            <a:pPr algn="l">
              <a:buNone/>
            </a:pPr>
            <a:r>
              <a:rPr lang="en-US" sz="100">
                <a:effectLst/>
              </a:rPr>
              <a:t> </a:t>
            </a:r>
            <a:endParaRPr lang="en-US"/>
          </a:p>
        </p:txBody>
      </p:sp>
      <p:sp>
        <p:nvSpPr>
          <p:cNvPr id="1607" name="Rectangle 1606">
            <a:extLst>
              <a:ext uri="{FF2B5EF4-FFF2-40B4-BE49-F238E27FC236}">
                <a16:creationId xmlns:a16="http://schemas.microsoft.com/office/drawing/2014/main" id="{D4B7C591-B75F-D3B1-23C3-38048D7099B7}"/>
              </a:ext>
            </a:extLst>
          </p:cNvPr>
          <p:cNvSpPr/>
          <p:nvPr/>
        </p:nvSpPr>
        <p:spPr>
          <a:xfrm>
            <a:off x="7955280" y="4823460"/>
            <a:ext cx="8229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900">
                <a:solidFill>
                  <a:srgbClr val="52606D"/>
                </a:solidFill>
                <a:effectLst/>
                <a:latin typeface="Calibri" panose="020F0502020204030204" pitchFamily="34" charset="0"/>
              </a:rPr>
              <a:t>16 / 19</a:t>
            </a:r>
          </a:p>
          <a:p>
            <a:pPr algn="r">
              <a:buNone/>
            </a:pPr>
            <a:r>
              <a:rPr lang="en-US" sz="100">
                <a:effectLst/>
              </a:rPr>
              <a:t> </a:t>
            </a:r>
            <a:endParaRPr lang="en-US"/>
          </a:p>
        </p:txBody>
      </p:sp>
    </p:spTree>
    <p:extLst>
      <p:ext uri="{BB962C8B-B14F-4D97-AF65-F5344CB8AC3E}">
        <p14:creationId xmlns:p14="http://schemas.microsoft.com/office/powerpoint/2010/main" val="9187174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marL="0" indent="0">
              <a:buNone/>
            </a:pPr>
            <a:r>
              <a:rPr lang="en-US" sz="1000" b="1" kern="0" spc="400">
                <a:solidFill>
                  <a:srgbClr val="0F6E73"/>
                </a:solidFill>
                <a:latin typeface="Calibri" pitchFamily="34" charset="0"/>
                <a:ea typeface="Calibri" pitchFamily="34" charset="-122"/>
                <a:cs typeface="Calibri" pitchFamily="34" charset="-120"/>
              </a:rPr>
              <a:t>EVALUATION IS ONLY AS GOOD AS THE DATA</a:t>
            </a:r>
            <a:endParaRPr lang="en-US" sz="1000"/>
          </a:p>
        </p:txBody>
      </p:sp>
      <p:sp>
        <p:nvSpPr>
          <p:cNvPr id="3" name="Text 1"/>
          <p:cNvSpPr/>
          <p:nvPr/>
        </p:nvSpPr>
        <p:spPr>
          <a:xfrm>
            <a:off x="457200" y="566928"/>
            <a:ext cx="8229600" cy="640080"/>
          </a:xfrm>
          <a:prstGeom prst="rect">
            <a:avLst/>
          </a:prstGeom>
          <a:noFill/>
          <a:ln/>
        </p:spPr>
        <p:txBody>
          <a:bodyPr wrap="square" lIns="0" tIns="0" rIns="0" bIns="0" rtlCol="0" anchor="ctr"/>
          <a:lstStyle/>
          <a:p>
            <a:pPr marL="0" indent="0">
              <a:buNone/>
            </a:pPr>
            <a:r>
              <a:rPr lang="en-US" sz="2800" b="1">
                <a:solidFill>
                  <a:srgbClr val="1F2933"/>
                </a:solidFill>
                <a:latin typeface="Calibri" pitchFamily="34" charset="0"/>
                <a:ea typeface="Calibri" pitchFamily="34" charset="-122"/>
                <a:cs typeface="Calibri" pitchFamily="34" charset="-120"/>
              </a:rPr>
              <a:t>Golden datasets</a:t>
            </a:r>
            <a:endParaRPr lang="en-US" sz="2800"/>
          </a:p>
        </p:txBody>
      </p:sp>
      <p:sp>
        <p:nvSpPr>
          <p:cNvPr id="4" name="Shape 2"/>
          <p:cNvSpPr/>
          <p:nvPr/>
        </p:nvSpPr>
        <p:spPr>
          <a:xfrm>
            <a:off x="457200" y="1225296"/>
            <a:ext cx="731520" cy="0"/>
          </a:xfrm>
          <a:prstGeom prst="line">
            <a:avLst/>
          </a:prstGeom>
          <a:noFill/>
          <a:ln w="25400">
            <a:solidFill>
              <a:srgbClr val="0F6E73"/>
            </a:solidFill>
            <a:prstDash val="solid"/>
          </a:ln>
        </p:spPr>
        <p:txBody>
          <a:bodyPr/>
          <a:lstStyle/>
          <a:p>
            <a:endParaRPr lang="en-US"/>
          </a:p>
        </p:txBody>
      </p:sp>
      <p:sp>
        <p:nvSpPr>
          <p:cNvPr id="5" name="Text 3"/>
          <p:cNvSpPr/>
          <p:nvPr/>
        </p:nvSpPr>
        <p:spPr>
          <a:xfrm>
            <a:off x="457200" y="1417320"/>
            <a:ext cx="8229600" cy="457200"/>
          </a:xfrm>
          <a:prstGeom prst="rect">
            <a:avLst/>
          </a:prstGeom>
          <a:noFill/>
          <a:ln/>
        </p:spPr>
        <p:txBody>
          <a:bodyPr wrap="square" lIns="0" tIns="0" rIns="0" bIns="0" rtlCol="0" anchor="ctr"/>
          <a:lstStyle/>
          <a:p>
            <a:pPr marL="0" indent="0">
              <a:buNone/>
            </a:pPr>
            <a:r>
              <a:rPr lang="en-US" sz="1300">
                <a:solidFill>
                  <a:srgbClr val="52606D"/>
                </a:solidFill>
                <a:latin typeface="Calibri" pitchFamily="34" charset="0"/>
                <a:ea typeface="Calibri" pitchFamily="34" charset="-122"/>
                <a:cs typeface="Calibri" pitchFamily="34" charset="-120"/>
              </a:rPr>
              <a:t>A curated set of representative inputs (and optionally expected outputs) that your evaluation pipeline runs against consistently.</a:t>
            </a:r>
            <a:endParaRPr lang="en-US" sz="1300"/>
          </a:p>
        </p:txBody>
      </p:sp>
      <p:sp>
        <p:nvSpPr>
          <p:cNvPr id="6" name="Text 4"/>
          <p:cNvSpPr/>
          <p:nvPr/>
        </p:nvSpPr>
        <p:spPr>
          <a:xfrm>
            <a:off x="457200" y="2011680"/>
            <a:ext cx="3931920" cy="365760"/>
          </a:xfrm>
          <a:prstGeom prst="rect">
            <a:avLst/>
          </a:prstGeom>
          <a:noFill/>
          <a:ln/>
        </p:spPr>
        <p:txBody>
          <a:bodyPr wrap="square" lIns="0" tIns="0" rIns="0" bIns="0" rtlCol="0" anchor="ctr"/>
          <a:lstStyle/>
          <a:p>
            <a:pPr marL="0" indent="0">
              <a:buNone/>
            </a:pPr>
            <a:r>
              <a:rPr lang="en-US" sz="1500" b="1">
                <a:solidFill>
                  <a:srgbClr val="1F2933"/>
                </a:solidFill>
                <a:latin typeface="Calibri" pitchFamily="34" charset="0"/>
                <a:ea typeface="Calibri" pitchFamily="34" charset="-122"/>
                <a:cs typeface="Calibri" pitchFamily="34" charset="-120"/>
              </a:rPr>
              <a:t>A good dataset…</a:t>
            </a:r>
            <a:endParaRPr lang="en-US" sz="1500"/>
          </a:p>
        </p:txBody>
      </p:sp>
      <p:sp>
        <p:nvSpPr>
          <p:cNvPr id="8" name="Shape 6"/>
          <p:cNvSpPr/>
          <p:nvPr/>
        </p:nvSpPr>
        <p:spPr>
          <a:xfrm>
            <a:off x="4663440" y="2011680"/>
            <a:ext cx="4023360" cy="2606040"/>
          </a:xfrm>
          <a:prstGeom prst="rect">
            <a:avLst/>
          </a:prstGeom>
          <a:solidFill>
            <a:srgbClr val="F4F6F8"/>
          </a:solidFill>
          <a:ln w="9525">
            <a:solidFill>
              <a:srgbClr val="D8DDE2"/>
            </a:solidFill>
            <a:prstDash val="solid"/>
          </a:ln>
        </p:spPr>
        <p:txBody>
          <a:bodyPr/>
          <a:lstStyle/>
          <a:p>
            <a:endParaRPr lang="en-US"/>
          </a:p>
        </p:txBody>
      </p:sp>
      <p:sp>
        <p:nvSpPr>
          <p:cNvPr id="9" name="Text 7"/>
          <p:cNvSpPr/>
          <p:nvPr/>
        </p:nvSpPr>
        <p:spPr>
          <a:xfrm>
            <a:off x="4846320" y="2103120"/>
            <a:ext cx="3657600" cy="365760"/>
          </a:xfrm>
          <a:prstGeom prst="rect">
            <a:avLst/>
          </a:prstGeom>
          <a:noFill/>
          <a:ln/>
        </p:spPr>
        <p:txBody>
          <a:bodyPr wrap="square" lIns="0" tIns="0" rIns="0" bIns="0" rtlCol="0" anchor="ctr"/>
          <a:lstStyle/>
          <a:p>
            <a:pPr marL="0" indent="0">
              <a:buNone/>
            </a:pPr>
            <a:r>
              <a:rPr lang="en-US" sz="1500" b="1">
                <a:solidFill>
                  <a:srgbClr val="1F2933"/>
                </a:solidFill>
                <a:latin typeface="Calibri" pitchFamily="34" charset="0"/>
                <a:ea typeface="Calibri" pitchFamily="34" charset="-122"/>
                <a:cs typeface="Calibri" pitchFamily="34" charset="-120"/>
              </a:rPr>
              <a:t>Dataset sizing</a:t>
            </a:r>
            <a:endParaRPr lang="en-US" sz="1500"/>
          </a:p>
        </p:txBody>
      </p:sp>
      <p:sp>
        <p:nvSpPr>
          <p:cNvPr id="10" name="Text 8"/>
          <p:cNvSpPr/>
          <p:nvPr/>
        </p:nvSpPr>
        <p:spPr>
          <a:xfrm>
            <a:off x="4846320" y="2606040"/>
            <a:ext cx="1371600" cy="365760"/>
          </a:xfrm>
          <a:prstGeom prst="rect">
            <a:avLst/>
          </a:prstGeom>
          <a:noFill/>
          <a:ln/>
        </p:spPr>
        <p:txBody>
          <a:bodyPr wrap="square" lIns="0" tIns="0" rIns="0" bIns="0" rtlCol="0" anchor="ctr"/>
          <a:lstStyle/>
          <a:p>
            <a:pPr marL="0" indent="0">
              <a:buNone/>
            </a:pPr>
            <a:r>
              <a:rPr lang="en-US" sz="1400" b="1">
                <a:solidFill>
                  <a:srgbClr val="0F6E73"/>
                </a:solidFill>
                <a:latin typeface="Consolas" pitchFamily="34" charset="0"/>
                <a:ea typeface="Consolas" pitchFamily="34" charset="-122"/>
                <a:cs typeface="Consolas" pitchFamily="34" charset="-120"/>
              </a:rPr>
              <a:t>~50 rows</a:t>
            </a:r>
            <a:endParaRPr lang="en-US" sz="1400"/>
          </a:p>
        </p:txBody>
      </p:sp>
      <p:sp>
        <p:nvSpPr>
          <p:cNvPr id="11" name="Text 9"/>
          <p:cNvSpPr/>
          <p:nvPr/>
        </p:nvSpPr>
        <p:spPr>
          <a:xfrm>
            <a:off x="6309360" y="2606040"/>
            <a:ext cx="2286000" cy="365760"/>
          </a:xfrm>
          <a:prstGeom prst="rect">
            <a:avLst/>
          </a:prstGeom>
          <a:noFill/>
          <a:ln/>
        </p:spPr>
        <p:txBody>
          <a:bodyPr wrap="square" lIns="0" tIns="0" rIns="0" bIns="0" rtlCol="0" anchor="ctr"/>
          <a:lstStyle/>
          <a:p>
            <a:pPr marL="0" indent="0">
              <a:buNone/>
            </a:pPr>
            <a:r>
              <a:rPr lang="en-US" sz="1200">
                <a:solidFill>
                  <a:srgbClr val="1F2933"/>
                </a:solidFill>
                <a:latin typeface="Calibri" pitchFamily="34" charset="0"/>
                <a:ea typeface="Calibri" pitchFamily="34" charset="-122"/>
                <a:cs typeface="Calibri" pitchFamily="34" charset="-120"/>
              </a:rPr>
              <a:t>Development iteration</a:t>
            </a:r>
            <a:endParaRPr lang="en-US" sz="1200"/>
          </a:p>
        </p:txBody>
      </p:sp>
      <p:sp>
        <p:nvSpPr>
          <p:cNvPr id="12" name="Text 10"/>
          <p:cNvSpPr/>
          <p:nvPr/>
        </p:nvSpPr>
        <p:spPr>
          <a:xfrm>
            <a:off x="4846320" y="3200400"/>
            <a:ext cx="1371600" cy="365760"/>
          </a:xfrm>
          <a:prstGeom prst="rect">
            <a:avLst/>
          </a:prstGeom>
          <a:noFill/>
          <a:ln/>
        </p:spPr>
        <p:txBody>
          <a:bodyPr wrap="square" lIns="0" tIns="0" rIns="0" bIns="0" rtlCol="0" anchor="ctr"/>
          <a:lstStyle/>
          <a:p>
            <a:pPr marL="0" indent="0">
              <a:buNone/>
            </a:pPr>
            <a:r>
              <a:rPr lang="en-US" sz="1400" b="1">
                <a:solidFill>
                  <a:srgbClr val="0F6E73"/>
                </a:solidFill>
                <a:latin typeface="Consolas" pitchFamily="34" charset="0"/>
                <a:ea typeface="Consolas" pitchFamily="34" charset="-122"/>
                <a:cs typeface="Consolas" pitchFamily="34" charset="-120"/>
              </a:rPr>
              <a:t>100+ rows</a:t>
            </a:r>
            <a:endParaRPr lang="en-US" sz="1400"/>
          </a:p>
        </p:txBody>
      </p:sp>
      <p:sp>
        <p:nvSpPr>
          <p:cNvPr id="13" name="Text 11"/>
          <p:cNvSpPr/>
          <p:nvPr/>
        </p:nvSpPr>
        <p:spPr>
          <a:xfrm>
            <a:off x="6309360" y="3200400"/>
            <a:ext cx="2286000" cy="365760"/>
          </a:xfrm>
          <a:prstGeom prst="rect">
            <a:avLst/>
          </a:prstGeom>
          <a:noFill/>
          <a:ln/>
        </p:spPr>
        <p:txBody>
          <a:bodyPr wrap="square" lIns="0" tIns="0" rIns="0" bIns="0" rtlCol="0" anchor="ctr"/>
          <a:lstStyle/>
          <a:p>
            <a:pPr marL="0" indent="0">
              <a:buNone/>
            </a:pPr>
            <a:r>
              <a:rPr lang="en-US" sz="1200">
                <a:solidFill>
                  <a:srgbClr val="1F2933"/>
                </a:solidFill>
                <a:latin typeface="Calibri" pitchFamily="34" charset="0"/>
                <a:ea typeface="Calibri" pitchFamily="34" charset="-122"/>
                <a:cs typeface="Calibri" pitchFamily="34" charset="-120"/>
              </a:rPr>
              <a:t>Pre-production gates in CI/CD</a:t>
            </a:r>
            <a:endParaRPr lang="en-US" sz="1200"/>
          </a:p>
        </p:txBody>
      </p:sp>
      <p:sp>
        <p:nvSpPr>
          <p:cNvPr id="14" name="Text 12"/>
          <p:cNvSpPr/>
          <p:nvPr/>
        </p:nvSpPr>
        <p:spPr>
          <a:xfrm>
            <a:off x="4846320" y="3794760"/>
            <a:ext cx="1371600" cy="365760"/>
          </a:xfrm>
          <a:prstGeom prst="rect">
            <a:avLst/>
          </a:prstGeom>
          <a:noFill/>
          <a:ln/>
        </p:spPr>
        <p:txBody>
          <a:bodyPr wrap="square" lIns="0" tIns="0" rIns="0" bIns="0" rtlCol="0" anchor="ctr"/>
          <a:lstStyle/>
          <a:p>
            <a:pPr marL="0" indent="0">
              <a:buNone/>
            </a:pPr>
            <a:r>
              <a:rPr lang="en-US" sz="1400" b="1">
                <a:solidFill>
                  <a:srgbClr val="0F6E73"/>
                </a:solidFill>
                <a:latin typeface="Consolas" pitchFamily="34" charset="0"/>
                <a:ea typeface="Consolas" pitchFamily="34" charset="-122"/>
                <a:cs typeface="Consolas" pitchFamily="34" charset="-120"/>
              </a:rPr>
              <a:t>500+ rows</a:t>
            </a:r>
            <a:endParaRPr lang="en-US" sz="1400"/>
          </a:p>
        </p:txBody>
      </p:sp>
      <p:sp>
        <p:nvSpPr>
          <p:cNvPr id="15" name="Text 13"/>
          <p:cNvSpPr/>
          <p:nvPr/>
        </p:nvSpPr>
        <p:spPr>
          <a:xfrm>
            <a:off x="6309360" y="3794760"/>
            <a:ext cx="2286000" cy="365760"/>
          </a:xfrm>
          <a:prstGeom prst="rect">
            <a:avLst/>
          </a:prstGeom>
          <a:noFill/>
          <a:ln/>
        </p:spPr>
        <p:txBody>
          <a:bodyPr wrap="square" lIns="0" tIns="0" rIns="0" bIns="0" rtlCol="0" anchor="ctr"/>
          <a:lstStyle/>
          <a:p>
            <a:pPr marL="0" indent="0">
              <a:buNone/>
            </a:pPr>
            <a:r>
              <a:rPr lang="en-US" sz="1200">
                <a:solidFill>
                  <a:srgbClr val="1F2933"/>
                </a:solidFill>
                <a:latin typeface="Calibri" pitchFamily="34" charset="0"/>
                <a:ea typeface="Calibri" pitchFamily="34" charset="-122"/>
                <a:cs typeface="Calibri" pitchFamily="34" charset="-120"/>
              </a:rPr>
              <a:t>Mature applications, broad coverage</a:t>
            </a:r>
            <a:endParaRPr lang="en-US" sz="1200"/>
          </a:p>
        </p:txBody>
      </p:sp>
      <p:sp>
        <p:nvSpPr>
          <p:cNvPr id="16" name="Text 14"/>
          <p:cNvSpPr/>
          <p:nvPr/>
        </p:nvSpPr>
        <p:spPr>
          <a:xfrm>
            <a:off x="457200" y="4823460"/>
            <a:ext cx="5486400" cy="228600"/>
          </a:xfrm>
          <a:prstGeom prst="rect">
            <a:avLst/>
          </a:prstGeom>
          <a:noFill/>
          <a:ln/>
        </p:spPr>
        <p:txBody>
          <a:bodyPr wrap="square" lIns="0" tIns="0" rIns="0" bIns="0" rtlCol="0" anchor="ctr"/>
          <a:lstStyle/>
          <a:p>
            <a:pPr marL="0" indent="0">
              <a:buNone/>
            </a:pPr>
            <a:r>
              <a:rPr lang="en-US" sz="900">
                <a:solidFill>
                  <a:srgbClr val="52606D"/>
                </a:solidFill>
                <a:latin typeface="Calibri" pitchFamily="34" charset="0"/>
                <a:ea typeface="Calibri" pitchFamily="34" charset="-122"/>
                <a:cs typeface="Calibri" pitchFamily="34" charset="-120"/>
              </a:rPr>
              <a:t>AI Evaluations  ·  Microsoft Agent Framework</a:t>
            </a:r>
            <a:endParaRPr lang="en-US" sz="900"/>
          </a:p>
        </p:txBody>
      </p:sp>
      <p:sp>
        <p:nvSpPr>
          <p:cNvPr id="17" name="Text 15"/>
          <p:cNvSpPr/>
          <p:nvPr/>
        </p:nvSpPr>
        <p:spPr>
          <a:xfrm>
            <a:off x="8046720" y="4823460"/>
            <a:ext cx="640080" cy="228600"/>
          </a:xfrm>
          <a:prstGeom prst="rect">
            <a:avLst/>
          </a:prstGeom>
          <a:noFill/>
          <a:ln/>
        </p:spPr>
        <p:txBody>
          <a:bodyPr wrap="square" lIns="0" tIns="0" rIns="0" bIns="0" rtlCol="0" anchor="ctr"/>
          <a:lstStyle/>
          <a:p>
            <a:pPr marL="0" indent="0" algn="r">
              <a:buNone/>
            </a:pPr>
            <a:r>
              <a:rPr lang="en-US" sz="900">
                <a:solidFill>
                  <a:srgbClr val="52606D"/>
                </a:solidFill>
                <a:latin typeface="Calibri" pitchFamily="34" charset="0"/>
                <a:ea typeface="Calibri" pitchFamily="34" charset="-122"/>
                <a:cs typeface="Calibri" pitchFamily="34" charset="-120"/>
              </a:rPr>
              <a:t>17 / 19</a:t>
            </a:r>
            <a:endParaRPr lang="en-US" sz="900"/>
          </a:p>
        </p:txBody>
      </p:sp>
      <p:sp>
        <p:nvSpPr>
          <p:cNvPr id="1624" name="Rectangle 1623">
            <a:extLst>
              <a:ext uri="{FF2B5EF4-FFF2-40B4-BE49-F238E27FC236}">
                <a16:creationId xmlns:a16="http://schemas.microsoft.com/office/drawing/2014/main" id="{6F39FF98-BF74-65D2-5814-3F2643587679}"/>
              </a:ext>
            </a:extLst>
          </p:cNvPr>
          <p:cNvSpPr/>
          <p:nvPr/>
        </p:nvSpPr>
        <p:spPr>
          <a:xfrm>
            <a:off x="365760" y="2250796"/>
            <a:ext cx="525780" cy="4361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t>
            </a:r>
          </a:p>
          <a:p>
            <a:pPr algn="l">
              <a:buNone/>
            </a:pPr>
            <a:r>
              <a:rPr lang="en-US" sz="100">
                <a:effectLst/>
              </a:rPr>
              <a:t> </a:t>
            </a:r>
            <a:endParaRPr lang="en-US"/>
          </a:p>
        </p:txBody>
      </p:sp>
      <p:sp>
        <p:nvSpPr>
          <p:cNvPr id="1626" name="Rectangle 1625">
            <a:extLst>
              <a:ext uri="{FF2B5EF4-FFF2-40B4-BE49-F238E27FC236}">
                <a16:creationId xmlns:a16="http://schemas.microsoft.com/office/drawing/2014/main" id="{4EE4EF71-8DD0-DE7A-1030-665BE2180BA0}"/>
              </a:ext>
            </a:extLst>
          </p:cNvPr>
          <p:cNvSpPr/>
          <p:nvPr/>
        </p:nvSpPr>
        <p:spPr>
          <a:xfrm>
            <a:off x="708660" y="2331720"/>
            <a:ext cx="37719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Represents your real users — query types, domains, edge cases</a:t>
            </a:r>
          </a:p>
          <a:p>
            <a:pPr algn="l">
              <a:buNone/>
            </a:pPr>
            <a:r>
              <a:rPr lang="en-US" sz="100">
                <a:effectLst/>
              </a:rPr>
              <a:t> </a:t>
            </a:r>
            <a:endParaRPr lang="en-US"/>
          </a:p>
        </p:txBody>
      </p:sp>
      <p:sp>
        <p:nvSpPr>
          <p:cNvPr id="1629" name="Rectangle 1628">
            <a:extLst>
              <a:ext uri="{FF2B5EF4-FFF2-40B4-BE49-F238E27FC236}">
                <a16:creationId xmlns:a16="http://schemas.microsoft.com/office/drawing/2014/main" id="{2BA5662F-5B76-DCB0-DE25-BD137ABD9A4A}"/>
              </a:ext>
            </a:extLst>
          </p:cNvPr>
          <p:cNvSpPr/>
          <p:nvPr/>
        </p:nvSpPr>
        <p:spPr>
          <a:xfrm>
            <a:off x="365760" y="2707996"/>
            <a:ext cx="525780" cy="4361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t>
            </a:r>
          </a:p>
          <a:p>
            <a:pPr algn="l">
              <a:buNone/>
            </a:pPr>
            <a:r>
              <a:rPr lang="en-US" sz="100">
                <a:effectLst/>
              </a:rPr>
              <a:t> </a:t>
            </a:r>
            <a:endParaRPr lang="en-US"/>
          </a:p>
        </p:txBody>
      </p:sp>
      <p:sp>
        <p:nvSpPr>
          <p:cNvPr id="1633" name="Rectangle 1632">
            <a:extLst>
              <a:ext uri="{FF2B5EF4-FFF2-40B4-BE49-F238E27FC236}">
                <a16:creationId xmlns:a16="http://schemas.microsoft.com/office/drawing/2014/main" id="{DEBDE608-8BFC-480B-3828-9327367230B9}"/>
              </a:ext>
            </a:extLst>
          </p:cNvPr>
          <p:cNvSpPr/>
          <p:nvPr/>
        </p:nvSpPr>
        <p:spPr>
          <a:xfrm>
            <a:off x="708660" y="2788920"/>
            <a:ext cx="37719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Includes adversarial cases — jailbreaks, prompt injection probes</a:t>
            </a:r>
          </a:p>
          <a:p>
            <a:pPr algn="l">
              <a:buNone/>
            </a:pPr>
            <a:r>
              <a:rPr lang="en-US" sz="100">
                <a:effectLst/>
              </a:rPr>
              <a:t> </a:t>
            </a:r>
            <a:endParaRPr lang="en-US"/>
          </a:p>
        </p:txBody>
      </p:sp>
      <p:sp>
        <p:nvSpPr>
          <p:cNvPr id="1638" name="Rectangle 1637">
            <a:extLst>
              <a:ext uri="{FF2B5EF4-FFF2-40B4-BE49-F238E27FC236}">
                <a16:creationId xmlns:a16="http://schemas.microsoft.com/office/drawing/2014/main" id="{9290B98F-C2EF-C76F-670B-D827B6E2B0D5}"/>
              </a:ext>
            </a:extLst>
          </p:cNvPr>
          <p:cNvSpPr/>
          <p:nvPr/>
        </p:nvSpPr>
        <p:spPr>
          <a:xfrm>
            <a:off x="365760" y="3165196"/>
            <a:ext cx="525780" cy="4361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t>
            </a:r>
          </a:p>
          <a:p>
            <a:pPr algn="l">
              <a:buNone/>
            </a:pPr>
            <a:r>
              <a:rPr lang="en-US" sz="100">
                <a:effectLst/>
              </a:rPr>
              <a:t> </a:t>
            </a:r>
            <a:endParaRPr lang="en-US"/>
          </a:p>
        </p:txBody>
      </p:sp>
      <p:sp>
        <p:nvSpPr>
          <p:cNvPr id="1644" name="Rectangle 1643">
            <a:extLst>
              <a:ext uri="{FF2B5EF4-FFF2-40B4-BE49-F238E27FC236}">
                <a16:creationId xmlns:a16="http://schemas.microsoft.com/office/drawing/2014/main" id="{B21303DF-A3BE-F54C-35A4-4BB44915D9EC}"/>
              </a:ext>
            </a:extLst>
          </p:cNvPr>
          <p:cNvSpPr/>
          <p:nvPr/>
        </p:nvSpPr>
        <p:spPr>
          <a:xfrm>
            <a:off x="708660" y="3246120"/>
            <a:ext cx="37719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Is versioned — track changes alongside your application code</a:t>
            </a:r>
          </a:p>
          <a:p>
            <a:pPr algn="l">
              <a:buNone/>
            </a:pPr>
            <a:r>
              <a:rPr lang="en-US" sz="100">
                <a:effectLst/>
              </a:rPr>
              <a:t> </a:t>
            </a:r>
            <a:endParaRPr lang="en-US"/>
          </a:p>
        </p:txBody>
      </p:sp>
      <p:sp>
        <p:nvSpPr>
          <p:cNvPr id="1651" name="Rectangle 1650">
            <a:extLst>
              <a:ext uri="{FF2B5EF4-FFF2-40B4-BE49-F238E27FC236}">
                <a16:creationId xmlns:a16="http://schemas.microsoft.com/office/drawing/2014/main" id="{8D12C84F-5BEA-3F93-F492-7431DE9454C4}"/>
              </a:ext>
            </a:extLst>
          </p:cNvPr>
          <p:cNvSpPr/>
          <p:nvPr/>
        </p:nvSpPr>
        <p:spPr>
          <a:xfrm>
            <a:off x="365760" y="3622396"/>
            <a:ext cx="525780" cy="4361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t>
            </a:r>
          </a:p>
          <a:p>
            <a:pPr algn="l">
              <a:buNone/>
            </a:pPr>
            <a:r>
              <a:rPr lang="en-US" sz="100">
                <a:effectLst/>
              </a:rPr>
              <a:t> </a:t>
            </a:r>
            <a:endParaRPr lang="en-US"/>
          </a:p>
        </p:txBody>
      </p:sp>
      <p:sp>
        <p:nvSpPr>
          <p:cNvPr id="1659" name="Rectangle 1658">
            <a:extLst>
              <a:ext uri="{FF2B5EF4-FFF2-40B4-BE49-F238E27FC236}">
                <a16:creationId xmlns:a16="http://schemas.microsoft.com/office/drawing/2014/main" id="{ECF1C625-12B2-E34D-A067-737BF51110EE}"/>
              </a:ext>
            </a:extLst>
          </p:cNvPr>
          <p:cNvSpPr/>
          <p:nvPr/>
        </p:nvSpPr>
        <p:spPr>
          <a:xfrm>
            <a:off x="708660" y="3703320"/>
            <a:ext cx="37719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Grows over time — production incidents become new test cases</a:t>
            </a:r>
          </a:p>
          <a:p>
            <a:pPr algn="l">
              <a:buNone/>
            </a:pPr>
            <a:r>
              <a:rPr lang="en-US" sz="100">
                <a:effectLst/>
              </a:rPr>
              <a:t> </a:t>
            </a:r>
            <a:endParaRPr lang="en-US"/>
          </a:p>
        </p:txBody>
      </p:sp>
      <p:sp>
        <p:nvSpPr>
          <p:cNvPr id="1668" name="Rectangle 1667">
            <a:extLst>
              <a:ext uri="{FF2B5EF4-FFF2-40B4-BE49-F238E27FC236}">
                <a16:creationId xmlns:a16="http://schemas.microsoft.com/office/drawing/2014/main" id="{8EC1EC64-7189-9F39-139A-1EAA64DD272A}"/>
              </a:ext>
            </a:extLst>
          </p:cNvPr>
          <p:cNvSpPr/>
          <p:nvPr/>
        </p:nvSpPr>
        <p:spPr>
          <a:xfrm>
            <a:off x="365760" y="4079596"/>
            <a:ext cx="525780" cy="4361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t>
            </a:r>
          </a:p>
          <a:p>
            <a:pPr algn="l">
              <a:buNone/>
            </a:pPr>
            <a:r>
              <a:rPr lang="en-US" sz="100">
                <a:effectLst/>
              </a:rPr>
              <a:t> </a:t>
            </a:r>
            <a:endParaRPr lang="en-US"/>
          </a:p>
        </p:txBody>
      </p:sp>
      <p:sp>
        <p:nvSpPr>
          <p:cNvPr id="1678" name="Rectangle 1677">
            <a:extLst>
              <a:ext uri="{FF2B5EF4-FFF2-40B4-BE49-F238E27FC236}">
                <a16:creationId xmlns:a16="http://schemas.microsoft.com/office/drawing/2014/main" id="{E01F72F7-D12B-9039-8F93-E7F3AB3240F8}"/>
              </a:ext>
            </a:extLst>
          </p:cNvPr>
          <p:cNvSpPr/>
          <p:nvPr/>
        </p:nvSpPr>
        <p:spPr>
          <a:xfrm>
            <a:off x="708660" y="4160520"/>
            <a:ext cx="37719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Feeds your rubric — the same traces seed auto-generated criteria</a:t>
            </a:r>
          </a:p>
          <a:p>
            <a:pPr algn="l">
              <a:buNone/>
            </a:pPr>
            <a:r>
              <a:rPr lang="en-US" sz="100">
                <a:effectLst/>
              </a:rPr>
              <a:t> </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marL="0" indent="0">
              <a:buNone/>
            </a:pPr>
            <a:r>
              <a:rPr lang="en-US" sz="1000" b="1" kern="0" spc="400">
                <a:solidFill>
                  <a:srgbClr val="0F6E73"/>
                </a:solidFill>
                <a:latin typeface="Calibri" pitchFamily="34" charset="0"/>
                <a:ea typeface="Calibri" pitchFamily="34" charset="-122"/>
                <a:cs typeface="Calibri" pitchFamily="34" charset="-120"/>
              </a:rPr>
              <a:t>GETTING STARTED</a:t>
            </a:r>
            <a:endParaRPr lang="en-US" sz="1000"/>
          </a:p>
        </p:txBody>
      </p:sp>
      <p:sp>
        <p:nvSpPr>
          <p:cNvPr id="3" name="Text 1"/>
          <p:cNvSpPr/>
          <p:nvPr/>
        </p:nvSpPr>
        <p:spPr>
          <a:xfrm>
            <a:off x="457200" y="566928"/>
            <a:ext cx="8229600" cy="640080"/>
          </a:xfrm>
          <a:prstGeom prst="rect">
            <a:avLst/>
          </a:prstGeom>
          <a:noFill/>
          <a:ln/>
        </p:spPr>
        <p:txBody>
          <a:bodyPr wrap="square" lIns="0" tIns="0" rIns="0" bIns="0" rtlCol="0" anchor="ctr"/>
          <a:lstStyle/>
          <a:p>
            <a:pPr marL="0" indent="0">
              <a:buNone/>
            </a:pPr>
            <a:r>
              <a:rPr lang="en-US" sz="2800" b="1">
                <a:solidFill>
                  <a:srgbClr val="1F2933"/>
                </a:solidFill>
                <a:latin typeface="Calibri" pitchFamily="34" charset="0"/>
                <a:ea typeface="Calibri" pitchFamily="34" charset="-122"/>
                <a:cs typeface="Calibri" pitchFamily="34" charset="-120"/>
              </a:rPr>
              <a:t>A phased adoption roadmap</a:t>
            </a:r>
            <a:endParaRPr lang="en-US" sz="2800"/>
          </a:p>
        </p:txBody>
      </p:sp>
      <p:sp>
        <p:nvSpPr>
          <p:cNvPr id="4" name="Shape 2"/>
          <p:cNvSpPr/>
          <p:nvPr/>
        </p:nvSpPr>
        <p:spPr>
          <a:xfrm>
            <a:off x="457200" y="1225296"/>
            <a:ext cx="731520" cy="0"/>
          </a:xfrm>
          <a:prstGeom prst="line">
            <a:avLst/>
          </a:prstGeom>
          <a:noFill/>
          <a:ln w="25400">
            <a:solidFill>
              <a:srgbClr val="0F6E73"/>
            </a:solidFill>
            <a:prstDash val="solid"/>
          </a:ln>
        </p:spPr>
        <p:txBody>
          <a:bodyPr/>
          <a:lstStyle/>
          <a:p>
            <a:endParaRPr lang="en-US"/>
          </a:p>
        </p:txBody>
      </p:sp>
      <p:sp>
        <p:nvSpPr>
          <p:cNvPr id="5" name="Shape 3"/>
          <p:cNvSpPr/>
          <p:nvPr/>
        </p:nvSpPr>
        <p:spPr>
          <a:xfrm>
            <a:off x="457200" y="1645920"/>
            <a:ext cx="457200" cy="457200"/>
          </a:xfrm>
          <a:prstGeom prst="ellipse">
            <a:avLst/>
          </a:prstGeom>
          <a:solidFill>
            <a:srgbClr val="0F6E73"/>
          </a:solidFill>
          <a:ln/>
        </p:spPr>
        <p:txBody>
          <a:bodyPr/>
          <a:lstStyle/>
          <a:p>
            <a:endParaRPr lang="en-US"/>
          </a:p>
        </p:txBody>
      </p:sp>
      <p:sp>
        <p:nvSpPr>
          <p:cNvPr id="6" name="Text 4"/>
          <p:cNvSpPr/>
          <p:nvPr/>
        </p:nvSpPr>
        <p:spPr>
          <a:xfrm>
            <a:off x="457200" y="1645920"/>
            <a:ext cx="457200" cy="45720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1</a:t>
            </a:r>
            <a:endParaRPr lang="en-US" sz="1800"/>
          </a:p>
        </p:txBody>
      </p:sp>
      <p:sp>
        <p:nvSpPr>
          <p:cNvPr id="7" name="Text 5"/>
          <p:cNvSpPr/>
          <p:nvPr/>
        </p:nvSpPr>
        <p:spPr>
          <a:xfrm>
            <a:off x="1097280" y="1600200"/>
            <a:ext cx="1828800" cy="365760"/>
          </a:xfrm>
          <a:prstGeom prst="rect">
            <a:avLst/>
          </a:prstGeom>
          <a:noFill/>
          <a:ln/>
        </p:spPr>
        <p:txBody>
          <a:bodyPr wrap="square" lIns="0" tIns="0" rIns="0" bIns="0" rtlCol="0" anchor="ctr"/>
          <a:lstStyle/>
          <a:p>
            <a:pPr marL="0" indent="0">
              <a:buNone/>
            </a:pPr>
            <a:r>
              <a:rPr lang="en-US" sz="1500" b="1">
                <a:solidFill>
                  <a:srgbClr val="1F2933"/>
                </a:solidFill>
                <a:latin typeface="Calibri" pitchFamily="34" charset="0"/>
                <a:ea typeface="Calibri" pitchFamily="34" charset="-122"/>
                <a:cs typeface="Calibri" pitchFamily="34" charset="-120"/>
              </a:rPr>
              <a:t>Foundation</a:t>
            </a:r>
            <a:endParaRPr lang="en-US" sz="1500"/>
          </a:p>
        </p:txBody>
      </p:sp>
      <p:sp>
        <p:nvSpPr>
          <p:cNvPr id="8" name="Text 6"/>
          <p:cNvSpPr/>
          <p:nvPr/>
        </p:nvSpPr>
        <p:spPr>
          <a:xfrm>
            <a:off x="2926080" y="1600200"/>
            <a:ext cx="5760720" cy="594360"/>
          </a:xfrm>
          <a:prstGeom prst="rect">
            <a:avLst/>
          </a:prstGeom>
          <a:noFill/>
          <a:ln/>
        </p:spPr>
        <p:txBody>
          <a:bodyPr wrap="square" lIns="0" tIns="0" rIns="0" bIns="0" rtlCol="0" anchor="ctr"/>
          <a:lstStyle/>
          <a:p>
            <a:pPr marL="0" indent="0">
              <a:buNone/>
            </a:pPr>
            <a:r>
              <a:rPr lang="en-US" sz="1150">
                <a:solidFill>
                  <a:srgbClr val="52606D"/>
                </a:solidFill>
                <a:latin typeface="Calibri" pitchFamily="34" charset="0"/>
                <a:ea typeface="Calibri" pitchFamily="34" charset="-122"/>
                <a:cs typeface="Calibri" pitchFamily="34" charset="-120"/>
              </a:rPr>
              <a:t>Pick one app. Auto-generate a rubric from the agent definition, then add built-ins around it. Build a 50-row golden dataset.</a:t>
            </a:r>
            <a:endParaRPr lang="en-US" sz="1150"/>
          </a:p>
        </p:txBody>
      </p:sp>
      <p:sp>
        <p:nvSpPr>
          <p:cNvPr id="9" name="Shape 7"/>
          <p:cNvSpPr/>
          <p:nvPr/>
        </p:nvSpPr>
        <p:spPr>
          <a:xfrm>
            <a:off x="1097280" y="2194560"/>
            <a:ext cx="7589520" cy="0"/>
          </a:xfrm>
          <a:prstGeom prst="line">
            <a:avLst/>
          </a:prstGeom>
          <a:noFill/>
          <a:ln w="6350">
            <a:solidFill>
              <a:srgbClr val="D8DDE2"/>
            </a:solidFill>
            <a:prstDash val="solid"/>
          </a:ln>
        </p:spPr>
        <p:txBody>
          <a:bodyPr/>
          <a:lstStyle/>
          <a:p>
            <a:endParaRPr lang="en-US"/>
          </a:p>
        </p:txBody>
      </p:sp>
      <p:sp>
        <p:nvSpPr>
          <p:cNvPr id="10" name="Shape 8"/>
          <p:cNvSpPr/>
          <p:nvPr/>
        </p:nvSpPr>
        <p:spPr>
          <a:xfrm>
            <a:off x="457200" y="2331720"/>
            <a:ext cx="457200" cy="457200"/>
          </a:xfrm>
          <a:prstGeom prst="ellipse">
            <a:avLst/>
          </a:prstGeom>
          <a:solidFill>
            <a:srgbClr val="0F6E73"/>
          </a:solidFill>
          <a:ln/>
        </p:spPr>
        <p:txBody>
          <a:bodyPr/>
          <a:lstStyle/>
          <a:p>
            <a:endParaRPr lang="en-US"/>
          </a:p>
        </p:txBody>
      </p:sp>
      <p:sp>
        <p:nvSpPr>
          <p:cNvPr id="11" name="Text 9"/>
          <p:cNvSpPr/>
          <p:nvPr/>
        </p:nvSpPr>
        <p:spPr>
          <a:xfrm>
            <a:off x="457200" y="2331720"/>
            <a:ext cx="457200" cy="45720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2</a:t>
            </a:r>
            <a:endParaRPr lang="en-US" sz="1800"/>
          </a:p>
        </p:txBody>
      </p:sp>
      <p:sp>
        <p:nvSpPr>
          <p:cNvPr id="12" name="Text 10"/>
          <p:cNvSpPr/>
          <p:nvPr/>
        </p:nvSpPr>
        <p:spPr>
          <a:xfrm>
            <a:off x="1097280" y="2286000"/>
            <a:ext cx="1828800" cy="365760"/>
          </a:xfrm>
          <a:prstGeom prst="rect">
            <a:avLst/>
          </a:prstGeom>
          <a:noFill/>
          <a:ln/>
        </p:spPr>
        <p:txBody>
          <a:bodyPr wrap="square" lIns="0" tIns="0" rIns="0" bIns="0" rtlCol="0" anchor="ctr"/>
          <a:lstStyle/>
          <a:p>
            <a:pPr marL="0" indent="0">
              <a:buNone/>
            </a:pPr>
            <a:r>
              <a:rPr lang="en-US" sz="1500" b="1">
                <a:solidFill>
                  <a:srgbClr val="1F2933"/>
                </a:solidFill>
                <a:latin typeface="Calibri" pitchFamily="34" charset="0"/>
                <a:ea typeface="Calibri" pitchFamily="34" charset="-122"/>
                <a:cs typeface="Calibri" pitchFamily="34" charset="-120"/>
              </a:rPr>
              <a:t>Automation</a:t>
            </a:r>
            <a:endParaRPr lang="en-US" sz="1500"/>
          </a:p>
        </p:txBody>
      </p:sp>
      <p:sp>
        <p:nvSpPr>
          <p:cNvPr id="13" name="Text 11"/>
          <p:cNvSpPr/>
          <p:nvPr/>
        </p:nvSpPr>
        <p:spPr>
          <a:xfrm>
            <a:off x="2926080" y="2286000"/>
            <a:ext cx="5760720" cy="594360"/>
          </a:xfrm>
          <a:prstGeom prst="rect">
            <a:avLst/>
          </a:prstGeom>
          <a:noFill/>
          <a:ln/>
        </p:spPr>
        <p:txBody>
          <a:bodyPr wrap="square" lIns="0" tIns="0" rIns="0" bIns="0" rtlCol="0" anchor="ctr"/>
          <a:lstStyle/>
          <a:p>
            <a:pPr marL="0" indent="0">
              <a:buNone/>
            </a:pPr>
            <a:r>
              <a:rPr lang="en-US" sz="1150">
                <a:solidFill>
                  <a:srgbClr val="52606D"/>
                </a:solidFill>
                <a:latin typeface="Calibri" pitchFamily="34" charset="0"/>
                <a:ea typeface="Calibri" pitchFamily="34" charset="-122"/>
                <a:cs typeface="Calibri" pitchFamily="34" charset="-120"/>
              </a:rPr>
              <a:t>Wire evaluators into CI/CD. Set blocking gates. Add safety evaluators. Grow dataset to 100+.</a:t>
            </a:r>
            <a:endParaRPr lang="en-US" sz="1150"/>
          </a:p>
        </p:txBody>
      </p:sp>
      <p:sp>
        <p:nvSpPr>
          <p:cNvPr id="14" name="Shape 12"/>
          <p:cNvSpPr/>
          <p:nvPr/>
        </p:nvSpPr>
        <p:spPr>
          <a:xfrm>
            <a:off x="1097280" y="2880360"/>
            <a:ext cx="7589520" cy="0"/>
          </a:xfrm>
          <a:prstGeom prst="line">
            <a:avLst/>
          </a:prstGeom>
          <a:noFill/>
          <a:ln w="6350">
            <a:solidFill>
              <a:srgbClr val="D8DDE2"/>
            </a:solidFill>
            <a:prstDash val="solid"/>
          </a:ln>
        </p:spPr>
        <p:txBody>
          <a:bodyPr/>
          <a:lstStyle/>
          <a:p>
            <a:endParaRPr lang="en-US"/>
          </a:p>
        </p:txBody>
      </p:sp>
      <p:sp>
        <p:nvSpPr>
          <p:cNvPr id="15" name="Shape 13"/>
          <p:cNvSpPr/>
          <p:nvPr/>
        </p:nvSpPr>
        <p:spPr>
          <a:xfrm>
            <a:off x="457200" y="3017520"/>
            <a:ext cx="457200" cy="457200"/>
          </a:xfrm>
          <a:prstGeom prst="ellipse">
            <a:avLst/>
          </a:prstGeom>
          <a:solidFill>
            <a:srgbClr val="0F6E73"/>
          </a:solidFill>
          <a:ln/>
        </p:spPr>
        <p:txBody>
          <a:bodyPr/>
          <a:lstStyle/>
          <a:p>
            <a:endParaRPr lang="en-US"/>
          </a:p>
        </p:txBody>
      </p:sp>
      <p:sp>
        <p:nvSpPr>
          <p:cNvPr id="16" name="Text 14"/>
          <p:cNvSpPr/>
          <p:nvPr/>
        </p:nvSpPr>
        <p:spPr>
          <a:xfrm>
            <a:off x="457200" y="3017520"/>
            <a:ext cx="457200" cy="45720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3</a:t>
            </a:r>
            <a:endParaRPr lang="en-US" sz="1800"/>
          </a:p>
        </p:txBody>
      </p:sp>
      <p:sp>
        <p:nvSpPr>
          <p:cNvPr id="17" name="Text 15"/>
          <p:cNvSpPr/>
          <p:nvPr/>
        </p:nvSpPr>
        <p:spPr>
          <a:xfrm>
            <a:off x="1097280" y="2971800"/>
            <a:ext cx="1828800" cy="365760"/>
          </a:xfrm>
          <a:prstGeom prst="rect">
            <a:avLst/>
          </a:prstGeom>
          <a:noFill/>
          <a:ln/>
        </p:spPr>
        <p:txBody>
          <a:bodyPr wrap="square" lIns="0" tIns="0" rIns="0" bIns="0" rtlCol="0" anchor="ctr"/>
          <a:lstStyle/>
          <a:p>
            <a:pPr marL="0" indent="0">
              <a:buNone/>
            </a:pPr>
            <a:r>
              <a:rPr lang="en-US" sz="1500" b="1">
                <a:solidFill>
                  <a:srgbClr val="1F2933"/>
                </a:solidFill>
                <a:latin typeface="Calibri" pitchFamily="34" charset="0"/>
                <a:ea typeface="Calibri" pitchFamily="34" charset="-122"/>
                <a:cs typeface="Calibri" pitchFamily="34" charset="-120"/>
              </a:rPr>
              <a:t>Scale</a:t>
            </a:r>
            <a:endParaRPr lang="en-US" sz="1500"/>
          </a:p>
        </p:txBody>
      </p:sp>
      <p:sp>
        <p:nvSpPr>
          <p:cNvPr id="18" name="Text 16"/>
          <p:cNvSpPr/>
          <p:nvPr/>
        </p:nvSpPr>
        <p:spPr>
          <a:xfrm>
            <a:off x="2926080" y="2971800"/>
            <a:ext cx="5760720" cy="594360"/>
          </a:xfrm>
          <a:prstGeom prst="rect">
            <a:avLst/>
          </a:prstGeom>
          <a:noFill/>
          <a:ln/>
        </p:spPr>
        <p:txBody>
          <a:bodyPr wrap="square" lIns="0" tIns="0" rIns="0" bIns="0" rtlCol="0" anchor="ctr"/>
          <a:lstStyle/>
          <a:p>
            <a:pPr marL="0" indent="0">
              <a:buNone/>
            </a:pPr>
            <a:r>
              <a:rPr lang="en-US" sz="1150">
                <a:solidFill>
                  <a:srgbClr val="52606D"/>
                </a:solidFill>
                <a:latin typeface="Calibri" pitchFamily="34" charset="0"/>
                <a:ea typeface="Calibri" pitchFamily="34" charset="-122"/>
                <a:cs typeface="Calibri" pitchFamily="34" charset="-120"/>
              </a:rPr>
              <a:t>Roll out across the AI portfolio. Enable continuous evaluation in production. Schedule red-teaming.</a:t>
            </a:r>
            <a:endParaRPr lang="en-US" sz="1150"/>
          </a:p>
        </p:txBody>
      </p:sp>
      <p:sp>
        <p:nvSpPr>
          <p:cNvPr id="19" name="Shape 17"/>
          <p:cNvSpPr/>
          <p:nvPr/>
        </p:nvSpPr>
        <p:spPr>
          <a:xfrm>
            <a:off x="1097280" y="3566160"/>
            <a:ext cx="7589520" cy="0"/>
          </a:xfrm>
          <a:prstGeom prst="line">
            <a:avLst/>
          </a:prstGeom>
          <a:noFill/>
          <a:ln w="6350">
            <a:solidFill>
              <a:srgbClr val="D8DDE2"/>
            </a:solidFill>
            <a:prstDash val="solid"/>
          </a:ln>
        </p:spPr>
        <p:txBody>
          <a:bodyPr/>
          <a:lstStyle/>
          <a:p>
            <a:endParaRPr lang="en-US"/>
          </a:p>
        </p:txBody>
      </p:sp>
      <p:sp>
        <p:nvSpPr>
          <p:cNvPr id="20" name="Shape 18"/>
          <p:cNvSpPr/>
          <p:nvPr/>
        </p:nvSpPr>
        <p:spPr>
          <a:xfrm>
            <a:off x="457200" y="3703320"/>
            <a:ext cx="457200" cy="457200"/>
          </a:xfrm>
          <a:prstGeom prst="ellipse">
            <a:avLst/>
          </a:prstGeom>
          <a:solidFill>
            <a:srgbClr val="0F6E73"/>
          </a:solidFill>
          <a:ln/>
        </p:spPr>
        <p:txBody>
          <a:bodyPr/>
          <a:lstStyle/>
          <a:p>
            <a:endParaRPr lang="en-US"/>
          </a:p>
        </p:txBody>
      </p:sp>
      <p:sp>
        <p:nvSpPr>
          <p:cNvPr id="21" name="Text 19"/>
          <p:cNvSpPr/>
          <p:nvPr/>
        </p:nvSpPr>
        <p:spPr>
          <a:xfrm>
            <a:off x="457200" y="3703320"/>
            <a:ext cx="457200" cy="457200"/>
          </a:xfrm>
          <a:prstGeom prst="rect">
            <a:avLst/>
          </a:prstGeom>
          <a:noFill/>
          <a:ln/>
        </p:spPr>
        <p:txBody>
          <a:bodyPr wrap="square" lIns="0" tIns="0" rIns="0" bIns="0" rtlCol="0" anchor="ctr"/>
          <a:lstStyle/>
          <a:p>
            <a:pPr marL="0" indent="0" algn="ctr">
              <a:buNone/>
            </a:pPr>
            <a:r>
              <a:rPr lang="en-US" sz="1800" b="1">
                <a:solidFill>
                  <a:srgbClr val="FFFFFF"/>
                </a:solidFill>
                <a:latin typeface="Calibri" pitchFamily="34" charset="0"/>
                <a:ea typeface="Calibri" pitchFamily="34" charset="-122"/>
                <a:cs typeface="Calibri" pitchFamily="34" charset="-120"/>
              </a:rPr>
              <a:t>4</a:t>
            </a:r>
            <a:endParaRPr lang="en-US" sz="1800"/>
          </a:p>
        </p:txBody>
      </p:sp>
      <p:sp>
        <p:nvSpPr>
          <p:cNvPr id="22" name="Text 20"/>
          <p:cNvSpPr/>
          <p:nvPr/>
        </p:nvSpPr>
        <p:spPr>
          <a:xfrm>
            <a:off x="1097280" y="3657600"/>
            <a:ext cx="1828800" cy="365760"/>
          </a:xfrm>
          <a:prstGeom prst="rect">
            <a:avLst/>
          </a:prstGeom>
          <a:noFill/>
          <a:ln/>
        </p:spPr>
        <p:txBody>
          <a:bodyPr wrap="square" lIns="0" tIns="0" rIns="0" bIns="0" rtlCol="0" anchor="ctr"/>
          <a:lstStyle/>
          <a:p>
            <a:pPr marL="0" indent="0">
              <a:buNone/>
            </a:pPr>
            <a:r>
              <a:rPr lang="en-US" sz="1500" b="1">
                <a:solidFill>
                  <a:srgbClr val="1F2933"/>
                </a:solidFill>
                <a:latin typeface="Calibri" pitchFamily="34" charset="0"/>
                <a:ea typeface="Calibri" pitchFamily="34" charset="-122"/>
                <a:cs typeface="Calibri" pitchFamily="34" charset="-120"/>
              </a:rPr>
              <a:t>Maturity</a:t>
            </a:r>
            <a:endParaRPr lang="en-US" sz="1500"/>
          </a:p>
        </p:txBody>
      </p:sp>
      <p:sp>
        <p:nvSpPr>
          <p:cNvPr id="23" name="Text 21"/>
          <p:cNvSpPr/>
          <p:nvPr/>
        </p:nvSpPr>
        <p:spPr>
          <a:xfrm>
            <a:off x="2926080" y="3657600"/>
            <a:ext cx="5760720" cy="594360"/>
          </a:xfrm>
          <a:prstGeom prst="rect">
            <a:avLst/>
          </a:prstGeom>
          <a:noFill/>
          <a:ln/>
        </p:spPr>
        <p:txBody>
          <a:bodyPr wrap="square" lIns="0" tIns="0" rIns="0" bIns="0" rtlCol="0" anchor="ctr"/>
          <a:lstStyle/>
          <a:p>
            <a:pPr marL="0" indent="0">
              <a:buNone/>
            </a:pPr>
            <a:r>
              <a:rPr lang="en-US" sz="1150">
                <a:solidFill>
                  <a:srgbClr val="52606D"/>
                </a:solidFill>
                <a:latin typeface="Calibri" pitchFamily="34" charset="0"/>
                <a:ea typeface="Calibri" pitchFamily="34" charset="-122"/>
                <a:cs typeface="Calibri" pitchFamily="34" charset="-120"/>
              </a:rPr>
              <a:t>Centralize governance: shared rubric libraries and weighting standards, threshold policy, shared datasets, executive reporting.</a:t>
            </a:r>
            <a:endParaRPr lang="en-US" sz="1150"/>
          </a:p>
        </p:txBody>
      </p:sp>
      <p:sp>
        <p:nvSpPr>
          <p:cNvPr id="24" name="Text 22"/>
          <p:cNvSpPr/>
          <p:nvPr/>
        </p:nvSpPr>
        <p:spPr>
          <a:xfrm>
            <a:off x="457200" y="4823460"/>
            <a:ext cx="5486400" cy="228600"/>
          </a:xfrm>
          <a:prstGeom prst="rect">
            <a:avLst/>
          </a:prstGeom>
          <a:noFill/>
          <a:ln/>
        </p:spPr>
        <p:txBody>
          <a:bodyPr wrap="square" lIns="0" tIns="0" rIns="0" bIns="0" rtlCol="0" anchor="ctr"/>
          <a:lstStyle/>
          <a:p>
            <a:pPr marL="0" indent="0">
              <a:buNone/>
            </a:pPr>
            <a:r>
              <a:rPr lang="en-US" sz="900">
                <a:solidFill>
                  <a:srgbClr val="52606D"/>
                </a:solidFill>
                <a:latin typeface="Calibri" pitchFamily="34" charset="0"/>
                <a:ea typeface="Calibri" pitchFamily="34" charset="-122"/>
                <a:cs typeface="Calibri" pitchFamily="34" charset="-120"/>
              </a:rPr>
              <a:t>AI Evaluations  ·  Microsoft Agent Framework</a:t>
            </a:r>
            <a:endParaRPr lang="en-US" sz="900"/>
          </a:p>
        </p:txBody>
      </p:sp>
      <p:sp>
        <p:nvSpPr>
          <p:cNvPr id="25" name="Text 23"/>
          <p:cNvSpPr/>
          <p:nvPr/>
        </p:nvSpPr>
        <p:spPr>
          <a:xfrm>
            <a:off x="8046720" y="4823460"/>
            <a:ext cx="640080" cy="228600"/>
          </a:xfrm>
          <a:prstGeom prst="rect">
            <a:avLst/>
          </a:prstGeom>
          <a:noFill/>
          <a:ln/>
        </p:spPr>
        <p:txBody>
          <a:bodyPr wrap="square" lIns="0" tIns="0" rIns="0" bIns="0" rtlCol="0" anchor="ctr"/>
          <a:lstStyle/>
          <a:p>
            <a:pPr marL="0" indent="0" algn="r">
              <a:buNone/>
            </a:pPr>
            <a:r>
              <a:rPr lang="en-US" sz="900">
                <a:solidFill>
                  <a:srgbClr val="52606D"/>
                </a:solidFill>
                <a:latin typeface="Calibri" pitchFamily="34" charset="0"/>
                <a:ea typeface="Calibri" pitchFamily="34" charset="-122"/>
                <a:cs typeface="Calibri" pitchFamily="34" charset="-120"/>
              </a:rPr>
              <a:t>18 / 19</a:t>
            </a:r>
            <a:endParaRPr lang="en-US" sz="9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marL="0" indent="0">
              <a:buNone/>
            </a:pPr>
            <a:r>
              <a:rPr lang="en-US" sz="1000" b="1" kern="0" spc="400">
                <a:solidFill>
                  <a:srgbClr val="0F6E73"/>
                </a:solidFill>
                <a:latin typeface="Calibri" pitchFamily="34" charset="0"/>
                <a:ea typeface="Calibri" pitchFamily="34" charset="-122"/>
                <a:cs typeface="Calibri" pitchFamily="34" charset="-120"/>
              </a:rPr>
              <a:t>WHERE TO GO NEXT</a:t>
            </a:r>
            <a:endParaRPr lang="en-US" sz="1000"/>
          </a:p>
        </p:txBody>
      </p:sp>
      <p:sp>
        <p:nvSpPr>
          <p:cNvPr id="3" name="Text 1"/>
          <p:cNvSpPr/>
          <p:nvPr/>
        </p:nvSpPr>
        <p:spPr>
          <a:xfrm>
            <a:off x="457200" y="566928"/>
            <a:ext cx="8229600" cy="640080"/>
          </a:xfrm>
          <a:prstGeom prst="rect">
            <a:avLst/>
          </a:prstGeom>
          <a:noFill/>
          <a:ln/>
        </p:spPr>
        <p:txBody>
          <a:bodyPr wrap="square" lIns="0" tIns="0" rIns="0" bIns="0" rtlCol="0" anchor="ctr"/>
          <a:lstStyle/>
          <a:p>
            <a:pPr marL="0" indent="0">
              <a:buNone/>
            </a:pPr>
            <a:r>
              <a:rPr lang="en-US" sz="2800" b="1">
                <a:solidFill>
                  <a:srgbClr val="1F2933"/>
                </a:solidFill>
                <a:latin typeface="Calibri" pitchFamily="34" charset="0"/>
                <a:ea typeface="Calibri" pitchFamily="34" charset="-122"/>
                <a:cs typeface="Calibri" pitchFamily="34" charset="-120"/>
              </a:rPr>
              <a:t>References</a:t>
            </a:r>
            <a:endParaRPr lang="en-US" sz="2800"/>
          </a:p>
        </p:txBody>
      </p:sp>
      <p:sp>
        <p:nvSpPr>
          <p:cNvPr id="4" name="Shape 2"/>
          <p:cNvSpPr/>
          <p:nvPr/>
        </p:nvSpPr>
        <p:spPr>
          <a:xfrm>
            <a:off x="457200" y="1225296"/>
            <a:ext cx="731520" cy="0"/>
          </a:xfrm>
          <a:prstGeom prst="line">
            <a:avLst/>
          </a:prstGeom>
          <a:noFill/>
          <a:ln w="25400">
            <a:solidFill>
              <a:srgbClr val="0F6E73"/>
            </a:solidFill>
            <a:prstDash val="solid"/>
          </a:ln>
        </p:spPr>
        <p:txBody>
          <a:bodyPr/>
          <a:lstStyle/>
          <a:p>
            <a:endParaRPr lang="en-US"/>
          </a:p>
        </p:txBody>
      </p:sp>
      <p:sp>
        <p:nvSpPr>
          <p:cNvPr id="5" name="Text 3"/>
          <p:cNvSpPr/>
          <p:nvPr/>
        </p:nvSpPr>
        <p:spPr>
          <a:xfrm>
            <a:off x="457200" y="1508760"/>
            <a:ext cx="3657600" cy="32004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Built-in evaluators reference</a:t>
            </a:r>
            <a:endParaRPr lang="en-US" sz="1200"/>
          </a:p>
        </p:txBody>
      </p:sp>
      <p:sp>
        <p:nvSpPr>
          <p:cNvPr id="6" name="Text 4"/>
          <p:cNvSpPr/>
          <p:nvPr/>
        </p:nvSpPr>
        <p:spPr>
          <a:xfrm>
            <a:off x="4160520" y="1508760"/>
            <a:ext cx="4572000" cy="320040"/>
          </a:xfrm>
          <a:prstGeom prst="rect">
            <a:avLst/>
          </a:prstGeom>
          <a:noFill/>
          <a:ln/>
        </p:spPr>
        <p:txBody>
          <a:bodyPr wrap="square" lIns="0" tIns="0" rIns="0" bIns="0" rtlCol="0" anchor="ctr"/>
          <a:lstStyle/>
          <a:p>
            <a:pPr marL="0" indent="0">
              <a:buNone/>
            </a:pPr>
            <a:r>
              <a:rPr lang="en-US" sz="1000">
                <a:solidFill>
                  <a:srgbClr val="0F6E73"/>
                </a:solidFill>
                <a:latin typeface="Consolas" pitchFamily="34" charset="0"/>
                <a:ea typeface="Consolas" pitchFamily="34" charset="-122"/>
                <a:cs typeface="Consolas" pitchFamily="34" charset="-120"/>
              </a:rPr>
              <a:t>learn.microsoft.com/azure/foundry/concepts/built-in-evaluators</a:t>
            </a:r>
            <a:endParaRPr lang="en-US" sz="1000"/>
          </a:p>
        </p:txBody>
      </p:sp>
      <p:sp>
        <p:nvSpPr>
          <p:cNvPr id="7" name="Shape 5"/>
          <p:cNvSpPr/>
          <p:nvPr/>
        </p:nvSpPr>
        <p:spPr>
          <a:xfrm>
            <a:off x="457200" y="1874520"/>
            <a:ext cx="8229600" cy="0"/>
          </a:xfrm>
          <a:prstGeom prst="line">
            <a:avLst/>
          </a:prstGeom>
          <a:noFill/>
          <a:ln w="5080">
            <a:solidFill>
              <a:srgbClr val="D8DDE2"/>
            </a:solidFill>
            <a:prstDash val="solid"/>
          </a:ln>
        </p:spPr>
        <p:txBody>
          <a:bodyPr/>
          <a:lstStyle/>
          <a:p>
            <a:endParaRPr lang="en-US"/>
          </a:p>
        </p:txBody>
      </p:sp>
      <p:sp>
        <p:nvSpPr>
          <p:cNvPr id="8" name="Text 6"/>
          <p:cNvSpPr/>
          <p:nvPr/>
        </p:nvSpPr>
        <p:spPr>
          <a:xfrm>
            <a:off x="457200" y="1920240"/>
            <a:ext cx="3657600" cy="32004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General purpose evaluators</a:t>
            </a:r>
            <a:endParaRPr lang="en-US" sz="1200"/>
          </a:p>
        </p:txBody>
      </p:sp>
      <p:sp>
        <p:nvSpPr>
          <p:cNvPr id="9" name="Text 7"/>
          <p:cNvSpPr/>
          <p:nvPr/>
        </p:nvSpPr>
        <p:spPr>
          <a:xfrm>
            <a:off x="4160520" y="1920240"/>
            <a:ext cx="4572000" cy="320040"/>
          </a:xfrm>
          <a:prstGeom prst="rect">
            <a:avLst/>
          </a:prstGeom>
          <a:noFill/>
          <a:ln/>
        </p:spPr>
        <p:txBody>
          <a:bodyPr wrap="square" lIns="0" tIns="0" rIns="0" bIns="0" rtlCol="0" anchor="ctr"/>
          <a:lstStyle/>
          <a:p>
            <a:pPr marL="0" indent="0">
              <a:buNone/>
            </a:pPr>
            <a:r>
              <a:rPr lang="en-US" sz="1000">
                <a:solidFill>
                  <a:srgbClr val="0F6E73"/>
                </a:solidFill>
                <a:latin typeface="Consolas" pitchFamily="34" charset="0"/>
                <a:ea typeface="Consolas" pitchFamily="34" charset="-122"/>
                <a:cs typeface="Consolas" pitchFamily="34" charset="-120"/>
              </a:rPr>
              <a:t>learn.microsoft.com/azure/foundry/concepts/evaluation-evaluators/general-purpose-evaluators</a:t>
            </a:r>
            <a:endParaRPr lang="en-US" sz="1000"/>
          </a:p>
        </p:txBody>
      </p:sp>
      <p:sp>
        <p:nvSpPr>
          <p:cNvPr id="10" name="Shape 8"/>
          <p:cNvSpPr/>
          <p:nvPr/>
        </p:nvSpPr>
        <p:spPr>
          <a:xfrm>
            <a:off x="457200" y="2286000"/>
            <a:ext cx="8229600" cy="0"/>
          </a:xfrm>
          <a:prstGeom prst="line">
            <a:avLst/>
          </a:prstGeom>
          <a:noFill/>
          <a:ln w="5080">
            <a:solidFill>
              <a:srgbClr val="D8DDE2"/>
            </a:solidFill>
            <a:prstDash val="solid"/>
          </a:ln>
        </p:spPr>
        <p:txBody>
          <a:bodyPr/>
          <a:lstStyle/>
          <a:p>
            <a:endParaRPr lang="en-US"/>
          </a:p>
        </p:txBody>
      </p:sp>
      <p:sp>
        <p:nvSpPr>
          <p:cNvPr id="11" name="Text 9"/>
          <p:cNvSpPr/>
          <p:nvPr/>
        </p:nvSpPr>
        <p:spPr>
          <a:xfrm>
            <a:off x="457200" y="2331720"/>
            <a:ext cx="3657600" cy="32004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RAG evaluators</a:t>
            </a:r>
            <a:endParaRPr lang="en-US" sz="1200"/>
          </a:p>
        </p:txBody>
      </p:sp>
      <p:sp>
        <p:nvSpPr>
          <p:cNvPr id="12" name="Text 10"/>
          <p:cNvSpPr/>
          <p:nvPr/>
        </p:nvSpPr>
        <p:spPr>
          <a:xfrm>
            <a:off x="4160520" y="2331720"/>
            <a:ext cx="4572000" cy="320040"/>
          </a:xfrm>
          <a:prstGeom prst="rect">
            <a:avLst/>
          </a:prstGeom>
          <a:noFill/>
          <a:ln/>
        </p:spPr>
        <p:txBody>
          <a:bodyPr wrap="square" lIns="0" tIns="0" rIns="0" bIns="0" rtlCol="0" anchor="ctr"/>
          <a:lstStyle/>
          <a:p>
            <a:pPr marL="0" indent="0">
              <a:buNone/>
            </a:pPr>
            <a:r>
              <a:rPr lang="en-US" sz="1000">
                <a:solidFill>
                  <a:srgbClr val="0F6E73"/>
                </a:solidFill>
                <a:latin typeface="Consolas" pitchFamily="34" charset="0"/>
                <a:ea typeface="Consolas" pitchFamily="34" charset="-122"/>
                <a:cs typeface="Consolas" pitchFamily="34" charset="-120"/>
              </a:rPr>
              <a:t>learn.microsoft.com/azure/foundry/concepts/evaluation-evaluators/rag-evaluators</a:t>
            </a:r>
            <a:endParaRPr lang="en-US" sz="1000"/>
          </a:p>
        </p:txBody>
      </p:sp>
      <p:sp>
        <p:nvSpPr>
          <p:cNvPr id="13" name="Shape 11"/>
          <p:cNvSpPr/>
          <p:nvPr/>
        </p:nvSpPr>
        <p:spPr>
          <a:xfrm>
            <a:off x="457200" y="2697480"/>
            <a:ext cx="8229600" cy="0"/>
          </a:xfrm>
          <a:prstGeom prst="line">
            <a:avLst/>
          </a:prstGeom>
          <a:noFill/>
          <a:ln w="5080">
            <a:solidFill>
              <a:srgbClr val="D8DDE2"/>
            </a:solidFill>
            <a:prstDash val="solid"/>
          </a:ln>
        </p:spPr>
        <p:txBody>
          <a:bodyPr/>
          <a:lstStyle/>
          <a:p>
            <a:endParaRPr lang="en-US"/>
          </a:p>
        </p:txBody>
      </p:sp>
      <p:sp>
        <p:nvSpPr>
          <p:cNvPr id="14" name="Text 12"/>
          <p:cNvSpPr/>
          <p:nvPr/>
        </p:nvSpPr>
        <p:spPr>
          <a:xfrm>
            <a:off x="457200" y="2743200"/>
            <a:ext cx="3657600" cy="32004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Agent evaluators</a:t>
            </a:r>
            <a:endParaRPr lang="en-US" sz="1200"/>
          </a:p>
        </p:txBody>
      </p:sp>
      <p:sp>
        <p:nvSpPr>
          <p:cNvPr id="15" name="Text 13"/>
          <p:cNvSpPr/>
          <p:nvPr/>
        </p:nvSpPr>
        <p:spPr>
          <a:xfrm>
            <a:off x="4160520" y="2743200"/>
            <a:ext cx="4572000" cy="320040"/>
          </a:xfrm>
          <a:prstGeom prst="rect">
            <a:avLst/>
          </a:prstGeom>
          <a:noFill/>
          <a:ln/>
        </p:spPr>
        <p:txBody>
          <a:bodyPr wrap="square" lIns="0" tIns="0" rIns="0" bIns="0" rtlCol="0" anchor="ctr"/>
          <a:lstStyle/>
          <a:p>
            <a:pPr marL="0" indent="0">
              <a:buNone/>
            </a:pPr>
            <a:r>
              <a:rPr lang="en-US" sz="1000">
                <a:solidFill>
                  <a:srgbClr val="0F6E73"/>
                </a:solidFill>
                <a:latin typeface="Consolas" pitchFamily="34" charset="0"/>
                <a:ea typeface="Consolas" pitchFamily="34" charset="-122"/>
                <a:cs typeface="Consolas" pitchFamily="34" charset="-120"/>
              </a:rPr>
              <a:t>learn.microsoft.com/azure/foundry/concepts/evaluation-evaluators/agent-evaluators</a:t>
            </a:r>
            <a:endParaRPr lang="en-US" sz="1000"/>
          </a:p>
        </p:txBody>
      </p:sp>
      <p:sp>
        <p:nvSpPr>
          <p:cNvPr id="16" name="Shape 14"/>
          <p:cNvSpPr/>
          <p:nvPr/>
        </p:nvSpPr>
        <p:spPr>
          <a:xfrm>
            <a:off x="457200" y="3108960"/>
            <a:ext cx="8229600" cy="0"/>
          </a:xfrm>
          <a:prstGeom prst="line">
            <a:avLst/>
          </a:prstGeom>
          <a:noFill/>
          <a:ln w="5080">
            <a:solidFill>
              <a:srgbClr val="D8DDE2"/>
            </a:solidFill>
            <a:prstDash val="solid"/>
          </a:ln>
        </p:spPr>
        <p:txBody>
          <a:bodyPr/>
          <a:lstStyle/>
          <a:p>
            <a:endParaRPr lang="en-US"/>
          </a:p>
        </p:txBody>
      </p:sp>
      <p:sp>
        <p:nvSpPr>
          <p:cNvPr id="17" name="Text 15"/>
          <p:cNvSpPr/>
          <p:nvPr/>
        </p:nvSpPr>
        <p:spPr>
          <a:xfrm>
            <a:off x="457200" y="3154680"/>
            <a:ext cx="3657600" cy="32004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Risk &amp; safety evaluators</a:t>
            </a:r>
            <a:endParaRPr lang="en-US" sz="1200"/>
          </a:p>
        </p:txBody>
      </p:sp>
      <p:sp>
        <p:nvSpPr>
          <p:cNvPr id="18" name="Text 16"/>
          <p:cNvSpPr/>
          <p:nvPr/>
        </p:nvSpPr>
        <p:spPr>
          <a:xfrm>
            <a:off x="4160520" y="3154680"/>
            <a:ext cx="4572000" cy="320040"/>
          </a:xfrm>
          <a:prstGeom prst="rect">
            <a:avLst/>
          </a:prstGeom>
          <a:noFill/>
          <a:ln/>
        </p:spPr>
        <p:txBody>
          <a:bodyPr wrap="square" lIns="0" tIns="0" rIns="0" bIns="0" rtlCol="0" anchor="ctr"/>
          <a:lstStyle/>
          <a:p>
            <a:pPr marL="0" indent="0">
              <a:buNone/>
            </a:pPr>
            <a:r>
              <a:rPr lang="en-US" sz="1000">
                <a:solidFill>
                  <a:srgbClr val="0F6E73"/>
                </a:solidFill>
                <a:latin typeface="Consolas" pitchFamily="34" charset="0"/>
                <a:ea typeface="Consolas" pitchFamily="34" charset="-122"/>
                <a:cs typeface="Consolas" pitchFamily="34" charset="-120"/>
              </a:rPr>
              <a:t>learn.microsoft.com/azure/foundry/concepts/evaluation-evaluators/risk-safety-evaluators</a:t>
            </a:r>
            <a:endParaRPr lang="en-US" sz="1000"/>
          </a:p>
        </p:txBody>
      </p:sp>
      <p:sp>
        <p:nvSpPr>
          <p:cNvPr id="19" name="Shape 17"/>
          <p:cNvSpPr/>
          <p:nvPr/>
        </p:nvSpPr>
        <p:spPr>
          <a:xfrm>
            <a:off x="457200" y="3520440"/>
            <a:ext cx="8229600" cy="0"/>
          </a:xfrm>
          <a:prstGeom prst="line">
            <a:avLst/>
          </a:prstGeom>
          <a:noFill/>
          <a:ln w="5080">
            <a:solidFill>
              <a:srgbClr val="D8DDE2"/>
            </a:solidFill>
            <a:prstDash val="solid"/>
          </a:ln>
        </p:spPr>
        <p:txBody>
          <a:bodyPr/>
          <a:lstStyle/>
          <a:p>
            <a:endParaRPr lang="en-US"/>
          </a:p>
        </p:txBody>
      </p:sp>
      <p:sp>
        <p:nvSpPr>
          <p:cNvPr id="20" name="Text 18"/>
          <p:cNvSpPr/>
          <p:nvPr/>
        </p:nvSpPr>
        <p:spPr>
          <a:xfrm>
            <a:off x="457200" y="3566160"/>
            <a:ext cx="3657600" cy="32004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Custom evaluators (preview)</a:t>
            </a:r>
            <a:endParaRPr lang="en-US" sz="1200"/>
          </a:p>
        </p:txBody>
      </p:sp>
      <p:sp>
        <p:nvSpPr>
          <p:cNvPr id="21" name="Text 19"/>
          <p:cNvSpPr/>
          <p:nvPr/>
        </p:nvSpPr>
        <p:spPr>
          <a:xfrm>
            <a:off x="4160520" y="3566160"/>
            <a:ext cx="4572000" cy="320040"/>
          </a:xfrm>
          <a:prstGeom prst="rect">
            <a:avLst/>
          </a:prstGeom>
          <a:noFill/>
          <a:ln/>
        </p:spPr>
        <p:txBody>
          <a:bodyPr wrap="square" lIns="0" tIns="0" rIns="0" bIns="0" rtlCol="0" anchor="ctr"/>
          <a:lstStyle/>
          <a:p>
            <a:pPr marL="0" indent="0">
              <a:buNone/>
            </a:pPr>
            <a:r>
              <a:rPr lang="en-US" sz="1000">
                <a:solidFill>
                  <a:srgbClr val="0F6E73"/>
                </a:solidFill>
                <a:latin typeface="Consolas" pitchFamily="34" charset="0"/>
                <a:ea typeface="Consolas" pitchFamily="34" charset="-122"/>
                <a:cs typeface="Consolas" pitchFamily="34" charset="-120"/>
              </a:rPr>
              <a:t>learn.microsoft.com/azure/foundry/concepts/evaluation-evaluators/custom-evaluators</a:t>
            </a:r>
            <a:endParaRPr lang="en-US" sz="1000"/>
          </a:p>
        </p:txBody>
      </p:sp>
      <p:sp>
        <p:nvSpPr>
          <p:cNvPr id="22" name="Shape 20"/>
          <p:cNvSpPr/>
          <p:nvPr/>
        </p:nvSpPr>
        <p:spPr>
          <a:xfrm>
            <a:off x="457200" y="3931920"/>
            <a:ext cx="8229600" cy="0"/>
          </a:xfrm>
          <a:prstGeom prst="line">
            <a:avLst/>
          </a:prstGeom>
          <a:noFill/>
          <a:ln w="5080">
            <a:solidFill>
              <a:srgbClr val="D8DDE2"/>
            </a:solidFill>
            <a:prstDash val="solid"/>
          </a:ln>
        </p:spPr>
        <p:txBody>
          <a:bodyPr/>
          <a:lstStyle/>
          <a:p>
            <a:endParaRPr lang="en-US"/>
          </a:p>
        </p:txBody>
      </p:sp>
      <p:sp>
        <p:nvSpPr>
          <p:cNvPr id="23" name="Text 21"/>
          <p:cNvSpPr/>
          <p:nvPr/>
        </p:nvSpPr>
        <p:spPr>
          <a:xfrm>
            <a:off x="457200" y="4389120"/>
            <a:ext cx="3657600" cy="320040"/>
          </a:xfrm>
          <a:prstGeom prst="rect">
            <a:avLst/>
          </a:prstGeom>
          <a:noFill/>
          <a:ln/>
        </p:spPr>
        <p:txBody>
          <a:bodyPr wrap="square" lIns="0" tIns="0" rIns="0" bIns="0" rtlCol="0" anchor="ctr"/>
          <a:lstStyle/>
          <a:p>
            <a:pPr marL="0" indent="0">
              <a:buNone/>
            </a:pPr>
            <a:r>
              <a:rPr lang="en-US" sz="1200" b="1">
                <a:solidFill>
                  <a:srgbClr val="1F2933"/>
                </a:solidFill>
                <a:latin typeface="Calibri" pitchFamily="34" charset="0"/>
                <a:ea typeface="Calibri" pitchFamily="34" charset="-122"/>
                <a:cs typeface="Calibri" pitchFamily="34" charset="-120"/>
              </a:rPr>
              <a:t>NIST AI Risk Management Framework</a:t>
            </a:r>
            <a:endParaRPr lang="en-US" sz="1200"/>
          </a:p>
        </p:txBody>
      </p:sp>
      <p:sp>
        <p:nvSpPr>
          <p:cNvPr id="24" name="Text 22"/>
          <p:cNvSpPr/>
          <p:nvPr/>
        </p:nvSpPr>
        <p:spPr>
          <a:xfrm>
            <a:off x="4160520" y="4389120"/>
            <a:ext cx="4572000" cy="320040"/>
          </a:xfrm>
          <a:prstGeom prst="rect">
            <a:avLst/>
          </a:prstGeom>
          <a:noFill/>
          <a:ln/>
        </p:spPr>
        <p:txBody>
          <a:bodyPr wrap="square" lIns="0" tIns="0" rIns="0" bIns="0" rtlCol="0" anchor="ctr"/>
          <a:lstStyle/>
          <a:p>
            <a:pPr marL="0" indent="0">
              <a:buNone/>
            </a:pPr>
            <a:r>
              <a:rPr lang="en-US" sz="1000">
                <a:solidFill>
                  <a:srgbClr val="0F6E73"/>
                </a:solidFill>
                <a:latin typeface="Consolas" pitchFamily="34" charset="0"/>
                <a:ea typeface="Consolas" pitchFamily="34" charset="-122"/>
                <a:cs typeface="Consolas" pitchFamily="34" charset="-120"/>
              </a:rPr>
              <a:t>nist.gov/itl/ai-risk-management-framework</a:t>
            </a:r>
            <a:endParaRPr lang="en-US" sz="1000"/>
          </a:p>
        </p:txBody>
      </p:sp>
      <p:sp>
        <p:nvSpPr>
          <p:cNvPr id="25" name="Shape 23"/>
          <p:cNvSpPr/>
          <p:nvPr/>
        </p:nvSpPr>
        <p:spPr>
          <a:xfrm>
            <a:off x="457200" y="4343400"/>
            <a:ext cx="8229600" cy="0"/>
          </a:xfrm>
          <a:prstGeom prst="line">
            <a:avLst/>
          </a:prstGeom>
          <a:noFill/>
          <a:ln w="5080">
            <a:solidFill>
              <a:srgbClr val="D8DDE2"/>
            </a:solidFill>
            <a:prstDash val="solid"/>
          </a:ln>
        </p:spPr>
        <p:txBody>
          <a:bodyPr/>
          <a:lstStyle/>
          <a:p>
            <a:endParaRPr lang="en-US"/>
          </a:p>
        </p:txBody>
      </p:sp>
      <p:sp>
        <p:nvSpPr>
          <p:cNvPr id="26" name="Text 24"/>
          <p:cNvSpPr/>
          <p:nvPr/>
        </p:nvSpPr>
        <p:spPr>
          <a:xfrm>
            <a:off x="457200" y="4823460"/>
            <a:ext cx="5486400" cy="228600"/>
          </a:xfrm>
          <a:prstGeom prst="rect">
            <a:avLst/>
          </a:prstGeom>
          <a:noFill/>
          <a:ln/>
        </p:spPr>
        <p:txBody>
          <a:bodyPr wrap="square" lIns="0" tIns="0" rIns="0" bIns="0" rtlCol="0" anchor="ctr"/>
          <a:lstStyle/>
          <a:p>
            <a:pPr marL="0" indent="0">
              <a:buNone/>
            </a:pPr>
            <a:r>
              <a:rPr lang="en-US" sz="900">
                <a:solidFill>
                  <a:srgbClr val="52606D"/>
                </a:solidFill>
                <a:latin typeface="Calibri" pitchFamily="34" charset="0"/>
                <a:ea typeface="Calibri" pitchFamily="34" charset="-122"/>
                <a:cs typeface="Calibri" pitchFamily="34" charset="-120"/>
              </a:rPr>
              <a:t>AI Evaluations  ·  Microsoft Agent Framework</a:t>
            </a:r>
            <a:endParaRPr lang="en-US" sz="900"/>
          </a:p>
        </p:txBody>
      </p:sp>
      <p:sp>
        <p:nvSpPr>
          <p:cNvPr id="27" name="Text 25"/>
          <p:cNvSpPr/>
          <p:nvPr/>
        </p:nvSpPr>
        <p:spPr>
          <a:xfrm>
            <a:off x="8046720" y="4823460"/>
            <a:ext cx="640080" cy="228600"/>
          </a:xfrm>
          <a:prstGeom prst="rect">
            <a:avLst/>
          </a:prstGeom>
          <a:noFill/>
          <a:ln/>
        </p:spPr>
        <p:txBody>
          <a:bodyPr wrap="square" lIns="0" tIns="0" rIns="0" bIns="0" rtlCol="0" anchor="ctr"/>
          <a:lstStyle/>
          <a:p>
            <a:pPr marL="0" indent="0" algn="r">
              <a:buNone/>
            </a:pPr>
            <a:r>
              <a:rPr lang="en-US" sz="900">
                <a:solidFill>
                  <a:srgbClr val="52606D"/>
                </a:solidFill>
                <a:latin typeface="Calibri" pitchFamily="34" charset="0"/>
                <a:ea typeface="Calibri" pitchFamily="34" charset="-122"/>
                <a:cs typeface="Calibri" pitchFamily="34" charset="-120"/>
              </a:rPr>
              <a:t>19 / 19</a:t>
            </a:r>
            <a:endParaRPr lang="en-US" sz="900"/>
          </a:p>
        </p:txBody>
      </p:sp>
      <p:sp>
        <p:nvSpPr>
          <p:cNvPr id="1073" name="Rectangle 1072">
            <a:extLst>
              <a:ext uri="{FF2B5EF4-FFF2-40B4-BE49-F238E27FC236}">
                <a16:creationId xmlns:a16="http://schemas.microsoft.com/office/drawing/2014/main" id="{5C640153-2E02-FFF6-C267-0CFF3985ECA9}"/>
              </a:ext>
            </a:extLst>
          </p:cNvPr>
          <p:cNvSpPr/>
          <p:nvPr/>
        </p:nvSpPr>
        <p:spPr>
          <a:xfrm>
            <a:off x="365760" y="3977640"/>
            <a:ext cx="384048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Rubric evaluators (preview)</a:t>
            </a:r>
          </a:p>
          <a:p>
            <a:pPr algn="l">
              <a:buNone/>
            </a:pPr>
            <a:r>
              <a:rPr lang="en-US" sz="100" b="1">
                <a:effectLst/>
              </a:rPr>
              <a:t> </a:t>
            </a:r>
            <a:endParaRPr lang="en-US" b="1"/>
          </a:p>
        </p:txBody>
      </p:sp>
      <p:sp>
        <p:nvSpPr>
          <p:cNvPr id="1076" name="Rectangle 1075">
            <a:extLst>
              <a:ext uri="{FF2B5EF4-FFF2-40B4-BE49-F238E27FC236}">
                <a16:creationId xmlns:a16="http://schemas.microsoft.com/office/drawing/2014/main" id="{E27C2594-579A-A4EA-4424-C9C06E768138}"/>
              </a:ext>
            </a:extLst>
          </p:cNvPr>
          <p:cNvSpPr/>
          <p:nvPr/>
        </p:nvSpPr>
        <p:spPr>
          <a:xfrm>
            <a:off x="4069080" y="3977640"/>
            <a:ext cx="475488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000">
                <a:solidFill>
                  <a:srgbClr val="0F6E73"/>
                </a:solidFill>
                <a:effectLst/>
                <a:latin typeface="Consolas" panose="020B0609020204030204" pitchFamily="49" charset="0"/>
              </a:rPr>
              <a:t>learn.microsoft.com/azure/foundry/concepts/evaluation-evaluators/rubric-evaluators</a:t>
            </a:r>
          </a:p>
          <a:p>
            <a:pPr algn="l">
              <a:buNone/>
            </a:pPr>
            <a:r>
              <a:rPr lang="en-US" sz="100">
                <a:effectLst/>
              </a:rPr>
              <a:t> </a:t>
            </a: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fbde396-1a24-4c79-8edf-9254a0f35055}"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3165</Words>
  <Application>Microsoft Macintosh PowerPoint</Application>
  <PresentationFormat>On-screen Show (16:9)</PresentationFormat>
  <Paragraphs>442</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Evaluations for Agent Framework Developers</dc:title>
  <dc:subject/>
  <dc:creator>Microsoft Copilot</dc:creator>
  <cp:lastModifiedBy>Jim Welch</cp:lastModifiedBy>
  <cp:revision>2</cp:revision>
  <dcterms:created xsi:type="dcterms:W3CDTF">2026-05-27T23:00:49Z</dcterms:created>
  <dcterms:modified xsi:type="dcterms:W3CDTF">2026-09-21T19:25:31Z</dcterms:modified>
</cp:coreProperties>
</file>