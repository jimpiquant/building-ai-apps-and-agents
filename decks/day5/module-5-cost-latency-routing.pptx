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the module around one architecture decision: meet an explicit quality floor while measuring latency and cost in their own units. Use the presenter-prepared reference-agent evidence; nobody needs a Day 4 lab result or an attendee-owned deployment. There is no promised saving or universally best route.
• GROUNDING SOURCE: https://learn.microsoft.com/azure/foundry/openai/how-to/latency
• GROUNDING SOURCE: https://learn.microsoft.com/azure/foundry/openai/how-to/evaluate-model-router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Spend about four minutes separating the signals. TTFT describes responsiveness and TTLT describes model completion; neither automatically includes retrieval, tools, queues, retries, or later model calls in a workflow. Streaming can improve perceived responsiveness without shortening completion, while throughput answers a capacity question rather than a single-request timing question.
• GROUNDING SOURCE: https://learn.microsoft.com/azure/foundry/openai/how-to/latency
• GROUNDING SOURCE: https://learn.microsoft.com/agent-framework/workflows/observability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Token telemetry is a useful usage proxy, not a bill. To estimate currency, record model and version, input/output/cache categories, rate units, currency, and pricing date, then include non-model services and evaluation overhead separately. Cost per successful outcome also needs a defensible success count; with zero successes it is undefined rather than zero.
• GROUNDING SOURCE: https://learn.microsoft.com/agent-framework/agents/observability
• GROUNDING SOURCE: https://learn.microsoft.com/azure/foundry/openai/how-to/prompt-caching
• GROUNDING SOURCE: https://learn.microsoft.com/azure/foundry/openai/how-to/evaluate-model-router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Prompt caching reuses temporary computation for matching input prefixes; the model still generates a response. A response cache reuses an application-stored answer and therefore needs an explicit key, freshness policy, authorization check, and invalidation strategy. Cache support, retention, reads, writes, and charges are model- and deployment-specific, so verify them rather than generalizing.
• GROUNDING SOURCE: https://learn.microsoft.com/azure/foundry/openai/how-to/prompt-caching
• GROUNDING SOURCE: https://learn.microsoft.com/azure/search/search-document-level-access-overview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Keep the product boundary precise. Foundry model router analyzes the request and selects an eligible model before generation according to its configured mode and pool; it is not an application quality checker that grades an answer and retries on a stronger model. Application-owned escalation can do that, but its quality check, retry budget, history handling, and failure response are your design.
• GROUNDING SOURCE: https://learn.microsoft.com/azure/foundry/openai/concepts/model-router
• GROUNDING SOURCE: https://learn.microsoft.com/azure/foundry/openai/concepts/model-router-how-it-works
• GROUNDING SOURCE: https://learn.microsoft.com/azure/foundry/openai/how-to/evaluate-model-router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model switch is not a history transfer. Caller-managed messages can be replayed when the destination supports their roles, content, tool calls, and results; a service-owned conversation or response ID refers to state at its originating service and scope. The documented MAF routing helper is experimental .NET; Python support is unavailable, so this is architecture guidance rather than a Python demo.
• GROUNDING SOURCE: https://learn.microsoft.com/agent-framework/concepts/agents/runtime-model-routing
• GROUNDING SOURCE: https://learn.microsoft.com/azure/foundry/openai/concepts/model-router-how-it-works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Batch processing accepts asynchronous groups of requests and returns results later; it is suitable when a user is not waiting. It does not reduce the interactive request's first-token latency. Before choosing it, verify supported models, data location, quota, turnaround, and current pricing for the exact deployment rather than repeating a generic savings claim.
• GROUNDING SOURCE: https://learn.microsoft.com/azure/foundry/openai/how-to/batch
• GROUNDING SOURCE: https://learn.microsoft.com/azure/foundry/concepts/architecture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only the runbook's presenter-prepared synthetic evidence: two bounded runs of the same case, one draft-only and one with a single revision. Read first-visible and completion time, input/output/cache usage, the explicit illustrative rate card, the outcome check, and the stop reason. Do not launch a router, deploy a model, wait on a cloud evaluation, or imply that this one case guarantees savings.
• GROUNDING SOURCE: https://learn.microsoft.com/agent-framework/agents/observability
• GROUNDING SOURCE: https://learn.microsoft.com/agent-framework/workflows/observability
• GROUNDING SOURCE: https://learn.microsoft.com/agent-framework/agents/evaluation
• GROUNDING SOURCE: https://learn.microsoft.com/azure/foundry/openai/how-to/evaluate-model-router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Close in three minutes. A revision or turn cap bounds one dimension of work; it does not cap every token, tool charge, evaluator call, elapsed second, or Azure invoice. Ask for a stop policy that preserves correctness: return a bounded partial answer, defer asynchronous work, or route to an application-owned review path with an explicit owner.
• GROUNDING SOURCE: https://learn.microsoft.com/azure/foundry/openai/how-to/evaluate-model-router
• GROUNDING SOURCE: https://learn.microsoft.com/agent-framework/agents/evaluation
• GROUNDING SOURCE: https://learn.microsoft.com/azure/foundry/concepts/observability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5 · MODULE 5 · 30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Cost, Latency, and Model Routing</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Measure the workload, choose the route, and define when work stops</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a:t>
            </a:r>
            <a:endParaRPr lang="en-US" sz="1000" dirty="0"/>
          </a:p>
        </p:txBody>
      </p:sp>
      <p:sp>
        <p:nvSpPr>
          <p:cNvPr id="6" name="Shape 4"/>
          <p:cNvSpPr/>
          <p:nvPr/>
        </p:nvSpPr>
        <p:spPr>
          <a:xfrm>
            <a:off x="365760" y="4224528"/>
            <a:ext cx="8412480" cy="0"/>
          </a:xfrm>
          <a:prstGeom prst="line">
            <a:avLst/>
          </a:prstGeom>
          <a:noFill/>
          <a:ln w="6350">
            <a:solidFill>
              <a:srgbClr val="CADCFC"/>
            </a:solidFill>
            <a:prstDash val="solid"/>
          </a:ln>
        </p:spPr>
      </p:sp>
      <p:sp>
        <p:nvSpPr>
          <p:cNvPr id="7" name="Text 5"/>
          <p:cNvSpPr/>
          <p:nvPr/>
        </p:nvSpPr>
        <p:spPr>
          <a:xfrm>
            <a:off x="384048" y="4270248"/>
            <a:ext cx="8275320" cy="182880"/>
          </a:xfrm>
          <a:prstGeom prst="rect">
            <a:avLst/>
          </a:prstGeom>
          <a:noFill/>
          <a:ln/>
        </p:spPr>
        <p:txBody>
          <a:bodyPr wrap="square" lIns="0" tIns="0" rIns="0" bIns="0" rtlCol="0" anchor="ctr">
            <a:normAutofit/>
          </a:bodyPr>
          <a:lstStyle/>
          <a:p>
            <a:pPr indent="0" marL="0">
              <a:buNone/>
            </a:pPr>
            <a:r>
              <a:rPr lang="en-US" sz="820" dirty="0">
                <a:solidFill>
                  <a:srgbClr val="CADCFC"/>
                </a:solidFill>
                <a:latin typeface="Calibri" pitchFamily="34" charset="0"/>
                <a:ea typeface="Calibri" pitchFamily="34" charset="-122"/>
                <a:cs typeface="Calibri" pitchFamily="34" charset="-120"/>
              </a:rPr>
              <a:t>Source: https://learn.microsoft.com/azure/foundry/openai/how-to/latency  ·  +1 in notes</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Measure the signal you mean</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366129"/>
                <a:gridCol w="4385994"/>
                <a:gridCol w="2660357"/>
              </a:tblGrid>
              <a:tr h="5867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it to ask</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Latency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Elapsed time for one request or operation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How long did this request take?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Throughput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Work completed per unit time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How much load can the system sustain?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TTFT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Time from model request to first token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When does a streamed response begin?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TTLT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Time from model request to last token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When does that model call finish?</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Workflow completion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End-to-end time across model, retrieval, tools, and revisions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When is the usable outcome ready?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https://learn.microsoft.com/azure/foundry/openai/how-to/latency  ·  +1 in notes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Tokens are usage—not dollars</a:t>
            </a:r>
            <a:endParaRPr lang="en-US" sz="28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Usage</a:t>
            </a:r>
            <a:endParaRPr lang="en-US" sz="1500" dirty="0"/>
          </a:p>
        </p:txBody>
      </p:sp>
      <p:sp>
        <p:nvSpPr>
          <p:cNvPr id="7" name="Text 5"/>
          <p:cNvSpPr/>
          <p:nvPr/>
        </p:nvSpPr>
        <p:spPr>
          <a:xfrm>
            <a:off x="512064" y="1564005"/>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Input, output, and cached-token fields describe model work</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Price</a:t>
            </a:r>
            <a:endParaRPr lang="en-US" sz="1500" dirty="0"/>
          </a:p>
        </p:txBody>
      </p:sp>
      <p:sp>
        <p:nvSpPr>
          <p:cNvPr id="10" name="Text 8"/>
          <p:cNvSpPr/>
          <p:nvPr/>
        </p:nvSpPr>
        <p:spPr>
          <a:xfrm>
            <a:off x="4818888" y="1564005"/>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Apply the correct model/version rate, currency, and pricing date</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Whole-system cost</a:t>
            </a:r>
            <a:endParaRPr lang="en-US" sz="1500" dirty="0"/>
          </a:p>
        </p:txBody>
      </p:sp>
      <p:sp>
        <p:nvSpPr>
          <p:cNvPr id="13" name="Text 11"/>
          <p:cNvSpPr/>
          <p:nvPr/>
        </p:nvSpPr>
        <p:spPr>
          <a:xfrm>
            <a:off x="512064" y="3420237"/>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Add retrieval, tools, telemetry, evaluation, and hosting</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Efficiency</a:t>
            </a:r>
            <a:endParaRPr lang="en-US" sz="1500" dirty="0"/>
          </a:p>
        </p:txBody>
      </p:sp>
      <p:sp>
        <p:nvSpPr>
          <p:cNvPr id="16" name="Text 14"/>
          <p:cNvSpPr/>
          <p:nvPr/>
        </p:nvSpPr>
        <p:spPr>
          <a:xfrm>
            <a:off x="4818888" y="3420237"/>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Compare cost per accepted outcome, not tokens per request alone</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https://learn.microsoft.com/agent-framework/agents/observability  ·  +2 in notes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Prompt cache ≠ response cache</a:t>
            </a:r>
            <a:endParaRPr lang="en-US" sz="28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Prompt caching</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Reuses computation for matching input prefixes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Still generates a new model response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Observe cache-token fields; support and charges vary</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Application response caching</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Reuses a previously stored final answer</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Must enforce freshness, tenant/user access, and invalidation</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Is an application architecture choice—not prompt caching</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https://learn.microsoft.com/azure/foundry/openai/how-to/prompt-caching  ·  +1 in notes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Three model choices, three control points</a:t>
            </a:r>
            <a:endParaRPr lang="en-US" sz="25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Fixed deployment</a:t>
            </a:r>
            <a:endParaRPr lang="en-US" sz="1500" dirty="0"/>
          </a:p>
        </p:txBody>
      </p:sp>
      <p:sp>
        <p:nvSpPr>
          <p:cNvPr id="7" name="Text 5"/>
          <p:cNvSpPr/>
          <p:nvPr/>
        </p:nvSpPr>
        <p:spPr>
          <a:xfrm>
            <a:off x="512064" y="1564005"/>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One known model handles every request; simplest baseline</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Managed model router</a:t>
            </a:r>
            <a:endParaRPr lang="en-US" sz="1500" dirty="0"/>
          </a:p>
        </p:txBody>
      </p:sp>
      <p:sp>
        <p:nvSpPr>
          <p:cNvPr id="10" name="Text 8"/>
          <p:cNvSpPr/>
          <p:nvPr/>
        </p:nvSpPr>
        <p:spPr>
          <a:xfrm>
            <a:off x="4818888" y="1564005"/>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Selects an eligible model at request time before generation</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Application escalation</a:t>
            </a:r>
            <a:endParaRPr lang="en-US" sz="1500" dirty="0"/>
          </a:p>
        </p:txBody>
      </p:sp>
      <p:sp>
        <p:nvSpPr>
          <p:cNvPr id="13" name="Text 11"/>
          <p:cNvSpPr/>
          <p:nvPr/>
        </p:nvSpPr>
        <p:spPr>
          <a:xfrm>
            <a:off x="512064" y="3420237"/>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Evaluates an outcome, then may retry through application logic</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1277"/>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Adoption decision</a:t>
            </a:r>
            <a:endParaRPr lang="en-US" sz="1500" dirty="0"/>
          </a:p>
        </p:txBody>
      </p:sp>
      <p:sp>
        <p:nvSpPr>
          <p:cNvPr id="16" name="Text 14"/>
          <p:cNvSpPr/>
          <p:nvPr/>
        </p:nvSpPr>
        <p:spPr>
          <a:xfrm>
            <a:off x="4818888" y="3420237"/>
            <a:ext cx="3813048" cy="1078611"/>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Compare representative quality, cost, latency, and policy evidence</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https://learn.microsoft.com/azure/foundry/openai/concepts/model-router  ·  +2 in notes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History determines portability</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340041"/>
                <a:gridCol w="3796783"/>
                <a:gridCol w="3275656"/>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History model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Caller has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Routing consequence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Caller-managed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Relevant messages in application-controlled storage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Can replay them to a compatible destination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Service-managed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 service-specific conversation or response ID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ID does not carry history to another service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MAF routing helper</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Experimental .NET routing client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Python support is currently unavailable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https://learn.microsoft.com/agent-framework/concepts/agents/runtime-model-routing  ·  +1 in notes</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Batch is a separate lane</a:t>
            </a:r>
            <a:endParaRPr lang="en-US" sz="28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Interactive path</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 caller waits for this response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Measure first-token and completion latency separately</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Stream when early visibility helps the experience</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Batch path</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Queue asynchronous work and retrieve results later</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Use separate workload, quota, and turnaround assumptions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Not a technique for lower interactive latency</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https://learn.microsoft.com/azure/foundry/openai/how-to/batch  ·  +1 in notes</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ADCFC"/>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Day 5 · Module 5 · Demo</a:t>
            </a:r>
            <a:endParaRPr lang="en-US" sz="1000" dirty="0"/>
          </a:p>
        </p:txBody>
      </p:sp>
      <p:sp>
        <p:nvSpPr>
          <p:cNvPr id="4" name="Text 2"/>
          <p:cNvSpPr/>
          <p:nvPr/>
        </p:nvSpPr>
        <p:spPr>
          <a:xfrm>
            <a:off x="548640" y="1051560"/>
            <a:ext cx="5486400" cy="502920"/>
          </a:xfrm>
          <a:prstGeom prst="rect">
            <a:avLst/>
          </a:prstGeom>
          <a:noFill/>
          <a:ln/>
        </p:spPr>
        <p:txBody>
          <a:bodyPr wrap="square" lIns="0" tIns="0" rIns="0" bIns="0" rtlCol="0" anchor="ctr"/>
          <a:lstStyle/>
          <a:p>
            <a:pPr indent="0" marL="0">
              <a:buNone/>
            </a:pPr>
            <a:r>
              <a:rPr lang="en-US" sz="3200" b="1" spc="800" kern="0" dirty="0">
                <a:solidFill>
                  <a:srgbClr val="1E2761"/>
                </a:solidFill>
                <a:latin typeface="Calibri" pitchFamily="34" charset="0"/>
                <a:ea typeface="Calibri" pitchFamily="34" charset="-122"/>
                <a:cs typeface="Calibri" pitchFamily="34" charset="-120"/>
              </a:rPr>
              <a:t>DEMO</a:t>
            </a:r>
            <a:endParaRPr lang="en-US" sz="3200" dirty="0"/>
          </a:p>
        </p:txBody>
      </p:sp>
      <p:sp>
        <p:nvSpPr>
          <p:cNvPr id="5" name="Text 3"/>
          <p:cNvSpPr/>
          <p:nvPr/>
        </p:nvSpPr>
        <p:spPr>
          <a:xfrm>
            <a:off x="548640" y="1691640"/>
            <a:ext cx="8046720" cy="91440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Read the cost of another revision</a:t>
            </a:r>
            <a:endParaRPr lang="en-US" sz="3000" dirty="0"/>
          </a:p>
        </p:txBody>
      </p:sp>
      <p:sp>
        <p:nvSpPr>
          <p:cNvPr id="6" name="Text 4"/>
          <p:cNvSpPr/>
          <p:nvPr/>
        </p:nvSpPr>
        <p:spPr>
          <a:xfrm>
            <a:off x="6583680" y="1051560"/>
            <a:ext cx="2194560" cy="502920"/>
          </a:xfrm>
          <a:prstGeom prst="rect">
            <a:avLst/>
          </a:prstGeom>
          <a:noFill/>
          <a:ln/>
        </p:spPr>
        <p:txBody>
          <a:bodyPr wrap="square" lIns="0" tIns="0" rIns="0" bIns="0" rtlCol="0" anchor="ctr"/>
          <a:lstStyle/>
          <a:p>
            <a:pPr algn="r" indent="0" marL="0">
              <a:buNone/>
            </a:pPr>
            <a:r>
              <a:rPr lang="en-US" sz="1800" i="1" dirty="0">
                <a:solidFill>
                  <a:srgbClr val="6B7280"/>
                </a:solidFill>
                <a:latin typeface="Calibri" pitchFamily="34" charset="0"/>
                <a:ea typeface="Calibri" pitchFamily="34" charset="-122"/>
                <a:cs typeface="Calibri" pitchFamily="34" charset="-120"/>
              </a:rPr>
              <a:t>~5 min</a:t>
            </a:r>
            <a:endParaRPr lang="en-US" sz="1800" dirty="0"/>
          </a:p>
        </p:txBody>
      </p:sp>
      <p:sp>
        <p:nvSpPr>
          <p:cNvPr id="7" name="Text 5"/>
          <p:cNvSpPr/>
          <p:nvPr/>
        </p:nvSpPr>
        <p:spPr>
          <a:xfrm>
            <a:off x="548640" y="2788920"/>
            <a:ext cx="8046720" cy="1371600"/>
          </a:xfrm>
          <a:prstGeom prst="rect">
            <a:avLst/>
          </a:prstGeom>
          <a:noFill/>
          <a:ln/>
        </p:spPr>
        <p:txBody>
          <a:bodyPr wrap="square" lIns="0" tIns="0" rIns="0" bIns="0" rtlCol="0" anchor="ctr"/>
          <a:lstStyle/>
          <a:p>
            <a:pPr indent="0" marL="0">
              <a:spcAft>
                <a:spcPts val="600"/>
              </a:spcAft>
              <a:buNone/>
            </a:pPr>
            <a:r>
              <a:rPr lang="en-US" sz="1600" dirty="0">
                <a:solidFill>
                  <a:srgbClr val="212121"/>
                </a:solidFill>
                <a:latin typeface="Calibri" pitchFamily="34" charset="0"/>
                <a:ea typeface="Calibri" pitchFamily="34" charset="-122"/>
                <a:cs typeface="Calibri" pitchFamily="34" charset="-120"/>
              </a:rPr>
              <a:t>Compare the same synthetic request with zero versus one allowed revision. The extra pass consumes more tokens and finishes later, but it supplies the missing required fact. Decide from quality, timing, estimated cost, and stop reason together—not from one number.</a:t>
            </a:r>
            <a:endParaRPr lang="en-US" sz="1600" dirty="0"/>
          </a:p>
        </p:txBody>
      </p:sp>
      <p:sp>
        <p:nvSpPr>
          <p:cNvPr id="8" name="Text 6"/>
          <p:cNvSpPr/>
          <p:nvPr/>
        </p:nvSpPr>
        <p:spPr>
          <a:xfrm>
            <a:off x="548640" y="4434840"/>
            <a:ext cx="804672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Runbook: demos/day5/module-5-demo-1-revision-cost.md</a:t>
            </a:r>
            <a:endParaRPr lang="en-US" sz="1100" dirty="0"/>
          </a:p>
        </p:txBody>
      </p:sp>
      <p:sp>
        <p:nvSpPr>
          <p:cNvPr id="9" name="Shape 7"/>
          <p:cNvSpPr/>
          <p:nvPr/>
        </p:nvSpPr>
        <p:spPr>
          <a:xfrm>
            <a:off x="365760" y="4773168"/>
            <a:ext cx="8412480" cy="0"/>
          </a:xfrm>
          <a:prstGeom prst="line">
            <a:avLst/>
          </a:prstGeom>
          <a:noFill/>
          <a:ln w="6350">
            <a:solidFill>
              <a:srgbClr val="D1D5DB"/>
            </a:solidFill>
            <a:prstDash val="solid"/>
          </a:ln>
        </p:spPr>
      </p:sp>
      <p:sp>
        <p:nvSpPr>
          <p:cNvPr id="10" name="Text 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https://learn.microsoft.com/agent-framework/agents/observability  ·  +3 in notes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5 · Module 5</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A budget is a policy—not a promise</a:t>
            </a:r>
            <a:endParaRPr lang="en-US" sz="2800" dirty="0"/>
          </a:p>
        </p:txBody>
      </p:sp>
      <p:sp>
        <p:nvSpPr>
          <p:cNvPr id="5" name="Shape 3"/>
          <p:cNvSpPr/>
          <p:nvPr/>
        </p:nvSpPr>
        <p:spPr>
          <a:xfrm>
            <a:off x="365760" y="1216152"/>
            <a:ext cx="1911096" cy="2148840"/>
          </a:xfrm>
          <a:prstGeom prst="roundRect">
            <a:avLst>
              <a:gd name="adj" fmla="val 2871"/>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Set the quality floor</a:t>
            </a:r>
            <a:endParaRPr lang="en-US" sz="1500" dirty="0"/>
          </a:p>
        </p:txBody>
      </p:sp>
      <p:sp>
        <p:nvSpPr>
          <p:cNvPr id="9" name="Text 7"/>
          <p:cNvSpPr/>
          <p:nvPr/>
        </p:nvSpPr>
        <p:spPr>
          <a:xfrm>
            <a:off x="512064"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Define what an acceptable outcome must contain</a:t>
            </a:r>
            <a:endParaRPr lang="en-US" sz="1150" dirty="0"/>
          </a:p>
        </p:txBody>
      </p:sp>
      <p:sp>
        <p:nvSpPr>
          <p:cNvPr id="10" name="Shape 8"/>
          <p:cNvSpPr/>
          <p:nvPr/>
        </p:nvSpPr>
        <p:spPr>
          <a:xfrm>
            <a:off x="2313432" y="2180844"/>
            <a:ext cx="164592" cy="219456"/>
          </a:xfrm>
          <a:prstGeom prst="chevron">
            <a:avLst/>
          </a:prstGeom>
          <a:solidFill>
            <a:srgbClr val="E8A87C"/>
          </a:solidFill>
          <a:ln/>
        </p:spPr>
      </p:sp>
      <p:sp>
        <p:nvSpPr>
          <p:cNvPr id="11" name="Shape 9"/>
          <p:cNvSpPr/>
          <p:nvPr/>
        </p:nvSpPr>
        <p:spPr>
          <a:xfrm>
            <a:off x="2532888" y="1216152"/>
            <a:ext cx="1911096" cy="2148840"/>
          </a:xfrm>
          <a:prstGeom prst="roundRect">
            <a:avLst>
              <a:gd name="adj" fmla="val 2871"/>
            </a:avLst>
          </a:prstGeom>
          <a:solidFill>
            <a:srgbClr val="F3F4F6"/>
          </a:solidFill>
          <a:ln w="10160">
            <a:solidFill>
              <a:srgbClr val="D1D5DB"/>
            </a:solidFill>
            <a:prstDash val="solid"/>
          </a:ln>
        </p:spPr>
      </p:sp>
      <p:sp>
        <p:nvSpPr>
          <p:cNvPr id="12" name="Shape 10"/>
          <p:cNvSpPr/>
          <p:nvPr/>
        </p:nvSpPr>
        <p:spPr>
          <a:xfrm>
            <a:off x="2642616" y="1335024"/>
            <a:ext cx="320040" cy="320040"/>
          </a:xfrm>
          <a:prstGeom prst="ellipse">
            <a:avLst/>
          </a:prstGeom>
          <a:solidFill>
            <a:srgbClr val="1E2761"/>
          </a:solidFill>
          <a:ln/>
        </p:spPr>
      </p:sp>
      <p:sp>
        <p:nvSpPr>
          <p:cNvPr id="13" name="Text 11"/>
          <p:cNvSpPr/>
          <p:nvPr/>
        </p:nvSpPr>
        <p:spPr>
          <a:xfrm>
            <a:off x="264261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063240"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Measure in units</a:t>
            </a:r>
            <a:endParaRPr lang="en-US" sz="1500" dirty="0"/>
          </a:p>
        </p:txBody>
      </p:sp>
      <p:sp>
        <p:nvSpPr>
          <p:cNvPr id="15" name="Text 13"/>
          <p:cNvSpPr/>
          <p:nvPr/>
        </p:nvSpPr>
        <p:spPr>
          <a:xfrm>
            <a:off x="2679192"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Record latency, usage, currency assumptions, and success</a:t>
            </a:r>
            <a:endParaRPr lang="en-US" sz="1150" dirty="0"/>
          </a:p>
        </p:txBody>
      </p:sp>
      <p:sp>
        <p:nvSpPr>
          <p:cNvPr id="16" name="Shape 14"/>
          <p:cNvSpPr/>
          <p:nvPr/>
        </p:nvSpPr>
        <p:spPr>
          <a:xfrm>
            <a:off x="4480560" y="2180844"/>
            <a:ext cx="164592" cy="219456"/>
          </a:xfrm>
          <a:prstGeom prst="chevron">
            <a:avLst/>
          </a:prstGeom>
          <a:solidFill>
            <a:srgbClr val="E8A87C"/>
          </a:solidFill>
          <a:ln/>
        </p:spPr>
      </p:sp>
      <p:sp>
        <p:nvSpPr>
          <p:cNvPr id="17" name="Shape 15"/>
          <p:cNvSpPr/>
          <p:nvPr/>
        </p:nvSpPr>
        <p:spPr>
          <a:xfrm>
            <a:off x="4700016" y="1216152"/>
            <a:ext cx="1911096" cy="2148840"/>
          </a:xfrm>
          <a:prstGeom prst="roundRect">
            <a:avLst>
              <a:gd name="adj" fmla="val 2871"/>
            </a:avLst>
          </a:prstGeom>
          <a:solidFill>
            <a:srgbClr val="F3F4F6"/>
          </a:solidFill>
          <a:ln w="10160">
            <a:solidFill>
              <a:srgbClr val="D1D5DB"/>
            </a:solidFill>
            <a:prstDash val="solid"/>
          </a:ln>
        </p:spPr>
      </p:sp>
      <p:sp>
        <p:nvSpPr>
          <p:cNvPr id="18" name="Shape 16"/>
          <p:cNvSpPr/>
          <p:nvPr/>
        </p:nvSpPr>
        <p:spPr>
          <a:xfrm>
            <a:off x="4809744" y="1335024"/>
            <a:ext cx="320040" cy="320040"/>
          </a:xfrm>
          <a:prstGeom prst="ellipse">
            <a:avLst/>
          </a:prstGeom>
          <a:solidFill>
            <a:srgbClr val="1E2761"/>
          </a:solidFill>
          <a:ln/>
        </p:spPr>
      </p:sp>
      <p:sp>
        <p:nvSpPr>
          <p:cNvPr id="19" name="Text 17"/>
          <p:cNvSpPr/>
          <p:nvPr/>
        </p:nvSpPr>
        <p:spPr>
          <a:xfrm>
            <a:off x="4809744"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5230368"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Bound each dimension</a:t>
            </a:r>
            <a:endParaRPr lang="en-US" sz="1500" dirty="0"/>
          </a:p>
        </p:txBody>
      </p:sp>
      <p:sp>
        <p:nvSpPr>
          <p:cNvPr id="21" name="Text 19"/>
          <p:cNvSpPr/>
          <p:nvPr/>
        </p:nvSpPr>
        <p:spPr>
          <a:xfrm>
            <a:off x="4846320"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Revisions, tokens, tools, elapsed time, and evaluator work</a:t>
            </a:r>
            <a:endParaRPr lang="en-US" sz="1150" dirty="0"/>
          </a:p>
        </p:txBody>
      </p:sp>
      <p:sp>
        <p:nvSpPr>
          <p:cNvPr id="22" name="Shape 20"/>
          <p:cNvSpPr/>
          <p:nvPr/>
        </p:nvSpPr>
        <p:spPr>
          <a:xfrm>
            <a:off x="6647688" y="2180844"/>
            <a:ext cx="164592" cy="219456"/>
          </a:xfrm>
          <a:prstGeom prst="chevron">
            <a:avLst/>
          </a:prstGeom>
          <a:solidFill>
            <a:srgbClr val="E8A87C"/>
          </a:solidFill>
          <a:ln/>
        </p:spPr>
      </p:sp>
      <p:sp>
        <p:nvSpPr>
          <p:cNvPr id="23" name="Shape 21"/>
          <p:cNvSpPr/>
          <p:nvPr/>
        </p:nvSpPr>
        <p:spPr>
          <a:xfrm>
            <a:off x="6867144" y="1216152"/>
            <a:ext cx="1911096" cy="2148840"/>
          </a:xfrm>
          <a:prstGeom prst="roundRect">
            <a:avLst>
              <a:gd name="adj" fmla="val 2871"/>
            </a:avLst>
          </a:prstGeom>
          <a:solidFill>
            <a:srgbClr val="CADCFC"/>
          </a:solidFill>
          <a:ln w="10160">
            <a:solidFill>
              <a:srgbClr val="1E2761"/>
            </a:solidFill>
            <a:prstDash val="solid"/>
          </a:ln>
        </p:spPr>
      </p:sp>
      <p:sp>
        <p:nvSpPr>
          <p:cNvPr id="24" name="Shape 22"/>
          <p:cNvSpPr/>
          <p:nvPr/>
        </p:nvSpPr>
        <p:spPr>
          <a:xfrm>
            <a:off x="6976872" y="1335024"/>
            <a:ext cx="320040" cy="320040"/>
          </a:xfrm>
          <a:prstGeom prst="ellipse">
            <a:avLst/>
          </a:prstGeom>
          <a:solidFill>
            <a:srgbClr val="1E2761"/>
          </a:solidFill>
          <a:ln/>
        </p:spPr>
      </p:sp>
      <p:sp>
        <p:nvSpPr>
          <p:cNvPr id="25" name="Text 23"/>
          <p:cNvSpPr/>
          <p:nvPr/>
        </p:nvSpPr>
        <p:spPr>
          <a:xfrm>
            <a:off x="697687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6" name="Text 24"/>
          <p:cNvSpPr/>
          <p:nvPr/>
        </p:nvSpPr>
        <p:spPr>
          <a:xfrm>
            <a:off x="7397496" y="1335024"/>
            <a:ext cx="1252728" cy="549402"/>
          </a:xfrm>
          <a:prstGeom prst="rect">
            <a:avLst/>
          </a:prstGeom>
          <a:noFill/>
          <a:ln/>
        </p:spPr>
        <p:txBody>
          <a:bodyPr wrap="square" lIns="0" tIns="0" rIns="0" bIns="0" rtlCol="0" anchor="t">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Stop deliberately</a:t>
            </a:r>
            <a:endParaRPr lang="en-US" sz="1500" dirty="0"/>
          </a:p>
        </p:txBody>
      </p:sp>
      <p:sp>
        <p:nvSpPr>
          <p:cNvPr id="27" name="Text 25"/>
          <p:cNvSpPr/>
          <p:nvPr/>
        </p:nvSpPr>
        <p:spPr>
          <a:xfrm>
            <a:off x="7013448" y="1939290"/>
            <a:ext cx="1618488" cy="133426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Return partial evidence, defer, or escalate through application policy</a:t>
            </a:r>
            <a:endParaRPr lang="en-US" sz="1150" dirty="0"/>
          </a:p>
        </p:txBody>
      </p:sp>
      <p:sp>
        <p:nvSpPr>
          <p:cNvPr id="28" name="Shape 26"/>
          <p:cNvSpPr/>
          <p:nvPr/>
        </p:nvSpPr>
        <p:spPr>
          <a:xfrm>
            <a:off x="365760" y="4773168"/>
            <a:ext cx="8412480" cy="0"/>
          </a:xfrm>
          <a:prstGeom prst="line">
            <a:avLst/>
          </a:prstGeom>
          <a:noFill/>
          <a:ln w="6350">
            <a:solidFill>
              <a:srgbClr val="D1D5DB"/>
            </a:solidFill>
            <a:prstDash val="solid"/>
          </a:ln>
        </p:spPr>
      </p:sp>
      <p:sp>
        <p:nvSpPr>
          <p:cNvPr id="29" name="Text 27"/>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https://learn.microsoft.com/azure/foundry/openai/how-to/evaluate-model-router  ·  +2 in notes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Latency, and Model Routing</dc:title>
  <dc:subject>Day 5 — Production Readiness + Capstone Kickoff</dc:subject>
  <dc:creator>Building AI Apps and Agents Workshop</dc:creator>
  <cp:lastModifiedBy>Building AI Apps and Agents Workshop</cp:lastModifiedBy>
  <cp:revision>1</cp:revision>
  <dcterms:created xsi:type="dcterms:W3CDTF">2026-09-18T14:30:52Z</dcterms:created>
  <dcterms:modified xsi:type="dcterms:W3CDTF">2026-09-18T14:30:52Z</dcterms:modified>
</cp:coreProperties>
</file>