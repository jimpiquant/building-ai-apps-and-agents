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around one architecture decision: meet an explicit quality floor while measuring latency and cost in their own units. Use the presenter-prepared reference-agent evidence; nobody needs a Day 4 lab result or an attendee-owned deployment. There is no promised saving or universally best route.
• GROUNDING SOURCE: https://learn.microsoft.com/azure/foundry/openai/how-to/latency
• GROUNDING SOURCE: https://learn.microsoft.com/azure/foundry/openai/how-to/evaluate-model-router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about four minutes separating the signals. TTFT describes responsiveness and TTLT describes model completion; neither automatically includes retrieval, tools, queues, retries, or later model calls in a workflow. Streaming can improve perceived responsiveness without shortening completion, while throughput answers a capacity question rather than a single-request timing question.
• GROUNDING SOURCE: https://learn.microsoft.com/azure/foundry/openai/how-to/latency
• GROUNDING SOURCE: https://learn.microsoft.com/agent-framework/workflows/observability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Token telemetry is a useful usage proxy, not a bill. To estimate currency, record model and version, input/output/cache categories, rate units, currency, and pricing date, then include non-model services and evaluation overhead separately. Cost per successful outcome also needs a defensible success count; with zero successes it is undefined rather than zero.
• GROUNDING SOURCE: https://learn.microsoft.com/agent-framework/agents/observability
• GROUNDING SOURCE: https://learn.microsoft.com/azure/foundry/openai/how-to/prompt-caching
• GROUNDING SOURCE: https://learn.microsoft.com/azure/foundry/openai/how-to/evaluate-model-router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Prompt caching reuses temporary computation for matching input prefixes; the model still generates a response. A response cache reuses an application-stored answer and therefore needs an explicit key, freshness policy, authorization check, and invalidation strategy. Cache support, retention, reads, writes, and charges are model- and deployment-specific, so verify them rather than generalizing.
• GROUNDING SOURCE: https://learn.microsoft.com/azure/foundry/openai/how-to/prompt-caching
• GROUNDING SOURCE: https://learn.microsoft.com/azure/search/search-document-level-access-overview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the product boundary precise. Foundry model router analyzes the request and selects an eligible model before generation according to its configured mode and pool; it is not an application quality checker that grades an answer and retries on a stronger model. Application-owned escalation can do that, but its quality check, retry budget, history handling, and failure response are your design.
• GROUNDING SOURCE: https://learn.microsoft.com/azure/foundry/openai/concepts/model-router
• GROUNDING SOURCE: https://learn.microsoft.com/azure/foundry/openai/concepts/model-router-how-it-works
• GROUNDING SOURCE: https://learn.microsoft.com/azure/foundry/openai/how-to/evaluate-model-router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model switch is not a history transfer. Caller-managed messages can be replayed when the destination supports their roles, content, tool calls, and results; a service-owned conversation or response ID refers to state at its originating service and scope. The documented MAF routing helper is experimental .NET; Python support is unavailable, so this is architecture guidance rather than a Python demo.
• GROUNDING SOURCE: https://learn.microsoft.com/agent-framework/concepts/agents/runtime-model-routing
• GROUNDING SOURCE: https://learn.microsoft.com/azure/foundry/openai/concepts/model-router-how-it-works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Batch processing accepts asynchronous groups of requests and returns results later; it is suitable when a user is not waiting. It does not reduce the interactive request's first-token latency. Before choosing it, verify supported models, data location, quota, turnaround, and current pricing for the exact deployment rather than repeating a generic savings claim.
• GROUNDING SOURCE: https://learn.microsoft.com/azure/foundry/openai/how-to/batch
• GROUNDING SOURCE: https://learn.microsoft.com/azure/foundry/concepts/architecture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only the runbook's presenter-prepared synthetic evidence: two bounded runs of the same case, one draft-only and one with a single revision. Read first-visible and completion time, input/output/cache usage, the explicit illustrative rate card, the outcome check, and the stop reason. Do not launch a router, deploy a model, wait on a cloud evaluation, or imply that this one case guarantees savings.
• GROUNDING SOURCE: https://learn.microsoft.com/agent-framework/agents/observability
• GROUNDING SOURCE: https://learn.microsoft.com/agent-framework/workflows/observability
• GROUNDING SOURCE: https://learn.microsoft.com/agent-framework/agents/evaluation
• GROUNDING SOURCE: https://learn.microsoft.com/azure/foundry/openai/how-to/evaluate-model-router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in three minutes. A revision or turn cap bounds one dimension of work; it does not cap every token, tool charge, evaluator call, elapsed second, or Azure invoice. Ask for a stop policy that preserves correctness: return a bounded partial answer, defer asynchronous work, or route to an application-owned review path with an explicit owner.
• GROUNDING SOURCE: https://learn.microsoft.com/azure/foundry/openai/how-to/evaluate-model-router
• GROUNDING SOURCE: https://learn.microsoft.com/agent-framework/agents/evaluation
• GROUNDING SOURCE: https://learn.microsoft.com/azure/foundry/concepts/observability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2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73568" y="137160"/>
            <a:ext cx="3886200" cy="3886200"/>
          </a:xfrm>
          <a:prstGeom prst="ellipse">
            <a:avLst/>
          </a:prstGeom>
          <a:solidFill>
            <a:srgbClr val="E8F4D7"/>
          </a:solidFill>
          <a:ln/>
        </p:spPr>
      </p:sp>
      <p:sp>
        <p:nvSpPr>
          <p:cNvPr id="3" name="Shape 1"/>
          <p:cNvSpPr/>
          <p:nvPr/>
        </p:nvSpPr>
        <p:spPr>
          <a:xfrm>
            <a:off x="8394192" y="557784"/>
            <a:ext cx="3044952" cy="3044952"/>
          </a:xfrm>
          <a:prstGeom prst="ellipse">
            <a:avLst/>
          </a:prstGeom>
          <a:solidFill>
            <a:srgbClr val="252B17"/>
          </a:solidFill>
          <a:ln/>
        </p:spPr>
      </p:sp>
      <p:sp>
        <p:nvSpPr>
          <p:cNvPr id="4" name="Shape 2"/>
          <p:cNvSpPr/>
          <p:nvPr/>
        </p:nvSpPr>
        <p:spPr>
          <a:xfrm>
            <a:off x="9175090" y="2595524"/>
            <a:ext cx="421996" cy="811530"/>
          </a:xfrm>
          <a:prstGeom prst="rect">
            <a:avLst/>
          </a:prstGeom>
          <a:solidFill>
            <a:srgbClr val="72B01D"/>
          </a:solidFill>
          <a:ln/>
        </p:spPr>
      </p:sp>
      <p:sp>
        <p:nvSpPr>
          <p:cNvPr id="5" name="Shape 3"/>
          <p:cNvSpPr/>
          <p:nvPr/>
        </p:nvSpPr>
        <p:spPr>
          <a:xfrm>
            <a:off x="9889236" y="1913839"/>
            <a:ext cx="421996" cy="1493215"/>
          </a:xfrm>
          <a:prstGeom prst="rect">
            <a:avLst/>
          </a:prstGeom>
          <a:solidFill>
            <a:srgbClr val="72B01D"/>
          </a:solidFill>
          <a:ln/>
        </p:spPr>
      </p:sp>
      <p:sp>
        <p:nvSpPr>
          <p:cNvPr id="6" name="Shape 4"/>
          <p:cNvSpPr/>
          <p:nvPr/>
        </p:nvSpPr>
        <p:spPr>
          <a:xfrm>
            <a:off x="10603382" y="1134770"/>
            <a:ext cx="421996" cy="2272284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7" name="Shape 5"/>
          <p:cNvSpPr/>
          <p:nvPr/>
        </p:nvSpPr>
        <p:spPr>
          <a:xfrm>
            <a:off x="11317529" y="485546"/>
            <a:ext cx="421996" cy="2921508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8" name="Shape 6"/>
          <p:cNvSpPr/>
          <p:nvPr/>
        </p:nvSpPr>
        <p:spPr>
          <a:xfrm>
            <a:off x="9175090" y="940003"/>
            <a:ext cx="2661818" cy="2012594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530352"/>
            <a:ext cx="2148840" cy="365760"/>
          </a:xfrm>
          <a:prstGeom prst="roundRect">
            <a:avLst>
              <a:gd name="adj" fmla="val 20000"/>
            </a:avLst>
          </a:prstGeom>
          <a:solidFill>
            <a:srgbClr val="D8A846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658368"/>
            <a:ext cx="1828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  ·  MODULE 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13232" y="1298448"/>
            <a:ext cx="71506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Cost, Latency, and Model Routing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49808" y="2615184"/>
            <a:ext cx="6931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30" dirty="0">
                <a:solidFill>
                  <a:srgbClr val="E4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the workload, choose the route,</a:t>
            </a:r>
            <a:endParaRPr lang="en-US" sz="1830" dirty="0"/>
          </a:p>
          <a:p>
            <a:pPr indent="0" marL="0">
              <a:buNone/>
            </a:pPr>
            <a:r>
              <a:rPr lang="en-US" sz="1830" dirty="0">
                <a:solidFill>
                  <a:srgbClr val="E4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define when work stops</a:t>
            </a:r>
            <a:endParaRPr lang="en-US" sz="1830" dirty="0"/>
          </a:p>
        </p:txBody>
      </p:sp>
      <p:sp>
        <p:nvSpPr>
          <p:cNvPr id="13" name="Shape 11"/>
          <p:cNvSpPr/>
          <p:nvPr/>
        </p:nvSpPr>
        <p:spPr>
          <a:xfrm>
            <a:off x="713232" y="4160520"/>
            <a:ext cx="679399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713232" y="4160520"/>
            <a:ext cx="146304" cy="1097280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4407408"/>
            <a:ext cx="6080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cheaper request is not cheaper per successful outcome when it misses the requirement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546336" y="4261104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D8A84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6800" dirty="0"/>
          </a:p>
        </p:txBody>
      </p:sp>
      <p:sp>
        <p:nvSpPr>
          <p:cNvPr id="17" name="Text 15"/>
          <p:cNvSpPr/>
          <p:nvPr/>
        </p:nvSpPr>
        <p:spPr>
          <a:xfrm>
            <a:off x="8732520" y="5239512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ECONOMICS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8368" y="6318504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DDE7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 learn.microsoft.com/azure/foundry/openai/how-to/latency  ·  +1 more in notes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D8A84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438912"/>
            <a:ext cx="2176272" cy="310896"/>
          </a:xfrm>
          <a:prstGeom prst="roundRect">
            <a:avLst>
              <a:gd name="adj" fmla="val 23529"/>
            </a:avLst>
          </a:prstGeom>
          <a:solidFill>
            <a:srgbClr val="252B17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530352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  /  MODULE 5  /  WORKLOAD ECONOMICS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012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 the signal you mean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10824301" y="825155"/>
            <a:ext cx="85588" cy="164592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6" name="Shape 4"/>
          <p:cNvSpPr/>
          <p:nvPr/>
        </p:nvSpPr>
        <p:spPr>
          <a:xfrm>
            <a:off x="10969142" y="686897"/>
            <a:ext cx="85588" cy="302849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7" name="Shape 5"/>
          <p:cNvSpPr/>
          <p:nvPr/>
        </p:nvSpPr>
        <p:spPr>
          <a:xfrm>
            <a:off x="11113983" y="528889"/>
            <a:ext cx="85588" cy="460858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8" name="Shape 6"/>
          <p:cNvSpPr/>
          <p:nvPr/>
        </p:nvSpPr>
        <p:spPr>
          <a:xfrm>
            <a:off x="11258824" y="397215"/>
            <a:ext cx="85588" cy="592531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9" name="Shape 7"/>
          <p:cNvSpPr/>
          <p:nvPr/>
        </p:nvSpPr>
        <p:spPr>
          <a:xfrm>
            <a:off x="10824301" y="489387"/>
            <a:ext cx="539862" cy="408188"/>
          </a:xfrm>
          <a:prstGeom prst="line">
            <a:avLst/>
          </a:prstGeom>
          <a:noFill/>
          <a:ln w="25400">
            <a:solidFill>
              <a:srgbClr val="252B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12880" y="457200"/>
            <a:ext cx="329184" cy="32918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1" name="Text 9"/>
          <p:cNvSpPr/>
          <p:nvPr/>
        </p:nvSpPr>
        <p:spPr>
          <a:xfrm>
            <a:off x="11612880" y="553212"/>
            <a:ext cx="32918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829800" y="1005840"/>
            <a:ext cx="2148840" cy="2148840"/>
          </a:xfrm>
          <a:prstGeom prst="ellipse">
            <a:avLst/>
          </a:prstGeom>
          <a:solidFill>
            <a:srgbClr val="F7E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1389888"/>
            <a:ext cx="10908792" cy="1389888"/>
          </a:xfrm>
          <a:prstGeom prst="roundRect">
            <a:avLst>
              <a:gd name="adj" fmla="val 5263"/>
            </a:avLst>
          </a:prstGeom>
          <a:solidFill>
            <a:srgbClr val="252B1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1673352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1872" y="2139696"/>
            <a:ext cx="9052560" cy="0"/>
          </a:xfrm>
          <a:prstGeom prst="line">
            <a:avLst/>
          </a:prstGeom>
          <a:noFill/>
          <a:ln w="50800">
            <a:solidFill>
              <a:srgbClr val="D8A8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0160" y="1901952"/>
            <a:ext cx="475488" cy="475488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44144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4572000" y="1901952"/>
            <a:ext cx="475488" cy="475488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9" name="Text 17"/>
          <p:cNvSpPr/>
          <p:nvPr/>
        </p:nvSpPr>
        <p:spPr>
          <a:xfrm>
            <a:off x="4069080" y="244144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token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7498080" y="1901952"/>
            <a:ext cx="475488" cy="475488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21" name="Text 19"/>
          <p:cNvSpPr/>
          <p:nvPr/>
        </p:nvSpPr>
        <p:spPr>
          <a:xfrm>
            <a:off x="6995160" y="244144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last token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10332720" y="1901952"/>
            <a:ext cx="475488" cy="475488"/>
          </a:xfrm>
          <a:prstGeom prst="ellipse">
            <a:avLst/>
          </a:prstGeom>
          <a:solidFill>
            <a:srgbClr val="72B01D"/>
          </a:solidFill>
          <a:ln/>
        </p:spPr>
      </p:sp>
      <p:sp>
        <p:nvSpPr>
          <p:cNvPr id="23" name="Text 21"/>
          <p:cNvSpPr/>
          <p:nvPr/>
        </p:nvSpPr>
        <p:spPr>
          <a:xfrm>
            <a:off x="9829800" y="244144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usable outcome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2313432" y="1609344"/>
            <a:ext cx="1170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TTFT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78424" y="1609344"/>
            <a:ext cx="11704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TTLT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82712" y="16093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2B0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COMPLETION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063240"/>
            <a:ext cx="2064715" cy="3008376"/>
          </a:xfrm>
          <a:prstGeom prst="roundRect">
            <a:avLst>
              <a:gd name="adj" fmla="val 3543"/>
            </a:avLst>
          </a:prstGeom>
          <a:solidFill>
            <a:srgbClr val="F7EACA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374136"/>
            <a:ext cx="16989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Latency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41248" y="3867912"/>
            <a:ext cx="166237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100" kern="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841248" y="4096512"/>
            <a:ext cx="166237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Elapsed time for one request or operation</a:t>
            </a:r>
            <a:endParaRPr lang="en-US" sz="1380" dirty="0"/>
          </a:p>
        </p:txBody>
      </p:sp>
      <p:sp>
        <p:nvSpPr>
          <p:cNvPr id="31" name="Shape 29"/>
          <p:cNvSpPr/>
          <p:nvPr/>
        </p:nvSpPr>
        <p:spPr>
          <a:xfrm>
            <a:off x="804672" y="4937760"/>
            <a:ext cx="1735531" cy="868680"/>
          </a:xfrm>
          <a:prstGeom prst="roundRect">
            <a:avLst>
              <a:gd name="adj" fmla="val 8421"/>
            </a:avLst>
          </a:prstGeom>
          <a:solidFill>
            <a:srgbClr val="252B17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5065776"/>
            <a:ext cx="151607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spc="60" kern="0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IT TO ASK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960120" y="5276088"/>
            <a:ext cx="14246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long did this request take?</a:t>
            </a:r>
            <a:endParaRPr lang="en-US" sz="1040" dirty="0"/>
          </a:p>
        </p:txBody>
      </p:sp>
      <p:sp>
        <p:nvSpPr>
          <p:cNvPr id="34" name="Shape 32"/>
          <p:cNvSpPr/>
          <p:nvPr/>
        </p:nvSpPr>
        <p:spPr>
          <a:xfrm>
            <a:off x="2851099" y="3063240"/>
            <a:ext cx="2064715" cy="3008376"/>
          </a:xfrm>
          <a:prstGeom prst="roundRect">
            <a:avLst>
              <a:gd name="adj" fmla="val 3543"/>
            </a:avLst>
          </a:prstGeom>
          <a:solidFill>
            <a:srgbClr val="FFFFFF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33979" y="3374136"/>
            <a:ext cx="16989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Throughput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052267" y="3867912"/>
            <a:ext cx="166237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100" kern="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3052267" y="4096512"/>
            <a:ext cx="166237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completed per unit time</a:t>
            </a:r>
            <a:endParaRPr lang="en-US" sz="1380" dirty="0"/>
          </a:p>
        </p:txBody>
      </p:sp>
      <p:sp>
        <p:nvSpPr>
          <p:cNvPr id="38" name="Shape 36"/>
          <p:cNvSpPr/>
          <p:nvPr/>
        </p:nvSpPr>
        <p:spPr>
          <a:xfrm>
            <a:off x="3015691" y="4937760"/>
            <a:ext cx="1735531" cy="868680"/>
          </a:xfrm>
          <a:prstGeom prst="roundRect">
            <a:avLst>
              <a:gd name="adj" fmla="val 8421"/>
            </a:avLst>
          </a:prstGeom>
          <a:solidFill>
            <a:srgbClr val="252B17"/>
          </a:solidFill>
          <a:ln/>
        </p:spPr>
      </p:sp>
      <p:sp>
        <p:nvSpPr>
          <p:cNvPr id="39" name="Text 37"/>
          <p:cNvSpPr/>
          <p:nvPr/>
        </p:nvSpPr>
        <p:spPr>
          <a:xfrm>
            <a:off x="3125419" y="5065776"/>
            <a:ext cx="151607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spc="60" kern="0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IT TO ASK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3171139" y="5276088"/>
            <a:ext cx="14246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much load can the system sustain?</a:t>
            </a:r>
            <a:endParaRPr lang="en-US" sz="1040" dirty="0"/>
          </a:p>
        </p:txBody>
      </p:sp>
      <p:sp>
        <p:nvSpPr>
          <p:cNvPr id="41" name="Shape 39"/>
          <p:cNvSpPr/>
          <p:nvPr/>
        </p:nvSpPr>
        <p:spPr>
          <a:xfrm>
            <a:off x="5062118" y="3063240"/>
            <a:ext cx="2064715" cy="3008376"/>
          </a:xfrm>
          <a:prstGeom prst="roundRect">
            <a:avLst>
              <a:gd name="adj" fmla="val 3543"/>
            </a:avLst>
          </a:prstGeom>
          <a:solidFill>
            <a:srgbClr val="F7EACA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44998" y="3374136"/>
            <a:ext cx="16989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TTFT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5263286" y="3867912"/>
            <a:ext cx="166237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100" kern="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5263286" y="4096512"/>
            <a:ext cx="166237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from model request to first token</a:t>
            </a:r>
            <a:endParaRPr lang="en-US" sz="1380" dirty="0"/>
          </a:p>
        </p:txBody>
      </p:sp>
      <p:sp>
        <p:nvSpPr>
          <p:cNvPr id="45" name="Shape 43"/>
          <p:cNvSpPr/>
          <p:nvPr/>
        </p:nvSpPr>
        <p:spPr>
          <a:xfrm>
            <a:off x="5226710" y="4937760"/>
            <a:ext cx="1735531" cy="868680"/>
          </a:xfrm>
          <a:prstGeom prst="roundRect">
            <a:avLst>
              <a:gd name="adj" fmla="val 8421"/>
            </a:avLst>
          </a:prstGeom>
          <a:solidFill>
            <a:srgbClr val="252B17"/>
          </a:solidFill>
          <a:ln/>
        </p:spPr>
      </p:sp>
      <p:sp>
        <p:nvSpPr>
          <p:cNvPr id="46" name="Text 44"/>
          <p:cNvSpPr/>
          <p:nvPr/>
        </p:nvSpPr>
        <p:spPr>
          <a:xfrm>
            <a:off x="5336438" y="5065776"/>
            <a:ext cx="151607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spc="60" kern="0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IT TO ASK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382158" y="5276088"/>
            <a:ext cx="14246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does a streamed response begin?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7273138" y="3063240"/>
            <a:ext cx="2064715" cy="3008376"/>
          </a:xfrm>
          <a:prstGeom prst="roundRect">
            <a:avLst>
              <a:gd name="adj" fmla="val 3543"/>
            </a:avLst>
          </a:prstGeom>
          <a:solidFill>
            <a:srgbClr val="FFFFFF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56018" y="3374136"/>
            <a:ext cx="16989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TTLT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7474306" y="3867912"/>
            <a:ext cx="166237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100" kern="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7474306" y="4096512"/>
            <a:ext cx="166237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from model request to last token</a:t>
            </a:r>
            <a:endParaRPr lang="en-US" sz="1380" dirty="0"/>
          </a:p>
        </p:txBody>
      </p:sp>
      <p:sp>
        <p:nvSpPr>
          <p:cNvPr id="52" name="Shape 50"/>
          <p:cNvSpPr/>
          <p:nvPr/>
        </p:nvSpPr>
        <p:spPr>
          <a:xfrm>
            <a:off x="7437730" y="4937760"/>
            <a:ext cx="1735531" cy="868680"/>
          </a:xfrm>
          <a:prstGeom prst="roundRect">
            <a:avLst>
              <a:gd name="adj" fmla="val 8421"/>
            </a:avLst>
          </a:prstGeom>
          <a:solidFill>
            <a:srgbClr val="252B17"/>
          </a:solidFill>
          <a:ln/>
        </p:spPr>
      </p:sp>
      <p:sp>
        <p:nvSpPr>
          <p:cNvPr id="53" name="Text 51"/>
          <p:cNvSpPr/>
          <p:nvPr/>
        </p:nvSpPr>
        <p:spPr>
          <a:xfrm>
            <a:off x="7547458" y="5065776"/>
            <a:ext cx="151607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spc="60" kern="0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IT TO ASK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7593178" y="5276088"/>
            <a:ext cx="14246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does that model call finish?</a:t>
            </a:r>
            <a:endParaRPr lang="en-US" sz="1040" dirty="0"/>
          </a:p>
        </p:txBody>
      </p:sp>
      <p:sp>
        <p:nvSpPr>
          <p:cNvPr id="55" name="Shape 53"/>
          <p:cNvSpPr/>
          <p:nvPr/>
        </p:nvSpPr>
        <p:spPr>
          <a:xfrm>
            <a:off x="9484157" y="3063240"/>
            <a:ext cx="2064715" cy="3008376"/>
          </a:xfrm>
          <a:prstGeom prst="roundRect">
            <a:avLst>
              <a:gd name="adj" fmla="val 3543"/>
            </a:avLst>
          </a:prstGeom>
          <a:solidFill>
            <a:srgbClr val="E8F4D7"/>
          </a:solidFill>
          <a:ln w="10160">
            <a:solidFill>
              <a:srgbClr val="72B01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667037" y="3374136"/>
            <a:ext cx="16989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Workflow completion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9685325" y="3867912"/>
            <a:ext cx="1662379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100" kern="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820" dirty="0"/>
          </a:p>
        </p:txBody>
      </p:sp>
      <p:sp>
        <p:nvSpPr>
          <p:cNvPr id="58" name="Text 56"/>
          <p:cNvSpPr/>
          <p:nvPr/>
        </p:nvSpPr>
        <p:spPr>
          <a:xfrm>
            <a:off x="9685325" y="4096512"/>
            <a:ext cx="166237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8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time across model, retrieval, tools, and revisions</a:t>
            </a:r>
            <a:endParaRPr lang="en-US" sz="1380" dirty="0"/>
          </a:p>
        </p:txBody>
      </p:sp>
      <p:sp>
        <p:nvSpPr>
          <p:cNvPr id="59" name="Shape 57"/>
          <p:cNvSpPr/>
          <p:nvPr/>
        </p:nvSpPr>
        <p:spPr>
          <a:xfrm>
            <a:off x="9648749" y="4937760"/>
            <a:ext cx="1735531" cy="868680"/>
          </a:xfrm>
          <a:prstGeom prst="roundRect">
            <a:avLst>
              <a:gd name="adj" fmla="val 8421"/>
            </a:avLst>
          </a:prstGeom>
          <a:solidFill>
            <a:srgbClr val="252B17"/>
          </a:solidFill>
          <a:ln/>
        </p:spPr>
      </p:sp>
      <p:sp>
        <p:nvSpPr>
          <p:cNvPr id="60" name="Text 58"/>
          <p:cNvSpPr/>
          <p:nvPr/>
        </p:nvSpPr>
        <p:spPr>
          <a:xfrm>
            <a:off x="9758477" y="5065776"/>
            <a:ext cx="151607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spc="60" kern="0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IT TO ASK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9804197" y="5276088"/>
            <a:ext cx="14246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is the usable outcome ready?</a:t>
            </a:r>
            <a:endParaRPr lang="en-US" sz="1040" dirty="0"/>
          </a:p>
        </p:txBody>
      </p:sp>
      <p:sp>
        <p:nvSpPr>
          <p:cNvPr id="62" name="Text 60"/>
          <p:cNvSpPr/>
          <p:nvPr/>
        </p:nvSpPr>
        <p:spPr>
          <a:xfrm>
            <a:off x="658368" y="6318504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 learn.microsoft.com/azure/foundry/openai/how-to/latency  ·  +1 more in notes</a:t>
            </a:r>
            <a:endParaRPr lang="en-US" sz="940" dirty="0"/>
          </a:p>
        </p:txBody>
      </p:sp>
      <p:sp>
        <p:nvSpPr>
          <p:cNvPr id="63" name="Shape 61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D8A84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438912"/>
            <a:ext cx="2176272" cy="310896"/>
          </a:xfrm>
          <a:prstGeom prst="roundRect">
            <a:avLst>
              <a:gd name="adj" fmla="val 23529"/>
            </a:avLst>
          </a:prstGeom>
          <a:solidFill>
            <a:srgbClr val="252B17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530352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  /  MODULE 5  /  WORKLOAD ECONOMICS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012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Tokens are usage—not dollars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10824301" y="825155"/>
            <a:ext cx="85588" cy="164592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6" name="Shape 4"/>
          <p:cNvSpPr/>
          <p:nvPr/>
        </p:nvSpPr>
        <p:spPr>
          <a:xfrm>
            <a:off x="10969142" y="686897"/>
            <a:ext cx="85588" cy="302849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7" name="Shape 5"/>
          <p:cNvSpPr/>
          <p:nvPr/>
        </p:nvSpPr>
        <p:spPr>
          <a:xfrm>
            <a:off x="11113983" y="528889"/>
            <a:ext cx="85588" cy="460858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8" name="Shape 6"/>
          <p:cNvSpPr/>
          <p:nvPr/>
        </p:nvSpPr>
        <p:spPr>
          <a:xfrm>
            <a:off x="11258824" y="397215"/>
            <a:ext cx="85588" cy="592531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9" name="Shape 7"/>
          <p:cNvSpPr/>
          <p:nvPr/>
        </p:nvSpPr>
        <p:spPr>
          <a:xfrm>
            <a:off x="10824301" y="489387"/>
            <a:ext cx="539862" cy="408188"/>
          </a:xfrm>
          <a:prstGeom prst="line">
            <a:avLst/>
          </a:prstGeom>
          <a:noFill/>
          <a:ln w="25400">
            <a:solidFill>
              <a:srgbClr val="252B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12880" y="457200"/>
            <a:ext cx="329184" cy="32918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1" name="Text 9"/>
          <p:cNvSpPr/>
          <p:nvPr/>
        </p:nvSpPr>
        <p:spPr>
          <a:xfrm>
            <a:off x="11612880" y="553212"/>
            <a:ext cx="32918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829800" y="1005840"/>
            <a:ext cx="2148840" cy="2148840"/>
          </a:xfrm>
          <a:prstGeom prst="ellipse">
            <a:avLst/>
          </a:prstGeom>
          <a:solidFill>
            <a:srgbClr val="F7E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1645920"/>
            <a:ext cx="2011680" cy="3611880"/>
          </a:xfrm>
          <a:prstGeom prst="roundRect">
            <a:avLst>
              <a:gd name="adj" fmla="val 3636"/>
            </a:avLst>
          </a:prstGeom>
          <a:solidFill>
            <a:srgbClr val="F7EACA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98448" y="2029968"/>
            <a:ext cx="694944" cy="69494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5" name="Text 13"/>
          <p:cNvSpPr/>
          <p:nvPr/>
        </p:nvSpPr>
        <p:spPr>
          <a:xfrm>
            <a:off x="1298448" y="2231136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3017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" y="3694176"/>
            <a:ext cx="16093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output, and cached-token fields describe model work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660904" y="3026664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2962656" y="2029968"/>
            <a:ext cx="2286000" cy="33832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58184" y="2414016"/>
            <a:ext cx="694944" cy="69494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21" name="Text 19"/>
          <p:cNvSpPr/>
          <p:nvPr/>
        </p:nvSpPr>
        <p:spPr>
          <a:xfrm>
            <a:off x="3758184" y="2615184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145536" y="34015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163824" y="4078224"/>
            <a:ext cx="188366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correct model/version rate, currency, and pricing date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257800" y="3026664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300" dirty="0"/>
          </a:p>
        </p:txBody>
      </p:sp>
      <p:sp>
        <p:nvSpPr>
          <p:cNvPr id="25" name="Shape 23"/>
          <p:cNvSpPr/>
          <p:nvPr/>
        </p:nvSpPr>
        <p:spPr>
          <a:xfrm>
            <a:off x="5559552" y="2414016"/>
            <a:ext cx="2697480" cy="3154680"/>
          </a:xfrm>
          <a:prstGeom prst="roundRect">
            <a:avLst>
              <a:gd name="adj" fmla="val 2712"/>
            </a:avLst>
          </a:prstGeom>
          <a:solidFill>
            <a:srgbClr val="F7EACA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60820" y="2798064"/>
            <a:ext cx="694944" cy="69494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27" name="Text 25"/>
          <p:cNvSpPr/>
          <p:nvPr/>
        </p:nvSpPr>
        <p:spPr>
          <a:xfrm>
            <a:off x="6560820" y="299923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742432" y="378561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Whole-system cost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760720" y="4462272"/>
            <a:ext cx="22951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retrieval, tools, telemetry, evaluation, and hosting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266176" y="3026664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300" dirty="0"/>
          </a:p>
        </p:txBody>
      </p:sp>
      <p:sp>
        <p:nvSpPr>
          <p:cNvPr id="31" name="Shape 29"/>
          <p:cNvSpPr/>
          <p:nvPr/>
        </p:nvSpPr>
        <p:spPr>
          <a:xfrm>
            <a:off x="8567928" y="2798064"/>
            <a:ext cx="2980944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0160">
            <a:solidFill>
              <a:srgbClr val="72B01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10928" y="3182112"/>
            <a:ext cx="694944" cy="694944"/>
          </a:xfrm>
          <a:prstGeom prst="ellipse">
            <a:avLst/>
          </a:prstGeom>
          <a:solidFill>
            <a:srgbClr val="72B01D"/>
          </a:solidFill>
          <a:ln/>
        </p:spPr>
      </p:sp>
      <p:sp>
        <p:nvSpPr>
          <p:cNvPr id="33" name="Text 31"/>
          <p:cNvSpPr/>
          <p:nvPr/>
        </p:nvSpPr>
        <p:spPr>
          <a:xfrm>
            <a:off x="9710928" y="3383280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750808" y="4169664"/>
            <a:ext cx="2615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Efficiency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769096" y="4846320"/>
            <a:ext cx="257860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cost per accepted outcome, not tokens per request alone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658368" y="6318504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 learn.microsoft.com/agent-framework/agents/observability  ·  +2 more in notes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D8A846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438912"/>
            <a:ext cx="2176272" cy="310896"/>
          </a:xfrm>
          <a:prstGeom prst="roundRect">
            <a:avLst>
              <a:gd name="adj" fmla="val 23529"/>
            </a:avLst>
          </a:prstGeom>
          <a:solidFill>
            <a:srgbClr val="252B17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530352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  /  MODULE 5  /  WORKLOAD ECONOMICS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012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cache ≠ response cache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10824301" y="825155"/>
            <a:ext cx="85588" cy="164592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6" name="Shape 4"/>
          <p:cNvSpPr/>
          <p:nvPr/>
        </p:nvSpPr>
        <p:spPr>
          <a:xfrm>
            <a:off x="10969142" y="686897"/>
            <a:ext cx="85588" cy="302849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7" name="Shape 5"/>
          <p:cNvSpPr/>
          <p:nvPr/>
        </p:nvSpPr>
        <p:spPr>
          <a:xfrm>
            <a:off x="11113983" y="528889"/>
            <a:ext cx="85588" cy="460858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8" name="Shape 6"/>
          <p:cNvSpPr/>
          <p:nvPr/>
        </p:nvSpPr>
        <p:spPr>
          <a:xfrm>
            <a:off x="11258824" y="397215"/>
            <a:ext cx="85588" cy="592531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9" name="Shape 7"/>
          <p:cNvSpPr/>
          <p:nvPr/>
        </p:nvSpPr>
        <p:spPr>
          <a:xfrm>
            <a:off x="10824301" y="489387"/>
            <a:ext cx="539862" cy="408188"/>
          </a:xfrm>
          <a:prstGeom prst="line">
            <a:avLst/>
          </a:prstGeom>
          <a:noFill/>
          <a:ln w="25400">
            <a:solidFill>
              <a:srgbClr val="252B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12880" y="457200"/>
            <a:ext cx="329184" cy="32918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1" name="Text 9"/>
          <p:cNvSpPr/>
          <p:nvPr/>
        </p:nvSpPr>
        <p:spPr>
          <a:xfrm>
            <a:off x="11612880" y="553212"/>
            <a:ext cx="32918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829800" y="1005840"/>
            <a:ext cx="2148840" cy="2148840"/>
          </a:xfrm>
          <a:prstGeom prst="ellipse">
            <a:avLst/>
          </a:prstGeom>
          <a:solidFill>
            <a:srgbClr val="F7E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1417320"/>
            <a:ext cx="5248656" cy="4626864"/>
          </a:xfrm>
          <a:prstGeom prst="roundRect">
            <a:avLst>
              <a:gd name="adj" fmla="val 1779"/>
            </a:avLst>
          </a:prstGeom>
          <a:solidFill>
            <a:srgbClr val="FFFFFF"/>
          </a:solidFill>
          <a:ln w="15240">
            <a:solidFill>
              <a:srgbClr val="F7EACA"/>
            </a:solidFill>
            <a:prstDash val="solid"/>
          </a:ln>
          <a:effectLst>
            <a:outerShdw sx="100000" sy="100000" kx="0" ky="0" algn="bl" rotWithShape="0" blurRad="50800" dist="19050" dir="8100000">
              <a:srgbClr val="11182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1673352"/>
            <a:ext cx="1572768" cy="310896"/>
          </a:xfrm>
          <a:prstGeom prst="roundRect">
            <a:avLst>
              <a:gd name="adj" fmla="val 23529"/>
            </a:avLst>
          </a:prstGeom>
          <a:solidFill>
            <a:srgbClr val="252B17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1773936"/>
            <a:ext cx="13533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CACHE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932688" y="2148840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caching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7552" y="2944368"/>
            <a:ext cx="4553712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Reuses computation for matching input prefixes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Still generates a new model response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cache-token fields; support and charges vary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493776" cy="493776"/>
          </a:xfrm>
          <a:prstGeom prst="ellipse">
            <a:avLst/>
          </a:prstGeom>
          <a:solidFill>
            <a:srgbClr val="F7EAC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0056" y="1755648"/>
            <a:ext cx="4937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0216" y="1417320"/>
            <a:ext cx="5248656" cy="4626864"/>
          </a:xfrm>
          <a:prstGeom prst="roundRect">
            <a:avLst>
              <a:gd name="adj" fmla="val 1779"/>
            </a:avLst>
          </a:prstGeom>
          <a:solidFill>
            <a:srgbClr val="F7EACA"/>
          </a:solidFill>
          <a:ln w="15240">
            <a:solidFill>
              <a:srgbClr val="D8A846"/>
            </a:solidFill>
            <a:prstDash val="solid"/>
          </a:ln>
          <a:effectLst>
            <a:outerShdw sx="100000" sy="100000" kx="0" ky="0" algn="bl" rotWithShape="0" blurRad="50800" dist="19050" dir="8100000">
              <a:srgbClr val="111827">
                <a:alpha val="11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56248" y="1673352"/>
            <a:ext cx="1572768" cy="310896"/>
          </a:xfrm>
          <a:prstGeom prst="roundRect">
            <a:avLst>
              <a:gd name="adj" fmla="val 23529"/>
            </a:avLst>
          </a:prstGeom>
          <a:solidFill>
            <a:srgbClr val="D8A846"/>
          </a:solidFill>
          <a:ln/>
        </p:spPr>
      </p:sp>
      <p:sp>
        <p:nvSpPr>
          <p:cNvPr id="22" name="Text 20"/>
          <p:cNvSpPr/>
          <p:nvPr/>
        </p:nvSpPr>
        <p:spPr>
          <a:xfrm>
            <a:off x="6665976" y="1773936"/>
            <a:ext cx="13533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spc="110" kern="0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 CACHE</a:t>
            </a:r>
            <a:endParaRPr lang="en-US" sz="830" dirty="0"/>
          </a:p>
        </p:txBody>
      </p:sp>
      <p:sp>
        <p:nvSpPr>
          <p:cNvPr id="23" name="Text 21"/>
          <p:cNvSpPr/>
          <p:nvPr/>
        </p:nvSpPr>
        <p:spPr>
          <a:xfrm>
            <a:off x="6592824" y="2148840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Application response caching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647688" y="2944368"/>
            <a:ext cx="4553712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Reuses a previously stored final answer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Must enforce freshness, tenant/user access, and invalidation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an application architecture choice—not prompt caching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680192" y="1609344"/>
            <a:ext cx="493776" cy="493776"/>
          </a:xfrm>
          <a:prstGeom prst="ellipse">
            <a:avLst/>
          </a:prstGeom>
          <a:solidFill>
            <a:srgbClr val="72B01D"/>
          </a:solidFill>
          <a:ln/>
        </p:spPr>
      </p:sp>
      <p:sp>
        <p:nvSpPr>
          <p:cNvPr id="26" name="Text 24"/>
          <p:cNvSpPr/>
          <p:nvPr/>
        </p:nvSpPr>
        <p:spPr>
          <a:xfrm>
            <a:off x="10680192" y="1755648"/>
            <a:ext cx="4937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16168" y="3236976"/>
            <a:ext cx="365760" cy="365760"/>
          </a:xfrm>
          <a:prstGeom prst="ellipse">
            <a:avLst/>
          </a:prstGeom>
          <a:solidFill>
            <a:srgbClr val="252B17"/>
          </a:solidFill>
          <a:ln/>
        </p:spPr>
      </p:sp>
      <p:sp>
        <p:nvSpPr>
          <p:cNvPr id="28" name="Text 26"/>
          <p:cNvSpPr/>
          <p:nvPr/>
        </p:nvSpPr>
        <p:spPr>
          <a:xfrm>
            <a:off x="5916168" y="33284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≠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8368" y="6318504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 learn.microsoft.com/azure/foundry/openai/how-to/prompt-caching  ·  +1 more in notes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D8A846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438912"/>
            <a:ext cx="2176272" cy="310896"/>
          </a:xfrm>
          <a:prstGeom prst="roundRect">
            <a:avLst>
              <a:gd name="adj" fmla="val 23529"/>
            </a:avLst>
          </a:prstGeom>
          <a:solidFill>
            <a:srgbClr val="252B17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530352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  /  MODULE 5  /  WORKLOAD ECONOMICS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012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model choices, three control points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10824301" y="825155"/>
            <a:ext cx="85588" cy="164592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6" name="Shape 4"/>
          <p:cNvSpPr/>
          <p:nvPr/>
        </p:nvSpPr>
        <p:spPr>
          <a:xfrm>
            <a:off x="10969142" y="686897"/>
            <a:ext cx="85588" cy="302849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7" name="Shape 5"/>
          <p:cNvSpPr/>
          <p:nvPr/>
        </p:nvSpPr>
        <p:spPr>
          <a:xfrm>
            <a:off x="11113983" y="528889"/>
            <a:ext cx="85588" cy="460858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8" name="Shape 6"/>
          <p:cNvSpPr/>
          <p:nvPr/>
        </p:nvSpPr>
        <p:spPr>
          <a:xfrm>
            <a:off x="11258824" y="397215"/>
            <a:ext cx="85588" cy="592531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9" name="Shape 7"/>
          <p:cNvSpPr/>
          <p:nvPr/>
        </p:nvSpPr>
        <p:spPr>
          <a:xfrm>
            <a:off x="10824301" y="489387"/>
            <a:ext cx="539862" cy="408188"/>
          </a:xfrm>
          <a:prstGeom prst="line">
            <a:avLst/>
          </a:prstGeom>
          <a:noFill/>
          <a:ln w="25400">
            <a:solidFill>
              <a:srgbClr val="252B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12880" y="457200"/>
            <a:ext cx="329184" cy="32918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1" name="Text 9"/>
          <p:cNvSpPr/>
          <p:nvPr/>
        </p:nvSpPr>
        <p:spPr>
          <a:xfrm>
            <a:off x="11612880" y="553212"/>
            <a:ext cx="32918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829800" y="1005840"/>
            <a:ext cx="2148840" cy="2148840"/>
          </a:xfrm>
          <a:prstGeom prst="ellipse">
            <a:avLst/>
          </a:prstGeom>
          <a:solidFill>
            <a:srgbClr val="F7E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1417320"/>
            <a:ext cx="3447288" cy="3566160"/>
          </a:xfrm>
          <a:prstGeom prst="roundRect">
            <a:avLst>
              <a:gd name="adj" fmla="val 2122"/>
            </a:avLst>
          </a:prstGeom>
          <a:solidFill>
            <a:srgbClr val="FFFFFF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1737360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D8A846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56232"/>
            <a:ext cx="8412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32688" y="2331720"/>
            <a:ext cx="2862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Fixed deployment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0976" y="3246120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known model handles every request; simplest baseline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4361688" y="1417320"/>
            <a:ext cx="3447288" cy="3566160"/>
          </a:xfrm>
          <a:prstGeom prst="roundRect">
            <a:avLst>
              <a:gd name="adj" fmla="val 2122"/>
            </a:avLst>
          </a:prstGeom>
          <a:solidFill>
            <a:srgbClr val="F7EACA"/>
          </a:solidFill>
          <a:ln w="10160">
            <a:solidFill>
              <a:srgbClr val="D8A84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54296" y="1737360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72B01D"/>
          </a:solidFill>
          <a:ln/>
        </p:spPr>
      </p:sp>
      <p:sp>
        <p:nvSpPr>
          <p:cNvPr id="20" name="Text 18"/>
          <p:cNvSpPr/>
          <p:nvPr/>
        </p:nvSpPr>
        <p:spPr>
          <a:xfrm>
            <a:off x="4745736" y="1856232"/>
            <a:ext cx="8412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ROUTED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54296" y="2331720"/>
            <a:ext cx="2862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Managed model router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4672584" y="3246120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Selects an eligible model at request time before generation</a:t>
            </a:r>
            <a:endParaRPr lang="en-US" sz="1420" dirty="0"/>
          </a:p>
        </p:txBody>
      </p:sp>
      <p:sp>
        <p:nvSpPr>
          <p:cNvPr id="23" name="Shape 21"/>
          <p:cNvSpPr/>
          <p:nvPr/>
        </p:nvSpPr>
        <p:spPr>
          <a:xfrm>
            <a:off x="8083296" y="1417320"/>
            <a:ext cx="3447288" cy="3566160"/>
          </a:xfrm>
          <a:prstGeom prst="roundRect">
            <a:avLst>
              <a:gd name="adj" fmla="val 2122"/>
            </a:avLst>
          </a:prstGeom>
          <a:solidFill>
            <a:srgbClr val="FFFFFF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75904" y="1737360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D8A846"/>
          </a:solidFill>
          <a:ln/>
        </p:spPr>
      </p:sp>
      <p:sp>
        <p:nvSpPr>
          <p:cNvPr id="25" name="Text 23"/>
          <p:cNvSpPr/>
          <p:nvPr/>
        </p:nvSpPr>
        <p:spPr>
          <a:xfrm>
            <a:off x="8467344" y="1856232"/>
            <a:ext cx="8412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375904" y="2331720"/>
            <a:ext cx="2862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Application escalation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8394192" y="3246120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2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Evaluates an outcome, then may retry through application logic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1234440" y="5285232"/>
            <a:ext cx="9720072" cy="768096"/>
          </a:xfrm>
          <a:prstGeom prst="roundRect">
            <a:avLst>
              <a:gd name="adj" fmla="val 9524"/>
            </a:avLst>
          </a:prstGeom>
          <a:solidFill>
            <a:srgbClr val="252B17"/>
          </a:solidFill>
          <a:ln/>
        </p:spPr>
      </p:sp>
      <p:sp>
        <p:nvSpPr>
          <p:cNvPr id="29" name="Text 27"/>
          <p:cNvSpPr/>
          <p:nvPr/>
        </p:nvSpPr>
        <p:spPr>
          <a:xfrm>
            <a:off x="1554480" y="5522976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Adoption decision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749040" y="546811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representative quality, cost, latency, and policy evidence</a:t>
            </a:r>
            <a:endParaRPr lang="en-US" sz="1360" dirty="0"/>
          </a:p>
        </p:txBody>
      </p:sp>
      <p:sp>
        <p:nvSpPr>
          <p:cNvPr id="31" name="Text 29"/>
          <p:cNvSpPr/>
          <p:nvPr/>
        </p:nvSpPr>
        <p:spPr>
          <a:xfrm>
            <a:off x="658368" y="6318504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 learn.microsoft.com/azure/foundry/openai/concepts/model-router  ·  +2 more in notes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D8A846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438912"/>
            <a:ext cx="2176272" cy="310896"/>
          </a:xfrm>
          <a:prstGeom prst="roundRect">
            <a:avLst>
              <a:gd name="adj" fmla="val 23529"/>
            </a:avLst>
          </a:prstGeom>
          <a:solidFill>
            <a:srgbClr val="252B17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530352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  /  MODULE 5  /  WORKLOAD ECONOMICS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012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determines portability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10824301" y="825155"/>
            <a:ext cx="85588" cy="164592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6" name="Shape 4"/>
          <p:cNvSpPr/>
          <p:nvPr/>
        </p:nvSpPr>
        <p:spPr>
          <a:xfrm>
            <a:off x="10969142" y="686897"/>
            <a:ext cx="85588" cy="302849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7" name="Shape 5"/>
          <p:cNvSpPr/>
          <p:nvPr/>
        </p:nvSpPr>
        <p:spPr>
          <a:xfrm>
            <a:off x="11113983" y="528889"/>
            <a:ext cx="85588" cy="460858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8" name="Shape 6"/>
          <p:cNvSpPr/>
          <p:nvPr/>
        </p:nvSpPr>
        <p:spPr>
          <a:xfrm>
            <a:off x="11258824" y="397215"/>
            <a:ext cx="85588" cy="592531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9" name="Shape 7"/>
          <p:cNvSpPr/>
          <p:nvPr/>
        </p:nvSpPr>
        <p:spPr>
          <a:xfrm>
            <a:off x="10824301" y="489387"/>
            <a:ext cx="539862" cy="408188"/>
          </a:xfrm>
          <a:prstGeom prst="line">
            <a:avLst/>
          </a:prstGeom>
          <a:noFill/>
          <a:ln w="25400">
            <a:solidFill>
              <a:srgbClr val="252B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12880" y="457200"/>
            <a:ext cx="329184" cy="32918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1" name="Text 9"/>
          <p:cNvSpPr/>
          <p:nvPr/>
        </p:nvSpPr>
        <p:spPr>
          <a:xfrm>
            <a:off x="11612880" y="553212"/>
            <a:ext cx="32918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829800" y="1005840"/>
            <a:ext cx="2148840" cy="2148840"/>
          </a:xfrm>
          <a:prstGeom prst="ellipse">
            <a:avLst/>
          </a:prstGeom>
          <a:solidFill>
            <a:srgbClr val="F7EACA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1371600"/>
            <a:ext cx="1691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spc="100" kern="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 MODEL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3035808" y="1371600"/>
            <a:ext cx="34198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spc="100" kern="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CALLER HAS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7278624" y="1371600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spc="100" kern="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 CONSEQUENCE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640080" y="1600200"/>
            <a:ext cx="10908792" cy="1170432"/>
          </a:xfrm>
          <a:prstGeom prst="roundRect">
            <a:avLst>
              <a:gd name="adj" fmla="val 6250"/>
            </a:avLst>
          </a:prstGeom>
          <a:solidFill>
            <a:srgbClr val="E8F4D7"/>
          </a:solidFill>
          <a:ln w="10160">
            <a:solidFill>
              <a:srgbClr val="72B01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" y="1837944"/>
            <a:ext cx="1874520" cy="694944"/>
          </a:xfrm>
          <a:prstGeom prst="roundRect">
            <a:avLst>
              <a:gd name="adj" fmla="val 10526"/>
            </a:avLst>
          </a:prstGeom>
          <a:solidFill>
            <a:srgbClr val="72B01D"/>
          </a:solidFill>
          <a:ln/>
        </p:spPr>
      </p:sp>
      <p:sp>
        <p:nvSpPr>
          <p:cNvPr id="18" name="Text 16"/>
          <p:cNvSpPr/>
          <p:nvPr/>
        </p:nvSpPr>
        <p:spPr>
          <a:xfrm>
            <a:off x="1042416" y="2039112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Caller-managed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035808" y="1837944"/>
            <a:ext cx="3419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messages in application-controlled storage</a:t>
            </a:r>
            <a:endParaRPr lang="en-US" sz="1420" dirty="0"/>
          </a:p>
        </p:txBody>
      </p:sp>
      <p:sp>
        <p:nvSpPr>
          <p:cNvPr id="20" name="Text 18"/>
          <p:cNvSpPr/>
          <p:nvPr/>
        </p:nvSpPr>
        <p:spPr>
          <a:xfrm>
            <a:off x="6583680" y="20391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278624" y="1837944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replay them to a compatible destination</a:t>
            </a:r>
            <a:endParaRPr lang="en-US" sz="1420" dirty="0"/>
          </a:p>
        </p:txBody>
      </p:sp>
      <p:sp>
        <p:nvSpPr>
          <p:cNvPr id="22" name="Shape 20"/>
          <p:cNvSpPr/>
          <p:nvPr/>
        </p:nvSpPr>
        <p:spPr>
          <a:xfrm>
            <a:off x="640080" y="3044952"/>
            <a:ext cx="1090879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7824" y="3282696"/>
            <a:ext cx="1874520" cy="694944"/>
          </a:xfrm>
          <a:prstGeom prst="roundRect">
            <a:avLst>
              <a:gd name="adj" fmla="val 10526"/>
            </a:avLst>
          </a:prstGeom>
          <a:solidFill>
            <a:srgbClr val="252B17"/>
          </a:solidFill>
          <a:ln/>
        </p:spPr>
      </p:sp>
      <p:sp>
        <p:nvSpPr>
          <p:cNvPr id="24" name="Text 22"/>
          <p:cNvSpPr/>
          <p:nvPr/>
        </p:nvSpPr>
        <p:spPr>
          <a:xfrm>
            <a:off x="1042416" y="348386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Service-managed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035808" y="3282696"/>
            <a:ext cx="3419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service-specific conversation or response ID</a:t>
            </a:r>
            <a:endParaRPr lang="en-US" sz="1420" dirty="0"/>
          </a:p>
        </p:txBody>
      </p:sp>
      <p:sp>
        <p:nvSpPr>
          <p:cNvPr id="26" name="Text 24"/>
          <p:cNvSpPr/>
          <p:nvPr/>
        </p:nvSpPr>
        <p:spPr>
          <a:xfrm>
            <a:off x="6583680" y="3483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78624" y="328269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 does not carry history to another service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640080" y="4489704"/>
            <a:ext cx="10908792" cy="1170432"/>
          </a:xfrm>
          <a:prstGeom prst="roundRect">
            <a:avLst>
              <a:gd name="adj" fmla="val 6250"/>
            </a:avLst>
          </a:prstGeom>
          <a:solidFill>
            <a:srgbClr val="F7EACA"/>
          </a:solidFill>
          <a:ln w="10160">
            <a:solidFill>
              <a:srgbClr val="F7EA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4727448"/>
            <a:ext cx="1874520" cy="694944"/>
          </a:xfrm>
          <a:prstGeom prst="roundRect">
            <a:avLst>
              <a:gd name="adj" fmla="val 10526"/>
            </a:avLst>
          </a:prstGeom>
          <a:solidFill>
            <a:srgbClr val="252B1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2416" y="4928616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MAF routing helper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035808" y="4727448"/>
            <a:ext cx="3419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.NET routing client</a:t>
            </a:r>
            <a:endParaRPr lang="en-US" sz="1420" dirty="0"/>
          </a:p>
        </p:txBody>
      </p:sp>
      <p:sp>
        <p:nvSpPr>
          <p:cNvPr id="32" name="Text 30"/>
          <p:cNvSpPr/>
          <p:nvPr/>
        </p:nvSpPr>
        <p:spPr>
          <a:xfrm>
            <a:off x="6583680" y="492861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278624" y="4727448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support is currently unavailable</a:t>
            </a:r>
            <a:endParaRPr lang="en-US" sz="1420" dirty="0"/>
          </a:p>
        </p:txBody>
      </p:sp>
      <p:sp>
        <p:nvSpPr>
          <p:cNvPr id="34" name="Text 32"/>
          <p:cNvSpPr/>
          <p:nvPr/>
        </p:nvSpPr>
        <p:spPr>
          <a:xfrm>
            <a:off x="658368" y="6318504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 learn.microsoft.com/agent-framework/concepts/agents/runtime-model-routing  ·  +1 more in notes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D8A846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438912"/>
            <a:ext cx="2176272" cy="310896"/>
          </a:xfrm>
          <a:prstGeom prst="roundRect">
            <a:avLst>
              <a:gd name="adj" fmla="val 23529"/>
            </a:avLst>
          </a:prstGeom>
          <a:solidFill>
            <a:srgbClr val="252B17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530352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  /  MODULE 5  /  WORKLOAD ECONOMICS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012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is a separate lane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10824301" y="825155"/>
            <a:ext cx="85588" cy="164592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6" name="Shape 4"/>
          <p:cNvSpPr/>
          <p:nvPr/>
        </p:nvSpPr>
        <p:spPr>
          <a:xfrm>
            <a:off x="10969142" y="686897"/>
            <a:ext cx="85588" cy="302849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7" name="Shape 5"/>
          <p:cNvSpPr/>
          <p:nvPr/>
        </p:nvSpPr>
        <p:spPr>
          <a:xfrm>
            <a:off x="11113983" y="528889"/>
            <a:ext cx="85588" cy="460858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8" name="Shape 6"/>
          <p:cNvSpPr/>
          <p:nvPr/>
        </p:nvSpPr>
        <p:spPr>
          <a:xfrm>
            <a:off x="11258824" y="397215"/>
            <a:ext cx="85588" cy="592531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9" name="Shape 7"/>
          <p:cNvSpPr/>
          <p:nvPr/>
        </p:nvSpPr>
        <p:spPr>
          <a:xfrm>
            <a:off x="10824301" y="489387"/>
            <a:ext cx="539862" cy="408188"/>
          </a:xfrm>
          <a:prstGeom prst="line">
            <a:avLst/>
          </a:prstGeom>
          <a:noFill/>
          <a:ln w="25400">
            <a:solidFill>
              <a:srgbClr val="252B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12880" y="457200"/>
            <a:ext cx="329184" cy="32918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1" name="Text 9"/>
          <p:cNvSpPr/>
          <p:nvPr/>
        </p:nvSpPr>
        <p:spPr>
          <a:xfrm>
            <a:off x="11612880" y="553212"/>
            <a:ext cx="32918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829800" y="1005840"/>
            <a:ext cx="2148840" cy="2148840"/>
          </a:xfrm>
          <a:prstGeom prst="ellipse">
            <a:avLst/>
          </a:prstGeom>
          <a:solidFill>
            <a:srgbClr val="F7E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1417320"/>
            <a:ext cx="5248656" cy="4626864"/>
          </a:xfrm>
          <a:prstGeom prst="roundRect">
            <a:avLst>
              <a:gd name="adj" fmla="val 1779"/>
            </a:avLst>
          </a:prstGeom>
          <a:solidFill>
            <a:srgbClr val="FFFFFF"/>
          </a:solidFill>
          <a:ln w="15240">
            <a:solidFill>
              <a:srgbClr val="F7EACA"/>
            </a:solidFill>
            <a:prstDash val="solid"/>
          </a:ln>
          <a:effectLst>
            <a:outerShdw sx="100000" sy="100000" kx="0" ky="0" algn="bl" rotWithShape="0" blurRad="50800" dist="19050" dir="8100000">
              <a:srgbClr val="111827">
                <a:alpha val="11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1673352"/>
            <a:ext cx="1572768" cy="310896"/>
          </a:xfrm>
          <a:prstGeom prst="roundRect">
            <a:avLst>
              <a:gd name="adj" fmla="val 23529"/>
            </a:avLst>
          </a:prstGeom>
          <a:solidFill>
            <a:srgbClr val="252B17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1773936"/>
            <a:ext cx="13533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932688" y="2148840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Interactive path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7552" y="2944368"/>
            <a:ext cx="4553712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caller waits for this response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first-token and completion latency separately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Stream when early visibility helps the experience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493776" cy="493776"/>
          </a:xfrm>
          <a:prstGeom prst="ellipse">
            <a:avLst/>
          </a:prstGeom>
          <a:solidFill>
            <a:srgbClr val="F7EAC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0056" y="1755648"/>
            <a:ext cx="4937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0216" y="1417320"/>
            <a:ext cx="5248656" cy="4626864"/>
          </a:xfrm>
          <a:prstGeom prst="roundRect">
            <a:avLst>
              <a:gd name="adj" fmla="val 1779"/>
            </a:avLst>
          </a:prstGeom>
          <a:solidFill>
            <a:srgbClr val="F7EACA"/>
          </a:solidFill>
          <a:ln w="15240">
            <a:solidFill>
              <a:srgbClr val="D8A846"/>
            </a:solidFill>
            <a:prstDash val="solid"/>
          </a:ln>
          <a:effectLst>
            <a:outerShdw sx="100000" sy="100000" kx="0" ky="0" algn="bl" rotWithShape="0" blurRad="50800" dist="19050" dir="8100000">
              <a:srgbClr val="111827">
                <a:alpha val="11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56248" y="1673352"/>
            <a:ext cx="1572768" cy="310896"/>
          </a:xfrm>
          <a:prstGeom prst="roundRect">
            <a:avLst>
              <a:gd name="adj" fmla="val 23529"/>
            </a:avLst>
          </a:prstGeom>
          <a:solidFill>
            <a:srgbClr val="D8A846"/>
          </a:solidFill>
          <a:ln/>
        </p:spPr>
      </p:sp>
      <p:sp>
        <p:nvSpPr>
          <p:cNvPr id="22" name="Text 20"/>
          <p:cNvSpPr/>
          <p:nvPr/>
        </p:nvSpPr>
        <p:spPr>
          <a:xfrm>
            <a:off x="6665976" y="1773936"/>
            <a:ext cx="13533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spc="110" kern="0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</a:t>
            </a:r>
            <a:endParaRPr lang="en-US" sz="830" dirty="0"/>
          </a:p>
        </p:txBody>
      </p:sp>
      <p:sp>
        <p:nvSpPr>
          <p:cNvPr id="23" name="Text 21"/>
          <p:cNvSpPr/>
          <p:nvPr/>
        </p:nvSpPr>
        <p:spPr>
          <a:xfrm>
            <a:off x="6592824" y="2148840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path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647688" y="2944368"/>
            <a:ext cx="4553712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Queue asynchronous work and retrieve results later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separate workload, quota, and turnaround assumptions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technique for lower interactive latency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680192" y="1609344"/>
            <a:ext cx="493776" cy="493776"/>
          </a:xfrm>
          <a:prstGeom prst="ellipse">
            <a:avLst/>
          </a:prstGeom>
          <a:solidFill>
            <a:srgbClr val="72B01D"/>
          </a:solidFill>
          <a:ln/>
        </p:spPr>
      </p:sp>
      <p:sp>
        <p:nvSpPr>
          <p:cNvPr id="26" name="Text 24"/>
          <p:cNvSpPr/>
          <p:nvPr/>
        </p:nvSpPr>
        <p:spPr>
          <a:xfrm>
            <a:off x="10680192" y="1755648"/>
            <a:ext cx="49377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16168" y="3236976"/>
            <a:ext cx="365760" cy="365760"/>
          </a:xfrm>
          <a:prstGeom prst="ellipse">
            <a:avLst/>
          </a:prstGeom>
          <a:solidFill>
            <a:srgbClr val="252B17"/>
          </a:solidFill>
          <a:ln/>
        </p:spPr>
      </p:sp>
      <p:sp>
        <p:nvSpPr>
          <p:cNvPr id="28" name="Text 26"/>
          <p:cNvSpPr/>
          <p:nvPr/>
        </p:nvSpPr>
        <p:spPr>
          <a:xfrm>
            <a:off x="5916168" y="33284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≠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8368" y="6318504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 learn.microsoft.com/azure/foundry/openai/how-to/batch  ·  +1 more in notes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D8A846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2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4407408"/>
            <a:ext cx="1572768" cy="1572768"/>
          </a:xfrm>
          <a:prstGeom prst="ellipse">
            <a:avLst/>
          </a:prstGeom>
          <a:solidFill>
            <a:srgbClr val="E8F4D7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681728"/>
            <a:ext cx="1024128" cy="1024128"/>
          </a:xfrm>
          <a:prstGeom prst="ellipse">
            <a:avLst/>
          </a:prstGeom>
          <a:solidFill>
            <a:srgbClr val="252B17"/>
          </a:solidFill>
          <a:ln/>
        </p:spPr>
      </p:sp>
      <p:sp>
        <p:nvSpPr>
          <p:cNvPr id="4" name="Text 2"/>
          <p:cNvSpPr/>
          <p:nvPr/>
        </p:nvSpPr>
        <p:spPr>
          <a:xfrm>
            <a:off x="713232" y="5303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50" kern="0" dirty="0">
                <a:solidFill>
                  <a:srgbClr val="D8A8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3232" y="1143000"/>
            <a:ext cx="6199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 the cost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of another revision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749808" y="2395728"/>
            <a:ext cx="647395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80" dirty="0">
                <a:solidFill>
                  <a:srgbClr val="E5EB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one synthetic request with zero and one allowed revision.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E5EB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extra pass costs more time and tokens but supplies the missing fact.</a:t>
            </a:r>
            <a:endParaRPr lang="en-US" sz="1480" dirty="0"/>
          </a:p>
          <a:p>
            <a:pPr indent="0" marL="0">
              <a:buNone/>
            </a:pPr>
            <a:r>
              <a:rPr lang="en-US" sz="1480" dirty="0">
                <a:solidFill>
                  <a:srgbClr val="E5EB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from quality, time, estimated cost, and stop reason—not one metric.</a:t>
            </a:r>
            <a:endParaRPr lang="en-US" sz="1480" dirty="0"/>
          </a:p>
        </p:txBody>
      </p:sp>
      <p:sp>
        <p:nvSpPr>
          <p:cNvPr id="7" name="Shape 5"/>
          <p:cNvSpPr/>
          <p:nvPr/>
        </p:nvSpPr>
        <p:spPr>
          <a:xfrm>
            <a:off x="7452360" y="749808"/>
            <a:ext cx="4041648" cy="5074920"/>
          </a:xfrm>
          <a:prstGeom prst="roundRect">
            <a:avLst>
              <a:gd name="adj" fmla="val 1810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726680" y="1060704"/>
            <a:ext cx="1225296" cy="347472"/>
          </a:xfrm>
          <a:prstGeom prst="roundRect">
            <a:avLst>
              <a:gd name="adj" fmla="val 21053"/>
            </a:avLst>
          </a:prstGeom>
          <a:solidFill>
            <a:srgbClr val="D8A846"/>
          </a:solidFill>
          <a:ln/>
        </p:spPr>
      </p:sp>
      <p:sp>
        <p:nvSpPr>
          <p:cNvPr id="9" name="Text 7"/>
          <p:cNvSpPr/>
          <p:nvPr/>
        </p:nvSpPr>
        <p:spPr>
          <a:xfrm>
            <a:off x="7836408" y="1170432"/>
            <a:ext cx="10058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~5 min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26680" y="171907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WATCH FOR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772400" y="2340864"/>
            <a:ext cx="384048" cy="384048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2459736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39328" y="2286000"/>
            <a:ext cx="2889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80" b="1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outcome,</a:t>
            </a:r>
            <a:endParaRPr lang="en-US" sz="1480" dirty="0"/>
          </a:p>
          <a:p>
            <a:pPr indent="0" marL="0">
              <a:buNone/>
            </a:pPr>
            <a:r>
              <a:rPr lang="en-US" sz="1480" b="1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token count</a:t>
            </a:r>
            <a:endParaRPr lang="en-US" sz="1480" dirty="0"/>
          </a:p>
        </p:txBody>
      </p:sp>
      <p:sp>
        <p:nvSpPr>
          <p:cNvPr id="14" name="Shape 12"/>
          <p:cNvSpPr/>
          <p:nvPr/>
        </p:nvSpPr>
        <p:spPr>
          <a:xfrm>
            <a:off x="7772400" y="3127248"/>
            <a:ext cx="384048" cy="384048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0" y="3246120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39328" y="3072384"/>
            <a:ext cx="2889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80" b="1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Revision changes time and usage</a:t>
            </a:r>
            <a:endParaRPr lang="en-US" sz="1480" dirty="0"/>
          </a:p>
        </p:txBody>
      </p:sp>
      <p:sp>
        <p:nvSpPr>
          <p:cNvPr id="17" name="Shape 15"/>
          <p:cNvSpPr/>
          <p:nvPr/>
        </p:nvSpPr>
        <p:spPr>
          <a:xfrm>
            <a:off x="7772400" y="3913632"/>
            <a:ext cx="384048" cy="384048"/>
          </a:xfrm>
          <a:prstGeom prst="ellipse">
            <a:avLst/>
          </a:prstGeom>
          <a:solidFill>
            <a:srgbClr val="72B01D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0" y="4032504"/>
            <a:ext cx="38404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39328" y="3858768"/>
            <a:ext cx="2889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80" b="1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 proves little</a:t>
            </a:r>
            <a:endParaRPr lang="en-US" sz="1480" dirty="0"/>
          </a:p>
        </p:txBody>
      </p:sp>
      <p:sp>
        <p:nvSpPr>
          <p:cNvPr id="20" name="Shape 18"/>
          <p:cNvSpPr/>
          <p:nvPr/>
        </p:nvSpPr>
        <p:spPr>
          <a:xfrm>
            <a:off x="7726680" y="4882896"/>
            <a:ext cx="3401568" cy="566928"/>
          </a:xfrm>
          <a:prstGeom prst="roundRect">
            <a:avLst>
              <a:gd name="adj" fmla="val 12903"/>
            </a:avLst>
          </a:prstGeom>
          <a:solidFill>
            <a:srgbClr val="F7EACA"/>
          </a:solidFill>
          <a:ln/>
        </p:spPr>
      </p:sp>
      <p:sp>
        <p:nvSpPr>
          <p:cNvPr id="21" name="Text 19"/>
          <p:cNvSpPr/>
          <p:nvPr/>
        </p:nvSpPr>
        <p:spPr>
          <a:xfrm>
            <a:off x="7882128" y="50292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52B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demos/day5/module-5-demo-1-revision-cost.md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6318504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DDE7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 learn.microsoft.com/agent-framework/agents/observability  ·  +3 more in notes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D8A846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438912"/>
            <a:ext cx="2176272" cy="310896"/>
          </a:xfrm>
          <a:prstGeom prst="roundRect">
            <a:avLst>
              <a:gd name="adj" fmla="val 23529"/>
            </a:avLst>
          </a:prstGeom>
          <a:solidFill>
            <a:srgbClr val="252B17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530352"/>
            <a:ext cx="1874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  /  MODULE 5  /  WORKLOAD ECONOMICS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10012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budget is a policy—not a promise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10824301" y="825155"/>
            <a:ext cx="85588" cy="164592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6" name="Shape 4"/>
          <p:cNvSpPr/>
          <p:nvPr/>
        </p:nvSpPr>
        <p:spPr>
          <a:xfrm>
            <a:off x="10969142" y="686897"/>
            <a:ext cx="85588" cy="302849"/>
          </a:xfrm>
          <a:prstGeom prst="rect">
            <a:avLst/>
          </a:prstGeom>
          <a:solidFill>
            <a:srgbClr val="F7EACA"/>
          </a:solidFill>
          <a:ln/>
        </p:spPr>
      </p:sp>
      <p:sp>
        <p:nvSpPr>
          <p:cNvPr id="7" name="Shape 5"/>
          <p:cNvSpPr/>
          <p:nvPr/>
        </p:nvSpPr>
        <p:spPr>
          <a:xfrm>
            <a:off x="11113983" y="528889"/>
            <a:ext cx="85588" cy="460858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8" name="Shape 6"/>
          <p:cNvSpPr/>
          <p:nvPr/>
        </p:nvSpPr>
        <p:spPr>
          <a:xfrm>
            <a:off x="11258824" y="397215"/>
            <a:ext cx="85588" cy="592531"/>
          </a:xfrm>
          <a:prstGeom prst="rect">
            <a:avLst/>
          </a:prstGeom>
          <a:solidFill>
            <a:srgbClr val="D8A846"/>
          </a:solidFill>
          <a:ln/>
        </p:spPr>
      </p:sp>
      <p:sp>
        <p:nvSpPr>
          <p:cNvPr id="9" name="Shape 7"/>
          <p:cNvSpPr/>
          <p:nvPr/>
        </p:nvSpPr>
        <p:spPr>
          <a:xfrm>
            <a:off x="10824301" y="489387"/>
            <a:ext cx="539862" cy="408188"/>
          </a:xfrm>
          <a:prstGeom prst="line">
            <a:avLst/>
          </a:prstGeom>
          <a:noFill/>
          <a:ln w="25400">
            <a:solidFill>
              <a:srgbClr val="252B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12880" y="457200"/>
            <a:ext cx="329184" cy="329184"/>
          </a:xfrm>
          <a:prstGeom prst="ellipse">
            <a:avLst/>
          </a:prstGeom>
          <a:solidFill>
            <a:srgbClr val="D8A846"/>
          </a:solidFill>
          <a:ln/>
        </p:spPr>
      </p:sp>
      <p:sp>
        <p:nvSpPr>
          <p:cNvPr id="11" name="Text 9"/>
          <p:cNvSpPr/>
          <p:nvPr/>
        </p:nvSpPr>
        <p:spPr>
          <a:xfrm>
            <a:off x="11612880" y="553212"/>
            <a:ext cx="32918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829800" y="1005840"/>
            <a:ext cx="2148840" cy="2148840"/>
          </a:xfrm>
          <a:prstGeom prst="ellipse">
            <a:avLst/>
          </a:prstGeom>
          <a:solidFill>
            <a:srgbClr val="F7E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5840" y="2148840"/>
            <a:ext cx="10177272" cy="0"/>
          </a:xfrm>
          <a:prstGeom prst="line">
            <a:avLst/>
          </a:prstGeom>
          <a:noFill/>
          <a:ln w="50800">
            <a:solidFill>
              <a:srgbClr val="D8A84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37919" y="1892808"/>
            <a:ext cx="512064" cy="512064"/>
          </a:xfrm>
          <a:prstGeom prst="ellipse">
            <a:avLst/>
          </a:prstGeom>
          <a:solidFill>
            <a:srgbClr val="D8A846"/>
          </a:solidFill>
          <a:ln w="10160">
            <a:solidFill>
              <a:srgbClr val="252B1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37919" y="2039112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542032"/>
            <a:ext cx="2507742" cy="3703320"/>
          </a:xfrm>
          <a:prstGeom prst="roundRect">
            <a:avLst>
              <a:gd name="adj" fmla="val 2552"/>
            </a:avLst>
          </a:prstGeom>
          <a:solidFill>
            <a:srgbClr val="F7EACA"/>
          </a:solidFill>
          <a:ln w="11430">
            <a:solidFill>
              <a:srgbClr val="F7EACA"/>
            </a:solidFill>
            <a:prstDash val="solid"/>
          </a:ln>
          <a:effectLst>
            <a:outerShdw sx="100000" sy="100000" kx="0" ky="0" algn="bl" rotWithShape="0" blurRad="50800" dist="19050" dir="8100000">
              <a:srgbClr val="111827">
                <a:alpha val="11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2816352"/>
            <a:ext cx="21419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Set the quality floor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77824" y="3566160"/>
            <a:ext cx="203225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3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what an acceptable outcome must contain</a:t>
            </a:r>
            <a:endParaRPr lang="en-US" sz="1430" dirty="0"/>
          </a:p>
        </p:txBody>
      </p:sp>
      <p:sp>
        <p:nvSpPr>
          <p:cNvPr id="19" name="Shape 17"/>
          <p:cNvSpPr/>
          <p:nvPr/>
        </p:nvSpPr>
        <p:spPr>
          <a:xfrm>
            <a:off x="4438269" y="1892808"/>
            <a:ext cx="512064" cy="512064"/>
          </a:xfrm>
          <a:prstGeom prst="ellipse">
            <a:avLst/>
          </a:prstGeom>
          <a:solidFill>
            <a:srgbClr val="D8A846"/>
          </a:solidFill>
          <a:ln w="10160">
            <a:solidFill>
              <a:srgbClr val="252B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8269" y="2039112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40430" y="2542032"/>
            <a:ext cx="2507742" cy="3703320"/>
          </a:xfrm>
          <a:prstGeom prst="roundRect">
            <a:avLst>
              <a:gd name="adj" fmla="val 2552"/>
            </a:avLst>
          </a:prstGeom>
          <a:solidFill>
            <a:srgbClr val="FFFFFF"/>
          </a:solidFill>
          <a:ln w="11430">
            <a:solidFill>
              <a:srgbClr val="F7EACA"/>
            </a:solidFill>
            <a:prstDash val="solid"/>
          </a:ln>
          <a:effectLst>
            <a:outerShdw sx="100000" sy="100000" kx="0" ky="0" algn="bl" rotWithShape="0" blurRad="50800" dist="19050" dir="8100000">
              <a:srgbClr val="111827">
                <a:alpha val="11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23310" y="2816352"/>
            <a:ext cx="21419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 in units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678174" y="3566160"/>
            <a:ext cx="203225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3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latency, usage, currency assumptions, and success</a:t>
            </a:r>
            <a:endParaRPr lang="en-US" sz="1430" dirty="0"/>
          </a:p>
        </p:txBody>
      </p:sp>
      <p:sp>
        <p:nvSpPr>
          <p:cNvPr id="24" name="Shape 22"/>
          <p:cNvSpPr/>
          <p:nvPr/>
        </p:nvSpPr>
        <p:spPr>
          <a:xfrm>
            <a:off x="7238619" y="1892808"/>
            <a:ext cx="512064" cy="512064"/>
          </a:xfrm>
          <a:prstGeom prst="ellipse">
            <a:avLst/>
          </a:prstGeom>
          <a:solidFill>
            <a:srgbClr val="D8A846"/>
          </a:solidFill>
          <a:ln w="10160">
            <a:solidFill>
              <a:srgbClr val="252B1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8619" y="2039112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40780" y="2542032"/>
            <a:ext cx="2507742" cy="3703320"/>
          </a:xfrm>
          <a:prstGeom prst="roundRect">
            <a:avLst>
              <a:gd name="adj" fmla="val 2552"/>
            </a:avLst>
          </a:prstGeom>
          <a:solidFill>
            <a:srgbClr val="F7EACA"/>
          </a:solidFill>
          <a:ln w="11430">
            <a:solidFill>
              <a:srgbClr val="F7EACA"/>
            </a:solidFill>
            <a:prstDash val="solid"/>
          </a:ln>
          <a:effectLst>
            <a:outerShdw sx="100000" sy="100000" kx="0" ky="0" algn="bl" rotWithShape="0" blurRad="50800" dist="19050" dir="8100000">
              <a:srgbClr val="111827">
                <a:alpha val="11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23660" y="2816352"/>
            <a:ext cx="21419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Bound each dimension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78524" y="3566160"/>
            <a:ext cx="203225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3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Revisions, tokens, tools, elapsed time, and evaluator work</a:t>
            </a:r>
            <a:endParaRPr lang="en-US" sz="1430" dirty="0"/>
          </a:p>
        </p:txBody>
      </p:sp>
      <p:sp>
        <p:nvSpPr>
          <p:cNvPr id="29" name="Shape 27"/>
          <p:cNvSpPr/>
          <p:nvPr/>
        </p:nvSpPr>
        <p:spPr>
          <a:xfrm>
            <a:off x="10038969" y="1892808"/>
            <a:ext cx="512064" cy="512064"/>
          </a:xfrm>
          <a:prstGeom prst="ellipse">
            <a:avLst/>
          </a:prstGeom>
          <a:solidFill>
            <a:srgbClr val="72B01D"/>
          </a:solidFill>
          <a:ln w="10160">
            <a:solidFill>
              <a:srgbClr val="252B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38969" y="2039112"/>
            <a:ext cx="5120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2B1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41130" y="2542032"/>
            <a:ext cx="2507742" cy="3703320"/>
          </a:xfrm>
          <a:prstGeom prst="roundRect">
            <a:avLst>
              <a:gd name="adj" fmla="val 2552"/>
            </a:avLst>
          </a:prstGeom>
          <a:solidFill>
            <a:srgbClr val="FFFFFF"/>
          </a:solidFill>
          <a:ln w="11430">
            <a:solidFill>
              <a:srgbClr val="72B01D"/>
            </a:solidFill>
            <a:prstDash val="solid"/>
          </a:ln>
          <a:effectLst>
            <a:outerShdw sx="100000" sy="100000" kx="0" ky="0" algn="bl" rotWithShape="0" blurRad="50800" dist="19050" dir="8100000">
              <a:srgbClr val="111827">
                <a:alpha val="11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224010" y="2816352"/>
            <a:ext cx="21419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2B1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Stop deliberately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278874" y="3566160"/>
            <a:ext cx="203225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30" dirty="0">
                <a:solidFill>
                  <a:srgbClr val="2A2C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partial evidence, defer, or escalate through application policy</a:t>
            </a:r>
            <a:endParaRPr lang="en-US" sz="1430" dirty="0"/>
          </a:p>
        </p:txBody>
      </p:sp>
      <p:sp>
        <p:nvSpPr>
          <p:cNvPr id="34" name="Text 32"/>
          <p:cNvSpPr/>
          <p:nvPr/>
        </p:nvSpPr>
        <p:spPr>
          <a:xfrm>
            <a:off x="658368" y="6318504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D6A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 learn.microsoft.com/azure/foundry/openai/how-to/evaluate-model-router  ·  +2 more in notes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D8A846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Cost, Latency, and Model Routing</dc:title>
  <dc:subject>Day 5 — Production Readiness and Capstone</dc:subject>
  <dc:creator>Building AI Apps and Agents Workshop</dc:creator>
  <cp:lastModifiedBy>Building AI Apps and Agents Workshop</cp:lastModifiedBy>
  <cp:revision>1</cp:revision>
  <dcterms:created xsi:type="dcterms:W3CDTF">2026-09-18T21:01:13Z</dcterms:created>
  <dcterms:modified xsi:type="dcterms:W3CDTF">2026-09-18T21:01:13Z</dcterms:modified>
</cp:coreProperties>
</file>