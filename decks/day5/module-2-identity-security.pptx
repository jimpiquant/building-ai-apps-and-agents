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266"/>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1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Open with the outcome, not a product tour: we will follow the identity actually presented at each connection, then ask what that principal may do at that resource. No prior lab completion is assumed; all checkpoints use the presenter-prepared reference agent and evidence in the demo runbook.
• GROUNDING SOURCE: https://learn.microsoft.com/azure/foundry/concepts/authentication-authorization-foundry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Spend about three minutes here. Authentication establishes a principal; authorization evaluates that principal's permissions. Repeat the distinction on both Azure surfaces: control-plane RBAC actions govern resource management, while data-plane RBAC dataActions govern runtime use. Success on one surface says nothing about the other.
• GROUNDING SOURCE: https://learn.microsoft.com/azure/foundry/concepts/authentication-authorization-foundry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left to right and ask “which principal is in this request?” Attended access can carry the user's delegated permissions through an on-behalf-of flow; unattended access uses the agent's application-only authority. The person named in the chat UI is context, not proof that downstream received that person's identity.
• GROUNDING SOURCE: https://learn.microsoft.com/azure/foundry/agents/concepts/agent-identity
• GROUNDING SOURCE: https://learn.microsoft.com/azure/foundry/concepts/authentication-authorization-foundry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 the migration page as the current behavior. Newly created agents get a unique Entra Agent Blueprint and Agent Identity at creation. Older agent-identity and MCP pages can still describe the legacy “shared project identity until publish” model; use agent.identity/instance_identity and the migration guide to identify what is actually running. A unique agent identity improves least privilege and auditability but does not automatically preserve end-user context.
• GROUNDING SOURCE: https://learn.microsoft.com/azure/foundry/agents/how-to/migrate-agent-applications
• GROUNDING SOURCE: https://learn.microsoft.com/azure/foundry/agents/concepts/agent-identity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 this as three cumulative layers, not as one Azure RBAC formula. A role defines the allowed actions; resource scope defines where the role assignment applies; data-level permission is the workshop umbrella for record-level authorization such as a document ACL or query-time security filter. A request can pass endpoint and index RBAC and still fail document authorization. Use Foundry Agent Consumer at project or agent-endpoint scope for invocation-only callers; Foundry User at project scope for builders; and Log Analytics Reader at the connected Application Insights resource for trace readers. Protected tables also require Privileged Monitoring Data Reader.
• GROUNDING SOURCE: https://learn.microsoft.com/azure/foundry/concepts/rbac-foundry
• GROUNDING SOURCE: https://learn.microsoft.com/azure/search/search-document-level-access-overview
• GROUNDING SOURCE: https://learn.microsoft.com/azure/foundry/observability/how-to/trace-agent-setup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Approval answers whether this proposed tool call may proceed. OAuth consent grants the application's requested delegated scopes for this user. The downstream service still authenticates and authorizes the token it receives. Shared key, agent-identity, or project-managed-identity connections do not preserve user context; OAuth identity passthrough is the documented individual-authentication option, with tenant and audience constraints. Never place a personal credential in a shared project connection.
• GROUNDING SOURCE: https://learn.microsoft.com/azure/foundry/agents/how-to/mcp-authentication
• GROUNDING SOURCE: https://learn.microsoft.com/azure/foundry/agents/concepts/agent-identity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continuation ID is an opaque lookup key, not an ownership credential. Authenticate the caller, authorize access to the referenced state, and partition persisted state by tenant, user, or workspace before loading it. Likewise, project or index access is not document access. Foundry IQ and native Search ACL/RBAC enforcement have preview API and SDK requirements; security filters are a separate, API-agnostic custom-RAG pattern. Permission metadata must survive chunking and stay refreshed.
• GROUNDING SOURCE: https://learn.microsoft.com/agent-framework/hosting/self-hosting/#secure-session-continuation
• GROUNDING SOURCE: https://learn.microsoft.com/azure/foundry/agents/how-to/foundry-iq-connect
• GROUNDING SOURCE: https://learn.microsoft.com/azure/search/search-document-level-access-overview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only the runbook's presenter-prepared, synthetic access map and explicitly labeled expected outcomes. Alice and Bob may both invoke and approve a lookup, but only Alice's user permission allows the restricted document; Bob also cannot reuse Alice's continuation ID. Do not make live RBAC or consent changes, display tokens, or imply the expected table is a captured cloud result. Close with the phrase “the reference agent we examined.”
• GROUNDING SOURCE: https://learn.microsoft.com/azure/foundry/agents/how-to/mcp-authentication
• GROUNDING SOURCE: https://learn.microsoft.com/agent-framework/hosting/self-hosting/#secure-session-continuation
• GROUNDING SOURCE: https://learn.microsoft.com/azure/foundry/agents/how-to/foundry-iq-connect
• GROUNDING SOURCE: https://learn.microsoft.com/azure/search/search-document-level-access-overview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Run the closing checkpoint: “OAuth consent and tool approval succeeded, but Bob's retrieval was denied. What do we inspect?” Expected answer: the principal actually presented downstream, its role and scope, and Bob's document permission. Reinforce that this conclusion comes from the reference agent we examined; attendees need no previous lab result.
• GROUNDING SOURCE: https://learn.microsoft.com/azure/foundry/concepts/authentication-authorization-foundry
• GROUNDING SOURCE: https://learn.microsoft.com/azure/foundry/concepts/rbac-foundry
• GROUNDING SOURCE: https://learn.microsoft.com/azure/foundry/agents/how-to/migrate-agent-applications
• GROUNDING SOURCE: https://learn.microsoft.com/agent-framework/hosting/self-hosting/#secure-session-continuation
• GROUNDING SOURCE: https://learn.microsoft.com/azure/search/search-document-level-access-overview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26"/>
        </a:solidFill>
        <a:effectLst/>
      </p:bgPr>
    </p:bg>
    <p:spTree>
      <p:nvGrpSpPr>
        <p:cNvPr id="1" name=""/>
        <p:cNvGrpSpPr/>
        <p:nvPr/>
      </p:nvGrpSpPr>
      <p:grpSpPr>
        <a:xfrm>
          <a:off x="0" y="0"/>
          <a:ext cx="0" cy="0"/>
          <a:chOff x="0" y="0"/>
          <a:chExt cx="0" cy="0"/>
        </a:xfrm>
      </p:grpSpPr>
      <p:sp>
        <p:nvSpPr>
          <p:cNvPr id="2" name="Shape 0"/>
          <p:cNvSpPr/>
          <p:nvPr/>
        </p:nvSpPr>
        <p:spPr>
          <a:xfrm>
            <a:off x="7973568" y="137160"/>
            <a:ext cx="3886200" cy="3886200"/>
          </a:xfrm>
          <a:prstGeom prst="ellipse">
            <a:avLst/>
          </a:prstGeom>
          <a:solidFill>
            <a:srgbClr val="FFF1CB"/>
          </a:solidFill>
          <a:ln/>
        </p:spPr>
      </p:sp>
      <p:sp>
        <p:nvSpPr>
          <p:cNvPr id="3" name="Shape 1"/>
          <p:cNvSpPr/>
          <p:nvPr/>
        </p:nvSpPr>
        <p:spPr>
          <a:xfrm>
            <a:off x="8394192" y="557784"/>
            <a:ext cx="3044952" cy="3044952"/>
          </a:xfrm>
          <a:prstGeom prst="ellipse">
            <a:avLst/>
          </a:prstGeom>
          <a:solidFill>
            <a:srgbClr val="123026"/>
          </a:solidFill>
          <a:ln/>
        </p:spPr>
      </p:sp>
      <p:sp>
        <p:nvSpPr>
          <p:cNvPr id="4" name="Shape 2"/>
          <p:cNvSpPr/>
          <p:nvPr/>
        </p:nvSpPr>
        <p:spPr>
          <a:xfrm>
            <a:off x="9304934" y="582930"/>
            <a:ext cx="2467051" cy="2791663"/>
          </a:xfrm>
          <a:prstGeom prst="hexagon">
            <a:avLst/>
          </a:prstGeom>
          <a:solidFill>
            <a:srgbClr val="22473B"/>
          </a:solidFill>
          <a:ln w="10160">
            <a:solidFill>
              <a:srgbClr val="35C990"/>
            </a:solidFill>
            <a:prstDash val="solid"/>
          </a:ln>
        </p:spPr>
      </p:sp>
      <p:sp>
        <p:nvSpPr>
          <p:cNvPr id="5" name="Shape 3"/>
          <p:cNvSpPr/>
          <p:nvPr/>
        </p:nvSpPr>
        <p:spPr>
          <a:xfrm>
            <a:off x="10019081" y="1816456"/>
            <a:ext cx="1103681" cy="908914"/>
          </a:xfrm>
          <a:prstGeom prst="roundRect">
            <a:avLst>
              <a:gd name="adj" fmla="val 8048"/>
            </a:avLst>
          </a:prstGeom>
          <a:solidFill>
            <a:srgbClr val="35C990"/>
          </a:solidFill>
          <a:ln/>
        </p:spPr>
      </p:sp>
      <p:sp>
        <p:nvSpPr>
          <p:cNvPr id="6" name="Shape 4"/>
          <p:cNvSpPr/>
          <p:nvPr/>
        </p:nvSpPr>
        <p:spPr>
          <a:xfrm>
            <a:off x="10278770" y="1394460"/>
            <a:ext cx="0" cy="421996"/>
          </a:xfrm>
          <a:prstGeom prst="line">
            <a:avLst/>
          </a:prstGeom>
          <a:noFill/>
          <a:ln w="25400">
            <a:solidFill>
              <a:srgbClr val="FFFFFF"/>
            </a:solidFill>
            <a:prstDash val="solid"/>
          </a:ln>
        </p:spPr>
      </p:sp>
      <p:sp>
        <p:nvSpPr>
          <p:cNvPr id="7" name="Shape 5"/>
          <p:cNvSpPr/>
          <p:nvPr/>
        </p:nvSpPr>
        <p:spPr>
          <a:xfrm>
            <a:off x="10278770" y="1394460"/>
            <a:ext cx="551840" cy="0"/>
          </a:xfrm>
          <a:prstGeom prst="line">
            <a:avLst/>
          </a:prstGeom>
          <a:noFill/>
          <a:ln w="25400">
            <a:solidFill>
              <a:srgbClr val="FFFFFF"/>
            </a:solidFill>
            <a:prstDash val="solid"/>
          </a:ln>
        </p:spPr>
      </p:sp>
      <p:sp>
        <p:nvSpPr>
          <p:cNvPr id="8" name="Shape 6"/>
          <p:cNvSpPr/>
          <p:nvPr/>
        </p:nvSpPr>
        <p:spPr>
          <a:xfrm>
            <a:off x="10830611" y="1394460"/>
            <a:ext cx="0" cy="421996"/>
          </a:xfrm>
          <a:prstGeom prst="line">
            <a:avLst/>
          </a:prstGeom>
          <a:noFill/>
          <a:ln w="25400">
            <a:solidFill>
              <a:srgbClr val="FFFFFF"/>
            </a:solidFill>
            <a:prstDash val="solid"/>
          </a:ln>
        </p:spPr>
      </p:sp>
      <p:sp>
        <p:nvSpPr>
          <p:cNvPr id="9" name="Shape 7"/>
          <p:cNvSpPr/>
          <p:nvPr/>
        </p:nvSpPr>
        <p:spPr>
          <a:xfrm>
            <a:off x="713232" y="530352"/>
            <a:ext cx="2148840" cy="365760"/>
          </a:xfrm>
          <a:prstGeom prst="roundRect">
            <a:avLst>
              <a:gd name="adj" fmla="val 20000"/>
            </a:avLst>
          </a:prstGeom>
          <a:solidFill>
            <a:srgbClr val="35C990"/>
          </a:solidFill>
          <a:ln/>
        </p:spPr>
      </p:sp>
      <p:sp>
        <p:nvSpPr>
          <p:cNvPr id="10" name="Text 8"/>
          <p:cNvSpPr/>
          <p:nvPr/>
        </p:nvSpPr>
        <p:spPr>
          <a:xfrm>
            <a:off x="868680" y="658368"/>
            <a:ext cx="1828800" cy="109728"/>
          </a:xfrm>
          <a:prstGeom prst="rect">
            <a:avLst/>
          </a:prstGeom>
          <a:noFill/>
          <a:ln/>
        </p:spPr>
        <p:txBody>
          <a:bodyPr wrap="square" lIns="0" tIns="0" rIns="0" bIns="0" rtlCol="0" anchor="ctr"/>
          <a:lstStyle/>
          <a:p>
            <a:pPr marL="0" indent="0" algn="ctr">
              <a:buNone/>
            </a:pPr>
            <a:r>
              <a:rPr lang="en-US" sz="900" b="1" kern="0" spc="160" dirty="0">
                <a:solidFill>
                  <a:srgbClr val="123026"/>
                </a:solidFill>
                <a:latin typeface="Aptos" pitchFamily="34" charset="0"/>
                <a:ea typeface="Aptos" pitchFamily="34" charset="-122"/>
                <a:cs typeface="Aptos" pitchFamily="34" charset="-120"/>
              </a:rPr>
              <a:t>DAY 5  ·  MODULE 2</a:t>
            </a:r>
            <a:endParaRPr lang="en-US" sz="900" dirty="0"/>
          </a:p>
        </p:txBody>
      </p:sp>
      <p:sp>
        <p:nvSpPr>
          <p:cNvPr id="11" name="Text 9"/>
          <p:cNvSpPr/>
          <p:nvPr/>
        </p:nvSpPr>
        <p:spPr>
          <a:xfrm>
            <a:off x="713232" y="1298448"/>
            <a:ext cx="7150608" cy="1143000"/>
          </a:xfrm>
          <a:prstGeom prst="rect">
            <a:avLst/>
          </a:prstGeom>
          <a:noFill/>
          <a:ln/>
        </p:spPr>
        <p:txBody>
          <a:bodyPr wrap="square" lIns="0" tIns="0" rIns="0" bIns="0" rtlCol="0" anchor="ctr">
            <a:normAutofit/>
          </a:bodyPr>
          <a:lstStyle/>
          <a:p>
            <a:pPr marL="0" indent="0">
              <a:buNone/>
            </a:pPr>
            <a:r>
              <a:rPr lang="en-US" sz="4700" b="1" dirty="0">
                <a:solidFill>
                  <a:srgbClr val="FFFFFF"/>
                </a:solidFill>
                <a:latin typeface="Aptos Display" pitchFamily="34" charset="0"/>
                <a:ea typeface="Aptos Display" pitchFamily="34" charset="-122"/>
                <a:cs typeface="Aptos Display" pitchFamily="34" charset="-120"/>
              </a:rPr>
              <a:t>Identity and Security</a:t>
            </a:r>
            <a:endParaRPr lang="en-US" sz="4700" dirty="0"/>
          </a:p>
        </p:txBody>
      </p:sp>
      <p:sp>
        <p:nvSpPr>
          <p:cNvPr id="12" name="Text 10"/>
          <p:cNvSpPr/>
          <p:nvPr/>
        </p:nvSpPr>
        <p:spPr>
          <a:xfrm>
            <a:off x="749808" y="2615184"/>
            <a:ext cx="6931152" cy="786384"/>
          </a:xfrm>
          <a:prstGeom prst="rect">
            <a:avLst/>
          </a:prstGeom>
          <a:noFill/>
          <a:ln/>
        </p:spPr>
        <p:txBody>
          <a:bodyPr wrap="square" lIns="0" tIns="0" rIns="0" bIns="0" rtlCol="0" anchor="ctr">
            <a:normAutofit/>
          </a:bodyPr>
          <a:lstStyle/>
          <a:p>
            <a:pPr marL="0" indent="0">
              <a:buNone/>
            </a:pPr>
            <a:r>
              <a:rPr lang="en-US" sz="1830" dirty="0">
                <a:solidFill>
                  <a:srgbClr val="E4EAF0"/>
                </a:solidFill>
                <a:latin typeface="Aptos" pitchFamily="34" charset="0"/>
                <a:ea typeface="Aptos" pitchFamily="34" charset="-122"/>
                <a:cs typeface="Aptos" pitchFamily="34" charset="-120"/>
              </a:rPr>
              <a:t>Follow the caller, then enforce least privilege at every boundary</a:t>
            </a:r>
            <a:endParaRPr lang="en-US" sz="1830" dirty="0"/>
          </a:p>
        </p:txBody>
      </p:sp>
      <p:sp>
        <p:nvSpPr>
          <p:cNvPr id="13" name="Shape 11"/>
          <p:cNvSpPr/>
          <p:nvPr/>
        </p:nvSpPr>
        <p:spPr>
          <a:xfrm>
            <a:off x="713232" y="4160520"/>
            <a:ext cx="6793992" cy="1097280"/>
          </a:xfrm>
          <a:prstGeom prst="roundRect">
            <a:avLst>
              <a:gd name="adj" fmla="val 6667"/>
            </a:avLst>
          </a:prstGeom>
          <a:solidFill>
            <a:srgbClr val="FFFFFF"/>
          </a:solidFill>
          <a:ln/>
        </p:spPr>
      </p:sp>
      <p:sp>
        <p:nvSpPr>
          <p:cNvPr id="14" name="Shape 12"/>
          <p:cNvSpPr/>
          <p:nvPr/>
        </p:nvSpPr>
        <p:spPr>
          <a:xfrm>
            <a:off x="713232" y="4160520"/>
            <a:ext cx="146304" cy="1097280"/>
          </a:xfrm>
          <a:prstGeom prst="rect">
            <a:avLst/>
          </a:prstGeom>
          <a:solidFill>
            <a:srgbClr val="35C990"/>
          </a:solidFill>
          <a:ln/>
        </p:spPr>
      </p:sp>
      <p:sp>
        <p:nvSpPr>
          <p:cNvPr id="15" name="Text 13"/>
          <p:cNvSpPr/>
          <p:nvPr/>
        </p:nvSpPr>
        <p:spPr>
          <a:xfrm>
            <a:off x="1078992" y="4407408"/>
            <a:ext cx="6080760" cy="603504"/>
          </a:xfrm>
          <a:prstGeom prst="rect">
            <a:avLst/>
          </a:prstGeom>
          <a:noFill/>
          <a:ln/>
        </p:spPr>
        <p:txBody>
          <a:bodyPr wrap="square" lIns="0" tIns="0" rIns="0" bIns="0" rtlCol="0" anchor="ctr">
            <a:normAutofit/>
          </a:bodyPr>
          <a:lstStyle/>
          <a:p>
            <a:pPr marL="0" indent="0">
              <a:buNone/>
            </a:pPr>
            <a:r>
              <a:rPr lang="en-US" sz="1700" b="1" dirty="0">
                <a:solidFill>
                  <a:srgbClr val="123026"/>
                </a:solidFill>
                <a:latin typeface="Aptos" pitchFamily="34" charset="0"/>
                <a:ea typeface="Aptos" pitchFamily="34" charset="-122"/>
                <a:cs typeface="Aptos" pitchFamily="34" charset="-120"/>
              </a:rPr>
              <a:t>Authentication tells us who crossed a boundary; authorization decides what that identity may do there</a:t>
            </a:r>
            <a:endParaRPr lang="en-US" sz="1700" dirty="0"/>
          </a:p>
        </p:txBody>
      </p:sp>
      <p:sp>
        <p:nvSpPr>
          <p:cNvPr id="16" name="Text 14"/>
          <p:cNvSpPr/>
          <p:nvPr/>
        </p:nvSpPr>
        <p:spPr>
          <a:xfrm>
            <a:off x="9546336" y="4261104"/>
            <a:ext cx="2011680" cy="914400"/>
          </a:xfrm>
          <a:prstGeom prst="rect">
            <a:avLst/>
          </a:prstGeom>
          <a:noFill/>
          <a:ln/>
        </p:spPr>
        <p:txBody>
          <a:bodyPr wrap="square" lIns="0" tIns="0" rIns="0" bIns="0" rtlCol="0" anchor="ctr"/>
          <a:lstStyle/>
          <a:p>
            <a:pPr marL="0" indent="0" algn="ctr">
              <a:buNone/>
            </a:pPr>
            <a:r>
              <a:rPr lang="en-US" sz="6800" b="1" dirty="0">
                <a:solidFill>
                  <a:srgbClr val="35C990"/>
                </a:solidFill>
                <a:latin typeface="Aptos Display" pitchFamily="34" charset="0"/>
                <a:ea typeface="Aptos Display" pitchFamily="34" charset="-122"/>
                <a:cs typeface="Aptos Display" pitchFamily="34" charset="-120"/>
              </a:rPr>
              <a:t>03</a:t>
            </a:r>
            <a:endParaRPr lang="en-US" sz="6800" dirty="0"/>
          </a:p>
        </p:txBody>
      </p:sp>
      <p:sp>
        <p:nvSpPr>
          <p:cNvPr id="17" name="Text 15"/>
          <p:cNvSpPr/>
          <p:nvPr/>
        </p:nvSpPr>
        <p:spPr>
          <a:xfrm>
            <a:off x="8732520" y="5239512"/>
            <a:ext cx="3611880" cy="182880"/>
          </a:xfrm>
          <a:prstGeom prst="rect">
            <a:avLst/>
          </a:prstGeom>
          <a:noFill/>
          <a:ln/>
        </p:spPr>
        <p:txBody>
          <a:bodyPr wrap="square" lIns="0" tIns="0" rIns="0" bIns="0" rtlCol="0" anchor="ctr"/>
          <a:lstStyle/>
          <a:p>
            <a:pPr marL="0" indent="0" algn="ctr">
              <a:buNone/>
            </a:pPr>
            <a:r>
              <a:rPr lang="en-US" sz="950" b="1" kern="0" spc="240" dirty="0">
                <a:solidFill>
                  <a:srgbClr val="FFFFFF"/>
                </a:solidFill>
                <a:latin typeface="Aptos" pitchFamily="34" charset="0"/>
                <a:ea typeface="Aptos" pitchFamily="34" charset="-122"/>
                <a:cs typeface="Aptos" pitchFamily="34" charset="-120"/>
              </a:rPr>
              <a:t>TRUST BOUNDARIES</a:t>
            </a:r>
            <a:endParaRPr lang="en-US" sz="950" dirty="0"/>
          </a:p>
        </p:txBody>
      </p:sp>
      <p:sp>
        <p:nvSpPr>
          <p:cNvPr id="18" name="Text 16"/>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DDE7EF"/>
                </a:solidFill>
                <a:latin typeface="Aptos" pitchFamily="34" charset="0"/>
                <a:ea typeface="Aptos" pitchFamily="34" charset="-122"/>
                <a:cs typeface="Aptos" pitchFamily="34" charset="-120"/>
              </a:rPr>
              <a:t>REFERENCE  learn.microsoft.com/azure/foundry/concepts/authentication-authorization-foundry</a:t>
            </a:r>
            <a:endParaRPr lang="en-US" sz="940" dirty="0"/>
          </a:p>
        </p:txBody>
      </p:sp>
      <p:sp>
        <p:nvSpPr>
          <p:cNvPr id="19" name="Shape 17"/>
          <p:cNvSpPr/>
          <p:nvPr/>
        </p:nvSpPr>
        <p:spPr>
          <a:xfrm>
            <a:off x="0" y="6793992"/>
            <a:ext cx="12191695" cy="64008"/>
          </a:xfrm>
          <a:prstGeom prst="rect">
            <a:avLst/>
          </a:prstGeom>
          <a:solidFill>
            <a:srgbClr val="35C99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B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23026"/>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2  /  TRUST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123026"/>
                </a:solidFill>
                <a:latin typeface="Aptos Display" pitchFamily="34" charset="0"/>
                <a:ea typeface="Aptos Display" pitchFamily="34" charset="-122"/>
                <a:cs typeface="Aptos Display" pitchFamily="34" charset="-120"/>
              </a:rPr>
              <a:t>Authenticate first; authorize at each plane</a:t>
            </a:r>
            <a:endParaRPr lang="en-US" sz="3100" dirty="0"/>
          </a:p>
        </p:txBody>
      </p:sp>
      <p:sp>
        <p:nvSpPr>
          <p:cNvPr id="5" name="Shape 3"/>
          <p:cNvSpPr/>
          <p:nvPr/>
        </p:nvSpPr>
        <p:spPr>
          <a:xfrm>
            <a:off x="10850636" y="416966"/>
            <a:ext cx="500360" cy="566196"/>
          </a:xfrm>
          <a:prstGeom prst="hexagon">
            <a:avLst/>
          </a:prstGeom>
          <a:solidFill>
            <a:srgbClr val="DFF7EC"/>
          </a:solidFill>
          <a:ln w="10160">
            <a:solidFill>
              <a:srgbClr val="35C990"/>
            </a:solidFill>
            <a:prstDash val="solid"/>
          </a:ln>
        </p:spPr>
      </p:sp>
      <p:sp>
        <p:nvSpPr>
          <p:cNvPr id="6" name="Shape 4"/>
          <p:cNvSpPr/>
          <p:nvPr/>
        </p:nvSpPr>
        <p:spPr>
          <a:xfrm>
            <a:off x="10995477" y="667146"/>
            <a:ext cx="223845" cy="184343"/>
          </a:xfrm>
          <a:prstGeom prst="roundRect">
            <a:avLst>
              <a:gd name="adj" fmla="val 39683"/>
            </a:avLst>
          </a:prstGeom>
          <a:solidFill>
            <a:srgbClr val="35C990"/>
          </a:solidFill>
          <a:ln/>
        </p:spPr>
      </p:sp>
      <p:sp>
        <p:nvSpPr>
          <p:cNvPr id="7" name="Shape 5"/>
          <p:cNvSpPr/>
          <p:nvPr/>
        </p:nvSpPr>
        <p:spPr>
          <a:xfrm>
            <a:off x="11048147" y="581558"/>
            <a:ext cx="0" cy="85588"/>
          </a:xfrm>
          <a:prstGeom prst="line">
            <a:avLst/>
          </a:prstGeom>
          <a:noFill/>
          <a:ln w="25400">
            <a:solidFill>
              <a:srgbClr val="123026"/>
            </a:solidFill>
            <a:prstDash val="solid"/>
          </a:ln>
        </p:spPr>
      </p:sp>
      <p:sp>
        <p:nvSpPr>
          <p:cNvPr id="8" name="Shape 6"/>
          <p:cNvSpPr/>
          <p:nvPr/>
        </p:nvSpPr>
        <p:spPr>
          <a:xfrm>
            <a:off x="11048147" y="581558"/>
            <a:ext cx="111923" cy="0"/>
          </a:xfrm>
          <a:prstGeom prst="line">
            <a:avLst/>
          </a:prstGeom>
          <a:noFill/>
          <a:ln w="25400">
            <a:solidFill>
              <a:srgbClr val="123026"/>
            </a:solidFill>
            <a:prstDash val="solid"/>
          </a:ln>
        </p:spPr>
      </p:sp>
      <p:sp>
        <p:nvSpPr>
          <p:cNvPr id="9" name="Shape 7"/>
          <p:cNvSpPr/>
          <p:nvPr/>
        </p:nvSpPr>
        <p:spPr>
          <a:xfrm>
            <a:off x="11160069" y="581558"/>
            <a:ext cx="0" cy="85588"/>
          </a:xfrm>
          <a:prstGeom prst="line">
            <a:avLst/>
          </a:prstGeom>
          <a:noFill/>
          <a:ln w="25400">
            <a:solidFill>
              <a:srgbClr val="123026"/>
            </a:solidFill>
            <a:prstDash val="solid"/>
          </a:ln>
        </p:spPr>
      </p:sp>
      <p:sp>
        <p:nvSpPr>
          <p:cNvPr id="10" name="Shape 8"/>
          <p:cNvSpPr/>
          <p:nvPr/>
        </p:nvSpPr>
        <p:spPr>
          <a:xfrm>
            <a:off x="11612880" y="457200"/>
            <a:ext cx="329184" cy="329184"/>
          </a:xfrm>
          <a:prstGeom prst="ellipse">
            <a:avLst/>
          </a:prstGeom>
          <a:solidFill>
            <a:srgbClr val="35C990"/>
          </a:solidFill>
          <a:ln/>
        </p:spPr>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123026"/>
                </a:solidFill>
                <a:latin typeface="Aptos" pitchFamily="34" charset="0"/>
                <a:ea typeface="Aptos" pitchFamily="34" charset="-122"/>
                <a:cs typeface="Aptos" pitchFamily="34" charset="-120"/>
              </a:rPr>
              <a:t>02</a:t>
            </a:r>
            <a:endParaRPr lang="en-US" sz="850" dirty="0"/>
          </a:p>
        </p:txBody>
      </p:sp>
      <p:sp>
        <p:nvSpPr>
          <p:cNvPr id="12" name="Shape 10"/>
          <p:cNvSpPr/>
          <p:nvPr/>
        </p:nvSpPr>
        <p:spPr>
          <a:xfrm>
            <a:off x="9829800" y="1005840"/>
            <a:ext cx="2148840" cy="2148840"/>
          </a:xfrm>
          <a:prstGeom prst="ellipse">
            <a:avLst/>
          </a:prstGeom>
          <a:solidFill>
            <a:srgbClr val="DFF7EC"/>
          </a:solidFill>
          <a:ln/>
        </p:spPr>
      </p:sp>
      <p:sp>
        <p:nvSpPr>
          <p:cNvPr id="13" name="Shape 11"/>
          <p:cNvSpPr/>
          <p:nvPr/>
        </p:nvSpPr>
        <p:spPr>
          <a:xfrm>
            <a:off x="640080" y="1417320"/>
            <a:ext cx="5248656" cy="4626864"/>
          </a:xfrm>
          <a:prstGeom prst="roundRect">
            <a:avLst>
              <a:gd name="adj" fmla="val 1779"/>
            </a:avLst>
          </a:prstGeom>
          <a:solidFill>
            <a:srgbClr val="FFFFFF"/>
          </a:solidFill>
          <a:ln w="15240">
            <a:solidFill>
              <a:srgbClr val="DFF7EC"/>
            </a:solidFill>
            <a:prstDash val="solid"/>
          </a:ln>
          <a:effectLst>
            <a:outerShdw blurRad="50800" dist="19050" dir="8100000" algn="bl" rotWithShape="0">
              <a:srgbClr val="111827">
                <a:alpha val="11000"/>
              </a:srgbClr>
            </a:outerShdw>
          </a:effectLst>
        </p:spPr>
      </p:sp>
      <p:sp>
        <p:nvSpPr>
          <p:cNvPr id="14" name="Shape 12"/>
          <p:cNvSpPr/>
          <p:nvPr/>
        </p:nvSpPr>
        <p:spPr>
          <a:xfrm>
            <a:off x="896112" y="1673352"/>
            <a:ext cx="1572768" cy="310896"/>
          </a:xfrm>
          <a:prstGeom prst="roundRect">
            <a:avLst>
              <a:gd name="adj" fmla="val 23529"/>
            </a:avLst>
          </a:prstGeom>
          <a:solidFill>
            <a:srgbClr val="123026"/>
          </a:solidFill>
          <a:ln/>
        </p:spPr>
      </p:sp>
      <p:sp>
        <p:nvSpPr>
          <p:cNvPr id="15" name="Text 13"/>
          <p:cNvSpPr/>
          <p:nvPr/>
        </p:nvSpPr>
        <p:spPr>
          <a:xfrm>
            <a:off x="1005840"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FFFFFF"/>
                </a:solidFill>
                <a:latin typeface="Aptos" pitchFamily="34" charset="0"/>
                <a:ea typeface="Aptos" pitchFamily="34" charset="-122"/>
                <a:cs typeface="Aptos" pitchFamily="34" charset="-120"/>
              </a:rPr>
              <a:t>AUTHENTICATE</a:t>
            </a:r>
            <a:endParaRPr lang="en-US" sz="830" dirty="0"/>
          </a:p>
        </p:txBody>
      </p:sp>
      <p:sp>
        <p:nvSpPr>
          <p:cNvPr id="16" name="Text 14"/>
          <p:cNvSpPr/>
          <p:nvPr/>
        </p:nvSpPr>
        <p:spPr>
          <a:xfrm>
            <a:off x="932688"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123026"/>
                </a:solidFill>
                <a:latin typeface="Aptos Display" pitchFamily="34" charset="0"/>
                <a:ea typeface="Aptos Display" pitchFamily="34" charset="-122"/>
                <a:cs typeface="Aptos Display" pitchFamily="34" charset="-120"/>
              </a:rPr>
              <a:t>Authentication — who is calling?</a:t>
            </a:r>
            <a:endParaRPr lang="en-US" sz="2200" dirty="0"/>
          </a:p>
        </p:txBody>
      </p:sp>
      <p:sp>
        <p:nvSpPr>
          <p:cNvPr id="17" name="Text 15"/>
          <p:cNvSpPr/>
          <p:nvPr/>
        </p:nvSpPr>
        <p:spPr>
          <a:xfrm>
            <a:off x="987552"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183128"/>
                </a:solidFill>
                <a:latin typeface="Aptos" pitchFamily="34" charset="0"/>
                <a:ea typeface="Aptos" pitchFamily="34" charset="-122"/>
                <a:cs typeface="Aptos" pitchFamily="34" charset="-120"/>
              </a:rPr>
              <a:t>A user, application/service principal, managed identity, or agent identity presents a credential</a:t>
            </a:r>
            <a:endParaRPr lang="en-US" sz="1600" dirty="0"/>
          </a:p>
          <a:p>
            <a:pPr marL="342900" indent="-342900">
              <a:buSzPct val="100000"/>
              <a:buChar char="•"/>
            </a:pPr>
            <a:r>
              <a:rPr lang="en-US" sz="1600" dirty="0">
                <a:solidFill>
                  <a:srgbClr val="183128"/>
                </a:solidFill>
                <a:latin typeface="Aptos" pitchFamily="34" charset="0"/>
                <a:ea typeface="Aptos" pitchFamily="34" charset="-122"/>
                <a:cs typeface="Aptos" pitchFamily="34" charset="-120"/>
              </a:rPr>
              <a:t>A signed-in chat user is not automatically the caller at every later hop</a:t>
            </a:r>
            <a:endParaRPr lang="en-US" sz="1600" dirty="0"/>
          </a:p>
        </p:txBody>
      </p:sp>
      <p:sp>
        <p:nvSpPr>
          <p:cNvPr id="18" name="Shape 16"/>
          <p:cNvSpPr/>
          <p:nvPr/>
        </p:nvSpPr>
        <p:spPr>
          <a:xfrm>
            <a:off x="5020056" y="1609344"/>
            <a:ext cx="493776" cy="493776"/>
          </a:xfrm>
          <a:prstGeom prst="ellipse">
            <a:avLst/>
          </a:prstGeom>
          <a:solidFill>
            <a:srgbClr val="DFF7EC"/>
          </a:solidFill>
          <a:ln/>
        </p:spPr>
      </p:sp>
      <p:sp>
        <p:nvSpPr>
          <p:cNvPr id="19" name="Text 17"/>
          <p:cNvSpPr/>
          <p:nvPr/>
        </p:nvSpPr>
        <p:spPr>
          <a:xfrm>
            <a:off x="5020056" y="1755648"/>
            <a:ext cx="493776" cy="118872"/>
          </a:xfrm>
          <a:prstGeom prst="rect">
            <a:avLst/>
          </a:prstGeom>
          <a:noFill/>
          <a:ln/>
        </p:spPr>
        <p:txBody>
          <a:bodyPr wrap="square" lIns="0" tIns="0" rIns="0" bIns="0" rtlCol="0" anchor="ctr"/>
          <a:lstStyle/>
          <a:p>
            <a:pPr marL="0" indent="0" algn="ctr">
              <a:buNone/>
            </a:pPr>
            <a:r>
              <a:rPr lang="en-US" sz="1000" b="1" dirty="0">
                <a:solidFill>
                  <a:srgbClr val="123026"/>
                </a:solidFill>
                <a:latin typeface="Aptos" pitchFamily="34" charset="0"/>
                <a:ea typeface="Aptos" pitchFamily="34" charset="-122"/>
                <a:cs typeface="Aptos" pitchFamily="34" charset="-120"/>
              </a:rPr>
              <a:t>1</a:t>
            </a:r>
            <a:endParaRPr lang="en-US" sz="1000" dirty="0"/>
          </a:p>
        </p:txBody>
      </p:sp>
      <p:sp>
        <p:nvSpPr>
          <p:cNvPr id="20" name="Shape 18"/>
          <p:cNvSpPr/>
          <p:nvPr/>
        </p:nvSpPr>
        <p:spPr>
          <a:xfrm>
            <a:off x="6300216" y="1417320"/>
            <a:ext cx="5248656" cy="4626864"/>
          </a:xfrm>
          <a:prstGeom prst="roundRect">
            <a:avLst>
              <a:gd name="adj" fmla="val 1779"/>
            </a:avLst>
          </a:prstGeom>
          <a:solidFill>
            <a:srgbClr val="DFF7EC"/>
          </a:solidFill>
          <a:ln w="15240">
            <a:solidFill>
              <a:srgbClr val="35C990"/>
            </a:solidFill>
            <a:prstDash val="solid"/>
          </a:ln>
          <a:effectLst>
            <a:outerShdw blurRad="50800" dist="19050" dir="8100000" algn="bl" rotWithShape="0">
              <a:srgbClr val="111827">
                <a:alpha val="11000"/>
              </a:srgbClr>
            </a:outerShdw>
          </a:effectLst>
        </p:spPr>
      </p:sp>
      <p:sp>
        <p:nvSpPr>
          <p:cNvPr id="21" name="Shape 19"/>
          <p:cNvSpPr/>
          <p:nvPr/>
        </p:nvSpPr>
        <p:spPr>
          <a:xfrm>
            <a:off x="6556248" y="1673352"/>
            <a:ext cx="1572768" cy="310896"/>
          </a:xfrm>
          <a:prstGeom prst="roundRect">
            <a:avLst>
              <a:gd name="adj" fmla="val 23529"/>
            </a:avLst>
          </a:prstGeom>
          <a:solidFill>
            <a:srgbClr val="35C990"/>
          </a:solidFill>
          <a:ln/>
        </p:spPr>
      </p:sp>
      <p:sp>
        <p:nvSpPr>
          <p:cNvPr id="22" name="Text 20"/>
          <p:cNvSpPr/>
          <p:nvPr/>
        </p:nvSpPr>
        <p:spPr>
          <a:xfrm>
            <a:off x="6665976"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123026"/>
                </a:solidFill>
                <a:latin typeface="Aptos" pitchFamily="34" charset="0"/>
                <a:ea typeface="Aptos" pitchFamily="34" charset="-122"/>
                <a:cs typeface="Aptos" pitchFamily="34" charset="-120"/>
              </a:rPr>
              <a:t>AUTHORIZE</a:t>
            </a:r>
            <a:endParaRPr lang="en-US" sz="830" dirty="0"/>
          </a:p>
        </p:txBody>
      </p:sp>
      <p:sp>
        <p:nvSpPr>
          <p:cNvPr id="23" name="Text 21"/>
          <p:cNvSpPr/>
          <p:nvPr/>
        </p:nvSpPr>
        <p:spPr>
          <a:xfrm>
            <a:off x="6592824"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123026"/>
                </a:solidFill>
                <a:latin typeface="Aptos Display" pitchFamily="34" charset="0"/>
                <a:ea typeface="Aptos Display" pitchFamily="34" charset="-122"/>
                <a:cs typeface="Aptos Display" pitchFamily="34" charset="-120"/>
              </a:rPr>
              <a:t>Authorization — what may it do here?</a:t>
            </a:r>
            <a:endParaRPr lang="en-US" sz="2200" dirty="0"/>
          </a:p>
        </p:txBody>
      </p:sp>
      <p:sp>
        <p:nvSpPr>
          <p:cNvPr id="24" name="Text 22"/>
          <p:cNvSpPr/>
          <p:nvPr/>
        </p:nvSpPr>
        <p:spPr>
          <a:xfrm>
            <a:off x="6647688"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183128"/>
                </a:solidFill>
                <a:latin typeface="Aptos" pitchFamily="34" charset="0"/>
                <a:ea typeface="Aptos" pitchFamily="34" charset="-122"/>
                <a:cs typeface="Aptos" pitchFamily="34" charset="-120"/>
              </a:rPr>
              <a:t>Control plane: RBAC actions manage resources, projects, and role assignments</a:t>
            </a:r>
            <a:endParaRPr lang="en-US" sz="1600" dirty="0"/>
          </a:p>
          <a:p>
            <a:pPr marL="342900" indent="-342900">
              <a:buSzPct val="100000"/>
              <a:buChar char="•"/>
            </a:pPr>
            <a:r>
              <a:rPr lang="en-US" sz="1600" dirty="0">
                <a:solidFill>
                  <a:srgbClr val="183128"/>
                </a:solidFill>
                <a:latin typeface="Aptos" pitchFamily="34" charset="0"/>
                <a:ea typeface="Aptos" pitchFamily="34" charset="-122"/>
                <a:cs typeface="Aptos" pitchFamily="34" charset="-120"/>
              </a:rPr>
              <a:t>Data plane: RBAC dataActions invoke models, agents, evaluations, and runtime capabilities</a:t>
            </a:r>
            <a:endParaRPr lang="en-US" sz="1600" dirty="0"/>
          </a:p>
        </p:txBody>
      </p:sp>
      <p:sp>
        <p:nvSpPr>
          <p:cNvPr id="25" name="Shape 23"/>
          <p:cNvSpPr/>
          <p:nvPr/>
        </p:nvSpPr>
        <p:spPr>
          <a:xfrm>
            <a:off x="10680192" y="1609344"/>
            <a:ext cx="493776" cy="493776"/>
          </a:xfrm>
          <a:prstGeom prst="ellipse">
            <a:avLst/>
          </a:prstGeom>
          <a:solidFill>
            <a:srgbClr val="FFC857"/>
          </a:solidFill>
          <a:ln/>
        </p:spPr>
      </p:sp>
      <p:sp>
        <p:nvSpPr>
          <p:cNvPr id="26" name="Text 24"/>
          <p:cNvSpPr/>
          <p:nvPr/>
        </p:nvSpPr>
        <p:spPr>
          <a:xfrm>
            <a:off x="10680192" y="1755648"/>
            <a:ext cx="493776" cy="118872"/>
          </a:xfrm>
          <a:prstGeom prst="rect">
            <a:avLst/>
          </a:prstGeom>
          <a:noFill/>
          <a:ln/>
        </p:spPr>
        <p:txBody>
          <a:bodyPr wrap="square" lIns="0" tIns="0" rIns="0" bIns="0" rtlCol="0" anchor="ctr"/>
          <a:lstStyle/>
          <a:p>
            <a:pPr marL="0" indent="0" algn="ctr">
              <a:buNone/>
            </a:pPr>
            <a:r>
              <a:rPr lang="en-US" sz="1000" b="1" dirty="0">
                <a:solidFill>
                  <a:srgbClr val="123026"/>
                </a:solidFill>
                <a:latin typeface="Aptos" pitchFamily="34" charset="0"/>
                <a:ea typeface="Aptos" pitchFamily="34" charset="-122"/>
                <a:cs typeface="Aptos" pitchFamily="34" charset="-120"/>
              </a:rPr>
              <a:t>2</a:t>
            </a:r>
            <a:endParaRPr lang="en-US" sz="1000" dirty="0"/>
          </a:p>
        </p:txBody>
      </p:sp>
      <p:sp>
        <p:nvSpPr>
          <p:cNvPr id="27" name="Shape 25"/>
          <p:cNvSpPr/>
          <p:nvPr/>
        </p:nvSpPr>
        <p:spPr>
          <a:xfrm>
            <a:off x="5916168" y="3236976"/>
            <a:ext cx="365760" cy="365760"/>
          </a:xfrm>
          <a:prstGeom prst="ellipse">
            <a:avLst/>
          </a:prstGeom>
          <a:solidFill>
            <a:srgbClr val="123026"/>
          </a:solidFill>
          <a:ln/>
        </p:spPr>
      </p:sp>
      <p:sp>
        <p:nvSpPr>
          <p:cNvPr id="28" name="Text 26"/>
          <p:cNvSpPr/>
          <p:nvPr/>
        </p:nvSpPr>
        <p:spPr>
          <a:xfrm>
            <a:off x="5916168" y="3328416"/>
            <a:ext cx="365760"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9" name="Text 27"/>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516B62"/>
                </a:solidFill>
                <a:latin typeface="Aptos" pitchFamily="34" charset="0"/>
                <a:ea typeface="Aptos" pitchFamily="34" charset="-122"/>
                <a:cs typeface="Aptos" pitchFamily="34" charset="-120"/>
              </a:rPr>
              <a:t>REFERENCE  learn.microsoft.com/azure/foundry/concepts/authentication-authorization-foundry</a:t>
            </a:r>
            <a:endParaRPr lang="en-US" sz="940" dirty="0"/>
          </a:p>
        </p:txBody>
      </p:sp>
      <p:sp>
        <p:nvSpPr>
          <p:cNvPr id="30" name="Shape 28"/>
          <p:cNvSpPr/>
          <p:nvPr/>
        </p:nvSpPr>
        <p:spPr>
          <a:xfrm>
            <a:off x="0" y="6793992"/>
            <a:ext cx="12191695" cy="64008"/>
          </a:xfrm>
          <a:prstGeom prst="rect">
            <a:avLst/>
          </a:prstGeom>
          <a:solidFill>
            <a:srgbClr val="35C99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B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23026"/>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2  /  TRUST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123026"/>
                </a:solidFill>
                <a:latin typeface="Aptos Display" pitchFamily="34" charset="0"/>
                <a:ea typeface="Aptos Display" pitchFamily="34" charset="-122"/>
                <a:cs typeface="Aptos Display" pitchFamily="34" charset="-120"/>
              </a:rPr>
              <a:t>Follow the identity at every connection</a:t>
            </a:r>
            <a:endParaRPr lang="en-US" sz="3100" dirty="0"/>
          </a:p>
        </p:txBody>
      </p:sp>
      <p:sp>
        <p:nvSpPr>
          <p:cNvPr id="5" name="Shape 3"/>
          <p:cNvSpPr/>
          <p:nvPr/>
        </p:nvSpPr>
        <p:spPr>
          <a:xfrm>
            <a:off x="10850636" y="416966"/>
            <a:ext cx="500360" cy="566196"/>
          </a:xfrm>
          <a:prstGeom prst="hexagon">
            <a:avLst/>
          </a:prstGeom>
          <a:solidFill>
            <a:srgbClr val="DFF7EC"/>
          </a:solidFill>
          <a:ln w="10160">
            <a:solidFill>
              <a:srgbClr val="35C990"/>
            </a:solidFill>
            <a:prstDash val="solid"/>
          </a:ln>
        </p:spPr>
      </p:sp>
      <p:sp>
        <p:nvSpPr>
          <p:cNvPr id="6" name="Shape 4"/>
          <p:cNvSpPr/>
          <p:nvPr/>
        </p:nvSpPr>
        <p:spPr>
          <a:xfrm>
            <a:off x="10995477" y="667146"/>
            <a:ext cx="223845" cy="184343"/>
          </a:xfrm>
          <a:prstGeom prst="roundRect">
            <a:avLst>
              <a:gd name="adj" fmla="val 39683"/>
            </a:avLst>
          </a:prstGeom>
          <a:solidFill>
            <a:srgbClr val="35C990"/>
          </a:solidFill>
          <a:ln/>
        </p:spPr>
      </p:sp>
      <p:sp>
        <p:nvSpPr>
          <p:cNvPr id="7" name="Shape 5"/>
          <p:cNvSpPr/>
          <p:nvPr/>
        </p:nvSpPr>
        <p:spPr>
          <a:xfrm>
            <a:off x="11048147" y="581558"/>
            <a:ext cx="0" cy="85588"/>
          </a:xfrm>
          <a:prstGeom prst="line">
            <a:avLst/>
          </a:prstGeom>
          <a:noFill/>
          <a:ln w="25400">
            <a:solidFill>
              <a:srgbClr val="123026"/>
            </a:solidFill>
            <a:prstDash val="solid"/>
          </a:ln>
        </p:spPr>
      </p:sp>
      <p:sp>
        <p:nvSpPr>
          <p:cNvPr id="8" name="Shape 6"/>
          <p:cNvSpPr/>
          <p:nvPr/>
        </p:nvSpPr>
        <p:spPr>
          <a:xfrm>
            <a:off x="11048147" y="581558"/>
            <a:ext cx="111923" cy="0"/>
          </a:xfrm>
          <a:prstGeom prst="line">
            <a:avLst/>
          </a:prstGeom>
          <a:noFill/>
          <a:ln w="25400">
            <a:solidFill>
              <a:srgbClr val="123026"/>
            </a:solidFill>
            <a:prstDash val="solid"/>
          </a:ln>
        </p:spPr>
      </p:sp>
      <p:sp>
        <p:nvSpPr>
          <p:cNvPr id="9" name="Shape 7"/>
          <p:cNvSpPr/>
          <p:nvPr/>
        </p:nvSpPr>
        <p:spPr>
          <a:xfrm>
            <a:off x="11160069" y="581558"/>
            <a:ext cx="0" cy="85588"/>
          </a:xfrm>
          <a:prstGeom prst="line">
            <a:avLst/>
          </a:prstGeom>
          <a:noFill/>
          <a:ln w="25400">
            <a:solidFill>
              <a:srgbClr val="123026"/>
            </a:solidFill>
            <a:prstDash val="solid"/>
          </a:ln>
        </p:spPr>
      </p:sp>
      <p:sp>
        <p:nvSpPr>
          <p:cNvPr id="10" name="Shape 8"/>
          <p:cNvSpPr/>
          <p:nvPr/>
        </p:nvSpPr>
        <p:spPr>
          <a:xfrm>
            <a:off x="11612880" y="457200"/>
            <a:ext cx="329184" cy="329184"/>
          </a:xfrm>
          <a:prstGeom prst="ellipse">
            <a:avLst/>
          </a:prstGeom>
          <a:solidFill>
            <a:srgbClr val="35C990"/>
          </a:solidFill>
          <a:ln/>
        </p:spPr>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123026"/>
                </a:solidFill>
                <a:latin typeface="Aptos" pitchFamily="34" charset="0"/>
                <a:ea typeface="Aptos" pitchFamily="34" charset="-122"/>
                <a:cs typeface="Aptos" pitchFamily="34" charset="-120"/>
              </a:rPr>
              <a:t>03</a:t>
            </a:r>
            <a:endParaRPr lang="en-US" sz="850" dirty="0"/>
          </a:p>
        </p:txBody>
      </p:sp>
      <p:sp>
        <p:nvSpPr>
          <p:cNvPr id="12" name="Shape 10"/>
          <p:cNvSpPr/>
          <p:nvPr/>
        </p:nvSpPr>
        <p:spPr>
          <a:xfrm>
            <a:off x="9829800" y="1005840"/>
            <a:ext cx="2148840" cy="2148840"/>
          </a:xfrm>
          <a:prstGeom prst="ellipse">
            <a:avLst/>
          </a:prstGeom>
          <a:solidFill>
            <a:srgbClr val="DFF7EC"/>
          </a:solidFill>
          <a:ln/>
        </p:spPr>
      </p:sp>
      <p:sp>
        <p:nvSpPr>
          <p:cNvPr id="13" name="Shape 11"/>
          <p:cNvSpPr/>
          <p:nvPr/>
        </p:nvSpPr>
        <p:spPr>
          <a:xfrm>
            <a:off x="1005840" y="2148840"/>
            <a:ext cx="10177272" cy="0"/>
          </a:xfrm>
          <a:prstGeom prst="line">
            <a:avLst/>
          </a:prstGeom>
          <a:noFill/>
          <a:ln w="50800">
            <a:solidFill>
              <a:srgbClr val="35C990"/>
            </a:solidFill>
            <a:prstDash val="solid"/>
          </a:ln>
        </p:spPr>
      </p:sp>
      <p:sp>
        <p:nvSpPr>
          <p:cNvPr id="14" name="Shape 12"/>
          <p:cNvSpPr/>
          <p:nvPr/>
        </p:nvSpPr>
        <p:spPr>
          <a:xfrm>
            <a:off x="1637919" y="1892808"/>
            <a:ext cx="512064" cy="512064"/>
          </a:xfrm>
          <a:prstGeom prst="ellipse">
            <a:avLst/>
          </a:prstGeom>
          <a:solidFill>
            <a:srgbClr val="35C990"/>
          </a:solidFill>
          <a:ln w="10160">
            <a:solidFill>
              <a:srgbClr val="123026"/>
            </a:solidFill>
            <a:prstDash val="solid"/>
          </a:ln>
        </p:spPr>
      </p:sp>
      <p:sp>
        <p:nvSpPr>
          <p:cNvPr id="15" name="Text 13"/>
          <p:cNvSpPr/>
          <p:nvPr/>
        </p:nvSpPr>
        <p:spPr>
          <a:xfrm>
            <a:off x="1637919" y="2039112"/>
            <a:ext cx="512064" cy="109728"/>
          </a:xfrm>
          <a:prstGeom prst="rect">
            <a:avLst/>
          </a:prstGeom>
          <a:noFill/>
          <a:ln/>
        </p:spPr>
        <p:txBody>
          <a:bodyPr wrap="square" lIns="0" tIns="0" rIns="0" bIns="0" rtlCol="0" anchor="ctr"/>
          <a:lstStyle/>
          <a:p>
            <a:pPr marL="0" indent="0" algn="ctr">
              <a:buNone/>
            </a:pPr>
            <a:r>
              <a:rPr lang="en-US" sz="1000" b="1" dirty="0">
                <a:solidFill>
                  <a:srgbClr val="123026"/>
                </a:solidFill>
                <a:latin typeface="Aptos" pitchFamily="34" charset="0"/>
                <a:ea typeface="Aptos" pitchFamily="34" charset="-122"/>
                <a:cs typeface="Aptos" pitchFamily="34" charset="-120"/>
              </a:rPr>
              <a:t>1</a:t>
            </a:r>
            <a:endParaRPr lang="en-US" sz="1000" dirty="0"/>
          </a:p>
        </p:txBody>
      </p:sp>
      <p:sp>
        <p:nvSpPr>
          <p:cNvPr id="16" name="Shape 14"/>
          <p:cNvSpPr/>
          <p:nvPr/>
        </p:nvSpPr>
        <p:spPr>
          <a:xfrm>
            <a:off x="640080" y="2542032"/>
            <a:ext cx="2507742" cy="3054096"/>
          </a:xfrm>
          <a:prstGeom prst="roundRect">
            <a:avLst>
              <a:gd name="adj" fmla="val 2552"/>
            </a:avLst>
          </a:prstGeom>
          <a:solidFill>
            <a:srgbClr val="DFF7EC"/>
          </a:solidFill>
          <a:ln w="11430">
            <a:solidFill>
              <a:srgbClr val="DFF7EC"/>
            </a:solidFill>
            <a:prstDash val="solid"/>
          </a:ln>
          <a:effectLst>
            <a:outerShdw blurRad="50800" dist="19050" dir="8100000" algn="bl" rotWithShape="0">
              <a:srgbClr val="111827">
                <a:alpha val="11000"/>
              </a:srgbClr>
            </a:outerShdw>
          </a:effectLst>
        </p:spPr>
      </p:sp>
      <p:sp>
        <p:nvSpPr>
          <p:cNvPr id="17" name="Text 15"/>
          <p:cNvSpPr/>
          <p:nvPr/>
        </p:nvSpPr>
        <p:spPr>
          <a:xfrm>
            <a:off x="82296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123026"/>
                </a:solidFill>
                <a:latin typeface="Aptos Display" pitchFamily="34" charset="0"/>
                <a:ea typeface="Aptos Display" pitchFamily="34" charset="-122"/>
                <a:cs typeface="Aptos Display" pitchFamily="34" charset="-120"/>
              </a:rPr>
              <a:t>End user</a:t>
            </a:r>
            <a:endParaRPr lang="en-US" sz="1800" dirty="0"/>
          </a:p>
        </p:txBody>
      </p:sp>
      <p:sp>
        <p:nvSpPr>
          <p:cNvPr id="18" name="Text 16"/>
          <p:cNvSpPr/>
          <p:nvPr/>
        </p:nvSpPr>
        <p:spPr>
          <a:xfrm>
            <a:off x="877824" y="3566160"/>
            <a:ext cx="2032254" cy="1773936"/>
          </a:xfrm>
          <a:prstGeom prst="rect">
            <a:avLst/>
          </a:prstGeom>
          <a:noFill/>
          <a:ln/>
        </p:spPr>
        <p:txBody>
          <a:bodyPr wrap="square" lIns="0" tIns="0" rIns="0" bIns="0" rtlCol="0" anchor="t">
            <a:normAutofit/>
          </a:bodyPr>
          <a:lstStyle/>
          <a:p>
            <a:pPr marL="0" indent="0" algn="ctr">
              <a:buNone/>
            </a:pPr>
            <a:r>
              <a:rPr lang="en-US" sz="1430" dirty="0">
                <a:solidFill>
                  <a:srgbClr val="183128"/>
                </a:solidFill>
                <a:latin typeface="Aptos" pitchFamily="34" charset="0"/>
                <a:ea typeface="Aptos" pitchFamily="34" charset="-122"/>
                <a:cs typeface="Aptos" pitchFamily="34" charset="-120"/>
              </a:rPr>
              <a:t>authenticates to the client; only delegated permissions can travel onward</a:t>
            </a:r>
            <a:endParaRPr lang="en-US" sz="1430" dirty="0"/>
          </a:p>
        </p:txBody>
      </p:sp>
      <p:sp>
        <p:nvSpPr>
          <p:cNvPr id="19" name="Shape 17"/>
          <p:cNvSpPr/>
          <p:nvPr/>
        </p:nvSpPr>
        <p:spPr>
          <a:xfrm>
            <a:off x="4438269" y="1892808"/>
            <a:ext cx="512064" cy="512064"/>
          </a:xfrm>
          <a:prstGeom prst="ellipse">
            <a:avLst/>
          </a:prstGeom>
          <a:solidFill>
            <a:srgbClr val="35C990"/>
          </a:solidFill>
          <a:ln w="10160">
            <a:solidFill>
              <a:srgbClr val="123026"/>
            </a:solidFill>
            <a:prstDash val="solid"/>
          </a:ln>
        </p:spPr>
      </p:sp>
      <p:sp>
        <p:nvSpPr>
          <p:cNvPr id="20" name="Text 18"/>
          <p:cNvSpPr/>
          <p:nvPr/>
        </p:nvSpPr>
        <p:spPr>
          <a:xfrm>
            <a:off x="4438269" y="2039112"/>
            <a:ext cx="512064" cy="109728"/>
          </a:xfrm>
          <a:prstGeom prst="rect">
            <a:avLst/>
          </a:prstGeom>
          <a:noFill/>
          <a:ln/>
        </p:spPr>
        <p:txBody>
          <a:bodyPr wrap="square" lIns="0" tIns="0" rIns="0" bIns="0" rtlCol="0" anchor="ctr"/>
          <a:lstStyle/>
          <a:p>
            <a:pPr marL="0" indent="0" algn="ctr">
              <a:buNone/>
            </a:pPr>
            <a:r>
              <a:rPr lang="en-US" sz="1000" b="1" dirty="0">
                <a:solidFill>
                  <a:srgbClr val="123026"/>
                </a:solidFill>
                <a:latin typeface="Aptos" pitchFamily="34" charset="0"/>
                <a:ea typeface="Aptos" pitchFamily="34" charset="-122"/>
                <a:cs typeface="Aptos" pitchFamily="34" charset="-120"/>
              </a:rPr>
              <a:t>2</a:t>
            </a:r>
            <a:endParaRPr lang="en-US" sz="1000" dirty="0"/>
          </a:p>
        </p:txBody>
      </p:sp>
      <p:sp>
        <p:nvSpPr>
          <p:cNvPr id="21" name="Shape 19"/>
          <p:cNvSpPr/>
          <p:nvPr/>
        </p:nvSpPr>
        <p:spPr>
          <a:xfrm>
            <a:off x="3440430" y="2542032"/>
            <a:ext cx="2507742" cy="3054096"/>
          </a:xfrm>
          <a:prstGeom prst="roundRect">
            <a:avLst>
              <a:gd name="adj" fmla="val 2552"/>
            </a:avLst>
          </a:prstGeom>
          <a:solidFill>
            <a:srgbClr val="FFFFFF"/>
          </a:solidFill>
          <a:ln w="11430">
            <a:solidFill>
              <a:srgbClr val="DFF7EC"/>
            </a:solidFill>
            <a:prstDash val="solid"/>
          </a:ln>
          <a:effectLst>
            <a:outerShdw blurRad="50800" dist="19050" dir="8100000" algn="bl" rotWithShape="0">
              <a:srgbClr val="111827">
                <a:alpha val="11000"/>
              </a:srgbClr>
            </a:outerShdw>
          </a:effectLst>
        </p:spPr>
      </p:sp>
      <p:sp>
        <p:nvSpPr>
          <p:cNvPr id="22" name="Text 20"/>
          <p:cNvSpPr/>
          <p:nvPr/>
        </p:nvSpPr>
        <p:spPr>
          <a:xfrm>
            <a:off x="362331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123026"/>
                </a:solidFill>
                <a:latin typeface="Aptos Display" pitchFamily="34" charset="0"/>
                <a:ea typeface="Aptos Display" pitchFamily="34" charset="-122"/>
                <a:cs typeface="Aptos Display" pitchFamily="34" charset="-120"/>
              </a:rPr>
              <a:t>Application caller</a:t>
            </a:r>
            <a:endParaRPr lang="en-US" sz="1800" dirty="0"/>
          </a:p>
        </p:txBody>
      </p:sp>
      <p:sp>
        <p:nvSpPr>
          <p:cNvPr id="23" name="Text 21"/>
          <p:cNvSpPr/>
          <p:nvPr/>
        </p:nvSpPr>
        <p:spPr>
          <a:xfrm>
            <a:off x="3678174" y="3566160"/>
            <a:ext cx="2032254" cy="1773936"/>
          </a:xfrm>
          <a:prstGeom prst="rect">
            <a:avLst/>
          </a:prstGeom>
          <a:noFill/>
          <a:ln/>
        </p:spPr>
        <p:txBody>
          <a:bodyPr wrap="square" lIns="0" tIns="0" rIns="0" bIns="0" rtlCol="0" anchor="t">
            <a:normAutofit/>
          </a:bodyPr>
          <a:lstStyle/>
          <a:p>
            <a:pPr marL="0" indent="0" algn="ctr">
              <a:buNone/>
            </a:pPr>
            <a:r>
              <a:rPr lang="en-US" sz="1430" dirty="0">
                <a:solidFill>
                  <a:srgbClr val="183128"/>
                </a:solidFill>
                <a:latin typeface="Aptos" pitchFamily="34" charset="0"/>
                <a:ea typeface="Aptos" pitchFamily="34" charset="-122"/>
                <a:cs typeface="Aptos" pitchFamily="34" charset="-120"/>
              </a:rPr>
              <a:t>invokes with delegated user access or its own workload identity</a:t>
            </a:r>
            <a:endParaRPr lang="en-US" sz="1430" dirty="0"/>
          </a:p>
        </p:txBody>
      </p:sp>
      <p:sp>
        <p:nvSpPr>
          <p:cNvPr id="24" name="Shape 22"/>
          <p:cNvSpPr/>
          <p:nvPr/>
        </p:nvSpPr>
        <p:spPr>
          <a:xfrm>
            <a:off x="7238619" y="1892808"/>
            <a:ext cx="512064" cy="512064"/>
          </a:xfrm>
          <a:prstGeom prst="ellipse">
            <a:avLst/>
          </a:prstGeom>
          <a:solidFill>
            <a:srgbClr val="35C990"/>
          </a:solidFill>
          <a:ln w="10160">
            <a:solidFill>
              <a:srgbClr val="123026"/>
            </a:solidFill>
            <a:prstDash val="solid"/>
          </a:ln>
        </p:spPr>
      </p:sp>
      <p:sp>
        <p:nvSpPr>
          <p:cNvPr id="25" name="Text 23"/>
          <p:cNvSpPr/>
          <p:nvPr/>
        </p:nvSpPr>
        <p:spPr>
          <a:xfrm>
            <a:off x="7238619" y="2039112"/>
            <a:ext cx="512064" cy="109728"/>
          </a:xfrm>
          <a:prstGeom prst="rect">
            <a:avLst/>
          </a:prstGeom>
          <a:noFill/>
          <a:ln/>
        </p:spPr>
        <p:txBody>
          <a:bodyPr wrap="square" lIns="0" tIns="0" rIns="0" bIns="0" rtlCol="0" anchor="ctr"/>
          <a:lstStyle/>
          <a:p>
            <a:pPr marL="0" indent="0" algn="ctr">
              <a:buNone/>
            </a:pPr>
            <a:r>
              <a:rPr lang="en-US" sz="1000" b="1" dirty="0">
                <a:solidFill>
                  <a:srgbClr val="123026"/>
                </a:solidFill>
                <a:latin typeface="Aptos" pitchFamily="34" charset="0"/>
                <a:ea typeface="Aptos" pitchFamily="34" charset="-122"/>
                <a:cs typeface="Aptos" pitchFamily="34" charset="-120"/>
              </a:rPr>
              <a:t>3</a:t>
            </a:r>
            <a:endParaRPr lang="en-US" sz="1000" dirty="0"/>
          </a:p>
        </p:txBody>
      </p:sp>
      <p:sp>
        <p:nvSpPr>
          <p:cNvPr id="26" name="Shape 24"/>
          <p:cNvSpPr/>
          <p:nvPr/>
        </p:nvSpPr>
        <p:spPr>
          <a:xfrm>
            <a:off x="6240780" y="2542032"/>
            <a:ext cx="2507742" cy="3054096"/>
          </a:xfrm>
          <a:prstGeom prst="roundRect">
            <a:avLst>
              <a:gd name="adj" fmla="val 2552"/>
            </a:avLst>
          </a:prstGeom>
          <a:solidFill>
            <a:srgbClr val="DFF7EC"/>
          </a:solidFill>
          <a:ln w="11430">
            <a:solidFill>
              <a:srgbClr val="DFF7EC"/>
            </a:solidFill>
            <a:prstDash val="solid"/>
          </a:ln>
          <a:effectLst>
            <a:outerShdw blurRad="50800" dist="19050" dir="8100000" algn="bl" rotWithShape="0">
              <a:srgbClr val="111827">
                <a:alpha val="11000"/>
              </a:srgbClr>
            </a:outerShdw>
          </a:effectLst>
        </p:spPr>
      </p:sp>
      <p:sp>
        <p:nvSpPr>
          <p:cNvPr id="27" name="Text 25"/>
          <p:cNvSpPr/>
          <p:nvPr/>
        </p:nvSpPr>
        <p:spPr>
          <a:xfrm>
            <a:off x="642366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123026"/>
                </a:solidFill>
                <a:latin typeface="Aptos Display" pitchFamily="34" charset="0"/>
                <a:ea typeface="Aptos Display" pitchFamily="34" charset="-122"/>
                <a:cs typeface="Aptos Display" pitchFamily="34" charset="-120"/>
              </a:rPr>
              <a:t>Agent or tool principal</a:t>
            </a:r>
            <a:endParaRPr lang="en-US" sz="1800" dirty="0"/>
          </a:p>
        </p:txBody>
      </p:sp>
      <p:sp>
        <p:nvSpPr>
          <p:cNvPr id="28" name="Text 26"/>
          <p:cNvSpPr/>
          <p:nvPr/>
        </p:nvSpPr>
        <p:spPr>
          <a:xfrm>
            <a:off x="6478524" y="3566160"/>
            <a:ext cx="2032254" cy="1773936"/>
          </a:xfrm>
          <a:prstGeom prst="rect">
            <a:avLst/>
          </a:prstGeom>
          <a:noFill/>
          <a:ln/>
        </p:spPr>
        <p:txBody>
          <a:bodyPr wrap="square" lIns="0" tIns="0" rIns="0" bIns="0" rtlCol="0" anchor="t">
            <a:normAutofit/>
          </a:bodyPr>
          <a:lstStyle/>
          <a:p>
            <a:pPr marL="0" indent="0" algn="ctr">
              <a:buNone/>
            </a:pPr>
            <a:r>
              <a:rPr lang="en-US" sz="1430" dirty="0">
                <a:solidFill>
                  <a:srgbClr val="183128"/>
                </a:solidFill>
                <a:latin typeface="Aptos" pitchFamily="34" charset="0"/>
                <a:ea typeface="Aptos" pitchFamily="34" charset="-122"/>
                <a:cs typeface="Aptos" pitchFamily="34" charset="-120"/>
              </a:rPr>
              <a:t>authenticates on the tool connection; inspect, do not infer</a:t>
            </a:r>
            <a:endParaRPr lang="en-US" sz="1430" dirty="0"/>
          </a:p>
        </p:txBody>
      </p:sp>
      <p:sp>
        <p:nvSpPr>
          <p:cNvPr id="29" name="Shape 27"/>
          <p:cNvSpPr/>
          <p:nvPr/>
        </p:nvSpPr>
        <p:spPr>
          <a:xfrm>
            <a:off x="10038969" y="1892808"/>
            <a:ext cx="512064" cy="512064"/>
          </a:xfrm>
          <a:prstGeom prst="ellipse">
            <a:avLst/>
          </a:prstGeom>
          <a:solidFill>
            <a:srgbClr val="FFC857"/>
          </a:solidFill>
          <a:ln w="10160">
            <a:solidFill>
              <a:srgbClr val="123026"/>
            </a:solidFill>
            <a:prstDash val="solid"/>
          </a:ln>
        </p:spPr>
      </p:sp>
      <p:sp>
        <p:nvSpPr>
          <p:cNvPr id="30" name="Text 28"/>
          <p:cNvSpPr/>
          <p:nvPr/>
        </p:nvSpPr>
        <p:spPr>
          <a:xfrm>
            <a:off x="10038969" y="2039112"/>
            <a:ext cx="512064" cy="109728"/>
          </a:xfrm>
          <a:prstGeom prst="rect">
            <a:avLst/>
          </a:prstGeom>
          <a:noFill/>
          <a:ln/>
        </p:spPr>
        <p:txBody>
          <a:bodyPr wrap="square" lIns="0" tIns="0" rIns="0" bIns="0" rtlCol="0" anchor="ctr"/>
          <a:lstStyle/>
          <a:p>
            <a:pPr marL="0" indent="0" algn="ctr">
              <a:buNone/>
            </a:pPr>
            <a:r>
              <a:rPr lang="en-US" sz="1000" b="1" dirty="0">
                <a:solidFill>
                  <a:srgbClr val="123026"/>
                </a:solidFill>
                <a:latin typeface="Aptos" pitchFamily="34" charset="0"/>
                <a:ea typeface="Aptos" pitchFamily="34" charset="-122"/>
                <a:cs typeface="Aptos" pitchFamily="34" charset="-120"/>
              </a:rPr>
              <a:t>4</a:t>
            </a:r>
            <a:endParaRPr lang="en-US" sz="1000" dirty="0"/>
          </a:p>
        </p:txBody>
      </p:sp>
      <p:sp>
        <p:nvSpPr>
          <p:cNvPr id="31" name="Shape 29"/>
          <p:cNvSpPr/>
          <p:nvPr/>
        </p:nvSpPr>
        <p:spPr>
          <a:xfrm>
            <a:off x="9041130" y="2542032"/>
            <a:ext cx="2507742" cy="3054096"/>
          </a:xfrm>
          <a:prstGeom prst="roundRect">
            <a:avLst>
              <a:gd name="adj" fmla="val 2552"/>
            </a:avLst>
          </a:prstGeom>
          <a:solidFill>
            <a:srgbClr val="FFFFFF"/>
          </a:solidFill>
          <a:ln w="11430">
            <a:solidFill>
              <a:srgbClr val="FFC857"/>
            </a:solidFill>
            <a:prstDash val="solid"/>
          </a:ln>
          <a:effectLst>
            <a:outerShdw blurRad="50800" dist="19050" dir="8100000" algn="bl" rotWithShape="0">
              <a:srgbClr val="111827">
                <a:alpha val="11000"/>
              </a:srgbClr>
            </a:outerShdw>
          </a:effectLst>
        </p:spPr>
      </p:sp>
      <p:sp>
        <p:nvSpPr>
          <p:cNvPr id="32" name="Text 30"/>
          <p:cNvSpPr/>
          <p:nvPr/>
        </p:nvSpPr>
        <p:spPr>
          <a:xfrm>
            <a:off x="9224010" y="2816352"/>
            <a:ext cx="2141982" cy="566928"/>
          </a:xfrm>
          <a:prstGeom prst="rect">
            <a:avLst/>
          </a:prstGeom>
          <a:noFill/>
          <a:ln/>
        </p:spPr>
        <p:txBody>
          <a:bodyPr wrap="square" lIns="0" tIns="0" rIns="0" bIns="0" rtlCol="0" anchor="ctr">
            <a:normAutofit/>
          </a:bodyPr>
          <a:lstStyle/>
          <a:p>
            <a:pPr marL="0" indent="0" algn="ctr">
              <a:buNone/>
            </a:pPr>
            <a:r>
              <a:rPr lang="en-US" sz="1800" b="1" dirty="0">
                <a:solidFill>
                  <a:srgbClr val="123026"/>
                </a:solidFill>
                <a:latin typeface="Aptos Display" pitchFamily="34" charset="0"/>
                <a:ea typeface="Aptos Display" pitchFamily="34" charset="-122"/>
                <a:cs typeface="Aptos Display" pitchFamily="34" charset="-120"/>
              </a:rPr>
              <a:t>Downstream service</a:t>
            </a:r>
            <a:endParaRPr lang="en-US" sz="1800" dirty="0"/>
          </a:p>
        </p:txBody>
      </p:sp>
      <p:sp>
        <p:nvSpPr>
          <p:cNvPr id="33" name="Text 31"/>
          <p:cNvSpPr/>
          <p:nvPr/>
        </p:nvSpPr>
        <p:spPr>
          <a:xfrm>
            <a:off x="9278874" y="3566160"/>
            <a:ext cx="2032254" cy="1773936"/>
          </a:xfrm>
          <a:prstGeom prst="rect">
            <a:avLst/>
          </a:prstGeom>
          <a:noFill/>
          <a:ln/>
        </p:spPr>
        <p:txBody>
          <a:bodyPr wrap="square" lIns="0" tIns="0" rIns="0" bIns="0" rtlCol="0" anchor="t">
            <a:normAutofit/>
          </a:bodyPr>
          <a:lstStyle/>
          <a:p>
            <a:pPr marL="0" indent="0" algn="ctr">
              <a:buNone/>
            </a:pPr>
            <a:r>
              <a:rPr lang="en-US" sz="1430" dirty="0">
                <a:solidFill>
                  <a:srgbClr val="183128"/>
                </a:solidFill>
                <a:latin typeface="Aptos" pitchFamily="34" charset="0"/>
                <a:ea typeface="Aptos" pitchFamily="34" charset="-122"/>
                <a:cs typeface="Aptos" pitchFamily="34" charset="-120"/>
              </a:rPr>
              <a:t>checks principal, audience, role, scope, and data permission</a:t>
            </a:r>
            <a:endParaRPr lang="en-US" sz="1430" dirty="0"/>
          </a:p>
        </p:txBody>
      </p:sp>
      <p:sp>
        <p:nvSpPr>
          <p:cNvPr id="34" name="Shape 32"/>
          <p:cNvSpPr/>
          <p:nvPr/>
        </p:nvSpPr>
        <p:spPr>
          <a:xfrm>
            <a:off x="640080" y="5760720"/>
            <a:ext cx="10908792" cy="438912"/>
          </a:xfrm>
          <a:prstGeom prst="roundRect">
            <a:avLst>
              <a:gd name="adj" fmla="val 16667"/>
            </a:avLst>
          </a:prstGeom>
          <a:solidFill>
            <a:srgbClr val="123026"/>
          </a:solidFill>
          <a:ln/>
        </p:spPr>
      </p:sp>
      <p:sp>
        <p:nvSpPr>
          <p:cNvPr id="35" name="Text 33"/>
          <p:cNvSpPr/>
          <p:nvPr/>
        </p:nvSpPr>
        <p:spPr>
          <a:xfrm>
            <a:off x="859536" y="5870448"/>
            <a:ext cx="10479024" cy="256032"/>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The caller is the identity on that connection, not necessarily the person in the chat window.</a:t>
            </a:r>
            <a:endParaRPr lang="en-US" sz="1320" dirty="0"/>
          </a:p>
        </p:txBody>
      </p:sp>
      <p:sp>
        <p:nvSpPr>
          <p:cNvPr id="36" name="Text 34"/>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516B62"/>
                </a:solidFill>
                <a:latin typeface="Aptos" pitchFamily="34" charset="0"/>
                <a:ea typeface="Aptos" pitchFamily="34" charset="-122"/>
                <a:cs typeface="Aptos" pitchFamily="34" charset="-120"/>
              </a:rPr>
              <a:t>REFERENCE  learn.microsoft.com/azure/foundry/agents/concepts/agent-identity  ·  +1 more in notes</a:t>
            </a:r>
            <a:endParaRPr lang="en-US" sz="940" dirty="0"/>
          </a:p>
        </p:txBody>
      </p:sp>
      <p:sp>
        <p:nvSpPr>
          <p:cNvPr id="37" name="Shape 35"/>
          <p:cNvSpPr/>
          <p:nvPr/>
        </p:nvSpPr>
        <p:spPr>
          <a:xfrm>
            <a:off x="0" y="6793992"/>
            <a:ext cx="12191695" cy="64008"/>
          </a:xfrm>
          <a:prstGeom prst="rect">
            <a:avLst/>
          </a:prstGeom>
          <a:solidFill>
            <a:srgbClr val="35C99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B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23026"/>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2  /  TRUST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800" b="1" dirty="0">
                <a:solidFill>
                  <a:srgbClr val="123026"/>
                </a:solidFill>
                <a:latin typeface="Aptos Display" pitchFamily="34" charset="0"/>
                <a:ea typeface="Aptos Display" pitchFamily="34" charset="-122"/>
                <a:cs typeface="Aptos Display" pitchFamily="34" charset="-120"/>
              </a:rPr>
              <a:t>Current agent identity model—and the legacy wording</a:t>
            </a:r>
            <a:endParaRPr lang="en-US" sz="2800" dirty="0"/>
          </a:p>
        </p:txBody>
      </p:sp>
      <p:sp>
        <p:nvSpPr>
          <p:cNvPr id="5" name="Shape 3"/>
          <p:cNvSpPr/>
          <p:nvPr/>
        </p:nvSpPr>
        <p:spPr>
          <a:xfrm>
            <a:off x="10850636" y="416966"/>
            <a:ext cx="500360" cy="566196"/>
          </a:xfrm>
          <a:prstGeom prst="hexagon">
            <a:avLst/>
          </a:prstGeom>
          <a:solidFill>
            <a:srgbClr val="DFF7EC"/>
          </a:solidFill>
          <a:ln w="10160">
            <a:solidFill>
              <a:srgbClr val="35C990"/>
            </a:solidFill>
            <a:prstDash val="solid"/>
          </a:ln>
        </p:spPr>
      </p:sp>
      <p:sp>
        <p:nvSpPr>
          <p:cNvPr id="6" name="Shape 4"/>
          <p:cNvSpPr/>
          <p:nvPr/>
        </p:nvSpPr>
        <p:spPr>
          <a:xfrm>
            <a:off x="10995477" y="667146"/>
            <a:ext cx="223845" cy="184343"/>
          </a:xfrm>
          <a:prstGeom prst="roundRect">
            <a:avLst>
              <a:gd name="adj" fmla="val 39683"/>
            </a:avLst>
          </a:prstGeom>
          <a:solidFill>
            <a:srgbClr val="35C990"/>
          </a:solidFill>
          <a:ln/>
        </p:spPr>
      </p:sp>
      <p:sp>
        <p:nvSpPr>
          <p:cNvPr id="7" name="Shape 5"/>
          <p:cNvSpPr/>
          <p:nvPr/>
        </p:nvSpPr>
        <p:spPr>
          <a:xfrm>
            <a:off x="11048147" y="581558"/>
            <a:ext cx="0" cy="85588"/>
          </a:xfrm>
          <a:prstGeom prst="line">
            <a:avLst/>
          </a:prstGeom>
          <a:noFill/>
          <a:ln w="25400">
            <a:solidFill>
              <a:srgbClr val="123026"/>
            </a:solidFill>
            <a:prstDash val="solid"/>
          </a:ln>
        </p:spPr>
      </p:sp>
      <p:sp>
        <p:nvSpPr>
          <p:cNvPr id="8" name="Shape 6"/>
          <p:cNvSpPr/>
          <p:nvPr/>
        </p:nvSpPr>
        <p:spPr>
          <a:xfrm>
            <a:off x="11048147" y="581558"/>
            <a:ext cx="111923" cy="0"/>
          </a:xfrm>
          <a:prstGeom prst="line">
            <a:avLst/>
          </a:prstGeom>
          <a:noFill/>
          <a:ln w="25400">
            <a:solidFill>
              <a:srgbClr val="123026"/>
            </a:solidFill>
            <a:prstDash val="solid"/>
          </a:ln>
        </p:spPr>
      </p:sp>
      <p:sp>
        <p:nvSpPr>
          <p:cNvPr id="9" name="Shape 7"/>
          <p:cNvSpPr/>
          <p:nvPr/>
        </p:nvSpPr>
        <p:spPr>
          <a:xfrm>
            <a:off x="11160069" y="581558"/>
            <a:ext cx="0" cy="85588"/>
          </a:xfrm>
          <a:prstGeom prst="line">
            <a:avLst/>
          </a:prstGeom>
          <a:noFill/>
          <a:ln w="25400">
            <a:solidFill>
              <a:srgbClr val="123026"/>
            </a:solidFill>
            <a:prstDash val="solid"/>
          </a:ln>
        </p:spPr>
      </p:sp>
      <p:sp>
        <p:nvSpPr>
          <p:cNvPr id="10" name="Shape 8"/>
          <p:cNvSpPr/>
          <p:nvPr/>
        </p:nvSpPr>
        <p:spPr>
          <a:xfrm>
            <a:off x="11612880" y="457200"/>
            <a:ext cx="329184" cy="329184"/>
          </a:xfrm>
          <a:prstGeom prst="ellipse">
            <a:avLst/>
          </a:prstGeom>
          <a:solidFill>
            <a:srgbClr val="35C990"/>
          </a:solidFill>
          <a:ln/>
        </p:spPr>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123026"/>
                </a:solidFill>
                <a:latin typeface="Aptos" pitchFamily="34" charset="0"/>
                <a:ea typeface="Aptos" pitchFamily="34" charset="-122"/>
                <a:cs typeface="Aptos" pitchFamily="34" charset="-120"/>
              </a:rPr>
              <a:t>04</a:t>
            </a:r>
            <a:endParaRPr lang="en-US" sz="850" dirty="0"/>
          </a:p>
        </p:txBody>
      </p:sp>
      <p:sp>
        <p:nvSpPr>
          <p:cNvPr id="12" name="Shape 10"/>
          <p:cNvSpPr/>
          <p:nvPr/>
        </p:nvSpPr>
        <p:spPr>
          <a:xfrm>
            <a:off x="9829800" y="1005840"/>
            <a:ext cx="2148840" cy="2148840"/>
          </a:xfrm>
          <a:prstGeom prst="ellipse">
            <a:avLst/>
          </a:prstGeom>
          <a:solidFill>
            <a:srgbClr val="DFF7EC"/>
          </a:solidFill>
          <a:ln/>
        </p:spPr>
      </p:sp>
      <p:sp>
        <p:nvSpPr>
          <p:cNvPr id="13" name="Shape 11"/>
          <p:cNvSpPr/>
          <p:nvPr/>
        </p:nvSpPr>
        <p:spPr>
          <a:xfrm>
            <a:off x="640080" y="1417320"/>
            <a:ext cx="5248656" cy="4626864"/>
          </a:xfrm>
          <a:prstGeom prst="roundRect">
            <a:avLst>
              <a:gd name="adj" fmla="val 1779"/>
            </a:avLst>
          </a:prstGeom>
          <a:solidFill>
            <a:srgbClr val="FFFFFF"/>
          </a:solidFill>
          <a:ln w="15240">
            <a:solidFill>
              <a:srgbClr val="DFF7EC"/>
            </a:solidFill>
            <a:prstDash val="solid"/>
          </a:ln>
          <a:effectLst>
            <a:outerShdw blurRad="50800" dist="19050" dir="8100000" algn="bl" rotWithShape="0">
              <a:srgbClr val="111827">
                <a:alpha val="11000"/>
              </a:srgbClr>
            </a:outerShdw>
          </a:effectLst>
        </p:spPr>
      </p:sp>
      <p:sp>
        <p:nvSpPr>
          <p:cNvPr id="14" name="Shape 12"/>
          <p:cNvSpPr/>
          <p:nvPr/>
        </p:nvSpPr>
        <p:spPr>
          <a:xfrm>
            <a:off x="896112" y="1673352"/>
            <a:ext cx="1572768" cy="310896"/>
          </a:xfrm>
          <a:prstGeom prst="roundRect">
            <a:avLst>
              <a:gd name="adj" fmla="val 23529"/>
            </a:avLst>
          </a:prstGeom>
          <a:solidFill>
            <a:srgbClr val="123026"/>
          </a:solidFill>
          <a:ln/>
        </p:spPr>
      </p:sp>
      <p:sp>
        <p:nvSpPr>
          <p:cNvPr id="15" name="Text 13"/>
          <p:cNvSpPr/>
          <p:nvPr/>
        </p:nvSpPr>
        <p:spPr>
          <a:xfrm>
            <a:off x="1005840"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FFFFFF"/>
                </a:solidFill>
                <a:latin typeface="Aptos" pitchFamily="34" charset="0"/>
                <a:ea typeface="Aptos" pitchFamily="34" charset="-122"/>
                <a:cs typeface="Aptos" pitchFamily="34" charset="-120"/>
              </a:rPr>
              <a:t>CURRENT MODEL</a:t>
            </a:r>
            <a:endParaRPr lang="en-US" sz="830" dirty="0"/>
          </a:p>
        </p:txBody>
      </p:sp>
      <p:sp>
        <p:nvSpPr>
          <p:cNvPr id="16" name="Text 14"/>
          <p:cNvSpPr/>
          <p:nvPr/>
        </p:nvSpPr>
        <p:spPr>
          <a:xfrm>
            <a:off x="932688"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123026"/>
                </a:solidFill>
                <a:latin typeface="Aptos Display" pitchFamily="34" charset="0"/>
                <a:ea typeface="Aptos Display" pitchFamily="34" charset="-122"/>
                <a:cs typeface="Aptos Display" pitchFamily="34" charset="-120"/>
              </a:rPr>
              <a:t>New agent object model</a:t>
            </a:r>
            <a:endParaRPr lang="en-US" sz="2200" dirty="0"/>
          </a:p>
        </p:txBody>
      </p:sp>
      <p:sp>
        <p:nvSpPr>
          <p:cNvPr id="17" name="Text 15"/>
          <p:cNvSpPr/>
          <p:nvPr/>
        </p:nvSpPr>
        <p:spPr>
          <a:xfrm>
            <a:off x="987552"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183128"/>
                </a:solidFill>
                <a:latin typeface="Aptos" pitchFamily="34" charset="0"/>
                <a:ea typeface="Aptos" pitchFamily="34" charset="-122"/>
                <a:cs typeface="Aptos" pitchFamily="34" charset="-120"/>
              </a:rPr>
              <a:t>A newly created agent receives a unique Entra Agent Blueprint and Agent Identity by default</a:t>
            </a:r>
            <a:endParaRPr lang="en-US" sz="1600" dirty="0"/>
          </a:p>
          <a:p>
            <a:pPr marL="342900" indent="-342900">
              <a:buSzPct val="100000"/>
              <a:buChar char="•"/>
            </a:pPr>
            <a:r>
              <a:rPr lang="en-US" sz="1600" dirty="0">
                <a:solidFill>
                  <a:srgbClr val="183128"/>
                </a:solidFill>
                <a:latin typeface="Aptos" pitchFamily="34" charset="0"/>
                <a:ea typeface="Aptos" pitchFamily="34" charset="-122"/>
                <a:cs typeface="Aptos" pitchFamily="34" charset="-120"/>
              </a:rPr>
              <a:t>Its stable endpoint and identity exist from creation; publishing no longer creates the runtime identity</a:t>
            </a:r>
            <a:endParaRPr lang="en-US" sz="1600" dirty="0"/>
          </a:p>
          <a:p>
            <a:pPr marL="342900" indent="-342900">
              <a:buSzPct val="100000"/>
              <a:buChar char="•"/>
            </a:pPr>
            <a:r>
              <a:rPr lang="en-US" sz="1600" dirty="0">
                <a:solidFill>
                  <a:srgbClr val="183128"/>
                </a:solidFill>
                <a:latin typeface="Aptos" pitchFamily="34" charset="0"/>
                <a:ea typeface="Aptos" pitchFamily="34" charset="-122"/>
                <a:cs typeface="Aptos" pitchFamily="34" charset="-120"/>
              </a:rPr>
              <a:t>Assign downstream permissions to this actual agent identity</a:t>
            </a:r>
            <a:endParaRPr lang="en-US" sz="1600" dirty="0"/>
          </a:p>
          <a:p>
            <a:pPr marL="342900" indent="-342900">
              <a:buSzPct val="100000"/>
              <a:buChar char="•"/>
            </a:pPr>
            <a:r>
              <a:rPr lang="en-US" sz="1600" dirty="0">
                <a:solidFill>
                  <a:srgbClr val="183128"/>
                </a:solidFill>
                <a:latin typeface="Aptos" pitchFamily="34" charset="0"/>
                <a:ea typeface="Aptos" pitchFamily="34" charset="-122"/>
                <a:cs typeface="Aptos" pitchFamily="34" charset="-120"/>
              </a:rPr>
              <a:t>Unique identity isolates the agent—not its end users</a:t>
            </a:r>
            <a:endParaRPr lang="en-US" sz="1600" dirty="0"/>
          </a:p>
        </p:txBody>
      </p:sp>
      <p:sp>
        <p:nvSpPr>
          <p:cNvPr id="18" name="Shape 16"/>
          <p:cNvSpPr/>
          <p:nvPr/>
        </p:nvSpPr>
        <p:spPr>
          <a:xfrm>
            <a:off x="6300216" y="1417320"/>
            <a:ext cx="5248656" cy="4626864"/>
          </a:xfrm>
          <a:prstGeom prst="roundRect">
            <a:avLst>
              <a:gd name="adj" fmla="val 1779"/>
            </a:avLst>
          </a:prstGeom>
          <a:solidFill>
            <a:srgbClr val="DFF7EC"/>
          </a:solidFill>
          <a:ln w="15240">
            <a:solidFill>
              <a:srgbClr val="35C990"/>
            </a:solidFill>
            <a:prstDash val="solid"/>
          </a:ln>
          <a:effectLst>
            <a:outerShdw blurRad="50800" dist="19050" dir="8100000" algn="bl" rotWithShape="0">
              <a:srgbClr val="111827">
                <a:alpha val="11000"/>
              </a:srgbClr>
            </a:outerShdw>
          </a:effectLst>
        </p:spPr>
      </p:sp>
      <p:sp>
        <p:nvSpPr>
          <p:cNvPr id="19" name="Shape 17"/>
          <p:cNvSpPr/>
          <p:nvPr/>
        </p:nvSpPr>
        <p:spPr>
          <a:xfrm>
            <a:off x="6556248" y="1673352"/>
            <a:ext cx="1572768" cy="310896"/>
          </a:xfrm>
          <a:prstGeom prst="roundRect">
            <a:avLst>
              <a:gd name="adj" fmla="val 23529"/>
            </a:avLst>
          </a:prstGeom>
          <a:solidFill>
            <a:srgbClr val="35C990"/>
          </a:solidFill>
          <a:ln/>
        </p:spPr>
      </p:sp>
      <p:sp>
        <p:nvSpPr>
          <p:cNvPr id="20" name="Text 18"/>
          <p:cNvSpPr/>
          <p:nvPr/>
        </p:nvSpPr>
        <p:spPr>
          <a:xfrm>
            <a:off x="6665976"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123026"/>
                </a:solidFill>
                <a:latin typeface="Aptos" pitchFamily="34" charset="0"/>
                <a:ea typeface="Aptos" pitchFamily="34" charset="-122"/>
                <a:cs typeface="Aptos" pitchFamily="34" charset="-120"/>
              </a:rPr>
              <a:t>LEGACY MODEL</a:t>
            </a:r>
            <a:endParaRPr lang="en-US" sz="830" dirty="0"/>
          </a:p>
        </p:txBody>
      </p:sp>
      <p:sp>
        <p:nvSpPr>
          <p:cNvPr id="21" name="Text 19"/>
          <p:cNvSpPr/>
          <p:nvPr/>
        </p:nvSpPr>
        <p:spPr>
          <a:xfrm>
            <a:off x="6592824"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123026"/>
                </a:solidFill>
                <a:latin typeface="Aptos Display" pitchFamily="34" charset="0"/>
                <a:ea typeface="Aptos Display" pitchFamily="34" charset="-122"/>
                <a:cs typeface="Aptos Display" pitchFamily="34" charset="-120"/>
              </a:rPr>
              <a:t>Legacy agents and guidance</a:t>
            </a:r>
            <a:endParaRPr lang="en-US" sz="2200" dirty="0"/>
          </a:p>
        </p:txBody>
      </p:sp>
      <p:sp>
        <p:nvSpPr>
          <p:cNvPr id="22" name="Text 20"/>
          <p:cNvSpPr/>
          <p:nvPr/>
        </p:nvSpPr>
        <p:spPr>
          <a:xfrm>
            <a:off x="6647688"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183128"/>
                </a:solidFill>
                <a:latin typeface="Aptos" pitchFamily="34" charset="0"/>
                <a:ea typeface="Aptos" pitchFamily="34" charset="-122"/>
                <a:cs typeface="Aptos" pitchFamily="34" charset="-120"/>
              </a:rPr>
              <a:t>A legacy agent has a null identity and uses the shared project identity</a:t>
            </a:r>
            <a:endParaRPr lang="en-US" sz="1600" dirty="0"/>
          </a:p>
          <a:p>
            <a:pPr marL="342900" indent="-342900">
              <a:buSzPct val="100000"/>
              <a:buChar char="•"/>
            </a:pPr>
            <a:r>
              <a:rPr lang="en-US" sz="1600" dirty="0">
                <a:solidFill>
                  <a:srgbClr val="183128"/>
                </a:solidFill>
                <a:latin typeface="Aptos" pitchFamily="34" charset="0"/>
                <a:ea typeface="Aptos" pitchFamily="34" charset="-122"/>
                <a:cs typeface="Aptos" pitchFamily="34" charset="-120"/>
              </a:rPr>
              <a:t>“Shared until published” describes the legacy Agent Application model</a:t>
            </a:r>
            <a:endParaRPr lang="en-US" sz="1600" dirty="0"/>
          </a:p>
          <a:p>
            <a:pPr marL="342900" indent="-342900">
              <a:buSzPct val="100000"/>
              <a:buChar char="•"/>
            </a:pPr>
            <a:r>
              <a:rPr lang="en-US" sz="1600" dirty="0">
                <a:solidFill>
                  <a:srgbClr val="183128"/>
                </a:solidFill>
                <a:latin typeface="Aptos" pitchFamily="34" charset="0"/>
                <a:ea typeface="Aptos" pitchFamily="34" charset="-122"/>
                <a:cs typeface="Aptos" pitchFamily="34" charset="-120"/>
              </a:rPr>
              <a:t>Re-create a legacy agent to obtain a unique identity; role assignments do not transfer</a:t>
            </a:r>
            <a:endParaRPr lang="en-US" sz="1600" dirty="0"/>
          </a:p>
        </p:txBody>
      </p:sp>
      <p:sp>
        <p:nvSpPr>
          <p:cNvPr id="23" name="Shape 21"/>
          <p:cNvSpPr/>
          <p:nvPr/>
        </p:nvSpPr>
        <p:spPr>
          <a:xfrm>
            <a:off x="5916168" y="3236976"/>
            <a:ext cx="365760" cy="365760"/>
          </a:xfrm>
          <a:prstGeom prst="ellipse">
            <a:avLst/>
          </a:prstGeom>
          <a:solidFill>
            <a:srgbClr val="123026"/>
          </a:solidFill>
          <a:ln/>
        </p:spPr>
      </p:sp>
      <p:sp>
        <p:nvSpPr>
          <p:cNvPr id="24" name="Text 22"/>
          <p:cNvSpPr/>
          <p:nvPr/>
        </p:nvSpPr>
        <p:spPr>
          <a:xfrm>
            <a:off x="5916168" y="3328416"/>
            <a:ext cx="365760"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5" name="Text 23"/>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516B62"/>
                </a:solidFill>
                <a:latin typeface="Aptos" pitchFamily="34" charset="0"/>
                <a:ea typeface="Aptos" pitchFamily="34" charset="-122"/>
                <a:cs typeface="Aptos" pitchFamily="34" charset="-120"/>
              </a:rPr>
              <a:t>REFERENCE  learn.microsoft.com/azure/foundry/agents/how-to/migrate-agent-applications  ·  +1 more in notes</a:t>
            </a:r>
            <a:endParaRPr lang="en-US" sz="940" dirty="0"/>
          </a:p>
        </p:txBody>
      </p:sp>
      <p:sp>
        <p:nvSpPr>
          <p:cNvPr id="26" name="Shape 24"/>
          <p:cNvSpPr/>
          <p:nvPr/>
        </p:nvSpPr>
        <p:spPr>
          <a:xfrm>
            <a:off x="0" y="6793992"/>
            <a:ext cx="12191695" cy="64008"/>
          </a:xfrm>
          <a:prstGeom prst="rect">
            <a:avLst/>
          </a:prstGeom>
          <a:solidFill>
            <a:srgbClr val="35C990"/>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B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23026"/>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2  /  TRUST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123026"/>
                </a:solidFill>
                <a:latin typeface="Aptos Display" pitchFamily="34" charset="0"/>
                <a:ea typeface="Aptos Display" pitchFamily="34" charset="-122"/>
                <a:cs typeface="Aptos Display" pitchFamily="34" charset="-120"/>
              </a:rPr>
              <a:t>Least privilege has three authorization layers</a:t>
            </a:r>
            <a:endParaRPr lang="en-US" sz="3100" dirty="0"/>
          </a:p>
        </p:txBody>
      </p:sp>
      <p:sp>
        <p:nvSpPr>
          <p:cNvPr id="5" name="Shape 3"/>
          <p:cNvSpPr/>
          <p:nvPr/>
        </p:nvSpPr>
        <p:spPr>
          <a:xfrm>
            <a:off x="10850636" y="416966"/>
            <a:ext cx="500360" cy="566196"/>
          </a:xfrm>
          <a:prstGeom prst="hexagon">
            <a:avLst/>
          </a:prstGeom>
          <a:solidFill>
            <a:srgbClr val="DFF7EC"/>
          </a:solidFill>
          <a:ln w="10160">
            <a:solidFill>
              <a:srgbClr val="35C990"/>
            </a:solidFill>
            <a:prstDash val="solid"/>
          </a:ln>
        </p:spPr>
      </p:sp>
      <p:sp>
        <p:nvSpPr>
          <p:cNvPr id="6" name="Shape 4"/>
          <p:cNvSpPr/>
          <p:nvPr/>
        </p:nvSpPr>
        <p:spPr>
          <a:xfrm>
            <a:off x="10995477" y="667146"/>
            <a:ext cx="223845" cy="184343"/>
          </a:xfrm>
          <a:prstGeom prst="roundRect">
            <a:avLst>
              <a:gd name="adj" fmla="val 39683"/>
            </a:avLst>
          </a:prstGeom>
          <a:solidFill>
            <a:srgbClr val="35C990"/>
          </a:solidFill>
          <a:ln/>
        </p:spPr>
      </p:sp>
      <p:sp>
        <p:nvSpPr>
          <p:cNvPr id="7" name="Shape 5"/>
          <p:cNvSpPr/>
          <p:nvPr/>
        </p:nvSpPr>
        <p:spPr>
          <a:xfrm>
            <a:off x="11048147" y="581558"/>
            <a:ext cx="0" cy="85588"/>
          </a:xfrm>
          <a:prstGeom prst="line">
            <a:avLst/>
          </a:prstGeom>
          <a:noFill/>
          <a:ln w="25400">
            <a:solidFill>
              <a:srgbClr val="123026"/>
            </a:solidFill>
            <a:prstDash val="solid"/>
          </a:ln>
        </p:spPr>
      </p:sp>
      <p:sp>
        <p:nvSpPr>
          <p:cNvPr id="8" name="Shape 6"/>
          <p:cNvSpPr/>
          <p:nvPr/>
        </p:nvSpPr>
        <p:spPr>
          <a:xfrm>
            <a:off x="11048147" y="581558"/>
            <a:ext cx="111923" cy="0"/>
          </a:xfrm>
          <a:prstGeom prst="line">
            <a:avLst/>
          </a:prstGeom>
          <a:noFill/>
          <a:ln w="25400">
            <a:solidFill>
              <a:srgbClr val="123026"/>
            </a:solidFill>
            <a:prstDash val="solid"/>
          </a:ln>
        </p:spPr>
      </p:sp>
      <p:sp>
        <p:nvSpPr>
          <p:cNvPr id="9" name="Shape 7"/>
          <p:cNvSpPr/>
          <p:nvPr/>
        </p:nvSpPr>
        <p:spPr>
          <a:xfrm>
            <a:off x="11160069" y="581558"/>
            <a:ext cx="0" cy="85588"/>
          </a:xfrm>
          <a:prstGeom prst="line">
            <a:avLst/>
          </a:prstGeom>
          <a:noFill/>
          <a:ln w="25400">
            <a:solidFill>
              <a:srgbClr val="123026"/>
            </a:solidFill>
            <a:prstDash val="solid"/>
          </a:ln>
        </p:spPr>
      </p:sp>
      <p:sp>
        <p:nvSpPr>
          <p:cNvPr id="10" name="Shape 8"/>
          <p:cNvSpPr/>
          <p:nvPr/>
        </p:nvSpPr>
        <p:spPr>
          <a:xfrm>
            <a:off x="11612880" y="457200"/>
            <a:ext cx="329184" cy="329184"/>
          </a:xfrm>
          <a:prstGeom prst="ellipse">
            <a:avLst/>
          </a:prstGeom>
          <a:solidFill>
            <a:srgbClr val="35C990"/>
          </a:solidFill>
          <a:ln/>
        </p:spPr>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123026"/>
                </a:solidFill>
                <a:latin typeface="Aptos" pitchFamily="34" charset="0"/>
                <a:ea typeface="Aptos" pitchFamily="34" charset="-122"/>
                <a:cs typeface="Aptos" pitchFamily="34" charset="-120"/>
              </a:rPr>
              <a:t>05</a:t>
            </a:r>
            <a:endParaRPr lang="en-US" sz="850" dirty="0"/>
          </a:p>
        </p:txBody>
      </p:sp>
      <p:sp>
        <p:nvSpPr>
          <p:cNvPr id="12" name="Shape 10"/>
          <p:cNvSpPr/>
          <p:nvPr/>
        </p:nvSpPr>
        <p:spPr>
          <a:xfrm>
            <a:off x="9829800" y="1005840"/>
            <a:ext cx="2148840" cy="2148840"/>
          </a:xfrm>
          <a:prstGeom prst="ellipse">
            <a:avLst/>
          </a:prstGeom>
          <a:solidFill>
            <a:srgbClr val="DFF7EC"/>
          </a:solidFill>
          <a:ln/>
        </p:spPr>
      </p:sp>
      <p:sp>
        <p:nvSpPr>
          <p:cNvPr id="13" name="Shape 11"/>
          <p:cNvSpPr/>
          <p:nvPr/>
        </p:nvSpPr>
        <p:spPr>
          <a:xfrm>
            <a:off x="932688" y="1417320"/>
            <a:ext cx="2788920" cy="621792"/>
          </a:xfrm>
          <a:prstGeom prst="roundRect">
            <a:avLst>
              <a:gd name="adj" fmla="val 11765"/>
            </a:avLst>
          </a:prstGeom>
          <a:solidFill>
            <a:srgbClr val="35C990"/>
          </a:solidFill>
          <a:ln/>
        </p:spPr>
      </p:sp>
      <p:sp>
        <p:nvSpPr>
          <p:cNvPr id="14" name="Text 12"/>
          <p:cNvSpPr/>
          <p:nvPr/>
        </p:nvSpPr>
        <p:spPr>
          <a:xfrm>
            <a:off x="1207008" y="1636776"/>
            <a:ext cx="2240280" cy="137160"/>
          </a:xfrm>
          <a:prstGeom prst="rect">
            <a:avLst/>
          </a:prstGeom>
          <a:noFill/>
          <a:ln/>
        </p:spPr>
        <p:txBody>
          <a:bodyPr wrap="square" lIns="0" tIns="0" rIns="0" bIns="0" rtlCol="0" anchor="ctr"/>
          <a:lstStyle/>
          <a:p>
            <a:pPr marL="0" indent="0" algn="ctr">
              <a:buNone/>
            </a:pPr>
            <a:r>
              <a:rPr lang="en-US" sz="1500" b="1" kern="0" spc="180" dirty="0">
                <a:solidFill>
                  <a:srgbClr val="123026"/>
                </a:solidFill>
                <a:latin typeface="Aptos" pitchFamily="34" charset="0"/>
                <a:ea typeface="Aptos" pitchFamily="34" charset="-122"/>
                <a:cs typeface="Aptos" pitchFamily="34" charset="-120"/>
              </a:rPr>
              <a:t>ROLE</a:t>
            </a:r>
            <a:endParaRPr lang="en-US" sz="1500" dirty="0"/>
          </a:p>
        </p:txBody>
      </p:sp>
      <p:sp>
        <p:nvSpPr>
          <p:cNvPr id="15" name="Text 13"/>
          <p:cNvSpPr/>
          <p:nvPr/>
        </p:nvSpPr>
        <p:spPr>
          <a:xfrm>
            <a:off x="3913632" y="1545336"/>
            <a:ext cx="420624" cy="256032"/>
          </a:xfrm>
          <a:prstGeom prst="rect">
            <a:avLst/>
          </a:prstGeom>
          <a:noFill/>
          <a:ln/>
        </p:spPr>
        <p:txBody>
          <a:bodyPr wrap="square" lIns="0" tIns="0" rIns="0" bIns="0" rtlCol="0" anchor="ctr"/>
          <a:lstStyle/>
          <a:p>
            <a:pPr marL="0" indent="0" algn="ctr">
              <a:buNone/>
            </a:pPr>
            <a:r>
              <a:rPr lang="en-US" sz="2400" b="1" dirty="0">
                <a:solidFill>
                  <a:srgbClr val="123026"/>
                </a:solidFill>
                <a:latin typeface="Aptos" pitchFamily="34" charset="0"/>
                <a:ea typeface="Aptos" pitchFamily="34" charset="-122"/>
                <a:cs typeface="Aptos" pitchFamily="34" charset="-120"/>
              </a:rPr>
              <a:t>×</a:t>
            </a:r>
            <a:endParaRPr lang="en-US" sz="2400" dirty="0"/>
          </a:p>
        </p:txBody>
      </p:sp>
      <p:sp>
        <p:nvSpPr>
          <p:cNvPr id="16" name="Shape 14"/>
          <p:cNvSpPr/>
          <p:nvPr/>
        </p:nvSpPr>
        <p:spPr>
          <a:xfrm>
            <a:off x="4498848" y="1417320"/>
            <a:ext cx="2788920" cy="621792"/>
          </a:xfrm>
          <a:prstGeom prst="roundRect">
            <a:avLst>
              <a:gd name="adj" fmla="val 11765"/>
            </a:avLst>
          </a:prstGeom>
          <a:solidFill>
            <a:srgbClr val="FFC857"/>
          </a:solidFill>
          <a:ln/>
        </p:spPr>
      </p:sp>
      <p:sp>
        <p:nvSpPr>
          <p:cNvPr id="17" name="Text 15"/>
          <p:cNvSpPr/>
          <p:nvPr/>
        </p:nvSpPr>
        <p:spPr>
          <a:xfrm>
            <a:off x="4773168" y="1636776"/>
            <a:ext cx="2240280" cy="137160"/>
          </a:xfrm>
          <a:prstGeom prst="rect">
            <a:avLst/>
          </a:prstGeom>
          <a:noFill/>
          <a:ln/>
        </p:spPr>
        <p:txBody>
          <a:bodyPr wrap="square" lIns="0" tIns="0" rIns="0" bIns="0" rtlCol="0" anchor="ctr"/>
          <a:lstStyle/>
          <a:p>
            <a:pPr marL="0" indent="0" algn="ctr">
              <a:buNone/>
            </a:pPr>
            <a:r>
              <a:rPr lang="en-US" sz="1500" b="1" kern="0" spc="180" dirty="0">
                <a:solidFill>
                  <a:srgbClr val="123026"/>
                </a:solidFill>
                <a:latin typeface="Aptos" pitchFamily="34" charset="0"/>
                <a:ea typeface="Aptos" pitchFamily="34" charset="-122"/>
                <a:cs typeface="Aptos" pitchFamily="34" charset="-120"/>
              </a:rPr>
              <a:t>RESOURCE SCOPE</a:t>
            </a:r>
            <a:endParaRPr lang="en-US" sz="1500" dirty="0"/>
          </a:p>
        </p:txBody>
      </p:sp>
      <p:sp>
        <p:nvSpPr>
          <p:cNvPr id="18" name="Text 16"/>
          <p:cNvSpPr/>
          <p:nvPr/>
        </p:nvSpPr>
        <p:spPr>
          <a:xfrm>
            <a:off x="7479792" y="1545336"/>
            <a:ext cx="420624" cy="256032"/>
          </a:xfrm>
          <a:prstGeom prst="rect">
            <a:avLst/>
          </a:prstGeom>
          <a:noFill/>
          <a:ln/>
        </p:spPr>
        <p:txBody>
          <a:bodyPr wrap="square" lIns="0" tIns="0" rIns="0" bIns="0" rtlCol="0" anchor="ctr"/>
          <a:lstStyle/>
          <a:p>
            <a:pPr marL="0" indent="0" algn="ctr">
              <a:buNone/>
            </a:pPr>
            <a:r>
              <a:rPr lang="en-US" sz="2400" b="1" dirty="0">
                <a:solidFill>
                  <a:srgbClr val="123026"/>
                </a:solidFill>
                <a:latin typeface="Aptos" pitchFamily="34" charset="0"/>
                <a:ea typeface="Aptos" pitchFamily="34" charset="-122"/>
                <a:cs typeface="Aptos" pitchFamily="34" charset="-120"/>
              </a:rPr>
              <a:t>×</a:t>
            </a:r>
            <a:endParaRPr lang="en-US" sz="2400" dirty="0"/>
          </a:p>
        </p:txBody>
      </p:sp>
      <p:sp>
        <p:nvSpPr>
          <p:cNvPr id="19" name="Shape 17"/>
          <p:cNvSpPr/>
          <p:nvPr/>
        </p:nvSpPr>
        <p:spPr>
          <a:xfrm>
            <a:off x="8065008" y="1417320"/>
            <a:ext cx="2788920" cy="621792"/>
          </a:xfrm>
          <a:prstGeom prst="roundRect">
            <a:avLst>
              <a:gd name="adj" fmla="val 11765"/>
            </a:avLst>
          </a:prstGeom>
          <a:solidFill>
            <a:srgbClr val="35C990"/>
          </a:solidFill>
          <a:ln/>
        </p:spPr>
      </p:sp>
      <p:sp>
        <p:nvSpPr>
          <p:cNvPr id="20" name="Text 18"/>
          <p:cNvSpPr/>
          <p:nvPr/>
        </p:nvSpPr>
        <p:spPr>
          <a:xfrm>
            <a:off x="8339328" y="1636776"/>
            <a:ext cx="2240280" cy="137160"/>
          </a:xfrm>
          <a:prstGeom prst="rect">
            <a:avLst/>
          </a:prstGeom>
          <a:noFill/>
          <a:ln/>
        </p:spPr>
        <p:txBody>
          <a:bodyPr wrap="square" lIns="0" tIns="0" rIns="0" bIns="0" rtlCol="0" anchor="ctr"/>
          <a:lstStyle/>
          <a:p>
            <a:pPr marL="0" indent="0" algn="ctr">
              <a:buNone/>
            </a:pPr>
            <a:r>
              <a:rPr lang="en-US" sz="1500" b="1" kern="0" spc="180" dirty="0">
                <a:solidFill>
                  <a:srgbClr val="123026"/>
                </a:solidFill>
                <a:latin typeface="Aptos" pitchFamily="34" charset="0"/>
                <a:ea typeface="Aptos" pitchFamily="34" charset="-122"/>
                <a:cs typeface="Aptos" pitchFamily="34" charset="-120"/>
              </a:rPr>
              <a:t>DATA-LEVEL PERMISSION</a:t>
            </a:r>
            <a:endParaRPr lang="en-US" sz="1500" dirty="0"/>
          </a:p>
        </p:txBody>
      </p:sp>
      <p:sp>
        <p:nvSpPr>
          <p:cNvPr id="21" name="Shape 19"/>
          <p:cNvSpPr/>
          <p:nvPr/>
        </p:nvSpPr>
        <p:spPr>
          <a:xfrm>
            <a:off x="640080" y="2331720"/>
            <a:ext cx="2286000" cy="475488"/>
          </a:xfrm>
          <a:prstGeom prst="roundRect">
            <a:avLst>
              <a:gd name="adj" fmla="val 15385"/>
            </a:avLst>
          </a:prstGeom>
          <a:solidFill>
            <a:srgbClr val="123026"/>
          </a:solidFill>
          <a:ln/>
        </p:spPr>
      </p:sp>
      <p:sp>
        <p:nvSpPr>
          <p:cNvPr id="22" name="Text 20"/>
          <p:cNvSpPr/>
          <p:nvPr/>
        </p:nvSpPr>
        <p:spPr>
          <a:xfrm>
            <a:off x="768096" y="2496312"/>
            <a:ext cx="2029968" cy="109728"/>
          </a:xfrm>
          <a:prstGeom prst="rect">
            <a:avLst/>
          </a:prstGeom>
          <a:noFill/>
          <a:ln/>
        </p:spPr>
        <p:txBody>
          <a:bodyPr wrap="square" lIns="0" tIns="0" rIns="0" bIns="0" rtlCol="0" anchor="ctr">
            <a:normAutofit/>
          </a:bodyPr>
          <a:lstStyle/>
          <a:p>
            <a:pPr marL="0" indent="0">
              <a:buNone/>
            </a:pPr>
            <a:r>
              <a:rPr lang="en-US" sz="940" b="1" kern="0" spc="110" dirty="0">
                <a:solidFill>
                  <a:srgbClr val="FFFFFF"/>
                </a:solidFill>
                <a:latin typeface="Aptos" pitchFamily="34" charset="0"/>
                <a:ea typeface="Aptos" pitchFamily="34" charset="-122"/>
                <a:cs typeface="Aptos" pitchFamily="34" charset="-120"/>
              </a:rPr>
              <a:t>LAYER</a:t>
            </a:r>
            <a:endParaRPr lang="en-US" sz="940" dirty="0"/>
          </a:p>
        </p:txBody>
      </p:sp>
      <p:sp>
        <p:nvSpPr>
          <p:cNvPr id="23" name="Shape 21"/>
          <p:cNvSpPr/>
          <p:nvPr/>
        </p:nvSpPr>
        <p:spPr>
          <a:xfrm>
            <a:off x="2971800" y="2331720"/>
            <a:ext cx="2834640" cy="475488"/>
          </a:xfrm>
          <a:prstGeom prst="roundRect">
            <a:avLst>
              <a:gd name="adj" fmla="val 15385"/>
            </a:avLst>
          </a:prstGeom>
          <a:solidFill>
            <a:srgbClr val="35C990"/>
          </a:solidFill>
          <a:ln/>
        </p:spPr>
      </p:sp>
      <p:sp>
        <p:nvSpPr>
          <p:cNvPr id="24" name="Text 22"/>
          <p:cNvSpPr/>
          <p:nvPr/>
        </p:nvSpPr>
        <p:spPr>
          <a:xfrm>
            <a:off x="3099816" y="2496312"/>
            <a:ext cx="2578608" cy="109728"/>
          </a:xfrm>
          <a:prstGeom prst="rect">
            <a:avLst/>
          </a:prstGeom>
          <a:noFill/>
          <a:ln/>
        </p:spPr>
        <p:txBody>
          <a:bodyPr wrap="square" lIns="0" tIns="0" rIns="0" bIns="0" rtlCol="0" anchor="ctr">
            <a:normAutofit/>
          </a:bodyPr>
          <a:lstStyle/>
          <a:p>
            <a:pPr marL="0" indent="0">
              <a:buNone/>
            </a:pPr>
            <a:r>
              <a:rPr lang="en-US" sz="940" b="1" kern="0" spc="110" dirty="0">
                <a:solidFill>
                  <a:srgbClr val="123026"/>
                </a:solidFill>
                <a:latin typeface="Aptos" pitchFamily="34" charset="0"/>
                <a:ea typeface="Aptos" pitchFamily="34" charset="-122"/>
                <a:cs typeface="Aptos" pitchFamily="34" charset="-120"/>
              </a:rPr>
              <a:t>QUESTION</a:t>
            </a:r>
            <a:endParaRPr lang="en-US" sz="940" dirty="0"/>
          </a:p>
        </p:txBody>
      </p:sp>
      <p:sp>
        <p:nvSpPr>
          <p:cNvPr id="25" name="Shape 23"/>
          <p:cNvSpPr/>
          <p:nvPr/>
        </p:nvSpPr>
        <p:spPr>
          <a:xfrm>
            <a:off x="5852160" y="2331720"/>
            <a:ext cx="5650992" cy="475488"/>
          </a:xfrm>
          <a:prstGeom prst="roundRect">
            <a:avLst>
              <a:gd name="adj" fmla="val 15385"/>
            </a:avLst>
          </a:prstGeom>
          <a:solidFill>
            <a:srgbClr val="35C990"/>
          </a:solidFill>
          <a:ln/>
        </p:spPr>
      </p:sp>
      <p:sp>
        <p:nvSpPr>
          <p:cNvPr id="26" name="Text 24"/>
          <p:cNvSpPr/>
          <p:nvPr/>
        </p:nvSpPr>
        <p:spPr>
          <a:xfrm>
            <a:off x="5980176" y="2496312"/>
            <a:ext cx="5394960" cy="109728"/>
          </a:xfrm>
          <a:prstGeom prst="rect">
            <a:avLst/>
          </a:prstGeom>
          <a:noFill/>
          <a:ln/>
        </p:spPr>
        <p:txBody>
          <a:bodyPr wrap="square" lIns="0" tIns="0" rIns="0" bIns="0" rtlCol="0" anchor="ctr">
            <a:normAutofit/>
          </a:bodyPr>
          <a:lstStyle/>
          <a:p>
            <a:pPr marL="0" indent="0">
              <a:buNone/>
            </a:pPr>
            <a:r>
              <a:rPr lang="en-US" sz="940" b="1" kern="0" spc="110" dirty="0">
                <a:solidFill>
                  <a:srgbClr val="123026"/>
                </a:solidFill>
                <a:latin typeface="Aptos" pitchFamily="34" charset="0"/>
                <a:ea typeface="Aptos" pitchFamily="34" charset="-122"/>
                <a:cs typeface="Aptos" pitchFamily="34" charset="-120"/>
              </a:rPr>
              <a:t>EXAMPLE</a:t>
            </a:r>
            <a:endParaRPr lang="en-US" sz="940" dirty="0"/>
          </a:p>
        </p:txBody>
      </p:sp>
      <p:sp>
        <p:nvSpPr>
          <p:cNvPr id="27" name="Shape 25"/>
          <p:cNvSpPr/>
          <p:nvPr/>
        </p:nvSpPr>
        <p:spPr>
          <a:xfrm>
            <a:off x="640080" y="2935224"/>
            <a:ext cx="10908792" cy="761238"/>
          </a:xfrm>
          <a:prstGeom prst="roundRect">
            <a:avLst>
              <a:gd name="adj" fmla="val 9610"/>
            </a:avLst>
          </a:prstGeom>
          <a:solidFill>
            <a:srgbClr val="DFF7EC"/>
          </a:solidFill>
          <a:ln w="10160">
            <a:solidFill>
              <a:srgbClr val="35C990"/>
            </a:solidFill>
            <a:prstDash val="solid"/>
          </a:ln>
        </p:spPr>
      </p:sp>
      <p:sp>
        <p:nvSpPr>
          <p:cNvPr id="28" name="Text 26"/>
          <p:cNvSpPr/>
          <p:nvPr/>
        </p:nvSpPr>
        <p:spPr>
          <a:xfrm>
            <a:off x="786384" y="3063240"/>
            <a:ext cx="2039112" cy="505206"/>
          </a:xfrm>
          <a:prstGeom prst="rect">
            <a:avLst/>
          </a:prstGeom>
          <a:noFill/>
          <a:ln/>
        </p:spPr>
        <p:txBody>
          <a:bodyPr wrap="square" lIns="0" tIns="0" rIns="0" bIns="0" rtlCol="0" anchor="ctr">
            <a:normAutofit/>
          </a:bodyPr>
          <a:lstStyle/>
          <a:p>
            <a:pPr marL="0" indent="0">
              <a:buNone/>
            </a:pPr>
            <a:r>
              <a:rPr lang="en-US" sz="1460" b="1" dirty="0">
                <a:solidFill>
                  <a:srgbClr val="123026"/>
                </a:solidFill>
                <a:latin typeface="Aptos" pitchFamily="34" charset="0"/>
                <a:ea typeface="Aptos" pitchFamily="34" charset="-122"/>
                <a:cs typeface="Aptos" pitchFamily="34" charset="-120"/>
              </a:rPr>
              <a:t>Role</a:t>
            </a:r>
            <a:endParaRPr lang="en-US" sz="1460" dirty="0"/>
          </a:p>
        </p:txBody>
      </p:sp>
      <p:sp>
        <p:nvSpPr>
          <p:cNvPr id="29" name="Shape 27"/>
          <p:cNvSpPr/>
          <p:nvPr/>
        </p:nvSpPr>
        <p:spPr>
          <a:xfrm>
            <a:off x="2971800" y="3081528"/>
            <a:ext cx="0" cy="468630"/>
          </a:xfrm>
          <a:prstGeom prst="line">
            <a:avLst/>
          </a:prstGeom>
          <a:noFill/>
          <a:ln w="10160">
            <a:solidFill>
              <a:srgbClr val="35C990"/>
            </a:solidFill>
            <a:prstDash val="solid"/>
          </a:ln>
        </p:spPr>
      </p:sp>
      <p:sp>
        <p:nvSpPr>
          <p:cNvPr id="30" name="Text 28"/>
          <p:cNvSpPr/>
          <p:nvPr/>
        </p:nvSpPr>
        <p:spPr>
          <a:xfrm>
            <a:off x="3118104" y="3063240"/>
            <a:ext cx="2587752" cy="505206"/>
          </a:xfrm>
          <a:prstGeom prst="rect">
            <a:avLst/>
          </a:prstGeom>
          <a:noFill/>
          <a:ln/>
        </p:spPr>
        <p:txBody>
          <a:bodyPr wrap="square" lIns="0" tIns="0" rIns="0" bIns="0" rtlCol="0" anchor="ctr">
            <a:normAutofit/>
          </a:bodyPr>
          <a:lstStyle/>
          <a:p>
            <a:pPr marL="0" indent="0">
              <a:buNone/>
            </a:pPr>
            <a:r>
              <a:rPr lang="en-US" sz="1380" dirty="0">
                <a:solidFill>
                  <a:srgbClr val="183128"/>
                </a:solidFill>
                <a:latin typeface="Aptos" pitchFamily="34" charset="0"/>
                <a:ea typeface="Aptos" pitchFamily="34" charset="-122"/>
                <a:cs typeface="Aptos" pitchFamily="34" charset="-120"/>
              </a:rPr>
              <a:t>What actions may the principal perform?</a:t>
            </a:r>
            <a:endParaRPr lang="en-US" sz="1380" dirty="0"/>
          </a:p>
        </p:txBody>
      </p:sp>
      <p:sp>
        <p:nvSpPr>
          <p:cNvPr id="31" name="Shape 29"/>
          <p:cNvSpPr/>
          <p:nvPr/>
        </p:nvSpPr>
        <p:spPr>
          <a:xfrm>
            <a:off x="5852160" y="3081528"/>
            <a:ext cx="0" cy="468630"/>
          </a:xfrm>
          <a:prstGeom prst="line">
            <a:avLst/>
          </a:prstGeom>
          <a:noFill/>
          <a:ln w="10160">
            <a:solidFill>
              <a:srgbClr val="DFF7EC"/>
            </a:solidFill>
            <a:prstDash val="solid"/>
          </a:ln>
        </p:spPr>
      </p:sp>
      <p:sp>
        <p:nvSpPr>
          <p:cNvPr id="32" name="Text 30"/>
          <p:cNvSpPr/>
          <p:nvPr/>
        </p:nvSpPr>
        <p:spPr>
          <a:xfrm>
            <a:off x="5998464" y="3063240"/>
            <a:ext cx="5404104" cy="505206"/>
          </a:xfrm>
          <a:prstGeom prst="rect">
            <a:avLst/>
          </a:prstGeom>
          <a:noFill/>
          <a:ln/>
        </p:spPr>
        <p:txBody>
          <a:bodyPr wrap="square" lIns="0" tIns="0" rIns="0" bIns="0" rtlCol="0" anchor="ctr">
            <a:normAutofit/>
          </a:bodyPr>
          <a:lstStyle/>
          <a:p>
            <a:pPr marL="0" indent="0">
              <a:buNone/>
            </a:pPr>
            <a:r>
              <a:rPr lang="en-US" sz="1380" dirty="0">
                <a:solidFill>
                  <a:srgbClr val="183128"/>
                </a:solidFill>
                <a:latin typeface="Aptos" pitchFamily="34" charset="0"/>
                <a:ea typeface="Aptos" pitchFamily="34" charset="-122"/>
                <a:cs typeface="Aptos" pitchFamily="34" charset="-120"/>
              </a:rPr>
              <a:t>Foundry Agent Consumer permits invocation</a:t>
            </a:r>
            <a:endParaRPr lang="en-US" sz="1380" dirty="0"/>
          </a:p>
        </p:txBody>
      </p:sp>
      <p:sp>
        <p:nvSpPr>
          <p:cNvPr id="33" name="Shape 31"/>
          <p:cNvSpPr/>
          <p:nvPr/>
        </p:nvSpPr>
        <p:spPr>
          <a:xfrm>
            <a:off x="640080" y="3769614"/>
            <a:ext cx="10908792" cy="761238"/>
          </a:xfrm>
          <a:prstGeom prst="roundRect">
            <a:avLst>
              <a:gd name="adj" fmla="val 9610"/>
            </a:avLst>
          </a:prstGeom>
          <a:solidFill>
            <a:srgbClr val="FFFFFF"/>
          </a:solidFill>
          <a:ln w="10160">
            <a:solidFill>
              <a:srgbClr val="DFF7EC"/>
            </a:solidFill>
            <a:prstDash val="solid"/>
          </a:ln>
        </p:spPr>
      </p:sp>
      <p:sp>
        <p:nvSpPr>
          <p:cNvPr id="34" name="Text 32"/>
          <p:cNvSpPr/>
          <p:nvPr/>
        </p:nvSpPr>
        <p:spPr>
          <a:xfrm>
            <a:off x="786384" y="3897630"/>
            <a:ext cx="2039112" cy="505206"/>
          </a:xfrm>
          <a:prstGeom prst="rect">
            <a:avLst/>
          </a:prstGeom>
          <a:noFill/>
          <a:ln/>
        </p:spPr>
        <p:txBody>
          <a:bodyPr wrap="square" lIns="0" tIns="0" rIns="0" bIns="0" rtlCol="0" anchor="ctr">
            <a:normAutofit/>
          </a:bodyPr>
          <a:lstStyle/>
          <a:p>
            <a:pPr marL="0" indent="0">
              <a:buNone/>
            </a:pPr>
            <a:r>
              <a:rPr lang="en-US" sz="1460" b="1" dirty="0">
                <a:solidFill>
                  <a:srgbClr val="123026"/>
                </a:solidFill>
                <a:latin typeface="Aptos" pitchFamily="34" charset="0"/>
                <a:ea typeface="Aptos" pitchFamily="34" charset="-122"/>
                <a:cs typeface="Aptos" pitchFamily="34" charset="-120"/>
              </a:rPr>
              <a:t>Resource scope</a:t>
            </a:r>
            <a:endParaRPr lang="en-US" sz="1460" dirty="0"/>
          </a:p>
        </p:txBody>
      </p:sp>
      <p:sp>
        <p:nvSpPr>
          <p:cNvPr id="35" name="Shape 33"/>
          <p:cNvSpPr/>
          <p:nvPr/>
        </p:nvSpPr>
        <p:spPr>
          <a:xfrm>
            <a:off x="2971800" y="3915918"/>
            <a:ext cx="0" cy="468630"/>
          </a:xfrm>
          <a:prstGeom prst="line">
            <a:avLst/>
          </a:prstGeom>
          <a:noFill/>
          <a:ln w="10160">
            <a:solidFill>
              <a:srgbClr val="35C990"/>
            </a:solidFill>
            <a:prstDash val="solid"/>
          </a:ln>
        </p:spPr>
      </p:sp>
      <p:sp>
        <p:nvSpPr>
          <p:cNvPr id="36" name="Text 34"/>
          <p:cNvSpPr/>
          <p:nvPr/>
        </p:nvSpPr>
        <p:spPr>
          <a:xfrm>
            <a:off x="3118104" y="3897630"/>
            <a:ext cx="2587752" cy="505206"/>
          </a:xfrm>
          <a:prstGeom prst="rect">
            <a:avLst/>
          </a:prstGeom>
          <a:noFill/>
          <a:ln/>
        </p:spPr>
        <p:txBody>
          <a:bodyPr wrap="square" lIns="0" tIns="0" rIns="0" bIns="0" rtlCol="0" anchor="ctr">
            <a:normAutofit/>
          </a:bodyPr>
          <a:lstStyle/>
          <a:p>
            <a:pPr marL="0" indent="0">
              <a:buNone/>
            </a:pPr>
            <a:r>
              <a:rPr lang="en-US" sz="1380" dirty="0">
                <a:solidFill>
                  <a:srgbClr val="183128"/>
                </a:solidFill>
                <a:latin typeface="Aptos" pitchFamily="34" charset="0"/>
                <a:ea typeface="Aptos" pitchFamily="34" charset="-122"/>
                <a:cs typeface="Aptos" pitchFamily="34" charset="-120"/>
              </a:rPr>
              <a:t>Where does the role assignment apply?</a:t>
            </a:r>
            <a:endParaRPr lang="en-US" sz="1380" dirty="0"/>
          </a:p>
        </p:txBody>
      </p:sp>
      <p:sp>
        <p:nvSpPr>
          <p:cNvPr id="37" name="Shape 35"/>
          <p:cNvSpPr/>
          <p:nvPr/>
        </p:nvSpPr>
        <p:spPr>
          <a:xfrm>
            <a:off x="5852160" y="3915918"/>
            <a:ext cx="0" cy="468630"/>
          </a:xfrm>
          <a:prstGeom prst="line">
            <a:avLst/>
          </a:prstGeom>
          <a:noFill/>
          <a:ln w="10160">
            <a:solidFill>
              <a:srgbClr val="DFF7EC"/>
            </a:solidFill>
            <a:prstDash val="solid"/>
          </a:ln>
        </p:spPr>
      </p:sp>
      <p:sp>
        <p:nvSpPr>
          <p:cNvPr id="38" name="Text 36"/>
          <p:cNvSpPr/>
          <p:nvPr/>
        </p:nvSpPr>
        <p:spPr>
          <a:xfrm>
            <a:off x="5998464" y="3897630"/>
            <a:ext cx="5404104" cy="505206"/>
          </a:xfrm>
          <a:prstGeom prst="rect">
            <a:avLst/>
          </a:prstGeom>
          <a:noFill/>
          <a:ln/>
        </p:spPr>
        <p:txBody>
          <a:bodyPr wrap="square" lIns="0" tIns="0" rIns="0" bIns="0" rtlCol="0" anchor="ctr">
            <a:normAutofit/>
          </a:bodyPr>
          <a:lstStyle/>
          <a:p>
            <a:pPr marL="0" indent="0">
              <a:buNone/>
            </a:pPr>
            <a:r>
              <a:rPr lang="en-US" sz="1380" dirty="0">
                <a:solidFill>
                  <a:srgbClr val="183128"/>
                </a:solidFill>
                <a:latin typeface="Aptos" pitchFamily="34" charset="0"/>
                <a:ea typeface="Aptos" pitchFamily="34" charset="-122"/>
                <a:cs typeface="Aptos" pitchFamily="34" charset="-120"/>
              </a:rPr>
              <a:t>One project or agent endpoint</a:t>
            </a:r>
            <a:endParaRPr lang="en-US" sz="1380" dirty="0"/>
          </a:p>
        </p:txBody>
      </p:sp>
      <p:sp>
        <p:nvSpPr>
          <p:cNvPr id="39" name="Shape 37"/>
          <p:cNvSpPr/>
          <p:nvPr/>
        </p:nvSpPr>
        <p:spPr>
          <a:xfrm>
            <a:off x="640080" y="4604004"/>
            <a:ext cx="10908792" cy="761238"/>
          </a:xfrm>
          <a:prstGeom prst="roundRect">
            <a:avLst>
              <a:gd name="adj" fmla="val 9610"/>
            </a:avLst>
          </a:prstGeom>
          <a:solidFill>
            <a:srgbClr val="DFF7EC"/>
          </a:solidFill>
          <a:ln w="10160">
            <a:solidFill>
              <a:srgbClr val="DFF7EC"/>
            </a:solidFill>
            <a:prstDash val="solid"/>
          </a:ln>
        </p:spPr>
      </p:sp>
      <p:sp>
        <p:nvSpPr>
          <p:cNvPr id="40" name="Text 38"/>
          <p:cNvSpPr/>
          <p:nvPr/>
        </p:nvSpPr>
        <p:spPr>
          <a:xfrm>
            <a:off x="786384" y="4732020"/>
            <a:ext cx="2039112" cy="505206"/>
          </a:xfrm>
          <a:prstGeom prst="rect">
            <a:avLst/>
          </a:prstGeom>
          <a:noFill/>
          <a:ln/>
        </p:spPr>
        <p:txBody>
          <a:bodyPr wrap="square" lIns="0" tIns="0" rIns="0" bIns="0" rtlCol="0" anchor="ctr">
            <a:normAutofit/>
          </a:bodyPr>
          <a:lstStyle/>
          <a:p>
            <a:pPr marL="0" indent="0">
              <a:buNone/>
            </a:pPr>
            <a:r>
              <a:rPr lang="en-US" sz="1460" b="1" dirty="0">
                <a:solidFill>
                  <a:srgbClr val="123026"/>
                </a:solidFill>
                <a:latin typeface="Aptos" pitchFamily="34" charset="0"/>
                <a:ea typeface="Aptos" pitchFamily="34" charset="-122"/>
                <a:cs typeface="Aptos" pitchFamily="34" charset="-120"/>
              </a:rPr>
              <a:t>Data-level permission</a:t>
            </a:r>
            <a:endParaRPr lang="en-US" sz="1460" dirty="0"/>
          </a:p>
        </p:txBody>
      </p:sp>
      <p:sp>
        <p:nvSpPr>
          <p:cNvPr id="41" name="Shape 39"/>
          <p:cNvSpPr/>
          <p:nvPr/>
        </p:nvSpPr>
        <p:spPr>
          <a:xfrm>
            <a:off x="2971800" y="4750308"/>
            <a:ext cx="0" cy="468630"/>
          </a:xfrm>
          <a:prstGeom prst="line">
            <a:avLst/>
          </a:prstGeom>
          <a:noFill/>
          <a:ln w="10160">
            <a:solidFill>
              <a:srgbClr val="35C990"/>
            </a:solidFill>
            <a:prstDash val="solid"/>
          </a:ln>
        </p:spPr>
      </p:sp>
      <p:sp>
        <p:nvSpPr>
          <p:cNvPr id="42" name="Text 40"/>
          <p:cNvSpPr/>
          <p:nvPr/>
        </p:nvSpPr>
        <p:spPr>
          <a:xfrm>
            <a:off x="3118104" y="4732020"/>
            <a:ext cx="2587752" cy="505206"/>
          </a:xfrm>
          <a:prstGeom prst="rect">
            <a:avLst/>
          </a:prstGeom>
          <a:noFill/>
          <a:ln/>
        </p:spPr>
        <p:txBody>
          <a:bodyPr wrap="square" lIns="0" tIns="0" rIns="0" bIns="0" rtlCol="0" anchor="ctr">
            <a:normAutofit/>
          </a:bodyPr>
          <a:lstStyle/>
          <a:p>
            <a:pPr marL="0" indent="0">
              <a:buNone/>
            </a:pPr>
            <a:r>
              <a:rPr lang="en-US" sz="1380" dirty="0">
                <a:solidFill>
                  <a:srgbClr val="183128"/>
                </a:solidFill>
                <a:latin typeface="Aptos" pitchFamily="34" charset="0"/>
                <a:ea typeface="Aptos" pitchFamily="34" charset="-122"/>
                <a:cs typeface="Aptos" pitchFamily="34" charset="-120"/>
              </a:rPr>
              <a:t>Which records may this user receive?</a:t>
            </a:r>
            <a:endParaRPr lang="en-US" sz="1380" dirty="0"/>
          </a:p>
        </p:txBody>
      </p:sp>
      <p:sp>
        <p:nvSpPr>
          <p:cNvPr id="43" name="Shape 41"/>
          <p:cNvSpPr/>
          <p:nvPr/>
        </p:nvSpPr>
        <p:spPr>
          <a:xfrm>
            <a:off x="5852160" y="4750308"/>
            <a:ext cx="0" cy="468630"/>
          </a:xfrm>
          <a:prstGeom prst="line">
            <a:avLst/>
          </a:prstGeom>
          <a:noFill/>
          <a:ln w="10160">
            <a:solidFill>
              <a:srgbClr val="DFF7EC"/>
            </a:solidFill>
            <a:prstDash val="solid"/>
          </a:ln>
        </p:spPr>
      </p:sp>
      <p:sp>
        <p:nvSpPr>
          <p:cNvPr id="44" name="Text 42"/>
          <p:cNvSpPr/>
          <p:nvPr/>
        </p:nvSpPr>
        <p:spPr>
          <a:xfrm>
            <a:off x="5998464" y="4732020"/>
            <a:ext cx="5404104" cy="505206"/>
          </a:xfrm>
          <a:prstGeom prst="rect">
            <a:avLst/>
          </a:prstGeom>
          <a:noFill/>
          <a:ln/>
        </p:spPr>
        <p:txBody>
          <a:bodyPr wrap="square" lIns="0" tIns="0" rIns="0" bIns="0" rtlCol="0" anchor="ctr">
            <a:normAutofit/>
          </a:bodyPr>
          <a:lstStyle/>
          <a:p>
            <a:pPr marL="0" indent="0">
              <a:buNone/>
            </a:pPr>
            <a:r>
              <a:rPr lang="en-US" sz="1380" dirty="0">
                <a:solidFill>
                  <a:srgbClr val="183128"/>
                </a:solidFill>
                <a:latin typeface="Aptos" pitchFamily="34" charset="0"/>
                <a:ea typeface="Aptos" pitchFamily="34" charset="-122"/>
                <a:cs typeface="Aptos" pitchFamily="34" charset="-120"/>
              </a:rPr>
              <a:t>Document ACL or query-time security filter</a:t>
            </a:r>
            <a:endParaRPr lang="en-US" sz="1380" dirty="0"/>
          </a:p>
        </p:txBody>
      </p:sp>
      <p:sp>
        <p:nvSpPr>
          <p:cNvPr id="45" name="Shape 43"/>
          <p:cNvSpPr/>
          <p:nvPr/>
        </p:nvSpPr>
        <p:spPr>
          <a:xfrm>
            <a:off x="640080" y="5438394"/>
            <a:ext cx="10908792" cy="761238"/>
          </a:xfrm>
          <a:prstGeom prst="roundRect">
            <a:avLst>
              <a:gd name="adj" fmla="val 9610"/>
            </a:avLst>
          </a:prstGeom>
          <a:solidFill>
            <a:srgbClr val="FFFFFF"/>
          </a:solidFill>
          <a:ln w="10160">
            <a:solidFill>
              <a:srgbClr val="DFF7EC"/>
            </a:solidFill>
            <a:prstDash val="solid"/>
          </a:ln>
        </p:spPr>
      </p:sp>
      <p:sp>
        <p:nvSpPr>
          <p:cNvPr id="46" name="Text 44"/>
          <p:cNvSpPr/>
          <p:nvPr/>
        </p:nvSpPr>
        <p:spPr>
          <a:xfrm>
            <a:off x="786384" y="5566410"/>
            <a:ext cx="2039112" cy="505206"/>
          </a:xfrm>
          <a:prstGeom prst="rect">
            <a:avLst/>
          </a:prstGeom>
          <a:noFill/>
          <a:ln/>
        </p:spPr>
        <p:txBody>
          <a:bodyPr wrap="square" lIns="0" tIns="0" rIns="0" bIns="0" rtlCol="0" anchor="ctr">
            <a:normAutofit/>
          </a:bodyPr>
          <a:lstStyle/>
          <a:p>
            <a:pPr marL="0" indent="0">
              <a:buNone/>
            </a:pPr>
            <a:r>
              <a:rPr lang="en-US" sz="1460" b="1" dirty="0">
                <a:solidFill>
                  <a:srgbClr val="123026"/>
                </a:solidFill>
                <a:latin typeface="Aptos" pitchFamily="34" charset="0"/>
                <a:ea typeface="Aptos" pitchFamily="34" charset="-122"/>
                <a:cs typeface="Aptos" pitchFamily="34" charset="-120"/>
              </a:rPr>
              <a:t>ALL THREE</a:t>
            </a:r>
            <a:endParaRPr lang="en-US" sz="1460" dirty="0"/>
          </a:p>
        </p:txBody>
      </p:sp>
      <p:sp>
        <p:nvSpPr>
          <p:cNvPr id="47" name="Shape 45"/>
          <p:cNvSpPr/>
          <p:nvPr/>
        </p:nvSpPr>
        <p:spPr>
          <a:xfrm>
            <a:off x="2971800" y="5584698"/>
            <a:ext cx="0" cy="468630"/>
          </a:xfrm>
          <a:prstGeom prst="line">
            <a:avLst/>
          </a:prstGeom>
          <a:noFill/>
          <a:ln w="10160">
            <a:solidFill>
              <a:srgbClr val="35C990"/>
            </a:solidFill>
            <a:prstDash val="solid"/>
          </a:ln>
        </p:spPr>
      </p:sp>
      <p:sp>
        <p:nvSpPr>
          <p:cNvPr id="48" name="Text 46"/>
          <p:cNvSpPr/>
          <p:nvPr/>
        </p:nvSpPr>
        <p:spPr>
          <a:xfrm>
            <a:off x="3118104" y="5566410"/>
            <a:ext cx="2587752" cy="505206"/>
          </a:xfrm>
          <a:prstGeom prst="rect">
            <a:avLst/>
          </a:prstGeom>
          <a:noFill/>
          <a:ln/>
        </p:spPr>
        <p:txBody>
          <a:bodyPr wrap="square" lIns="0" tIns="0" rIns="0" bIns="0" rtlCol="0" anchor="ctr">
            <a:normAutofit/>
          </a:bodyPr>
          <a:lstStyle/>
          <a:p>
            <a:pPr marL="0" indent="0">
              <a:buNone/>
            </a:pPr>
            <a:r>
              <a:rPr lang="en-US" sz="1380" dirty="0">
                <a:solidFill>
                  <a:srgbClr val="183128"/>
                </a:solidFill>
                <a:latin typeface="Aptos" pitchFamily="34" charset="0"/>
                <a:ea typeface="Aptos" pitchFamily="34" charset="-122"/>
                <a:cs typeface="Aptos" pitchFamily="34" charset="-120"/>
              </a:rPr>
              <a:t>Must pass together</a:t>
            </a:r>
            <a:endParaRPr lang="en-US" sz="1380" dirty="0"/>
          </a:p>
        </p:txBody>
      </p:sp>
      <p:sp>
        <p:nvSpPr>
          <p:cNvPr id="49" name="Shape 47"/>
          <p:cNvSpPr/>
          <p:nvPr/>
        </p:nvSpPr>
        <p:spPr>
          <a:xfrm>
            <a:off x="5852160" y="5584698"/>
            <a:ext cx="0" cy="468630"/>
          </a:xfrm>
          <a:prstGeom prst="line">
            <a:avLst/>
          </a:prstGeom>
          <a:noFill/>
          <a:ln w="10160">
            <a:solidFill>
              <a:srgbClr val="DFF7EC"/>
            </a:solidFill>
            <a:prstDash val="solid"/>
          </a:ln>
        </p:spPr>
      </p:sp>
      <p:sp>
        <p:nvSpPr>
          <p:cNvPr id="50" name="Text 48"/>
          <p:cNvSpPr/>
          <p:nvPr/>
        </p:nvSpPr>
        <p:spPr>
          <a:xfrm>
            <a:off x="5998464" y="5566410"/>
            <a:ext cx="5404104" cy="505206"/>
          </a:xfrm>
          <a:prstGeom prst="rect">
            <a:avLst/>
          </a:prstGeom>
          <a:noFill/>
          <a:ln/>
        </p:spPr>
        <p:txBody>
          <a:bodyPr wrap="square" lIns="0" tIns="0" rIns="0" bIns="0" rtlCol="0" anchor="ctr">
            <a:normAutofit/>
          </a:bodyPr>
          <a:lstStyle/>
          <a:p>
            <a:pPr marL="0" indent="0">
              <a:buNone/>
            </a:pPr>
            <a:r>
              <a:rPr lang="en-US" sz="1380" dirty="0">
                <a:solidFill>
                  <a:srgbClr val="183128"/>
                </a:solidFill>
                <a:latin typeface="Aptos" pitchFamily="34" charset="0"/>
                <a:ea typeface="Aptos" pitchFamily="34" charset="-122"/>
                <a:cs typeface="Aptos" pitchFamily="34" charset="-120"/>
              </a:rPr>
              <a:t>Action allowed + resource in scope + record permitted</a:t>
            </a:r>
            <a:endParaRPr lang="en-US" sz="1380" dirty="0"/>
          </a:p>
        </p:txBody>
      </p:sp>
      <p:sp>
        <p:nvSpPr>
          <p:cNvPr id="51" name="Text 49"/>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516B62"/>
                </a:solidFill>
                <a:latin typeface="Aptos" pitchFamily="34" charset="0"/>
                <a:ea typeface="Aptos" pitchFamily="34" charset="-122"/>
                <a:cs typeface="Aptos" pitchFamily="34" charset="-120"/>
              </a:rPr>
              <a:t>REFERENCE  learn.microsoft.com/azure/foundry/concepts/rbac-foundry  ·  +2 more in notes</a:t>
            </a:r>
            <a:endParaRPr lang="en-US" sz="940" dirty="0"/>
          </a:p>
        </p:txBody>
      </p:sp>
      <p:sp>
        <p:nvSpPr>
          <p:cNvPr id="52" name="Shape 50"/>
          <p:cNvSpPr/>
          <p:nvPr/>
        </p:nvSpPr>
        <p:spPr>
          <a:xfrm>
            <a:off x="0" y="6793992"/>
            <a:ext cx="12191695" cy="64008"/>
          </a:xfrm>
          <a:prstGeom prst="rect">
            <a:avLst/>
          </a:prstGeom>
          <a:solidFill>
            <a:srgbClr val="35C99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B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23026"/>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2  /  TRUST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800" b="1" dirty="0">
                <a:solidFill>
                  <a:srgbClr val="123026"/>
                </a:solidFill>
                <a:latin typeface="Aptos Display" pitchFamily="34" charset="0"/>
                <a:ea typeface="Aptos Display" pitchFamily="34" charset="-122"/>
                <a:cs typeface="Aptos Display" pitchFamily="34" charset="-120"/>
              </a:rPr>
              <a:t>Approval, OAuth consent, and authorization are three checks</a:t>
            </a:r>
            <a:endParaRPr lang="en-US" sz="2800" dirty="0"/>
          </a:p>
        </p:txBody>
      </p:sp>
      <p:sp>
        <p:nvSpPr>
          <p:cNvPr id="5" name="Shape 3"/>
          <p:cNvSpPr/>
          <p:nvPr/>
        </p:nvSpPr>
        <p:spPr>
          <a:xfrm>
            <a:off x="10850636" y="416966"/>
            <a:ext cx="500360" cy="566196"/>
          </a:xfrm>
          <a:prstGeom prst="hexagon">
            <a:avLst/>
          </a:prstGeom>
          <a:solidFill>
            <a:srgbClr val="DFF7EC"/>
          </a:solidFill>
          <a:ln w="10160">
            <a:solidFill>
              <a:srgbClr val="35C990"/>
            </a:solidFill>
            <a:prstDash val="solid"/>
          </a:ln>
        </p:spPr>
      </p:sp>
      <p:sp>
        <p:nvSpPr>
          <p:cNvPr id="6" name="Shape 4"/>
          <p:cNvSpPr/>
          <p:nvPr/>
        </p:nvSpPr>
        <p:spPr>
          <a:xfrm>
            <a:off x="10995477" y="667146"/>
            <a:ext cx="223845" cy="184343"/>
          </a:xfrm>
          <a:prstGeom prst="roundRect">
            <a:avLst>
              <a:gd name="adj" fmla="val 39683"/>
            </a:avLst>
          </a:prstGeom>
          <a:solidFill>
            <a:srgbClr val="35C990"/>
          </a:solidFill>
          <a:ln/>
        </p:spPr>
      </p:sp>
      <p:sp>
        <p:nvSpPr>
          <p:cNvPr id="7" name="Shape 5"/>
          <p:cNvSpPr/>
          <p:nvPr/>
        </p:nvSpPr>
        <p:spPr>
          <a:xfrm>
            <a:off x="11048147" y="581558"/>
            <a:ext cx="0" cy="85588"/>
          </a:xfrm>
          <a:prstGeom prst="line">
            <a:avLst/>
          </a:prstGeom>
          <a:noFill/>
          <a:ln w="25400">
            <a:solidFill>
              <a:srgbClr val="123026"/>
            </a:solidFill>
            <a:prstDash val="solid"/>
          </a:ln>
        </p:spPr>
      </p:sp>
      <p:sp>
        <p:nvSpPr>
          <p:cNvPr id="8" name="Shape 6"/>
          <p:cNvSpPr/>
          <p:nvPr/>
        </p:nvSpPr>
        <p:spPr>
          <a:xfrm>
            <a:off x="11048147" y="581558"/>
            <a:ext cx="111923" cy="0"/>
          </a:xfrm>
          <a:prstGeom prst="line">
            <a:avLst/>
          </a:prstGeom>
          <a:noFill/>
          <a:ln w="25400">
            <a:solidFill>
              <a:srgbClr val="123026"/>
            </a:solidFill>
            <a:prstDash val="solid"/>
          </a:ln>
        </p:spPr>
      </p:sp>
      <p:sp>
        <p:nvSpPr>
          <p:cNvPr id="9" name="Shape 7"/>
          <p:cNvSpPr/>
          <p:nvPr/>
        </p:nvSpPr>
        <p:spPr>
          <a:xfrm>
            <a:off x="11160069" y="581558"/>
            <a:ext cx="0" cy="85588"/>
          </a:xfrm>
          <a:prstGeom prst="line">
            <a:avLst/>
          </a:prstGeom>
          <a:noFill/>
          <a:ln w="25400">
            <a:solidFill>
              <a:srgbClr val="123026"/>
            </a:solidFill>
            <a:prstDash val="solid"/>
          </a:ln>
        </p:spPr>
      </p:sp>
      <p:sp>
        <p:nvSpPr>
          <p:cNvPr id="10" name="Shape 8"/>
          <p:cNvSpPr/>
          <p:nvPr/>
        </p:nvSpPr>
        <p:spPr>
          <a:xfrm>
            <a:off x="11612880" y="457200"/>
            <a:ext cx="329184" cy="329184"/>
          </a:xfrm>
          <a:prstGeom prst="ellipse">
            <a:avLst/>
          </a:prstGeom>
          <a:solidFill>
            <a:srgbClr val="35C990"/>
          </a:solidFill>
          <a:ln/>
        </p:spPr>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123026"/>
                </a:solidFill>
                <a:latin typeface="Aptos" pitchFamily="34" charset="0"/>
                <a:ea typeface="Aptos" pitchFamily="34" charset="-122"/>
                <a:cs typeface="Aptos" pitchFamily="34" charset="-120"/>
              </a:rPr>
              <a:t>06</a:t>
            </a:r>
            <a:endParaRPr lang="en-US" sz="850" dirty="0"/>
          </a:p>
        </p:txBody>
      </p:sp>
      <p:sp>
        <p:nvSpPr>
          <p:cNvPr id="12" name="Shape 10"/>
          <p:cNvSpPr/>
          <p:nvPr/>
        </p:nvSpPr>
        <p:spPr>
          <a:xfrm>
            <a:off x="9829800" y="1005840"/>
            <a:ext cx="2148840" cy="2148840"/>
          </a:xfrm>
          <a:prstGeom prst="ellipse">
            <a:avLst/>
          </a:prstGeom>
          <a:solidFill>
            <a:srgbClr val="DFF7EC"/>
          </a:solidFill>
          <a:ln/>
        </p:spPr>
      </p:sp>
      <p:sp>
        <p:nvSpPr>
          <p:cNvPr id="13" name="Shape 11"/>
          <p:cNvSpPr/>
          <p:nvPr/>
        </p:nvSpPr>
        <p:spPr>
          <a:xfrm>
            <a:off x="640080" y="1481328"/>
            <a:ext cx="2834640" cy="4315968"/>
          </a:xfrm>
          <a:prstGeom prst="roundRect">
            <a:avLst>
              <a:gd name="adj" fmla="val 2581"/>
            </a:avLst>
          </a:prstGeom>
          <a:solidFill>
            <a:srgbClr val="DFF7EC"/>
          </a:solidFill>
          <a:ln w="10160">
            <a:solidFill>
              <a:srgbClr val="DFF7EC"/>
            </a:solidFill>
            <a:prstDash val="solid"/>
          </a:ln>
        </p:spPr>
      </p:sp>
      <p:sp>
        <p:nvSpPr>
          <p:cNvPr id="14" name="Shape 12"/>
          <p:cNvSpPr/>
          <p:nvPr/>
        </p:nvSpPr>
        <p:spPr>
          <a:xfrm>
            <a:off x="1719072" y="1810512"/>
            <a:ext cx="676656" cy="676656"/>
          </a:xfrm>
          <a:prstGeom prst="ellipse">
            <a:avLst/>
          </a:prstGeom>
          <a:solidFill>
            <a:srgbClr val="35C990"/>
          </a:solidFill>
          <a:ln/>
        </p:spPr>
      </p:sp>
      <p:sp>
        <p:nvSpPr>
          <p:cNvPr id="15" name="Text 13"/>
          <p:cNvSpPr/>
          <p:nvPr/>
        </p:nvSpPr>
        <p:spPr>
          <a:xfrm>
            <a:off x="1719072" y="2011680"/>
            <a:ext cx="676656" cy="155448"/>
          </a:xfrm>
          <a:prstGeom prst="rect">
            <a:avLst/>
          </a:prstGeom>
          <a:noFill/>
          <a:ln/>
        </p:spPr>
        <p:txBody>
          <a:bodyPr wrap="square" lIns="0" tIns="0" rIns="0" bIns="0" rtlCol="0" anchor="ctr"/>
          <a:lstStyle/>
          <a:p>
            <a:pPr marL="0" indent="0" algn="ctr">
              <a:buNone/>
            </a:pPr>
            <a:r>
              <a:rPr lang="en-US" sz="1200" b="1" dirty="0">
                <a:solidFill>
                  <a:srgbClr val="123026"/>
                </a:solidFill>
                <a:latin typeface="Aptos" pitchFamily="34" charset="0"/>
                <a:ea typeface="Aptos" pitchFamily="34" charset="-122"/>
                <a:cs typeface="Aptos" pitchFamily="34" charset="-120"/>
              </a:rPr>
              <a:t>1</a:t>
            </a:r>
            <a:endParaRPr lang="en-US" sz="1200" dirty="0"/>
          </a:p>
        </p:txBody>
      </p:sp>
      <p:sp>
        <p:nvSpPr>
          <p:cNvPr id="16" name="Text 14"/>
          <p:cNvSpPr/>
          <p:nvPr/>
        </p:nvSpPr>
        <p:spPr>
          <a:xfrm>
            <a:off x="914400" y="2770632"/>
            <a:ext cx="2286000" cy="530352"/>
          </a:xfrm>
          <a:prstGeom prst="rect">
            <a:avLst/>
          </a:prstGeom>
          <a:noFill/>
          <a:ln/>
        </p:spPr>
        <p:txBody>
          <a:bodyPr wrap="square" lIns="0" tIns="0" rIns="0" bIns="0" rtlCol="0" anchor="ctr">
            <a:normAutofit/>
          </a:bodyPr>
          <a:lstStyle/>
          <a:p>
            <a:pPr marL="0" indent="0" algn="ctr">
              <a:buNone/>
            </a:pPr>
            <a:r>
              <a:rPr lang="en-US" sz="1900" b="1" dirty="0">
                <a:solidFill>
                  <a:srgbClr val="123026"/>
                </a:solidFill>
                <a:latin typeface="Aptos Display" pitchFamily="34" charset="0"/>
                <a:ea typeface="Aptos Display" pitchFamily="34" charset="-122"/>
                <a:cs typeface="Aptos Display" pitchFamily="34" charset="-120"/>
              </a:rPr>
              <a:t>Tool approval</a:t>
            </a:r>
            <a:endParaRPr lang="en-US" sz="1900" dirty="0"/>
          </a:p>
        </p:txBody>
      </p:sp>
      <p:sp>
        <p:nvSpPr>
          <p:cNvPr id="17" name="Text 15"/>
          <p:cNvSpPr/>
          <p:nvPr/>
        </p:nvSpPr>
        <p:spPr>
          <a:xfrm>
            <a:off x="950976" y="3611880"/>
            <a:ext cx="2212848" cy="1280160"/>
          </a:xfrm>
          <a:prstGeom prst="rect">
            <a:avLst/>
          </a:prstGeom>
          <a:noFill/>
          <a:ln/>
        </p:spPr>
        <p:txBody>
          <a:bodyPr wrap="square" lIns="0" tIns="0" rIns="0" bIns="0" rtlCol="0" anchor="ctr">
            <a:normAutofit/>
          </a:bodyPr>
          <a:lstStyle/>
          <a:p>
            <a:pPr marL="0" indent="0" algn="ctr">
              <a:buNone/>
            </a:pPr>
            <a:r>
              <a:rPr lang="en-US" sz="1430" dirty="0">
                <a:solidFill>
                  <a:srgbClr val="183128"/>
                </a:solidFill>
                <a:latin typeface="Aptos" pitchFamily="34" charset="0"/>
                <a:ea typeface="Aptos" pitchFamily="34" charset="-122"/>
                <a:cs typeface="Aptos" pitchFamily="34" charset="-120"/>
              </a:rPr>
              <a:t>allow the proposed call; no resource permission is created</a:t>
            </a:r>
            <a:endParaRPr lang="en-US" sz="1430" dirty="0"/>
          </a:p>
        </p:txBody>
      </p:sp>
      <p:sp>
        <p:nvSpPr>
          <p:cNvPr id="18" name="Shape 16"/>
          <p:cNvSpPr/>
          <p:nvPr/>
        </p:nvSpPr>
        <p:spPr>
          <a:xfrm>
            <a:off x="3685032" y="1481328"/>
            <a:ext cx="2834640" cy="4315968"/>
          </a:xfrm>
          <a:prstGeom prst="roundRect">
            <a:avLst>
              <a:gd name="adj" fmla="val 2581"/>
            </a:avLst>
          </a:prstGeom>
          <a:solidFill>
            <a:srgbClr val="FFFFFF"/>
          </a:solidFill>
          <a:ln w="10160">
            <a:solidFill>
              <a:srgbClr val="DFF7EC"/>
            </a:solidFill>
            <a:prstDash val="solid"/>
          </a:ln>
        </p:spPr>
      </p:sp>
      <p:sp>
        <p:nvSpPr>
          <p:cNvPr id="19" name="Shape 17"/>
          <p:cNvSpPr/>
          <p:nvPr/>
        </p:nvSpPr>
        <p:spPr>
          <a:xfrm>
            <a:off x="4764024" y="1810512"/>
            <a:ext cx="676656" cy="676656"/>
          </a:xfrm>
          <a:prstGeom prst="ellipse">
            <a:avLst/>
          </a:prstGeom>
          <a:solidFill>
            <a:srgbClr val="35C990"/>
          </a:solidFill>
          <a:ln/>
        </p:spPr>
      </p:sp>
      <p:sp>
        <p:nvSpPr>
          <p:cNvPr id="20" name="Text 18"/>
          <p:cNvSpPr/>
          <p:nvPr/>
        </p:nvSpPr>
        <p:spPr>
          <a:xfrm>
            <a:off x="4764024" y="2011680"/>
            <a:ext cx="676656" cy="155448"/>
          </a:xfrm>
          <a:prstGeom prst="rect">
            <a:avLst/>
          </a:prstGeom>
          <a:noFill/>
          <a:ln/>
        </p:spPr>
        <p:txBody>
          <a:bodyPr wrap="square" lIns="0" tIns="0" rIns="0" bIns="0" rtlCol="0" anchor="ctr"/>
          <a:lstStyle/>
          <a:p>
            <a:pPr marL="0" indent="0" algn="ctr">
              <a:buNone/>
            </a:pPr>
            <a:r>
              <a:rPr lang="en-US" sz="1200" b="1" dirty="0">
                <a:solidFill>
                  <a:srgbClr val="123026"/>
                </a:solidFill>
                <a:latin typeface="Aptos" pitchFamily="34" charset="0"/>
                <a:ea typeface="Aptos" pitchFamily="34" charset="-122"/>
                <a:cs typeface="Aptos" pitchFamily="34" charset="-120"/>
              </a:rPr>
              <a:t>2</a:t>
            </a:r>
            <a:endParaRPr lang="en-US" sz="1200" dirty="0"/>
          </a:p>
        </p:txBody>
      </p:sp>
      <p:sp>
        <p:nvSpPr>
          <p:cNvPr id="21" name="Text 19"/>
          <p:cNvSpPr/>
          <p:nvPr/>
        </p:nvSpPr>
        <p:spPr>
          <a:xfrm>
            <a:off x="3959352" y="2770632"/>
            <a:ext cx="2286000" cy="530352"/>
          </a:xfrm>
          <a:prstGeom prst="rect">
            <a:avLst/>
          </a:prstGeom>
          <a:noFill/>
          <a:ln/>
        </p:spPr>
        <p:txBody>
          <a:bodyPr wrap="square" lIns="0" tIns="0" rIns="0" bIns="0" rtlCol="0" anchor="ctr">
            <a:normAutofit/>
          </a:bodyPr>
          <a:lstStyle/>
          <a:p>
            <a:pPr marL="0" indent="0" algn="ctr">
              <a:buNone/>
            </a:pPr>
            <a:r>
              <a:rPr lang="en-US" sz="1900" b="1" dirty="0">
                <a:solidFill>
                  <a:srgbClr val="123026"/>
                </a:solidFill>
                <a:latin typeface="Aptos Display" pitchFamily="34" charset="0"/>
                <a:ea typeface="Aptos Display" pitchFamily="34" charset="-122"/>
                <a:cs typeface="Aptos Display" pitchFamily="34" charset="-120"/>
              </a:rPr>
              <a:t>OAuth consent</a:t>
            </a:r>
            <a:endParaRPr lang="en-US" sz="1900" dirty="0"/>
          </a:p>
        </p:txBody>
      </p:sp>
      <p:sp>
        <p:nvSpPr>
          <p:cNvPr id="22" name="Text 20"/>
          <p:cNvSpPr/>
          <p:nvPr/>
        </p:nvSpPr>
        <p:spPr>
          <a:xfrm>
            <a:off x="3995928" y="3611880"/>
            <a:ext cx="2212848" cy="1280160"/>
          </a:xfrm>
          <a:prstGeom prst="rect">
            <a:avLst/>
          </a:prstGeom>
          <a:noFill/>
          <a:ln/>
        </p:spPr>
        <p:txBody>
          <a:bodyPr wrap="square" lIns="0" tIns="0" rIns="0" bIns="0" rtlCol="0" anchor="ctr">
            <a:normAutofit/>
          </a:bodyPr>
          <a:lstStyle/>
          <a:p>
            <a:pPr marL="0" indent="0" algn="ctr">
              <a:buNone/>
            </a:pPr>
            <a:r>
              <a:rPr lang="en-US" sz="1430" dirty="0">
                <a:solidFill>
                  <a:srgbClr val="183128"/>
                </a:solidFill>
                <a:latin typeface="Aptos" pitchFamily="34" charset="0"/>
                <a:ea typeface="Aptos" pitchFamily="34" charset="-122"/>
                <a:cs typeface="Aptos" pitchFamily="34" charset="-120"/>
              </a:rPr>
              <a:t>grant requested delegated scopes to the application</a:t>
            </a:r>
            <a:endParaRPr lang="en-US" sz="1430" dirty="0"/>
          </a:p>
        </p:txBody>
      </p:sp>
      <p:sp>
        <p:nvSpPr>
          <p:cNvPr id="23" name="Shape 21"/>
          <p:cNvSpPr/>
          <p:nvPr/>
        </p:nvSpPr>
        <p:spPr>
          <a:xfrm>
            <a:off x="8439912" y="1481328"/>
            <a:ext cx="2834640" cy="4315968"/>
          </a:xfrm>
          <a:prstGeom prst="roundRect">
            <a:avLst>
              <a:gd name="adj" fmla="val 2581"/>
            </a:avLst>
          </a:prstGeom>
          <a:solidFill>
            <a:srgbClr val="FFF1CB"/>
          </a:solidFill>
          <a:ln w="10160">
            <a:solidFill>
              <a:srgbClr val="FFC857"/>
            </a:solidFill>
            <a:prstDash val="solid"/>
          </a:ln>
        </p:spPr>
      </p:sp>
      <p:sp>
        <p:nvSpPr>
          <p:cNvPr id="24" name="Shape 22"/>
          <p:cNvSpPr/>
          <p:nvPr/>
        </p:nvSpPr>
        <p:spPr>
          <a:xfrm>
            <a:off x="9518904" y="1810512"/>
            <a:ext cx="676656" cy="676656"/>
          </a:xfrm>
          <a:prstGeom prst="ellipse">
            <a:avLst/>
          </a:prstGeom>
          <a:solidFill>
            <a:srgbClr val="FFC857"/>
          </a:solidFill>
          <a:ln/>
        </p:spPr>
      </p:sp>
      <p:sp>
        <p:nvSpPr>
          <p:cNvPr id="25" name="Text 23"/>
          <p:cNvSpPr/>
          <p:nvPr/>
        </p:nvSpPr>
        <p:spPr>
          <a:xfrm>
            <a:off x="9518904" y="2011680"/>
            <a:ext cx="676656" cy="155448"/>
          </a:xfrm>
          <a:prstGeom prst="rect">
            <a:avLst/>
          </a:prstGeom>
          <a:noFill/>
          <a:ln/>
        </p:spPr>
        <p:txBody>
          <a:bodyPr wrap="square" lIns="0" tIns="0" rIns="0" bIns="0" rtlCol="0" anchor="ctr"/>
          <a:lstStyle/>
          <a:p>
            <a:pPr marL="0" indent="0" algn="ctr">
              <a:buNone/>
            </a:pPr>
            <a:r>
              <a:rPr lang="en-US" sz="1200" b="1" dirty="0">
                <a:solidFill>
                  <a:srgbClr val="123026"/>
                </a:solidFill>
                <a:latin typeface="Aptos" pitchFamily="34" charset="0"/>
                <a:ea typeface="Aptos" pitchFamily="34" charset="-122"/>
                <a:cs typeface="Aptos" pitchFamily="34" charset="-120"/>
              </a:rPr>
              <a:t>3</a:t>
            </a:r>
            <a:endParaRPr lang="en-US" sz="1200" dirty="0"/>
          </a:p>
        </p:txBody>
      </p:sp>
      <p:sp>
        <p:nvSpPr>
          <p:cNvPr id="26" name="Text 24"/>
          <p:cNvSpPr/>
          <p:nvPr/>
        </p:nvSpPr>
        <p:spPr>
          <a:xfrm>
            <a:off x="8714232" y="2770632"/>
            <a:ext cx="2286000" cy="530352"/>
          </a:xfrm>
          <a:prstGeom prst="rect">
            <a:avLst/>
          </a:prstGeom>
          <a:noFill/>
          <a:ln/>
        </p:spPr>
        <p:txBody>
          <a:bodyPr wrap="square" lIns="0" tIns="0" rIns="0" bIns="0" rtlCol="0" anchor="ctr">
            <a:normAutofit/>
          </a:bodyPr>
          <a:lstStyle/>
          <a:p>
            <a:pPr marL="0" indent="0" algn="ctr">
              <a:buNone/>
            </a:pPr>
            <a:r>
              <a:rPr lang="en-US" sz="1900" b="1" dirty="0">
                <a:solidFill>
                  <a:srgbClr val="123026"/>
                </a:solidFill>
                <a:latin typeface="Aptos Display" pitchFamily="34" charset="0"/>
                <a:ea typeface="Aptos Display" pitchFamily="34" charset="-122"/>
                <a:cs typeface="Aptos Display" pitchFamily="34" charset="-120"/>
              </a:rPr>
              <a:t>Authorization</a:t>
            </a:r>
            <a:endParaRPr lang="en-US" sz="1900" dirty="0"/>
          </a:p>
        </p:txBody>
      </p:sp>
      <p:sp>
        <p:nvSpPr>
          <p:cNvPr id="27" name="Text 25"/>
          <p:cNvSpPr/>
          <p:nvPr/>
        </p:nvSpPr>
        <p:spPr>
          <a:xfrm>
            <a:off x="8750808" y="3611880"/>
            <a:ext cx="2212848" cy="1280160"/>
          </a:xfrm>
          <a:prstGeom prst="rect">
            <a:avLst/>
          </a:prstGeom>
          <a:noFill/>
          <a:ln/>
        </p:spPr>
        <p:txBody>
          <a:bodyPr wrap="square" lIns="0" tIns="0" rIns="0" bIns="0" rtlCol="0" anchor="ctr">
            <a:normAutofit/>
          </a:bodyPr>
          <a:lstStyle/>
          <a:p>
            <a:pPr marL="0" indent="0" algn="ctr">
              <a:buNone/>
            </a:pPr>
            <a:r>
              <a:rPr lang="en-US" sz="1430" dirty="0">
                <a:solidFill>
                  <a:srgbClr val="183128"/>
                </a:solidFill>
                <a:latin typeface="Aptos" pitchFamily="34" charset="0"/>
                <a:ea typeface="Aptos" pitchFamily="34" charset="-122"/>
                <a:cs typeface="Aptos" pitchFamily="34" charset="-120"/>
              </a:rPr>
              <a:t>check principal, role/scope, and document permission</a:t>
            </a:r>
            <a:endParaRPr lang="en-US" sz="1430" dirty="0"/>
          </a:p>
        </p:txBody>
      </p:sp>
      <p:sp>
        <p:nvSpPr>
          <p:cNvPr id="28" name="Shape 26"/>
          <p:cNvSpPr/>
          <p:nvPr/>
        </p:nvSpPr>
        <p:spPr>
          <a:xfrm>
            <a:off x="6675120" y="3639312"/>
            <a:ext cx="1508760" cy="0"/>
          </a:xfrm>
          <a:prstGeom prst="line">
            <a:avLst/>
          </a:prstGeom>
          <a:noFill/>
          <a:ln w="38100">
            <a:solidFill>
              <a:srgbClr val="35C990"/>
            </a:solidFill>
            <a:prstDash val="solid"/>
          </a:ln>
        </p:spPr>
      </p:sp>
      <p:sp>
        <p:nvSpPr>
          <p:cNvPr id="29" name="Text 27"/>
          <p:cNvSpPr/>
          <p:nvPr/>
        </p:nvSpPr>
        <p:spPr>
          <a:xfrm>
            <a:off x="8010144" y="3438144"/>
            <a:ext cx="347472" cy="292608"/>
          </a:xfrm>
          <a:prstGeom prst="rect">
            <a:avLst/>
          </a:prstGeom>
          <a:noFill/>
          <a:ln/>
        </p:spPr>
        <p:txBody>
          <a:bodyPr wrap="square" lIns="0" tIns="0" rIns="0" bIns="0" rtlCol="0" anchor="ctr"/>
          <a:lstStyle/>
          <a:p>
            <a:pPr marL="0" indent="0" algn="ctr">
              <a:buNone/>
            </a:pPr>
            <a:r>
              <a:rPr lang="en-US" sz="2400" b="1" dirty="0">
                <a:solidFill>
                  <a:srgbClr val="35C990"/>
                </a:solidFill>
                <a:latin typeface="Aptos" pitchFamily="34" charset="0"/>
                <a:ea typeface="Aptos" pitchFamily="34" charset="-122"/>
                <a:cs typeface="Aptos" pitchFamily="34" charset="-120"/>
              </a:rPr>
              <a:t>→</a:t>
            </a:r>
            <a:endParaRPr lang="en-US" sz="2400" dirty="0"/>
          </a:p>
        </p:txBody>
      </p:sp>
      <p:sp>
        <p:nvSpPr>
          <p:cNvPr id="30" name="Shape 28"/>
          <p:cNvSpPr/>
          <p:nvPr/>
        </p:nvSpPr>
        <p:spPr>
          <a:xfrm>
            <a:off x="6647688" y="2578608"/>
            <a:ext cx="1627632" cy="530352"/>
          </a:xfrm>
          <a:prstGeom prst="roundRect">
            <a:avLst>
              <a:gd name="adj" fmla="val 13793"/>
            </a:avLst>
          </a:prstGeom>
          <a:solidFill>
            <a:srgbClr val="123026"/>
          </a:solidFill>
          <a:ln/>
        </p:spPr>
      </p:sp>
      <p:sp>
        <p:nvSpPr>
          <p:cNvPr id="31" name="Text 29"/>
          <p:cNvSpPr/>
          <p:nvPr/>
        </p:nvSpPr>
        <p:spPr>
          <a:xfrm>
            <a:off x="6766560" y="2770632"/>
            <a:ext cx="1389888" cy="128016"/>
          </a:xfrm>
          <a:prstGeom prst="rect">
            <a:avLst/>
          </a:prstGeom>
          <a:noFill/>
          <a:ln/>
        </p:spPr>
        <p:txBody>
          <a:bodyPr wrap="square" lIns="0" tIns="0" rIns="0" bIns="0" rtlCol="0" anchor="ctr">
            <a:normAutofit/>
          </a:bodyPr>
          <a:lstStyle/>
          <a:p>
            <a:pPr marL="0" indent="0" algn="ctr">
              <a:buNone/>
            </a:pPr>
            <a:r>
              <a:rPr lang="en-US" sz="880" b="1" kern="0" spc="80" dirty="0">
                <a:solidFill>
                  <a:srgbClr val="FFFFFF"/>
                </a:solidFill>
                <a:latin typeface="Aptos" pitchFamily="34" charset="0"/>
                <a:ea typeface="Aptos" pitchFamily="34" charset="-122"/>
                <a:cs typeface="Aptos" pitchFamily="34" charset="-120"/>
              </a:rPr>
              <a:t>TOKEN PRESENTATION</a:t>
            </a:r>
            <a:endParaRPr lang="en-US" sz="880" dirty="0"/>
          </a:p>
        </p:txBody>
      </p:sp>
      <p:sp>
        <p:nvSpPr>
          <p:cNvPr id="32" name="Text 30"/>
          <p:cNvSpPr/>
          <p:nvPr/>
        </p:nvSpPr>
        <p:spPr>
          <a:xfrm>
            <a:off x="6556248" y="3968496"/>
            <a:ext cx="1810512" cy="777240"/>
          </a:xfrm>
          <a:prstGeom prst="rect">
            <a:avLst/>
          </a:prstGeom>
          <a:noFill/>
          <a:ln/>
        </p:spPr>
        <p:txBody>
          <a:bodyPr wrap="square" lIns="0" tIns="0" rIns="0" bIns="0" rtlCol="0" anchor="ctr">
            <a:normAutofit/>
          </a:bodyPr>
          <a:lstStyle/>
          <a:p>
            <a:pPr marL="0" indent="0" algn="ctr">
              <a:buNone/>
            </a:pPr>
            <a:r>
              <a:rPr lang="en-US" sz="1210" dirty="0">
                <a:solidFill>
                  <a:srgbClr val="183128"/>
                </a:solidFill>
                <a:latin typeface="Aptos" pitchFamily="34" charset="0"/>
                <a:ea typeface="Aptos" pitchFamily="34" charset="-122"/>
                <a:cs typeface="Aptos" pitchFamily="34" charset="-120"/>
              </a:rPr>
              <a:t>send a token for the downstream service's audience</a:t>
            </a:r>
            <a:endParaRPr lang="en-US" sz="1210" dirty="0"/>
          </a:p>
        </p:txBody>
      </p:sp>
      <p:sp>
        <p:nvSpPr>
          <p:cNvPr id="33" name="Shape 31"/>
          <p:cNvSpPr/>
          <p:nvPr/>
        </p:nvSpPr>
        <p:spPr>
          <a:xfrm>
            <a:off x="640080" y="5870448"/>
            <a:ext cx="10908792" cy="274320"/>
          </a:xfrm>
          <a:prstGeom prst="roundRect">
            <a:avLst>
              <a:gd name="adj" fmla="val 26667"/>
            </a:avLst>
          </a:prstGeom>
          <a:solidFill>
            <a:srgbClr val="123026"/>
          </a:solidFill>
          <a:ln/>
        </p:spPr>
      </p:sp>
      <p:sp>
        <p:nvSpPr>
          <p:cNvPr id="34" name="Text 32"/>
          <p:cNvSpPr/>
          <p:nvPr/>
        </p:nvSpPr>
        <p:spPr>
          <a:xfrm>
            <a:off x="859536" y="5980176"/>
            <a:ext cx="10479024" cy="91440"/>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An approved, consented call can still be correctly denied.</a:t>
            </a:r>
            <a:endParaRPr lang="en-US" sz="1320" dirty="0"/>
          </a:p>
        </p:txBody>
      </p:sp>
      <p:sp>
        <p:nvSpPr>
          <p:cNvPr id="35" name="Text 33"/>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516B62"/>
                </a:solidFill>
                <a:latin typeface="Aptos" pitchFamily="34" charset="0"/>
                <a:ea typeface="Aptos" pitchFamily="34" charset="-122"/>
                <a:cs typeface="Aptos" pitchFamily="34" charset="-120"/>
              </a:rPr>
              <a:t>REFERENCE  learn.microsoft.com/azure/foundry/agents/how-to/mcp-authentication  ·  +1 more in notes</a:t>
            </a:r>
            <a:endParaRPr lang="en-US" sz="940" dirty="0"/>
          </a:p>
        </p:txBody>
      </p:sp>
      <p:sp>
        <p:nvSpPr>
          <p:cNvPr id="36" name="Shape 34"/>
          <p:cNvSpPr/>
          <p:nvPr/>
        </p:nvSpPr>
        <p:spPr>
          <a:xfrm>
            <a:off x="0" y="6793992"/>
            <a:ext cx="12191695" cy="64008"/>
          </a:xfrm>
          <a:prstGeom prst="rect">
            <a:avLst/>
          </a:prstGeom>
          <a:solidFill>
            <a:srgbClr val="35C990"/>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B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23026"/>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2  /  TRUST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800" b="1" dirty="0">
                <a:solidFill>
                  <a:srgbClr val="123026"/>
                </a:solidFill>
                <a:latin typeface="Aptos Display" pitchFamily="34" charset="0"/>
                <a:ea typeface="Aptos Display" pitchFamily="34" charset="-122"/>
                <a:cs typeface="Aptos Display" pitchFamily="34" charset="-120"/>
              </a:rPr>
              <a:t>Session state and documents need their own boundaries</a:t>
            </a:r>
            <a:endParaRPr lang="en-US" sz="2800" dirty="0"/>
          </a:p>
        </p:txBody>
      </p:sp>
      <p:sp>
        <p:nvSpPr>
          <p:cNvPr id="5" name="Shape 3"/>
          <p:cNvSpPr/>
          <p:nvPr/>
        </p:nvSpPr>
        <p:spPr>
          <a:xfrm>
            <a:off x="10850636" y="416966"/>
            <a:ext cx="500360" cy="566196"/>
          </a:xfrm>
          <a:prstGeom prst="hexagon">
            <a:avLst/>
          </a:prstGeom>
          <a:solidFill>
            <a:srgbClr val="DFF7EC"/>
          </a:solidFill>
          <a:ln w="10160">
            <a:solidFill>
              <a:srgbClr val="35C990"/>
            </a:solidFill>
            <a:prstDash val="solid"/>
          </a:ln>
        </p:spPr>
      </p:sp>
      <p:sp>
        <p:nvSpPr>
          <p:cNvPr id="6" name="Shape 4"/>
          <p:cNvSpPr/>
          <p:nvPr/>
        </p:nvSpPr>
        <p:spPr>
          <a:xfrm>
            <a:off x="10995477" y="667146"/>
            <a:ext cx="223845" cy="184343"/>
          </a:xfrm>
          <a:prstGeom prst="roundRect">
            <a:avLst>
              <a:gd name="adj" fmla="val 39683"/>
            </a:avLst>
          </a:prstGeom>
          <a:solidFill>
            <a:srgbClr val="35C990"/>
          </a:solidFill>
          <a:ln/>
        </p:spPr>
      </p:sp>
      <p:sp>
        <p:nvSpPr>
          <p:cNvPr id="7" name="Shape 5"/>
          <p:cNvSpPr/>
          <p:nvPr/>
        </p:nvSpPr>
        <p:spPr>
          <a:xfrm>
            <a:off x="11048147" y="581558"/>
            <a:ext cx="0" cy="85588"/>
          </a:xfrm>
          <a:prstGeom prst="line">
            <a:avLst/>
          </a:prstGeom>
          <a:noFill/>
          <a:ln w="25400">
            <a:solidFill>
              <a:srgbClr val="123026"/>
            </a:solidFill>
            <a:prstDash val="solid"/>
          </a:ln>
        </p:spPr>
      </p:sp>
      <p:sp>
        <p:nvSpPr>
          <p:cNvPr id="8" name="Shape 6"/>
          <p:cNvSpPr/>
          <p:nvPr/>
        </p:nvSpPr>
        <p:spPr>
          <a:xfrm>
            <a:off x="11048147" y="581558"/>
            <a:ext cx="111923" cy="0"/>
          </a:xfrm>
          <a:prstGeom prst="line">
            <a:avLst/>
          </a:prstGeom>
          <a:noFill/>
          <a:ln w="25400">
            <a:solidFill>
              <a:srgbClr val="123026"/>
            </a:solidFill>
            <a:prstDash val="solid"/>
          </a:ln>
        </p:spPr>
      </p:sp>
      <p:sp>
        <p:nvSpPr>
          <p:cNvPr id="9" name="Shape 7"/>
          <p:cNvSpPr/>
          <p:nvPr/>
        </p:nvSpPr>
        <p:spPr>
          <a:xfrm>
            <a:off x="11160069" y="581558"/>
            <a:ext cx="0" cy="85588"/>
          </a:xfrm>
          <a:prstGeom prst="line">
            <a:avLst/>
          </a:prstGeom>
          <a:noFill/>
          <a:ln w="25400">
            <a:solidFill>
              <a:srgbClr val="123026"/>
            </a:solidFill>
            <a:prstDash val="solid"/>
          </a:ln>
        </p:spPr>
      </p:sp>
      <p:sp>
        <p:nvSpPr>
          <p:cNvPr id="10" name="Shape 8"/>
          <p:cNvSpPr/>
          <p:nvPr/>
        </p:nvSpPr>
        <p:spPr>
          <a:xfrm>
            <a:off x="11612880" y="457200"/>
            <a:ext cx="329184" cy="329184"/>
          </a:xfrm>
          <a:prstGeom prst="ellipse">
            <a:avLst/>
          </a:prstGeom>
          <a:solidFill>
            <a:srgbClr val="35C990"/>
          </a:solidFill>
          <a:ln/>
        </p:spPr>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123026"/>
                </a:solidFill>
                <a:latin typeface="Aptos" pitchFamily="34" charset="0"/>
                <a:ea typeface="Aptos" pitchFamily="34" charset="-122"/>
                <a:cs typeface="Aptos" pitchFamily="34" charset="-120"/>
              </a:rPr>
              <a:t>07</a:t>
            </a:r>
            <a:endParaRPr lang="en-US" sz="850" dirty="0"/>
          </a:p>
        </p:txBody>
      </p:sp>
      <p:sp>
        <p:nvSpPr>
          <p:cNvPr id="12" name="Shape 10"/>
          <p:cNvSpPr/>
          <p:nvPr/>
        </p:nvSpPr>
        <p:spPr>
          <a:xfrm>
            <a:off x="9829800" y="1005840"/>
            <a:ext cx="2148840" cy="2148840"/>
          </a:xfrm>
          <a:prstGeom prst="ellipse">
            <a:avLst/>
          </a:prstGeom>
          <a:solidFill>
            <a:srgbClr val="DFF7EC"/>
          </a:solidFill>
          <a:ln/>
        </p:spPr>
      </p:sp>
      <p:sp>
        <p:nvSpPr>
          <p:cNvPr id="13" name="Shape 11"/>
          <p:cNvSpPr/>
          <p:nvPr/>
        </p:nvSpPr>
        <p:spPr>
          <a:xfrm>
            <a:off x="640080" y="1389888"/>
            <a:ext cx="10908792" cy="2363724"/>
          </a:xfrm>
          <a:prstGeom prst="roundRect">
            <a:avLst>
              <a:gd name="adj" fmla="val 3095"/>
            </a:avLst>
          </a:prstGeom>
          <a:solidFill>
            <a:srgbClr val="DFF7EC"/>
          </a:solidFill>
          <a:ln w="10160">
            <a:solidFill>
              <a:srgbClr val="35C990"/>
            </a:solidFill>
            <a:prstDash val="solid"/>
          </a:ln>
        </p:spPr>
      </p:sp>
      <p:sp>
        <p:nvSpPr>
          <p:cNvPr id="14" name="Shape 12"/>
          <p:cNvSpPr/>
          <p:nvPr/>
        </p:nvSpPr>
        <p:spPr>
          <a:xfrm>
            <a:off x="804672" y="1545336"/>
            <a:ext cx="676656" cy="2052828"/>
          </a:xfrm>
          <a:prstGeom prst="roundRect">
            <a:avLst>
              <a:gd name="adj" fmla="val 10811"/>
            </a:avLst>
          </a:prstGeom>
          <a:solidFill>
            <a:srgbClr val="35C990"/>
          </a:solidFill>
          <a:ln/>
        </p:spPr>
      </p:sp>
      <p:sp>
        <p:nvSpPr>
          <p:cNvPr id="15" name="Text 13"/>
          <p:cNvSpPr/>
          <p:nvPr/>
        </p:nvSpPr>
        <p:spPr>
          <a:xfrm>
            <a:off x="804672" y="2498598"/>
            <a:ext cx="676656" cy="146304"/>
          </a:xfrm>
          <a:prstGeom prst="rect">
            <a:avLst/>
          </a:prstGeom>
          <a:noFill/>
          <a:ln/>
        </p:spPr>
        <p:txBody>
          <a:bodyPr wrap="square" lIns="0" tIns="0" rIns="0" bIns="0" rtlCol="0" anchor="ctr"/>
          <a:lstStyle/>
          <a:p>
            <a:pPr marL="0" indent="0" algn="ctr">
              <a:buNone/>
            </a:pPr>
            <a:r>
              <a:rPr lang="en-US" sz="1100" b="1" dirty="0">
                <a:solidFill>
                  <a:srgbClr val="123026"/>
                </a:solidFill>
                <a:latin typeface="Aptos" pitchFamily="34" charset="0"/>
                <a:ea typeface="Aptos" pitchFamily="34" charset="-122"/>
                <a:cs typeface="Aptos" pitchFamily="34" charset="-120"/>
              </a:rPr>
              <a:t>01</a:t>
            </a:r>
            <a:endParaRPr lang="en-US" sz="1100" dirty="0"/>
          </a:p>
        </p:txBody>
      </p:sp>
      <p:sp>
        <p:nvSpPr>
          <p:cNvPr id="16" name="Text 14"/>
          <p:cNvSpPr/>
          <p:nvPr/>
        </p:nvSpPr>
        <p:spPr>
          <a:xfrm>
            <a:off x="1691640" y="1536192"/>
            <a:ext cx="2926080" cy="2071116"/>
          </a:xfrm>
          <a:prstGeom prst="rect">
            <a:avLst/>
          </a:prstGeom>
          <a:noFill/>
          <a:ln/>
        </p:spPr>
        <p:txBody>
          <a:bodyPr wrap="square" lIns="0" tIns="0" rIns="0" bIns="0" rtlCol="0" anchor="ctr">
            <a:normAutofit/>
          </a:bodyPr>
          <a:lstStyle/>
          <a:p>
            <a:pPr marL="0" indent="0">
              <a:buNone/>
            </a:pPr>
            <a:r>
              <a:rPr lang="en-US" sz="1750" b="1" dirty="0">
                <a:solidFill>
                  <a:srgbClr val="123026"/>
                </a:solidFill>
                <a:latin typeface="Aptos Display" pitchFamily="34" charset="0"/>
                <a:ea typeface="Aptos Display" pitchFamily="34" charset="-122"/>
                <a:cs typeface="Aptos Display" pitchFamily="34" charset="-120"/>
              </a:rPr>
              <a:t>Session continuation</a:t>
            </a:r>
            <a:endParaRPr lang="en-US" sz="1750" dirty="0"/>
          </a:p>
        </p:txBody>
      </p:sp>
      <p:sp>
        <p:nvSpPr>
          <p:cNvPr id="17" name="Text 15"/>
          <p:cNvSpPr/>
          <p:nvPr/>
        </p:nvSpPr>
        <p:spPr>
          <a:xfrm>
            <a:off x="4709160" y="1517904"/>
            <a:ext cx="6565392" cy="2107692"/>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183128"/>
                </a:solidFill>
                <a:latin typeface="Aptos" pitchFamily="34" charset="0"/>
                <a:ea typeface="Aptos" pitchFamily="34" charset="-122"/>
                <a:cs typeface="Aptos" pitchFamily="34" charset="-120"/>
              </a:rPr>
              <a:t>An ID locates state; it does not prove ownership</a:t>
            </a:r>
            <a:endParaRPr lang="en-US" sz="1440" dirty="0"/>
          </a:p>
          <a:p>
            <a:pPr marL="342900" indent="-342900">
              <a:buSzPct val="100000"/>
              <a:buChar char="•"/>
            </a:pPr>
            <a:r>
              <a:rPr lang="en-US" sz="1440" dirty="0">
                <a:solidFill>
                  <a:srgbClr val="183128"/>
                </a:solidFill>
                <a:latin typeface="Aptos" pitchFamily="34" charset="0"/>
                <a:ea typeface="Aptos" pitchFamily="34" charset="-122"/>
                <a:cs typeface="Aptos" pitchFamily="34" charset="-120"/>
              </a:rPr>
              <a:t>Authenticate the caller, authorize the reference, then load tenant/user/workspace state</a:t>
            </a:r>
            <a:endParaRPr lang="en-US" sz="1440" dirty="0"/>
          </a:p>
        </p:txBody>
      </p:sp>
      <p:sp>
        <p:nvSpPr>
          <p:cNvPr id="18" name="Shape 16"/>
          <p:cNvSpPr/>
          <p:nvPr/>
        </p:nvSpPr>
        <p:spPr>
          <a:xfrm>
            <a:off x="640080" y="3881628"/>
            <a:ext cx="10908792" cy="2363724"/>
          </a:xfrm>
          <a:prstGeom prst="roundRect">
            <a:avLst>
              <a:gd name="adj" fmla="val 3095"/>
            </a:avLst>
          </a:prstGeom>
          <a:solidFill>
            <a:srgbClr val="FFFFFF"/>
          </a:solidFill>
          <a:ln w="10160">
            <a:solidFill>
              <a:srgbClr val="DFF7EC"/>
            </a:solidFill>
            <a:prstDash val="solid"/>
          </a:ln>
        </p:spPr>
      </p:sp>
      <p:sp>
        <p:nvSpPr>
          <p:cNvPr id="19" name="Shape 17"/>
          <p:cNvSpPr/>
          <p:nvPr/>
        </p:nvSpPr>
        <p:spPr>
          <a:xfrm>
            <a:off x="804672" y="4037076"/>
            <a:ext cx="676656" cy="2052828"/>
          </a:xfrm>
          <a:prstGeom prst="roundRect">
            <a:avLst>
              <a:gd name="adj" fmla="val 10811"/>
            </a:avLst>
          </a:prstGeom>
          <a:solidFill>
            <a:srgbClr val="FFC857"/>
          </a:solidFill>
          <a:ln/>
        </p:spPr>
      </p:sp>
      <p:sp>
        <p:nvSpPr>
          <p:cNvPr id="20" name="Text 18"/>
          <p:cNvSpPr/>
          <p:nvPr/>
        </p:nvSpPr>
        <p:spPr>
          <a:xfrm>
            <a:off x="804672" y="4990338"/>
            <a:ext cx="676656" cy="146304"/>
          </a:xfrm>
          <a:prstGeom prst="rect">
            <a:avLst/>
          </a:prstGeom>
          <a:noFill/>
          <a:ln/>
        </p:spPr>
        <p:txBody>
          <a:bodyPr wrap="square" lIns="0" tIns="0" rIns="0" bIns="0" rtlCol="0" anchor="ctr"/>
          <a:lstStyle/>
          <a:p>
            <a:pPr marL="0" indent="0" algn="ctr">
              <a:buNone/>
            </a:pPr>
            <a:r>
              <a:rPr lang="en-US" sz="1100" b="1" dirty="0">
                <a:solidFill>
                  <a:srgbClr val="123026"/>
                </a:solidFill>
                <a:latin typeface="Aptos" pitchFamily="34" charset="0"/>
                <a:ea typeface="Aptos" pitchFamily="34" charset="-122"/>
                <a:cs typeface="Aptos" pitchFamily="34" charset="-120"/>
              </a:rPr>
              <a:t>02</a:t>
            </a:r>
            <a:endParaRPr lang="en-US" sz="1100" dirty="0"/>
          </a:p>
        </p:txBody>
      </p:sp>
      <p:sp>
        <p:nvSpPr>
          <p:cNvPr id="21" name="Text 19"/>
          <p:cNvSpPr/>
          <p:nvPr/>
        </p:nvSpPr>
        <p:spPr>
          <a:xfrm>
            <a:off x="1691640" y="4027932"/>
            <a:ext cx="2926080" cy="2071116"/>
          </a:xfrm>
          <a:prstGeom prst="rect">
            <a:avLst/>
          </a:prstGeom>
          <a:noFill/>
          <a:ln/>
        </p:spPr>
        <p:txBody>
          <a:bodyPr wrap="square" lIns="0" tIns="0" rIns="0" bIns="0" rtlCol="0" anchor="ctr">
            <a:normAutofit/>
          </a:bodyPr>
          <a:lstStyle/>
          <a:p>
            <a:pPr marL="0" indent="0">
              <a:buNone/>
            </a:pPr>
            <a:r>
              <a:rPr lang="en-US" sz="1750" b="1" dirty="0">
                <a:solidFill>
                  <a:srgbClr val="123026"/>
                </a:solidFill>
                <a:latin typeface="Aptos Display" pitchFamily="34" charset="0"/>
                <a:ea typeface="Aptos Display" pitchFamily="34" charset="-122"/>
                <a:cs typeface="Aptos Display" pitchFamily="34" charset="-120"/>
              </a:rPr>
              <a:t>Document retrieval</a:t>
            </a:r>
            <a:endParaRPr lang="en-US" sz="1750" dirty="0"/>
          </a:p>
        </p:txBody>
      </p:sp>
      <p:sp>
        <p:nvSpPr>
          <p:cNvPr id="22" name="Text 20"/>
          <p:cNvSpPr/>
          <p:nvPr/>
        </p:nvSpPr>
        <p:spPr>
          <a:xfrm>
            <a:off x="4709160" y="4009644"/>
            <a:ext cx="6565392" cy="2107692"/>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183128"/>
                </a:solidFill>
                <a:latin typeface="Aptos" pitchFamily="34" charset="0"/>
                <a:ea typeface="Aptos" pitchFamily="34" charset="-122"/>
                <a:cs typeface="Aptos" pitchFamily="34" charset="-120"/>
              </a:rPr>
              <a:t>Project or index access does not authorize every document</a:t>
            </a:r>
            <a:endParaRPr lang="en-US" sz="1440" dirty="0"/>
          </a:p>
          <a:p>
            <a:pPr marL="342900" indent="-342900">
              <a:buSzPct val="100000"/>
              <a:buChar char="•"/>
            </a:pPr>
            <a:r>
              <a:rPr lang="en-US" sz="1440" dirty="0">
                <a:solidFill>
                  <a:srgbClr val="183128"/>
                </a:solidFill>
                <a:latin typeface="Aptos" pitchFamily="34" charset="0"/>
                <a:ea typeface="Aptos" pitchFamily="34" charset="-122"/>
                <a:cs typeface="Aptos" pitchFamily="34" charset="-120"/>
              </a:rPr>
              <a:t>Carry user/group permissions into query-time filtering and projected chunks</a:t>
            </a:r>
            <a:endParaRPr lang="en-US" sz="1440" dirty="0"/>
          </a:p>
          <a:p>
            <a:pPr marL="342900" indent="-342900">
              <a:buSzPct val="100000"/>
              <a:buChar char="•"/>
            </a:pPr>
            <a:r>
              <a:rPr lang="en-US" sz="1440" dirty="0">
                <a:solidFill>
                  <a:srgbClr val="183128"/>
                </a:solidFill>
                <a:latin typeface="Aptos" pitchFamily="34" charset="0"/>
                <a:ea typeface="Aptos" pitchFamily="34" charset="-122"/>
                <a:cs typeface="Aptos" pitchFamily="34" charset="-120"/>
              </a:rPr>
              <a:t>Choose security filters or supported native ACL/RBAC enforcement (preview)</a:t>
            </a:r>
            <a:endParaRPr lang="en-US" sz="1440" dirty="0"/>
          </a:p>
        </p:txBody>
      </p:sp>
      <p:sp>
        <p:nvSpPr>
          <p:cNvPr id="23" name="Text 21"/>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516B62"/>
                </a:solidFill>
                <a:latin typeface="Aptos" pitchFamily="34" charset="0"/>
                <a:ea typeface="Aptos" pitchFamily="34" charset="-122"/>
                <a:cs typeface="Aptos" pitchFamily="34" charset="-120"/>
              </a:rPr>
              <a:t>REFERENCE  learn.microsoft.com/agent-framework/hosting/self-hosting/#secure-session-continuation  ·  +2 more in notes</a:t>
            </a:r>
            <a:endParaRPr lang="en-US" sz="940" dirty="0"/>
          </a:p>
        </p:txBody>
      </p:sp>
      <p:sp>
        <p:nvSpPr>
          <p:cNvPr id="24" name="Shape 22"/>
          <p:cNvSpPr/>
          <p:nvPr/>
        </p:nvSpPr>
        <p:spPr>
          <a:xfrm>
            <a:off x="0" y="6793992"/>
            <a:ext cx="12191695" cy="64008"/>
          </a:xfrm>
          <a:prstGeom prst="rect">
            <a:avLst/>
          </a:prstGeom>
          <a:solidFill>
            <a:srgbClr val="35C990"/>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026"/>
        </a:solidFill>
        <a:effectLst/>
      </p:bgPr>
    </p:bg>
    <p:spTree>
      <p:nvGrpSpPr>
        <p:cNvPr id="1" name=""/>
        <p:cNvGrpSpPr/>
        <p:nvPr/>
      </p:nvGrpSpPr>
      <p:grpSpPr>
        <a:xfrm>
          <a:off x="0" y="0"/>
          <a:ext cx="0" cy="0"/>
          <a:chOff x="0" y="0"/>
          <a:chExt cx="0" cy="0"/>
        </a:xfrm>
      </p:grpSpPr>
      <p:sp>
        <p:nvSpPr>
          <p:cNvPr id="2" name="Shape 0"/>
          <p:cNvSpPr/>
          <p:nvPr/>
        </p:nvSpPr>
        <p:spPr>
          <a:xfrm>
            <a:off x="182880" y="4407408"/>
            <a:ext cx="1572768" cy="1572768"/>
          </a:xfrm>
          <a:prstGeom prst="ellipse">
            <a:avLst/>
          </a:prstGeom>
          <a:solidFill>
            <a:srgbClr val="FFF1CB"/>
          </a:solidFill>
          <a:ln/>
        </p:spPr>
      </p:sp>
      <p:sp>
        <p:nvSpPr>
          <p:cNvPr id="3" name="Shape 1"/>
          <p:cNvSpPr/>
          <p:nvPr/>
        </p:nvSpPr>
        <p:spPr>
          <a:xfrm>
            <a:off x="457200" y="4681728"/>
            <a:ext cx="1024128" cy="1024128"/>
          </a:xfrm>
          <a:prstGeom prst="ellipse">
            <a:avLst/>
          </a:prstGeom>
          <a:solidFill>
            <a:srgbClr val="123026"/>
          </a:solidFill>
          <a:ln/>
        </p:spPr>
      </p:sp>
      <p:sp>
        <p:nvSpPr>
          <p:cNvPr id="4" name="Text 2"/>
          <p:cNvSpPr/>
          <p:nvPr/>
        </p:nvSpPr>
        <p:spPr>
          <a:xfrm>
            <a:off x="713232" y="530352"/>
            <a:ext cx="2560320" cy="256032"/>
          </a:xfrm>
          <a:prstGeom prst="rect">
            <a:avLst/>
          </a:prstGeom>
          <a:noFill/>
          <a:ln/>
        </p:spPr>
        <p:txBody>
          <a:bodyPr wrap="square" lIns="0" tIns="0" rIns="0" bIns="0" rtlCol="0" anchor="ctr"/>
          <a:lstStyle/>
          <a:p>
            <a:pPr marL="0" indent="0">
              <a:buNone/>
            </a:pPr>
            <a:r>
              <a:rPr lang="en-US" sz="1200" b="1" kern="0" spc="350" dirty="0">
                <a:solidFill>
                  <a:srgbClr val="35C990"/>
                </a:solidFill>
                <a:latin typeface="Aptos" pitchFamily="34" charset="0"/>
                <a:ea typeface="Aptos" pitchFamily="34" charset="-122"/>
                <a:cs typeface="Aptos" pitchFamily="34" charset="-120"/>
              </a:rPr>
              <a:t>LIVE DEMO</a:t>
            </a:r>
            <a:endParaRPr lang="en-US" sz="1200" dirty="0"/>
          </a:p>
        </p:txBody>
      </p:sp>
      <p:sp>
        <p:nvSpPr>
          <p:cNvPr id="5" name="Text 3"/>
          <p:cNvSpPr/>
          <p:nvPr/>
        </p:nvSpPr>
        <p:spPr>
          <a:xfrm>
            <a:off x="713232" y="1143000"/>
            <a:ext cx="6199632" cy="914400"/>
          </a:xfrm>
          <a:prstGeom prst="rect">
            <a:avLst/>
          </a:prstGeom>
          <a:noFill/>
          <a:ln/>
        </p:spPr>
        <p:txBody>
          <a:bodyPr wrap="square" lIns="0" tIns="0" rIns="0" bIns="0" rtlCol="0" anchor="ctr">
            <a:normAutofit/>
          </a:bodyPr>
          <a:lstStyle/>
          <a:p>
            <a:pPr marL="0" indent="0">
              <a:buNone/>
            </a:pPr>
            <a:r>
              <a:rPr lang="en-US" sz="3500" b="1" dirty="0">
                <a:solidFill>
                  <a:srgbClr val="FFFFFF"/>
                </a:solidFill>
                <a:latin typeface="Aptos Display" pitchFamily="34" charset="0"/>
                <a:ea typeface="Aptos Display" pitchFamily="34" charset="-122"/>
                <a:cs typeface="Aptos Display" pitchFamily="34" charset="-120"/>
              </a:rPr>
              <a:t>An approved action</a:t>
            </a:r>
            <a:endParaRPr lang="en-US" sz="3500" dirty="0"/>
          </a:p>
          <a:p>
            <a:pPr marL="0" indent="0">
              <a:buNone/>
            </a:pPr>
            <a:r>
              <a:rPr lang="en-US" sz="3500" b="1" dirty="0">
                <a:solidFill>
                  <a:srgbClr val="FFFFFF"/>
                </a:solidFill>
                <a:latin typeface="Aptos Display" pitchFamily="34" charset="0"/>
                <a:ea typeface="Aptos Display" pitchFamily="34" charset="-122"/>
                <a:cs typeface="Aptos Display" pitchFamily="34" charset="-120"/>
              </a:rPr>
              <a:t>can still be denied</a:t>
            </a:r>
            <a:endParaRPr lang="en-US" sz="3500" dirty="0"/>
          </a:p>
        </p:txBody>
      </p:sp>
      <p:sp>
        <p:nvSpPr>
          <p:cNvPr id="6" name="Text 4"/>
          <p:cNvSpPr/>
          <p:nvPr/>
        </p:nvSpPr>
        <p:spPr>
          <a:xfrm>
            <a:off x="749808" y="2395728"/>
            <a:ext cx="6473952" cy="2057400"/>
          </a:xfrm>
          <a:prstGeom prst="rect">
            <a:avLst/>
          </a:prstGeom>
          <a:noFill/>
          <a:ln/>
        </p:spPr>
        <p:txBody>
          <a:bodyPr wrap="square" lIns="0" tIns="0" rIns="0" bIns="0" rtlCol="0" anchor="t">
            <a:normAutofit/>
          </a:bodyPr>
          <a:lstStyle/>
          <a:p>
            <a:pPr marL="0" indent="0">
              <a:buNone/>
            </a:pPr>
            <a:r>
              <a:rPr lang="en-US" sz="1540" dirty="0">
                <a:solidFill>
                  <a:srgbClr val="E5EBF0"/>
                </a:solidFill>
                <a:latin typeface="Aptos" pitchFamily="34" charset="0"/>
                <a:ea typeface="Aptos" pitchFamily="34" charset="-122"/>
                <a:cs typeface="Aptos" pitchFamily="34" charset="-120"/>
              </a:rPr>
              <a:t>Trace Alice and Bob through the same reference documentation agent.</a:t>
            </a:r>
            <a:endParaRPr lang="en-US" sz="1540" dirty="0"/>
          </a:p>
          <a:p>
            <a:pPr marL="0" indent="0">
              <a:buNone/>
            </a:pPr>
            <a:r>
              <a:rPr lang="en-US" sz="1540" dirty="0">
                <a:solidFill>
                  <a:srgbClr val="E5EBF0"/>
                </a:solidFill>
                <a:latin typeface="Aptos" pitchFamily="34" charset="0"/>
                <a:ea typeface="Aptos" pitchFamily="34" charset="-122"/>
                <a:cs typeface="Aptos" pitchFamily="34" charset="-120"/>
              </a:rPr>
              <a:t>Both can invoke it, approve the lookup, and have a valid connection; only Alice is authorized for the restricted document.</a:t>
            </a:r>
            <a:endParaRPr lang="en-US" sz="1540" dirty="0"/>
          </a:p>
          <a:p>
            <a:pPr marL="0" indent="0">
              <a:buNone/>
            </a:pPr>
            <a:r>
              <a:rPr lang="en-US" sz="1540" dirty="0">
                <a:solidFill>
                  <a:srgbClr val="E5EBF0"/>
                </a:solidFill>
                <a:latin typeface="Aptos" pitchFamily="34" charset="0"/>
                <a:ea typeface="Aptos" pitchFamily="34" charset="-122"/>
                <a:cs typeface="Aptos" pitchFamily="34" charset="-120"/>
              </a:rPr>
              <a:t>Then show why Bob cannot turn Alice's session ID into ownership.</a:t>
            </a:r>
            <a:endParaRPr lang="en-US" sz="1540" dirty="0"/>
          </a:p>
          <a:p>
            <a:pPr marL="0" indent="0">
              <a:buNone/>
            </a:pPr>
            <a:r>
              <a:rPr lang="en-US" sz="1540" dirty="0">
                <a:solidFill>
                  <a:srgbClr val="E5EBF0"/>
                </a:solidFill>
                <a:latin typeface="Aptos" pitchFamily="34" charset="0"/>
                <a:ea typeface="Aptos" pitchFamily="34" charset="-122"/>
                <a:cs typeface="Aptos" pitchFamily="34" charset="-120"/>
              </a:rPr>
              <a:t>Identify the principal and enforcement point—not merely the denial text.</a:t>
            </a:r>
            <a:endParaRPr lang="en-US" sz="1540" dirty="0"/>
          </a:p>
        </p:txBody>
      </p:sp>
      <p:sp>
        <p:nvSpPr>
          <p:cNvPr id="7" name="Shape 5"/>
          <p:cNvSpPr/>
          <p:nvPr/>
        </p:nvSpPr>
        <p:spPr>
          <a:xfrm>
            <a:off x="7452360" y="749808"/>
            <a:ext cx="4041648" cy="5074920"/>
          </a:xfrm>
          <a:prstGeom prst="roundRect">
            <a:avLst>
              <a:gd name="adj" fmla="val 1810"/>
            </a:avLst>
          </a:prstGeom>
          <a:solidFill>
            <a:srgbClr val="FFFFFF"/>
          </a:solidFill>
          <a:ln/>
        </p:spPr>
      </p:sp>
      <p:sp>
        <p:nvSpPr>
          <p:cNvPr id="8" name="Shape 6"/>
          <p:cNvSpPr/>
          <p:nvPr/>
        </p:nvSpPr>
        <p:spPr>
          <a:xfrm>
            <a:off x="7726680" y="1060704"/>
            <a:ext cx="1225296" cy="347472"/>
          </a:xfrm>
          <a:prstGeom prst="roundRect">
            <a:avLst>
              <a:gd name="adj" fmla="val 21053"/>
            </a:avLst>
          </a:prstGeom>
          <a:solidFill>
            <a:srgbClr val="35C990"/>
          </a:solidFill>
          <a:ln/>
        </p:spPr>
      </p:sp>
      <p:sp>
        <p:nvSpPr>
          <p:cNvPr id="9" name="Text 7"/>
          <p:cNvSpPr/>
          <p:nvPr/>
        </p:nvSpPr>
        <p:spPr>
          <a:xfrm>
            <a:off x="7836408" y="1170432"/>
            <a:ext cx="1005840" cy="109728"/>
          </a:xfrm>
          <a:prstGeom prst="rect">
            <a:avLst/>
          </a:prstGeom>
          <a:noFill/>
          <a:ln/>
        </p:spPr>
        <p:txBody>
          <a:bodyPr wrap="square" lIns="0" tIns="0" rIns="0" bIns="0" rtlCol="0" anchor="ctr"/>
          <a:lstStyle/>
          <a:p>
            <a:pPr marL="0" indent="0" algn="ctr">
              <a:buNone/>
            </a:pPr>
            <a:r>
              <a:rPr lang="en-US" sz="950" b="1" dirty="0">
                <a:solidFill>
                  <a:srgbClr val="123026"/>
                </a:solidFill>
                <a:latin typeface="Aptos" pitchFamily="34" charset="0"/>
                <a:ea typeface="Aptos" pitchFamily="34" charset="-122"/>
                <a:cs typeface="Aptos" pitchFamily="34" charset="-120"/>
              </a:rPr>
              <a:t>~7 min</a:t>
            </a:r>
            <a:endParaRPr lang="en-US" sz="950" dirty="0"/>
          </a:p>
        </p:txBody>
      </p:sp>
      <p:sp>
        <p:nvSpPr>
          <p:cNvPr id="10" name="Text 8"/>
          <p:cNvSpPr/>
          <p:nvPr/>
        </p:nvSpPr>
        <p:spPr>
          <a:xfrm>
            <a:off x="7726680" y="1719072"/>
            <a:ext cx="2971800" cy="274320"/>
          </a:xfrm>
          <a:prstGeom prst="rect">
            <a:avLst/>
          </a:prstGeom>
          <a:noFill/>
          <a:ln/>
        </p:spPr>
        <p:txBody>
          <a:bodyPr wrap="square" lIns="0" tIns="0" rIns="0" bIns="0" rtlCol="0" anchor="ctr"/>
          <a:lstStyle/>
          <a:p>
            <a:pPr marL="0" indent="0">
              <a:buNone/>
            </a:pPr>
            <a:r>
              <a:rPr lang="en-US" sz="2100" b="1" dirty="0">
                <a:solidFill>
                  <a:srgbClr val="123026"/>
                </a:solidFill>
                <a:latin typeface="Aptos Display" pitchFamily="34" charset="0"/>
                <a:ea typeface="Aptos Display" pitchFamily="34" charset="-122"/>
                <a:cs typeface="Aptos Display" pitchFamily="34" charset="-120"/>
              </a:rPr>
              <a:t>WATCH FOR</a:t>
            </a:r>
            <a:endParaRPr lang="en-US" sz="2100" dirty="0"/>
          </a:p>
        </p:txBody>
      </p:sp>
      <p:sp>
        <p:nvSpPr>
          <p:cNvPr id="11" name="Shape 9"/>
          <p:cNvSpPr/>
          <p:nvPr/>
        </p:nvSpPr>
        <p:spPr>
          <a:xfrm>
            <a:off x="7772400" y="2340864"/>
            <a:ext cx="384048" cy="384048"/>
          </a:xfrm>
          <a:prstGeom prst="ellipse">
            <a:avLst/>
          </a:prstGeom>
          <a:solidFill>
            <a:srgbClr val="35C990"/>
          </a:solidFill>
          <a:ln/>
        </p:spPr>
      </p:sp>
      <p:sp>
        <p:nvSpPr>
          <p:cNvPr id="12" name="Text 10"/>
          <p:cNvSpPr/>
          <p:nvPr/>
        </p:nvSpPr>
        <p:spPr>
          <a:xfrm>
            <a:off x="7772400" y="2459736"/>
            <a:ext cx="384048" cy="100584"/>
          </a:xfrm>
          <a:prstGeom prst="rect">
            <a:avLst/>
          </a:prstGeom>
          <a:noFill/>
          <a:ln/>
        </p:spPr>
        <p:txBody>
          <a:bodyPr wrap="square" lIns="0" tIns="0" rIns="0" bIns="0" rtlCol="0" anchor="ctr"/>
          <a:lstStyle/>
          <a:p>
            <a:pPr marL="0" indent="0" algn="ctr">
              <a:buNone/>
            </a:pPr>
            <a:r>
              <a:rPr lang="en-US" sz="900" b="1" dirty="0">
                <a:solidFill>
                  <a:srgbClr val="123026"/>
                </a:solidFill>
                <a:latin typeface="Aptos" pitchFamily="34" charset="0"/>
                <a:ea typeface="Aptos" pitchFamily="34" charset="-122"/>
                <a:cs typeface="Aptos" pitchFamily="34" charset="-120"/>
              </a:rPr>
              <a:t>1</a:t>
            </a:r>
            <a:endParaRPr lang="en-US" sz="900" dirty="0"/>
          </a:p>
        </p:txBody>
      </p:sp>
      <p:sp>
        <p:nvSpPr>
          <p:cNvPr id="13" name="Text 11"/>
          <p:cNvSpPr/>
          <p:nvPr/>
        </p:nvSpPr>
        <p:spPr>
          <a:xfrm>
            <a:off x="8339328" y="2286000"/>
            <a:ext cx="2889504" cy="512064"/>
          </a:xfrm>
          <a:prstGeom prst="rect">
            <a:avLst/>
          </a:prstGeom>
          <a:noFill/>
          <a:ln/>
        </p:spPr>
        <p:txBody>
          <a:bodyPr wrap="square" lIns="0" tIns="0" rIns="0" bIns="0" rtlCol="0" anchor="ctr">
            <a:normAutofit/>
          </a:bodyPr>
          <a:lstStyle/>
          <a:p>
            <a:pPr marL="0" indent="0">
              <a:buNone/>
            </a:pPr>
            <a:r>
              <a:rPr lang="en-US" sz="1480" b="1" dirty="0">
                <a:solidFill>
                  <a:srgbClr val="183128"/>
                </a:solidFill>
                <a:latin typeface="Aptos" pitchFamily="34" charset="0"/>
                <a:ea typeface="Aptos" pitchFamily="34" charset="-122"/>
                <a:cs typeface="Aptos" pitchFamily="34" charset="-120"/>
              </a:rPr>
              <a:t>Principal on each hop</a:t>
            </a:r>
            <a:endParaRPr lang="en-US" sz="1480" dirty="0"/>
          </a:p>
        </p:txBody>
      </p:sp>
      <p:sp>
        <p:nvSpPr>
          <p:cNvPr id="14" name="Shape 12"/>
          <p:cNvSpPr/>
          <p:nvPr/>
        </p:nvSpPr>
        <p:spPr>
          <a:xfrm>
            <a:off x="7772400" y="3127248"/>
            <a:ext cx="384048" cy="384048"/>
          </a:xfrm>
          <a:prstGeom prst="ellipse">
            <a:avLst/>
          </a:prstGeom>
          <a:solidFill>
            <a:srgbClr val="35C990"/>
          </a:solidFill>
          <a:ln/>
        </p:spPr>
      </p:sp>
      <p:sp>
        <p:nvSpPr>
          <p:cNvPr id="15" name="Text 13"/>
          <p:cNvSpPr/>
          <p:nvPr/>
        </p:nvSpPr>
        <p:spPr>
          <a:xfrm>
            <a:off x="7772400" y="3246120"/>
            <a:ext cx="384048" cy="100584"/>
          </a:xfrm>
          <a:prstGeom prst="rect">
            <a:avLst/>
          </a:prstGeom>
          <a:noFill/>
          <a:ln/>
        </p:spPr>
        <p:txBody>
          <a:bodyPr wrap="square" lIns="0" tIns="0" rIns="0" bIns="0" rtlCol="0" anchor="ctr"/>
          <a:lstStyle/>
          <a:p>
            <a:pPr marL="0" indent="0" algn="ctr">
              <a:buNone/>
            </a:pPr>
            <a:r>
              <a:rPr lang="en-US" sz="900" b="1" dirty="0">
                <a:solidFill>
                  <a:srgbClr val="123026"/>
                </a:solidFill>
                <a:latin typeface="Aptos" pitchFamily="34" charset="0"/>
                <a:ea typeface="Aptos" pitchFamily="34" charset="-122"/>
                <a:cs typeface="Aptos" pitchFamily="34" charset="-120"/>
              </a:rPr>
              <a:t>2</a:t>
            </a:r>
            <a:endParaRPr lang="en-US" sz="900" dirty="0"/>
          </a:p>
        </p:txBody>
      </p:sp>
      <p:sp>
        <p:nvSpPr>
          <p:cNvPr id="16" name="Text 14"/>
          <p:cNvSpPr/>
          <p:nvPr/>
        </p:nvSpPr>
        <p:spPr>
          <a:xfrm>
            <a:off x="8339328" y="3072384"/>
            <a:ext cx="2889504" cy="512064"/>
          </a:xfrm>
          <a:prstGeom prst="rect">
            <a:avLst/>
          </a:prstGeom>
          <a:noFill/>
          <a:ln/>
        </p:spPr>
        <p:txBody>
          <a:bodyPr wrap="square" lIns="0" tIns="0" rIns="0" bIns="0" rtlCol="0" anchor="ctr">
            <a:normAutofit/>
          </a:bodyPr>
          <a:lstStyle/>
          <a:p>
            <a:pPr marL="0" indent="0">
              <a:buNone/>
            </a:pPr>
            <a:r>
              <a:rPr lang="en-US" sz="1480" b="1" dirty="0">
                <a:solidFill>
                  <a:srgbClr val="183128"/>
                </a:solidFill>
                <a:latin typeface="Aptos" pitchFamily="34" charset="0"/>
                <a:ea typeface="Aptos" pitchFamily="34" charset="-122"/>
                <a:cs typeface="Aptos" pitchFamily="34" charset="-120"/>
              </a:rPr>
              <a:t>Correct denial</a:t>
            </a:r>
            <a:endParaRPr lang="en-US" sz="1480" dirty="0"/>
          </a:p>
          <a:p>
            <a:pPr marL="0" indent="0">
              <a:buNone/>
            </a:pPr>
            <a:r>
              <a:rPr lang="en-US" sz="1480" b="1" dirty="0">
                <a:solidFill>
                  <a:srgbClr val="183128"/>
                </a:solidFill>
                <a:latin typeface="Aptos" pitchFamily="34" charset="0"/>
                <a:ea typeface="Aptos" pitchFamily="34" charset="-122"/>
                <a:cs typeface="Aptos" pitchFamily="34" charset="-120"/>
              </a:rPr>
              <a:t>at the data boundary</a:t>
            </a:r>
            <a:endParaRPr lang="en-US" sz="1480" dirty="0"/>
          </a:p>
        </p:txBody>
      </p:sp>
      <p:sp>
        <p:nvSpPr>
          <p:cNvPr id="17" name="Shape 15"/>
          <p:cNvSpPr/>
          <p:nvPr/>
        </p:nvSpPr>
        <p:spPr>
          <a:xfrm>
            <a:off x="7772400" y="3913632"/>
            <a:ext cx="384048" cy="384048"/>
          </a:xfrm>
          <a:prstGeom prst="ellipse">
            <a:avLst/>
          </a:prstGeom>
          <a:solidFill>
            <a:srgbClr val="FFC857"/>
          </a:solidFill>
          <a:ln/>
        </p:spPr>
      </p:sp>
      <p:sp>
        <p:nvSpPr>
          <p:cNvPr id="18" name="Text 16"/>
          <p:cNvSpPr/>
          <p:nvPr/>
        </p:nvSpPr>
        <p:spPr>
          <a:xfrm>
            <a:off x="7772400" y="4032504"/>
            <a:ext cx="384048" cy="100584"/>
          </a:xfrm>
          <a:prstGeom prst="rect">
            <a:avLst/>
          </a:prstGeom>
          <a:noFill/>
          <a:ln/>
        </p:spPr>
        <p:txBody>
          <a:bodyPr wrap="square" lIns="0" tIns="0" rIns="0" bIns="0" rtlCol="0" anchor="ctr"/>
          <a:lstStyle/>
          <a:p>
            <a:pPr marL="0" indent="0" algn="ctr">
              <a:buNone/>
            </a:pPr>
            <a:r>
              <a:rPr lang="en-US" sz="900" b="1" dirty="0">
                <a:solidFill>
                  <a:srgbClr val="123026"/>
                </a:solidFill>
                <a:latin typeface="Aptos" pitchFamily="34" charset="0"/>
                <a:ea typeface="Aptos" pitchFamily="34" charset="-122"/>
                <a:cs typeface="Aptos" pitchFamily="34" charset="-120"/>
              </a:rPr>
              <a:t>3</a:t>
            </a:r>
            <a:endParaRPr lang="en-US" sz="900" dirty="0"/>
          </a:p>
        </p:txBody>
      </p:sp>
      <p:sp>
        <p:nvSpPr>
          <p:cNvPr id="19" name="Text 17"/>
          <p:cNvSpPr/>
          <p:nvPr/>
        </p:nvSpPr>
        <p:spPr>
          <a:xfrm>
            <a:off x="8339328" y="3858768"/>
            <a:ext cx="2889504" cy="512064"/>
          </a:xfrm>
          <a:prstGeom prst="rect">
            <a:avLst/>
          </a:prstGeom>
          <a:noFill/>
          <a:ln/>
        </p:spPr>
        <p:txBody>
          <a:bodyPr wrap="square" lIns="0" tIns="0" rIns="0" bIns="0" rtlCol="0" anchor="ctr">
            <a:normAutofit/>
          </a:bodyPr>
          <a:lstStyle/>
          <a:p>
            <a:pPr marL="0" indent="0">
              <a:buNone/>
            </a:pPr>
            <a:r>
              <a:rPr lang="en-US" sz="1480" b="1" dirty="0">
                <a:solidFill>
                  <a:srgbClr val="183128"/>
                </a:solidFill>
                <a:latin typeface="Aptos" pitchFamily="34" charset="0"/>
                <a:ea typeface="Aptos" pitchFamily="34" charset="-122"/>
                <a:cs typeface="Aptos" pitchFamily="34" charset="-120"/>
              </a:rPr>
              <a:t>Session ID ≠ ownership</a:t>
            </a:r>
            <a:endParaRPr lang="en-US" sz="1480" dirty="0"/>
          </a:p>
        </p:txBody>
      </p:sp>
      <p:sp>
        <p:nvSpPr>
          <p:cNvPr id="20" name="Shape 18"/>
          <p:cNvSpPr/>
          <p:nvPr/>
        </p:nvSpPr>
        <p:spPr>
          <a:xfrm>
            <a:off x="7726680" y="4882896"/>
            <a:ext cx="3401568" cy="566928"/>
          </a:xfrm>
          <a:prstGeom prst="roundRect">
            <a:avLst>
              <a:gd name="adj" fmla="val 12903"/>
            </a:avLst>
          </a:prstGeom>
          <a:solidFill>
            <a:srgbClr val="DFF7EC"/>
          </a:solidFill>
          <a:ln/>
        </p:spPr>
      </p:sp>
      <p:sp>
        <p:nvSpPr>
          <p:cNvPr id="21" name="Text 19"/>
          <p:cNvSpPr/>
          <p:nvPr/>
        </p:nvSpPr>
        <p:spPr>
          <a:xfrm>
            <a:off x="7882128" y="5029200"/>
            <a:ext cx="3090672" cy="201168"/>
          </a:xfrm>
          <a:prstGeom prst="rect">
            <a:avLst/>
          </a:prstGeom>
          <a:noFill/>
          <a:ln/>
        </p:spPr>
        <p:txBody>
          <a:bodyPr wrap="square" lIns="0" tIns="0" rIns="0" bIns="0" rtlCol="0" anchor="ctr">
            <a:normAutofit/>
          </a:bodyPr>
          <a:lstStyle/>
          <a:p>
            <a:pPr marL="0" indent="0">
              <a:buNone/>
            </a:pPr>
            <a:r>
              <a:rPr lang="en-US" sz="1100" dirty="0">
                <a:solidFill>
                  <a:srgbClr val="123026"/>
                </a:solidFill>
                <a:latin typeface="Consolas" pitchFamily="34" charset="0"/>
                <a:ea typeface="Consolas" pitchFamily="34" charset="-122"/>
                <a:cs typeface="Consolas" pitchFamily="34" charset="-120"/>
              </a:rPr>
              <a:t>demos/day5/module-2-demo-1-identity-boundary.md</a:t>
            </a:r>
            <a:endParaRPr lang="en-US" sz="1100" dirty="0"/>
          </a:p>
        </p:txBody>
      </p:sp>
      <p:sp>
        <p:nvSpPr>
          <p:cNvPr id="22" name="Text 20"/>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DDE7EF"/>
                </a:solidFill>
                <a:latin typeface="Aptos" pitchFamily="34" charset="0"/>
                <a:ea typeface="Aptos" pitchFamily="34" charset="-122"/>
                <a:cs typeface="Aptos" pitchFamily="34" charset="-120"/>
              </a:rPr>
              <a:t>REFERENCE  learn.microsoft.com/azure/foundry/agents/how-to/mcp-authentication  ·  +3 more in notes</a:t>
            </a:r>
            <a:endParaRPr lang="en-US" sz="940" dirty="0"/>
          </a:p>
        </p:txBody>
      </p:sp>
      <p:sp>
        <p:nvSpPr>
          <p:cNvPr id="23" name="Shape 21"/>
          <p:cNvSpPr/>
          <p:nvPr/>
        </p:nvSpPr>
        <p:spPr>
          <a:xfrm>
            <a:off x="0" y="6793992"/>
            <a:ext cx="12191695" cy="64008"/>
          </a:xfrm>
          <a:prstGeom prst="rect">
            <a:avLst/>
          </a:prstGeom>
          <a:solidFill>
            <a:srgbClr val="35C990"/>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B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23026"/>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2  /  TRUST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123026"/>
                </a:solidFill>
                <a:latin typeface="Aptos Display" pitchFamily="34" charset="0"/>
                <a:ea typeface="Aptos Display" pitchFamily="34" charset="-122"/>
                <a:cs typeface="Aptos Display" pitchFamily="34" charset="-120"/>
              </a:rPr>
              <a:t>Takeaways</a:t>
            </a:r>
            <a:endParaRPr lang="en-US" sz="3100" dirty="0"/>
          </a:p>
        </p:txBody>
      </p:sp>
      <p:sp>
        <p:nvSpPr>
          <p:cNvPr id="5" name="Shape 3"/>
          <p:cNvSpPr/>
          <p:nvPr/>
        </p:nvSpPr>
        <p:spPr>
          <a:xfrm>
            <a:off x="10850636" y="416966"/>
            <a:ext cx="500360" cy="566196"/>
          </a:xfrm>
          <a:prstGeom prst="hexagon">
            <a:avLst/>
          </a:prstGeom>
          <a:solidFill>
            <a:srgbClr val="DFF7EC"/>
          </a:solidFill>
          <a:ln w="10160">
            <a:solidFill>
              <a:srgbClr val="35C990"/>
            </a:solidFill>
            <a:prstDash val="solid"/>
          </a:ln>
        </p:spPr>
      </p:sp>
      <p:sp>
        <p:nvSpPr>
          <p:cNvPr id="6" name="Shape 4"/>
          <p:cNvSpPr/>
          <p:nvPr/>
        </p:nvSpPr>
        <p:spPr>
          <a:xfrm>
            <a:off x="10995477" y="667146"/>
            <a:ext cx="223845" cy="184343"/>
          </a:xfrm>
          <a:prstGeom prst="roundRect">
            <a:avLst>
              <a:gd name="adj" fmla="val 39683"/>
            </a:avLst>
          </a:prstGeom>
          <a:solidFill>
            <a:srgbClr val="35C990"/>
          </a:solidFill>
          <a:ln/>
        </p:spPr>
      </p:sp>
      <p:sp>
        <p:nvSpPr>
          <p:cNvPr id="7" name="Shape 5"/>
          <p:cNvSpPr/>
          <p:nvPr/>
        </p:nvSpPr>
        <p:spPr>
          <a:xfrm>
            <a:off x="11048147" y="581558"/>
            <a:ext cx="0" cy="85588"/>
          </a:xfrm>
          <a:prstGeom prst="line">
            <a:avLst/>
          </a:prstGeom>
          <a:noFill/>
          <a:ln w="25400">
            <a:solidFill>
              <a:srgbClr val="123026"/>
            </a:solidFill>
            <a:prstDash val="solid"/>
          </a:ln>
        </p:spPr>
      </p:sp>
      <p:sp>
        <p:nvSpPr>
          <p:cNvPr id="8" name="Shape 6"/>
          <p:cNvSpPr/>
          <p:nvPr/>
        </p:nvSpPr>
        <p:spPr>
          <a:xfrm>
            <a:off x="11048147" y="581558"/>
            <a:ext cx="111923" cy="0"/>
          </a:xfrm>
          <a:prstGeom prst="line">
            <a:avLst/>
          </a:prstGeom>
          <a:noFill/>
          <a:ln w="25400">
            <a:solidFill>
              <a:srgbClr val="123026"/>
            </a:solidFill>
            <a:prstDash val="solid"/>
          </a:ln>
        </p:spPr>
      </p:sp>
      <p:sp>
        <p:nvSpPr>
          <p:cNvPr id="9" name="Shape 7"/>
          <p:cNvSpPr/>
          <p:nvPr/>
        </p:nvSpPr>
        <p:spPr>
          <a:xfrm>
            <a:off x="11160069" y="581558"/>
            <a:ext cx="0" cy="85588"/>
          </a:xfrm>
          <a:prstGeom prst="line">
            <a:avLst/>
          </a:prstGeom>
          <a:noFill/>
          <a:ln w="25400">
            <a:solidFill>
              <a:srgbClr val="123026"/>
            </a:solidFill>
            <a:prstDash val="solid"/>
          </a:ln>
        </p:spPr>
      </p:sp>
      <p:sp>
        <p:nvSpPr>
          <p:cNvPr id="10" name="Shape 8"/>
          <p:cNvSpPr/>
          <p:nvPr/>
        </p:nvSpPr>
        <p:spPr>
          <a:xfrm>
            <a:off x="11612880" y="457200"/>
            <a:ext cx="329184" cy="329184"/>
          </a:xfrm>
          <a:prstGeom prst="ellipse">
            <a:avLst/>
          </a:prstGeom>
          <a:solidFill>
            <a:srgbClr val="35C990"/>
          </a:solidFill>
          <a:ln/>
        </p:spPr>
      </p:sp>
      <p:sp>
        <p:nvSpPr>
          <p:cNvPr id="11" name="Text 9"/>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123026"/>
                </a:solidFill>
                <a:latin typeface="Aptos" pitchFamily="34" charset="0"/>
                <a:ea typeface="Aptos" pitchFamily="34" charset="-122"/>
                <a:cs typeface="Aptos" pitchFamily="34" charset="-120"/>
              </a:rPr>
              <a:t>09</a:t>
            </a:r>
            <a:endParaRPr lang="en-US" sz="850" dirty="0"/>
          </a:p>
        </p:txBody>
      </p:sp>
      <p:sp>
        <p:nvSpPr>
          <p:cNvPr id="12" name="Shape 10"/>
          <p:cNvSpPr/>
          <p:nvPr/>
        </p:nvSpPr>
        <p:spPr>
          <a:xfrm>
            <a:off x="9829800" y="1005840"/>
            <a:ext cx="2148840" cy="2148840"/>
          </a:xfrm>
          <a:prstGeom prst="ellipse">
            <a:avLst/>
          </a:prstGeom>
          <a:solidFill>
            <a:srgbClr val="DFF7EC"/>
          </a:solidFill>
          <a:ln/>
        </p:spPr>
      </p:sp>
      <p:sp>
        <p:nvSpPr>
          <p:cNvPr id="13" name="Shape 11"/>
          <p:cNvSpPr/>
          <p:nvPr/>
        </p:nvSpPr>
        <p:spPr>
          <a:xfrm>
            <a:off x="640080" y="1371600"/>
            <a:ext cx="2788920" cy="4736592"/>
          </a:xfrm>
          <a:prstGeom prst="roundRect">
            <a:avLst>
              <a:gd name="adj" fmla="val 2623"/>
            </a:avLst>
          </a:prstGeom>
          <a:solidFill>
            <a:srgbClr val="123026"/>
          </a:solidFill>
          <a:ln/>
        </p:spPr>
      </p:sp>
      <p:sp>
        <p:nvSpPr>
          <p:cNvPr id="14" name="Text 12"/>
          <p:cNvSpPr/>
          <p:nvPr/>
        </p:nvSpPr>
        <p:spPr>
          <a:xfrm>
            <a:off x="941832" y="1828800"/>
            <a:ext cx="2103120" cy="1920240"/>
          </a:xfrm>
          <a:prstGeom prst="rect">
            <a:avLst/>
          </a:prstGeom>
          <a:noFill/>
          <a:ln/>
        </p:spPr>
        <p:txBody>
          <a:bodyPr wrap="square" lIns="0" tIns="0" rIns="0" bIns="0" rtlCol="0" anchor="ctr"/>
          <a:lstStyle/>
          <a:p>
            <a:pPr marL="0" indent="0">
              <a:buNone/>
            </a:pPr>
            <a:r>
              <a:rPr lang="en-US" sz="2900" b="1" dirty="0">
                <a:solidFill>
                  <a:srgbClr val="FFFFFF"/>
                </a:solidFill>
                <a:latin typeface="Aptos Display" pitchFamily="34" charset="0"/>
                <a:ea typeface="Aptos Display" pitchFamily="34" charset="-122"/>
                <a:cs typeface="Aptos Display" pitchFamily="34" charset="-120"/>
              </a:rPr>
              <a:t>WHAT TO</a:t>
            </a:r>
            <a:endParaRPr lang="en-US" sz="2900" dirty="0"/>
          </a:p>
          <a:p>
            <a:pPr marL="0" indent="0">
              <a:buNone/>
            </a:pPr>
            <a:r>
              <a:rPr lang="en-US" sz="2900" b="1" dirty="0">
                <a:solidFill>
                  <a:srgbClr val="FFFFFF"/>
                </a:solidFill>
                <a:latin typeface="Aptos Display" pitchFamily="34" charset="0"/>
                <a:ea typeface="Aptos Display" pitchFamily="34" charset="-122"/>
                <a:cs typeface="Aptos Display" pitchFamily="34" charset="-120"/>
              </a:rPr>
              <a:t>CARRY</a:t>
            </a:r>
            <a:endParaRPr lang="en-US" sz="2900" dirty="0"/>
          </a:p>
          <a:p>
            <a:pPr marL="0" indent="0">
              <a:buNone/>
            </a:pPr>
            <a:r>
              <a:rPr lang="en-US" sz="2900" b="1" dirty="0">
                <a:solidFill>
                  <a:srgbClr val="FFFFFF"/>
                </a:solidFill>
                <a:latin typeface="Aptos Display" pitchFamily="34" charset="0"/>
                <a:ea typeface="Aptos Display" pitchFamily="34" charset="-122"/>
                <a:cs typeface="Aptos Display" pitchFamily="34" charset="-120"/>
              </a:rPr>
              <a:t>FORWARD</a:t>
            </a:r>
            <a:endParaRPr lang="en-US" sz="2900" dirty="0"/>
          </a:p>
        </p:txBody>
      </p:sp>
      <p:sp>
        <p:nvSpPr>
          <p:cNvPr id="15" name="Shape 13"/>
          <p:cNvSpPr/>
          <p:nvPr/>
        </p:nvSpPr>
        <p:spPr>
          <a:xfrm>
            <a:off x="1442923" y="4235958"/>
            <a:ext cx="1146658" cy="1297534"/>
          </a:xfrm>
          <a:prstGeom prst="hexagon">
            <a:avLst/>
          </a:prstGeom>
          <a:solidFill>
            <a:srgbClr val="22473B"/>
          </a:solidFill>
          <a:ln w="10160">
            <a:solidFill>
              <a:srgbClr val="35C990"/>
            </a:solidFill>
            <a:prstDash val="solid"/>
          </a:ln>
        </p:spPr>
      </p:sp>
      <p:sp>
        <p:nvSpPr>
          <p:cNvPr id="16" name="Shape 14"/>
          <p:cNvSpPr/>
          <p:nvPr/>
        </p:nvSpPr>
        <p:spPr>
          <a:xfrm>
            <a:off x="1774850" y="4809287"/>
            <a:ext cx="512978" cy="422453"/>
          </a:xfrm>
          <a:prstGeom prst="roundRect">
            <a:avLst>
              <a:gd name="adj" fmla="val 17316"/>
            </a:avLst>
          </a:prstGeom>
          <a:solidFill>
            <a:srgbClr val="35C990"/>
          </a:solidFill>
          <a:ln/>
        </p:spPr>
      </p:sp>
      <p:sp>
        <p:nvSpPr>
          <p:cNvPr id="17" name="Shape 15"/>
          <p:cNvSpPr/>
          <p:nvPr/>
        </p:nvSpPr>
        <p:spPr>
          <a:xfrm>
            <a:off x="1895551" y="4613148"/>
            <a:ext cx="0" cy="196139"/>
          </a:xfrm>
          <a:prstGeom prst="line">
            <a:avLst/>
          </a:prstGeom>
          <a:noFill/>
          <a:ln w="25400">
            <a:solidFill>
              <a:srgbClr val="FFFFFF"/>
            </a:solidFill>
            <a:prstDash val="solid"/>
          </a:ln>
        </p:spPr>
      </p:sp>
      <p:sp>
        <p:nvSpPr>
          <p:cNvPr id="18" name="Shape 16"/>
          <p:cNvSpPr/>
          <p:nvPr/>
        </p:nvSpPr>
        <p:spPr>
          <a:xfrm>
            <a:off x="1895551" y="4613148"/>
            <a:ext cx="256489" cy="0"/>
          </a:xfrm>
          <a:prstGeom prst="line">
            <a:avLst/>
          </a:prstGeom>
          <a:noFill/>
          <a:ln w="25400">
            <a:solidFill>
              <a:srgbClr val="FFFFFF"/>
            </a:solidFill>
            <a:prstDash val="solid"/>
          </a:ln>
        </p:spPr>
      </p:sp>
      <p:sp>
        <p:nvSpPr>
          <p:cNvPr id="19" name="Shape 17"/>
          <p:cNvSpPr/>
          <p:nvPr/>
        </p:nvSpPr>
        <p:spPr>
          <a:xfrm>
            <a:off x="2152040" y="4613148"/>
            <a:ext cx="0" cy="196139"/>
          </a:xfrm>
          <a:prstGeom prst="line">
            <a:avLst/>
          </a:prstGeom>
          <a:noFill/>
          <a:ln w="25400">
            <a:solidFill>
              <a:srgbClr val="FFFFFF"/>
            </a:solidFill>
            <a:prstDash val="solid"/>
          </a:ln>
        </p:spPr>
      </p:sp>
      <p:sp>
        <p:nvSpPr>
          <p:cNvPr id="20" name="Shape 18"/>
          <p:cNvSpPr/>
          <p:nvPr/>
        </p:nvSpPr>
        <p:spPr>
          <a:xfrm>
            <a:off x="3712464" y="1371600"/>
            <a:ext cx="3799332" cy="2249424"/>
          </a:xfrm>
          <a:prstGeom prst="roundRect">
            <a:avLst>
              <a:gd name="adj" fmla="val 3252"/>
            </a:avLst>
          </a:prstGeom>
          <a:solidFill>
            <a:srgbClr val="FFFFFF"/>
          </a:solidFill>
          <a:ln w="10160">
            <a:solidFill>
              <a:srgbClr val="DFF7EC"/>
            </a:solidFill>
            <a:prstDash val="solid"/>
          </a:ln>
        </p:spPr>
      </p:sp>
      <p:sp>
        <p:nvSpPr>
          <p:cNvPr id="21" name="Shape 19"/>
          <p:cNvSpPr/>
          <p:nvPr/>
        </p:nvSpPr>
        <p:spPr>
          <a:xfrm>
            <a:off x="3895344" y="2295144"/>
            <a:ext cx="402336" cy="402336"/>
          </a:xfrm>
          <a:prstGeom prst="ellipse">
            <a:avLst/>
          </a:prstGeom>
          <a:solidFill>
            <a:srgbClr val="35C990"/>
          </a:solidFill>
          <a:ln/>
        </p:spPr>
      </p:sp>
      <p:sp>
        <p:nvSpPr>
          <p:cNvPr id="22" name="Text 20"/>
          <p:cNvSpPr/>
          <p:nvPr/>
        </p:nvSpPr>
        <p:spPr>
          <a:xfrm>
            <a:off x="3895344" y="2432304"/>
            <a:ext cx="402336" cy="100584"/>
          </a:xfrm>
          <a:prstGeom prst="rect">
            <a:avLst/>
          </a:prstGeom>
          <a:noFill/>
          <a:ln/>
        </p:spPr>
        <p:txBody>
          <a:bodyPr wrap="square" lIns="0" tIns="0" rIns="0" bIns="0" rtlCol="0" anchor="ctr"/>
          <a:lstStyle/>
          <a:p>
            <a:pPr marL="0" indent="0" algn="ctr">
              <a:buNone/>
            </a:pPr>
            <a:r>
              <a:rPr lang="en-US" sz="900" b="1" dirty="0">
                <a:solidFill>
                  <a:srgbClr val="123026"/>
                </a:solidFill>
                <a:latin typeface="Aptos" pitchFamily="34" charset="0"/>
                <a:ea typeface="Aptos" pitchFamily="34" charset="-122"/>
                <a:cs typeface="Aptos" pitchFamily="34" charset="-120"/>
              </a:rPr>
              <a:t>1</a:t>
            </a:r>
            <a:endParaRPr lang="en-US" sz="900" dirty="0"/>
          </a:p>
        </p:txBody>
      </p:sp>
      <p:sp>
        <p:nvSpPr>
          <p:cNvPr id="23" name="Text 21"/>
          <p:cNvSpPr/>
          <p:nvPr/>
        </p:nvSpPr>
        <p:spPr>
          <a:xfrm>
            <a:off x="4462272" y="1517904"/>
            <a:ext cx="2857500" cy="1956816"/>
          </a:xfrm>
          <a:prstGeom prst="rect">
            <a:avLst/>
          </a:prstGeom>
          <a:noFill/>
          <a:ln/>
        </p:spPr>
        <p:txBody>
          <a:bodyPr wrap="square" lIns="0" tIns="0" rIns="0" bIns="0" rtlCol="0" anchor="ctr">
            <a:normAutofit/>
          </a:bodyPr>
          <a:lstStyle/>
          <a:p>
            <a:pPr marL="0" indent="0">
              <a:buNone/>
            </a:pPr>
            <a:r>
              <a:rPr lang="en-US" sz="1530" dirty="0">
                <a:solidFill>
                  <a:srgbClr val="183128"/>
                </a:solidFill>
                <a:latin typeface="Aptos" pitchFamily="34" charset="0"/>
                <a:ea typeface="Aptos" pitchFamily="34" charset="-122"/>
                <a:cs typeface="Aptos" pitchFamily="34" charset="-120"/>
              </a:rPr>
              <a:t>Follow the actual principal at every connection; authenticate and authorize again at each resource.</a:t>
            </a:r>
            <a:endParaRPr lang="en-US" sz="1530" dirty="0"/>
          </a:p>
        </p:txBody>
      </p:sp>
      <p:sp>
        <p:nvSpPr>
          <p:cNvPr id="24" name="Shape 22"/>
          <p:cNvSpPr/>
          <p:nvPr/>
        </p:nvSpPr>
        <p:spPr>
          <a:xfrm>
            <a:off x="7749540" y="1371600"/>
            <a:ext cx="3799332" cy="2249424"/>
          </a:xfrm>
          <a:prstGeom prst="roundRect">
            <a:avLst>
              <a:gd name="adj" fmla="val 3252"/>
            </a:avLst>
          </a:prstGeom>
          <a:solidFill>
            <a:srgbClr val="FFFFFF"/>
          </a:solidFill>
          <a:ln w="10160">
            <a:solidFill>
              <a:srgbClr val="DFF7EC"/>
            </a:solidFill>
            <a:prstDash val="solid"/>
          </a:ln>
        </p:spPr>
      </p:sp>
      <p:sp>
        <p:nvSpPr>
          <p:cNvPr id="25" name="Shape 23"/>
          <p:cNvSpPr/>
          <p:nvPr/>
        </p:nvSpPr>
        <p:spPr>
          <a:xfrm>
            <a:off x="7932420" y="2295144"/>
            <a:ext cx="402336" cy="402336"/>
          </a:xfrm>
          <a:prstGeom prst="ellipse">
            <a:avLst/>
          </a:prstGeom>
          <a:solidFill>
            <a:srgbClr val="35C990"/>
          </a:solidFill>
          <a:ln/>
        </p:spPr>
      </p:sp>
      <p:sp>
        <p:nvSpPr>
          <p:cNvPr id="26" name="Text 24"/>
          <p:cNvSpPr/>
          <p:nvPr/>
        </p:nvSpPr>
        <p:spPr>
          <a:xfrm>
            <a:off x="7932420" y="2432304"/>
            <a:ext cx="402336" cy="100584"/>
          </a:xfrm>
          <a:prstGeom prst="rect">
            <a:avLst/>
          </a:prstGeom>
          <a:noFill/>
          <a:ln/>
        </p:spPr>
        <p:txBody>
          <a:bodyPr wrap="square" lIns="0" tIns="0" rIns="0" bIns="0" rtlCol="0" anchor="ctr"/>
          <a:lstStyle/>
          <a:p>
            <a:pPr marL="0" indent="0" algn="ctr">
              <a:buNone/>
            </a:pPr>
            <a:r>
              <a:rPr lang="en-US" sz="900" b="1" dirty="0">
                <a:solidFill>
                  <a:srgbClr val="123026"/>
                </a:solidFill>
                <a:latin typeface="Aptos" pitchFamily="34" charset="0"/>
                <a:ea typeface="Aptos" pitchFamily="34" charset="-122"/>
                <a:cs typeface="Aptos" pitchFamily="34" charset="-120"/>
              </a:rPr>
              <a:t>2</a:t>
            </a:r>
            <a:endParaRPr lang="en-US" sz="900" dirty="0"/>
          </a:p>
        </p:txBody>
      </p:sp>
      <p:sp>
        <p:nvSpPr>
          <p:cNvPr id="27" name="Text 25"/>
          <p:cNvSpPr/>
          <p:nvPr/>
        </p:nvSpPr>
        <p:spPr>
          <a:xfrm>
            <a:off x="8499348" y="1517904"/>
            <a:ext cx="2857500" cy="1956816"/>
          </a:xfrm>
          <a:prstGeom prst="rect">
            <a:avLst/>
          </a:prstGeom>
          <a:noFill/>
          <a:ln/>
        </p:spPr>
        <p:txBody>
          <a:bodyPr wrap="square" lIns="0" tIns="0" rIns="0" bIns="0" rtlCol="0" anchor="ctr">
            <a:normAutofit/>
          </a:bodyPr>
          <a:lstStyle/>
          <a:p>
            <a:pPr marL="0" indent="0">
              <a:buNone/>
            </a:pPr>
            <a:r>
              <a:rPr lang="en-US" sz="1530" dirty="0">
                <a:solidFill>
                  <a:srgbClr val="183128"/>
                </a:solidFill>
                <a:latin typeface="Aptos" pitchFamily="34" charset="0"/>
                <a:ea typeface="Aptos" pitchFamily="34" charset="-122"/>
                <a:cs typeface="Aptos" pitchFamily="34" charset="-120"/>
              </a:rPr>
              <a:t>Least privilege combines role, resource scope, and data-level permissions. Invocation-only callers usually need Foundry Agent Consumer—not a developer role.</a:t>
            </a:r>
            <a:endParaRPr lang="en-US" sz="1530" dirty="0"/>
          </a:p>
        </p:txBody>
      </p:sp>
      <p:sp>
        <p:nvSpPr>
          <p:cNvPr id="28" name="Shape 26"/>
          <p:cNvSpPr/>
          <p:nvPr/>
        </p:nvSpPr>
        <p:spPr>
          <a:xfrm>
            <a:off x="3712464" y="3858768"/>
            <a:ext cx="3799332" cy="2249424"/>
          </a:xfrm>
          <a:prstGeom prst="roundRect">
            <a:avLst>
              <a:gd name="adj" fmla="val 3252"/>
            </a:avLst>
          </a:prstGeom>
          <a:solidFill>
            <a:srgbClr val="FFFFFF"/>
          </a:solidFill>
          <a:ln w="10160">
            <a:solidFill>
              <a:srgbClr val="DFF7EC"/>
            </a:solidFill>
            <a:prstDash val="solid"/>
          </a:ln>
        </p:spPr>
      </p:sp>
      <p:sp>
        <p:nvSpPr>
          <p:cNvPr id="29" name="Shape 27"/>
          <p:cNvSpPr/>
          <p:nvPr/>
        </p:nvSpPr>
        <p:spPr>
          <a:xfrm>
            <a:off x="3895344" y="4782312"/>
            <a:ext cx="402336" cy="402336"/>
          </a:xfrm>
          <a:prstGeom prst="ellipse">
            <a:avLst/>
          </a:prstGeom>
          <a:solidFill>
            <a:srgbClr val="35C990"/>
          </a:solidFill>
          <a:ln/>
        </p:spPr>
      </p:sp>
      <p:sp>
        <p:nvSpPr>
          <p:cNvPr id="30" name="Text 28"/>
          <p:cNvSpPr/>
          <p:nvPr/>
        </p:nvSpPr>
        <p:spPr>
          <a:xfrm>
            <a:off x="3895344" y="4919472"/>
            <a:ext cx="402336" cy="100584"/>
          </a:xfrm>
          <a:prstGeom prst="rect">
            <a:avLst/>
          </a:prstGeom>
          <a:noFill/>
          <a:ln/>
        </p:spPr>
        <p:txBody>
          <a:bodyPr wrap="square" lIns="0" tIns="0" rIns="0" bIns="0" rtlCol="0" anchor="ctr"/>
          <a:lstStyle/>
          <a:p>
            <a:pPr marL="0" indent="0" algn="ctr">
              <a:buNone/>
            </a:pPr>
            <a:r>
              <a:rPr lang="en-US" sz="900" b="1" dirty="0">
                <a:solidFill>
                  <a:srgbClr val="123026"/>
                </a:solidFill>
                <a:latin typeface="Aptos" pitchFamily="34" charset="0"/>
                <a:ea typeface="Aptos" pitchFamily="34" charset="-122"/>
                <a:cs typeface="Aptos" pitchFamily="34" charset="-120"/>
              </a:rPr>
              <a:t>3</a:t>
            </a:r>
            <a:endParaRPr lang="en-US" sz="900" dirty="0"/>
          </a:p>
        </p:txBody>
      </p:sp>
      <p:sp>
        <p:nvSpPr>
          <p:cNvPr id="31" name="Text 29"/>
          <p:cNvSpPr/>
          <p:nvPr/>
        </p:nvSpPr>
        <p:spPr>
          <a:xfrm>
            <a:off x="4462272" y="4005072"/>
            <a:ext cx="2857500" cy="1956816"/>
          </a:xfrm>
          <a:prstGeom prst="rect">
            <a:avLst/>
          </a:prstGeom>
          <a:noFill/>
          <a:ln/>
        </p:spPr>
        <p:txBody>
          <a:bodyPr wrap="square" lIns="0" tIns="0" rIns="0" bIns="0" rtlCol="0" anchor="ctr">
            <a:normAutofit/>
          </a:bodyPr>
          <a:lstStyle/>
          <a:p>
            <a:pPr marL="0" indent="0">
              <a:buNone/>
            </a:pPr>
            <a:r>
              <a:rPr lang="en-US" sz="1530" dirty="0">
                <a:solidFill>
                  <a:srgbClr val="183128"/>
                </a:solidFill>
                <a:latin typeface="Aptos" pitchFamily="34" charset="0"/>
                <a:ea typeface="Aptos" pitchFamily="34" charset="-122"/>
                <a:cs typeface="Aptos" pitchFamily="34" charset="-120"/>
              </a:rPr>
              <a:t>Tool approval, OAuth consent, and downstream authorization are independent decisions.</a:t>
            </a:r>
            <a:endParaRPr lang="en-US" sz="1530" dirty="0"/>
          </a:p>
        </p:txBody>
      </p:sp>
      <p:sp>
        <p:nvSpPr>
          <p:cNvPr id="32" name="Shape 30"/>
          <p:cNvSpPr/>
          <p:nvPr/>
        </p:nvSpPr>
        <p:spPr>
          <a:xfrm>
            <a:off x="7749540" y="3858768"/>
            <a:ext cx="3799332" cy="2249424"/>
          </a:xfrm>
          <a:prstGeom prst="roundRect">
            <a:avLst>
              <a:gd name="adj" fmla="val 3252"/>
            </a:avLst>
          </a:prstGeom>
          <a:solidFill>
            <a:srgbClr val="FFF1CB"/>
          </a:solidFill>
          <a:ln w="10160">
            <a:solidFill>
              <a:srgbClr val="FFC857"/>
            </a:solidFill>
            <a:prstDash val="solid"/>
          </a:ln>
        </p:spPr>
      </p:sp>
      <p:sp>
        <p:nvSpPr>
          <p:cNvPr id="33" name="Shape 31"/>
          <p:cNvSpPr/>
          <p:nvPr/>
        </p:nvSpPr>
        <p:spPr>
          <a:xfrm>
            <a:off x="7932420" y="4782312"/>
            <a:ext cx="402336" cy="402336"/>
          </a:xfrm>
          <a:prstGeom prst="ellipse">
            <a:avLst/>
          </a:prstGeom>
          <a:solidFill>
            <a:srgbClr val="FFC857"/>
          </a:solidFill>
          <a:ln/>
        </p:spPr>
      </p:sp>
      <p:sp>
        <p:nvSpPr>
          <p:cNvPr id="34" name="Text 32"/>
          <p:cNvSpPr/>
          <p:nvPr/>
        </p:nvSpPr>
        <p:spPr>
          <a:xfrm>
            <a:off x="7932420" y="4919472"/>
            <a:ext cx="402336" cy="100584"/>
          </a:xfrm>
          <a:prstGeom prst="rect">
            <a:avLst/>
          </a:prstGeom>
          <a:noFill/>
          <a:ln/>
        </p:spPr>
        <p:txBody>
          <a:bodyPr wrap="square" lIns="0" tIns="0" rIns="0" bIns="0" rtlCol="0" anchor="ctr"/>
          <a:lstStyle/>
          <a:p>
            <a:pPr marL="0" indent="0" algn="ctr">
              <a:buNone/>
            </a:pPr>
            <a:r>
              <a:rPr lang="en-US" sz="900" b="1" dirty="0">
                <a:solidFill>
                  <a:srgbClr val="123026"/>
                </a:solidFill>
                <a:latin typeface="Aptos" pitchFamily="34" charset="0"/>
                <a:ea typeface="Aptos" pitchFamily="34" charset="-122"/>
                <a:cs typeface="Aptos" pitchFamily="34" charset="-120"/>
              </a:rPr>
              <a:t>4</a:t>
            </a:r>
            <a:endParaRPr lang="en-US" sz="900" dirty="0"/>
          </a:p>
        </p:txBody>
      </p:sp>
      <p:sp>
        <p:nvSpPr>
          <p:cNvPr id="35" name="Text 33"/>
          <p:cNvSpPr/>
          <p:nvPr/>
        </p:nvSpPr>
        <p:spPr>
          <a:xfrm>
            <a:off x="8499348" y="4005072"/>
            <a:ext cx="2857500" cy="1956816"/>
          </a:xfrm>
          <a:prstGeom prst="rect">
            <a:avLst/>
          </a:prstGeom>
          <a:noFill/>
          <a:ln/>
        </p:spPr>
        <p:txBody>
          <a:bodyPr wrap="square" lIns="0" tIns="0" rIns="0" bIns="0" rtlCol="0" anchor="ctr">
            <a:normAutofit/>
          </a:bodyPr>
          <a:lstStyle/>
          <a:p>
            <a:pPr marL="0" indent="0">
              <a:buNone/>
            </a:pPr>
            <a:r>
              <a:rPr lang="en-US" sz="1530" b="1" dirty="0">
                <a:solidFill>
                  <a:srgbClr val="183128"/>
                </a:solidFill>
                <a:latin typeface="Aptos" pitchFamily="34" charset="0"/>
                <a:ea typeface="Aptos" pitchFamily="34" charset="-122"/>
                <a:cs typeface="Aptos" pitchFamily="34" charset="-120"/>
              </a:rPr>
              <a:t>A unique agent identity does not isolate end users; session IDs and index access do not prove ownership or document permission.</a:t>
            </a:r>
            <a:endParaRPr lang="en-US" sz="1530" dirty="0"/>
          </a:p>
        </p:txBody>
      </p:sp>
      <p:sp>
        <p:nvSpPr>
          <p:cNvPr id="36" name="Text 34"/>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516B62"/>
                </a:solidFill>
                <a:latin typeface="Aptos" pitchFamily="34" charset="0"/>
                <a:ea typeface="Aptos" pitchFamily="34" charset="-122"/>
                <a:cs typeface="Aptos" pitchFamily="34" charset="-120"/>
              </a:rPr>
              <a:t>REFERENCE  learn.microsoft.com/azure/foundry/concepts/authentication-authorization-foundry  ·  +4 more in notes</a:t>
            </a:r>
            <a:endParaRPr lang="en-US" sz="940" dirty="0"/>
          </a:p>
        </p:txBody>
      </p:sp>
      <p:sp>
        <p:nvSpPr>
          <p:cNvPr id="37" name="Shape 35"/>
          <p:cNvSpPr/>
          <p:nvPr/>
        </p:nvSpPr>
        <p:spPr>
          <a:xfrm>
            <a:off x="0" y="6793992"/>
            <a:ext cx="12191695" cy="64008"/>
          </a:xfrm>
          <a:prstGeom prst="rect">
            <a:avLst/>
          </a:prstGeom>
          <a:solidFill>
            <a:srgbClr val="35C99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2087</Words>
  <Application>Microsoft Macintosh PowerPoint</Application>
  <PresentationFormat>Widescreen</PresentationFormat>
  <Paragraphs>160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Identity and Security</dc:title>
  <dc:subject>Day 5 — Production Readiness and Capstone</dc:subject>
  <dc:creator>Building AI Apps and Agents Workshop</dc:creator>
  <cp:lastModifiedBy>Jim Welch</cp:lastModifiedBy>
  <cp:revision>2</cp:revision>
  <dcterms:created xsi:type="dcterms:W3CDTF">2026-09-18T20:55:30Z</dcterms:created>
  <dcterms:modified xsi:type="dcterms:W3CDTF">2026-09-19T18:43:33Z</dcterms:modified>
</cp:coreProperties>
</file>