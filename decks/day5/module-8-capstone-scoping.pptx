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the 60-minute timer immediately; this title consumes no separate lecture block. Workshop outcome: each team leaves with a charter and five-layer sketch, explicit evidence to collect, and owners for unresolved dependencies. A completed lab or functioning agent is not required. Jim circulates from minute zero rather than postponing all review until the final eight minutes.
• GROUNDING SOURCE: docs/day5-plan.md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Facilitate, do not lecture. Ask each team for one sentence in the form “For [user], help with [bounded task] so that [observable outcome].” Then force one explicit non-goal. Capture skills, environment, data, quota, or permission gaps as owned dependencies; no prior lab or environment is required today. Checkpoint at minute 10: problem, user, in-scope task, and non-goals are written.
• GROUNDING SOURCE: docs/day5-plan.md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five-layer sketch is a workshop organizing lens, not Microsoft Foundry product architecture and not five Azure resources. Map each row to the real component or service the team expects to use, then mark identity/data/trust boundaries. Official Foundry architecture instead distinguishes the Foundry resource, projects, project assets, and independently governed connected Azure services. Checkpoint at minute 22: every layer has a component or an explicit not-applicable rationale and at least one trust boundary is marked.
• GROUNDING SOURCE: https://learn.microsoft.com/azure/foundry/concepts/architecture
• GROUNDING SOURCE: docs/day5-plan.md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task says what to implement; a success criterion says what observable evidence must meet which acceptance rule. Challenge “improve answer quality” by asking for cases, expected behavior, evaluator or human check, threshold, boundary, and evidence owner. Teams need 3–5 criteria and at least 10 planned golden-set cases. Thresholds are team decisions, not Microsoft defaults. Checkpoint at minute 32: each criterion names a metric or observation, unit where relevant, case boundary, acceptance rule, evidence, and owner.
• GROUNDING SOURCE: https://learn.microsoft.com/azure/foundry/observability/concepts/trace-agent-concept
• GROUNDING SOURCE: https://learn.microsoft.com/azure/foundry/observability/how-to/evaluation-datasets
• GROUNDING SOURCE: https://learn.microsoft.com/azure/foundry/openai/how-to/evaluate-model-router
• GROUNDING SOURCE: docs/day5-plan.md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Baseline means the known configuration measured first; candidate means a named changed configuration measured against the same documented cases and evaluator settings. Record model/deployment, instructions, tools, knowledge version, evaluator configuration, and run IDs as applicable. Change one thing when practical so the delta is interpretable. Also assign team roles, Week 1 spike/baseline, Week 2 candidate/evaluation, and Week 2–3 rehearsal milestones. Checkpoint at minute 42: both configurations, the planned change, owners, and comparison evidence are named.
• GROUNDING SOURCE: https://learn.microsoft.com/azure/foundry/agents/concepts/development-lifecycle
• GROUNDING SOURCE: https://learn.microsoft.com/azure/foundry/observability/how-to/evaluation-datasets
• GROUNDING SOURCE: https://learn.microsoft.com/azure/foundry/openai/how-to/evaluate-model-router
• GROUNDING SOURCE: docs/day5-plan.md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failure case is a test condition, such as an unauthorized lookup or unsupported question. A control is the deliberately implemented behavior, such as deny, answer only from evidence, or route to an application-owned review path. Do not infer that a drawn control works. Minutes 42–52: peers challenge one failure path and one cost or permission risk. Minutes 52–60: record ready, changes required, or needs review; every gap gets an owner, evidence request, status, and next action. Jim has coached throughout. An unresolved charter must remain explicitly unresolved rather than being counted as approved.
• GROUNDING SOURCE: https://learn.microsoft.com/azure/foundry/concepts/authentication-authorization-foundry
• GROUNDING SOURCE: https://learn.microsoft.com/azure/foundry/concepts/evaluation-evaluators/rag-evaluators
• GROUNDING SOURCE: https://learn.microsoft.com/azure/foundry/concepts/evaluation-evaluators/agent-evaluators
• GROUNDING SOURCE: docs/day5-plan.md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5 · MODULE 8 · 60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Capstone Scoping Working Session</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Leave with a reviewable charter, an architecture sketch, and owned evidence</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docs/day5-plan.md</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8</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00:00–10:00 · Narrow the scenario</a:t>
            </a:r>
            <a:endParaRPr lang="en-US" sz="2800" dirty="0"/>
          </a:p>
        </p:txBody>
      </p:sp>
      <p:sp>
        <p:nvSpPr>
          <p:cNvPr id="5" name="Text 3"/>
          <p:cNvSpPr/>
          <p:nvPr/>
        </p:nvSpPr>
        <p:spPr>
          <a:xfrm>
            <a:off x="502920" y="1078992"/>
            <a:ext cx="7955280" cy="3131185"/>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Name the user</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who receives or acts on the result?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Bound one task</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what begins and ends inside the capstone?</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State the outcome</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what observable change would make it useful?</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Write non-goals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what will this version deliberately not do?</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Own the dependencies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data, permissions, skills, environment, quota; do not hide unknowns</a:t>
            </a:r>
            <a:endParaRPr lang="en-US" sz="1600" dirty="0"/>
          </a:p>
        </p:txBody>
      </p:sp>
      <p:sp>
        <p:nvSpPr>
          <p:cNvPr id="6" name="Text 4"/>
          <p:cNvSpPr/>
          <p:nvPr/>
        </p:nvSpPr>
        <p:spPr>
          <a:xfrm>
            <a:off x="365760" y="4338193"/>
            <a:ext cx="8412480" cy="370967"/>
          </a:xfrm>
          <a:prstGeom prst="rect">
            <a:avLst/>
          </a:prstGeom>
          <a:noFill/>
          <a:ln/>
        </p:spPr>
        <p:txBody>
          <a:bodyPr wrap="square" lIns="0" tIns="0" rIns="0" bIns="0" rtlCol="0" anchor="t">
            <a:normAutofit/>
          </a:bodyPr>
          <a:lstStyle/>
          <a:p>
            <a:pPr indent="0" marL="0">
              <a:spcAft>
                <a:spcPts val="800"/>
              </a:spcAft>
              <a:buNone/>
            </a:pPr>
            <a:r>
              <a:rPr lang="en-US" sz="1300" dirty="0">
                <a:solidFill>
                  <a:srgbClr val="6B7280"/>
                </a:solidFill>
                <a:latin typeface="Calibri" pitchFamily="34" charset="0"/>
                <a:ea typeface="Calibri" pitchFamily="34" charset="-122"/>
                <a:cs typeface="Calibri" pitchFamily="34" charset="-120"/>
              </a:rPr>
              <a:t>Output: a one-sentence problem statement, in-scope task, and explicit non-goals.</a:t>
            </a:r>
            <a:endParaRPr lang="en-US" sz="130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docs/day5-plan.md</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8</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10:00–22:00 · Sketch the five-layer workshop lens</a:t>
            </a:r>
            <a:endParaRPr lang="en-US" sz="2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333686"/>
                <a:gridCol w="7078794"/>
              </a:tblGrid>
              <a:tr h="4874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Workshop lens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Prompt for the sketch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4874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Name the Foundry deployment that supplies inference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874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Runtime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Name where the MAF agent or workflow executes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4874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Name the Toolbox, MCP, or function-tool boundary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874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Knowledge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Name the Foundry IQ source or custom RAG path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4874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Ops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Place identity, safety, evaluation, trace, latency, and cost evidence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3"/>
          <p:cNvSpPr/>
          <p:nvPr/>
        </p:nvSpPr>
        <p:spPr>
          <a:xfrm>
            <a:off x="365760" y="4131818"/>
            <a:ext cx="8412480" cy="577342"/>
          </a:xfrm>
          <a:prstGeom prst="rect">
            <a:avLst/>
          </a:prstGeom>
          <a:noFill/>
          <a:ln/>
        </p:spPr>
        <p:txBody>
          <a:bodyPr wrap="square" lIns="0" tIns="0" rIns="0" bIns="0" rtlCol="0" anchor="t">
            <a:normAutofit/>
          </a:bodyPr>
          <a:lstStyle/>
          <a:p>
            <a:pPr indent="0" marL="0">
              <a:spcAft>
                <a:spcPts val="800"/>
              </a:spcAft>
              <a:buNone/>
            </a:pPr>
            <a:r>
              <a:rPr lang="en-US" sz="1300" dirty="0">
                <a:solidFill>
                  <a:srgbClr val="6B7280"/>
                </a:solidFill>
                <a:latin typeface="Calibri" pitchFamily="34" charset="0"/>
                <a:ea typeface="Calibri" pitchFamily="34" charset="-122"/>
                <a:cs typeface="Calibri" pitchFamily="34" charset="-120"/>
              </a:rPr>
              <a:t>Label actual resources and trust boundaries. Do not draw five boxes and call them five Azure resources.</a:t>
            </a:r>
            <a:endParaRPr lang="en-US" sz="1300" dirty="0"/>
          </a:p>
        </p:txBody>
      </p:sp>
      <p:sp>
        <p:nvSpPr>
          <p:cNvPr id="7" name="Shape 4"/>
          <p:cNvSpPr/>
          <p:nvPr/>
        </p:nvSpPr>
        <p:spPr>
          <a:xfrm>
            <a:off x="365760" y="4773168"/>
            <a:ext cx="8412480" cy="0"/>
          </a:xfrm>
          <a:prstGeom prst="line">
            <a:avLst/>
          </a:prstGeom>
          <a:noFill/>
          <a:ln w="6350">
            <a:solidFill>
              <a:srgbClr val="D1D5DB"/>
            </a:solidFill>
            <a:prstDash val="solid"/>
          </a:ln>
        </p:spPr>
      </p:sp>
      <p:sp>
        <p:nvSpPr>
          <p:cNvPr id="8"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https://learn.microsoft.com/azure/foundry/concepts/architecture  ·  +1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8</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22:00–32:00 · Write criteria, not tasks</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Implementation task</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“Enable tracing”</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“Add an evaluator”</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“Configure a permission”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Describes work, not proof</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Success criterion</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“For GS-04, the trace identifies the failed retrieval span”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“On the same ≥10 cases, record initial and final Foundry evaluator results”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“The restricted-document case is denied at the named boundary”</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Names the evidence and acceptance rule</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https://learn.microsoft.com/azure/foundry/observability/concepts/trace-agent-concept  ·  +3 in notes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8</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32:00–42:00 · Define baseline and candidate</a:t>
            </a:r>
            <a:endParaRPr lang="en-US" sz="2500" dirty="0"/>
          </a:p>
        </p:txBody>
      </p:sp>
      <p:sp>
        <p:nvSpPr>
          <p:cNvPr id="5" name="Shape 3"/>
          <p:cNvSpPr/>
          <p:nvPr/>
        </p:nvSpPr>
        <p:spPr>
          <a:xfrm>
            <a:off x="365760" y="1216152"/>
            <a:ext cx="1911096" cy="2148840"/>
          </a:xfrm>
          <a:prstGeom prst="roundRect">
            <a:avLst>
              <a:gd name="adj" fmla="val 2871"/>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252728" cy="549402"/>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Freeze the baseline</a:t>
            </a:r>
            <a:endParaRPr lang="en-US" sz="1500" dirty="0"/>
          </a:p>
        </p:txBody>
      </p:sp>
      <p:sp>
        <p:nvSpPr>
          <p:cNvPr id="9" name="Text 7"/>
          <p:cNvSpPr/>
          <p:nvPr/>
        </p:nvSpPr>
        <p:spPr>
          <a:xfrm>
            <a:off x="512064" y="1939290"/>
            <a:ext cx="1618488" cy="133426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Record configuration, cases, evaluator settings, trace link, and initial result</a:t>
            </a:r>
            <a:endParaRPr lang="en-US" sz="1150" dirty="0"/>
          </a:p>
        </p:txBody>
      </p:sp>
      <p:sp>
        <p:nvSpPr>
          <p:cNvPr id="10" name="Shape 8"/>
          <p:cNvSpPr/>
          <p:nvPr/>
        </p:nvSpPr>
        <p:spPr>
          <a:xfrm>
            <a:off x="2313432" y="2180844"/>
            <a:ext cx="164592" cy="219456"/>
          </a:xfrm>
          <a:prstGeom prst="chevron">
            <a:avLst/>
          </a:prstGeom>
          <a:solidFill>
            <a:srgbClr val="E8A87C"/>
          </a:solidFill>
          <a:ln/>
        </p:spPr>
      </p:sp>
      <p:sp>
        <p:nvSpPr>
          <p:cNvPr id="11" name="Shape 9"/>
          <p:cNvSpPr/>
          <p:nvPr/>
        </p:nvSpPr>
        <p:spPr>
          <a:xfrm>
            <a:off x="2532888" y="1216152"/>
            <a:ext cx="1911096" cy="2148840"/>
          </a:xfrm>
          <a:prstGeom prst="roundRect">
            <a:avLst>
              <a:gd name="adj" fmla="val 2871"/>
            </a:avLst>
          </a:prstGeom>
          <a:solidFill>
            <a:srgbClr val="F3F4F6"/>
          </a:solidFill>
          <a:ln w="10160">
            <a:solidFill>
              <a:srgbClr val="D1D5DB"/>
            </a:solidFill>
            <a:prstDash val="solid"/>
          </a:ln>
        </p:spPr>
      </p:sp>
      <p:sp>
        <p:nvSpPr>
          <p:cNvPr id="12" name="Shape 10"/>
          <p:cNvSpPr/>
          <p:nvPr/>
        </p:nvSpPr>
        <p:spPr>
          <a:xfrm>
            <a:off x="2642616" y="1335024"/>
            <a:ext cx="320040" cy="320040"/>
          </a:xfrm>
          <a:prstGeom prst="ellipse">
            <a:avLst/>
          </a:prstGeom>
          <a:solidFill>
            <a:srgbClr val="1E2761"/>
          </a:solidFill>
          <a:ln/>
        </p:spPr>
      </p:sp>
      <p:sp>
        <p:nvSpPr>
          <p:cNvPr id="13" name="Text 11"/>
          <p:cNvSpPr/>
          <p:nvPr/>
        </p:nvSpPr>
        <p:spPr>
          <a:xfrm>
            <a:off x="264261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063240" y="1335024"/>
            <a:ext cx="1252728" cy="549402"/>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Name one candidate change</a:t>
            </a:r>
            <a:endParaRPr lang="en-US" sz="1500" dirty="0"/>
          </a:p>
        </p:txBody>
      </p:sp>
      <p:sp>
        <p:nvSpPr>
          <p:cNvPr id="15" name="Text 13"/>
          <p:cNvSpPr/>
          <p:nvPr/>
        </p:nvSpPr>
        <p:spPr>
          <a:xfrm>
            <a:off x="2679192" y="1939290"/>
            <a:ext cx="1618488" cy="133426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Instruction, tool, retrieval, control, or orchestration—not “everything”</a:t>
            </a:r>
            <a:endParaRPr lang="en-US" sz="1150" dirty="0"/>
          </a:p>
        </p:txBody>
      </p:sp>
      <p:sp>
        <p:nvSpPr>
          <p:cNvPr id="16" name="Shape 14"/>
          <p:cNvSpPr/>
          <p:nvPr/>
        </p:nvSpPr>
        <p:spPr>
          <a:xfrm>
            <a:off x="4480560" y="2180844"/>
            <a:ext cx="164592" cy="219456"/>
          </a:xfrm>
          <a:prstGeom prst="chevron">
            <a:avLst/>
          </a:prstGeom>
          <a:solidFill>
            <a:srgbClr val="E8A87C"/>
          </a:solidFill>
          <a:ln/>
        </p:spPr>
      </p:sp>
      <p:sp>
        <p:nvSpPr>
          <p:cNvPr id="17" name="Shape 15"/>
          <p:cNvSpPr/>
          <p:nvPr/>
        </p:nvSpPr>
        <p:spPr>
          <a:xfrm>
            <a:off x="4700016" y="1216152"/>
            <a:ext cx="1911096" cy="2148840"/>
          </a:xfrm>
          <a:prstGeom prst="roundRect">
            <a:avLst>
              <a:gd name="adj" fmla="val 2871"/>
            </a:avLst>
          </a:prstGeom>
          <a:solidFill>
            <a:srgbClr val="F3F4F6"/>
          </a:solidFill>
          <a:ln w="10160">
            <a:solidFill>
              <a:srgbClr val="D1D5DB"/>
            </a:solidFill>
            <a:prstDash val="solid"/>
          </a:ln>
        </p:spPr>
      </p:sp>
      <p:sp>
        <p:nvSpPr>
          <p:cNvPr id="18" name="Shape 16"/>
          <p:cNvSpPr/>
          <p:nvPr/>
        </p:nvSpPr>
        <p:spPr>
          <a:xfrm>
            <a:off x="4809744" y="1335024"/>
            <a:ext cx="320040" cy="320040"/>
          </a:xfrm>
          <a:prstGeom prst="ellipse">
            <a:avLst/>
          </a:prstGeom>
          <a:solidFill>
            <a:srgbClr val="1E2761"/>
          </a:solidFill>
          <a:ln/>
        </p:spPr>
      </p:sp>
      <p:sp>
        <p:nvSpPr>
          <p:cNvPr id="19" name="Text 17"/>
          <p:cNvSpPr/>
          <p:nvPr/>
        </p:nvSpPr>
        <p:spPr>
          <a:xfrm>
            <a:off x="4809744"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5230368" y="1335024"/>
            <a:ext cx="1252728" cy="78752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Hold the comparison stable</a:t>
            </a:r>
            <a:endParaRPr lang="en-US" sz="1500" dirty="0"/>
          </a:p>
        </p:txBody>
      </p:sp>
      <p:sp>
        <p:nvSpPr>
          <p:cNvPr id="21" name="Text 19"/>
          <p:cNvSpPr/>
          <p:nvPr/>
        </p:nvSpPr>
        <p:spPr>
          <a:xfrm>
            <a:off x="4846320" y="2177415"/>
            <a:ext cx="1618488" cy="1096137"/>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Same documented cases and evaluator settings; record versions and run IDs</a:t>
            </a:r>
            <a:endParaRPr lang="en-US" sz="1150" dirty="0"/>
          </a:p>
        </p:txBody>
      </p:sp>
      <p:sp>
        <p:nvSpPr>
          <p:cNvPr id="22" name="Shape 20"/>
          <p:cNvSpPr/>
          <p:nvPr/>
        </p:nvSpPr>
        <p:spPr>
          <a:xfrm>
            <a:off x="6647688" y="2180844"/>
            <a:ext cx="164592" cy="219456"/>
          </a:xfrm>
          <a:prstGeom prst="chevron">
            <a:avLst/>
          </a:prstGeom>
          <a:solidFill>
            <a:srgbClr val="E8A87C"/>
          </a:solidFill>
          <a:ln/>
        </p:spPr>
      </p:sp>
      <p:sp>
        <p:nvSpPr>
          <p:cNvPr id="23" name="Shape 21"/>
          <p:cNvSpPr/>
          <p:nvPr/>
        </p:nvSpPr>
        <p:spPr>
          <a:xfrm>
            <a:off x="6867144" y="1216152"/>
            <a:ext cx="1911096" cy="2148840"/>
          </a:xfrm>
          <a:prstGeom prst="roundRect">
            <a:avLst>
              <a:gd name="adj" fmla="val 2871"/>
            </a:avLst>
          </a:prstGeom>
          <a:solidFill>
            <a:srgbClr val="CADCFC"/>
          </a:solidFill>
          <a:ln w="10160">
            <a:solidFill>
              <a:srgbClr val="1E2761"/>
            </a:solidFill>
            <a:prstDash val="solid"/>
          </a:ln>
        </p:spPr>
      </p:sp>
      <p:sp>
        <p:nvSpPr>
          <p:cNvPr id="24" name="Shape 22"/>
          <p:cNvSpPr/>
          <p:nvPr/>
        </p:nvSpPr>
        <p:spPr>
          <a:xfrm>
            <a:off x="6976872" y="1335024"/>
            <a:ext cx="320040" cy="320040"/>
          </a:xfrm>
          <a:prstGeom prst="ellipse">
            <a:avLst/>
          </a:prstGeom>
          <a:solidFill>
            <a:srgbClr val="1E2761"/>
          </a:solidFill>
          <a:ln/>
        </p:spPr>
      </p:sp>
      <p:sp>
        <p:nvSpPr>
          <p:cNvPr id="25" name="Text 23"/>
          <p:cNvSpPr/>
          <p:nvPr/>
        </p:nvSpPr>
        <p:spPr>
          <a:xfrm>
            <a:off x="697687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6" name="Text 24"/>
          <p:cNvSpPr/>
          <p:nvPr/>
        </p:nvSpPr>
        <p:spPr>
          <a:xfrm>
            <a:off x="7397496" y="1335024"/>
            <a:ext cx="1252728" cy="549402"/>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Assign the checkpoints</a:t>
            </a:r>
            <a:endParaRPr lang="en-US" sz="1500" dirty="0"/>
          </a:p>
        </p:txBody>
      </p:sp>
      <p:sp>
        <p:nvSpPr>
          <p:cNvPr id="27" name="Text 25"/>
          <p:cNvSpPr/>
          <p:nvPr/>
        </p:nvSpPr>
        <p:spPr>
          <a:xfrm>
            <a:off x="7013448" y="1939290"/>
            <a:ext cx="1618488" cy="133426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Week 1 spike/baseline · Week 2 candidate/final result · Week 2–3 rehearsal</a:t>
            </a:r>
            <a:endParaRPr lang="en-US" sz="1150" dirty="0"/>
          </a:p>
        </p:txBody>
      </p:sp>
      <p:sp>
        <p:nvSpPr>
          <p:cNvPr id="28" name="Text 26"/>
          <p:cNvSpPr/>
          <p:nvPr/>
        </p:nvSpPr>
        <p:spPr>
          <a:xfrm>
            <a:off x="365760" y="4338193"/>
            <a:ext cx="8412480" cy="370967"/>
          </a:xfrm>
          <a:prstGeom prst="rect">
            <a:avLst/>
          </a:prstGeom>
          <a:noFill/>
          <a:ln/>
        </p:spPr>
        <p:txBody>
          <a:bodyPr wrap="square" lIns="0" tIns="0" rIns="0" bIns="0" rtlCol="0" anchor="t">
            <a:normAutofit/>
          </a:bodyPr>
          <a:lstStyle/>
          <a:p>
            <a:pPr indent="0" marL="0">
              <a:spcAft>
                <a:spcPts val="800"/>
              </a:spcAft>
              <a:buNone/>
            </a:pPr>
            <a:r>
              <a:rPr lang="en-US" sz="1300" dirty="0">
                <a:solidFill>
                  <a:srgbClr val="6B7280"/>
                </a:solidFill>
                <a:latin typeface="Calibri" pitchFamily="34" charset="0"/>
                <a:ea typeface="Calibri" pitchFamily="34" charset="-122"/>
                <a:cs typeface="Calibri" pitchFamily="34" charset="-120"/>
              </a:rPr>
              <a:t>Improvement is a measured delta against an acceptance rule, not a better-looking demo.</a:t>
            </a:r>
            <a:endParaRPr lang="en-US" sz="1300" dirty="0"/>
          </a:p>
        </p:txBody>
      </p:sp>
      <p:sp>
        <p:nvSpPr>
          <p:cNvPr id="29" name="Shape 27"/>
          <p:cNvSpPr/>
          <p:nvPr/>
        </p:nvSpPr>
        <p:spPr>
          <a:xfrm>
            <a:off x="365760" y="4773168"/>
            <a:ext cx="8412480" cy="0"/>
          </a:xfrm>
          <a:prstGeom prst="line">
            <a:avLst/>
          </a:prstGeom>
          <a:noFill/>
          <a:ln w="6350">
            <a:solidFill>
              <a:srgbClr val="D1D5DB"/>
            </a:solidFill>
            <a:prstDash val="solid"/>
          </a:ln>
        </p:spPr>
      </p:sp>
      <p:sp>
        <p:nvSpPr>
          <p:cNvPr id="30" name="Text 2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https://learn.microsoft.com/azure/foundry/agents/concepts/development-lifecycle  ·  +3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5 · Module 8</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42:00–60:00 · Challenge, coach, and record disposition</a:t>
            </a:r>
            <a:endParaRPr lang="en-US" sz="2300" dirty="0"/>
          </a:p>
        </p:txBody>
      </p:sp>
      <p:sp>
        <p:nvSpPr>
          <p:cNvPr id="5" name="Text 3"/>
          <p:cNvSpPr/>
          <p:nvPr/>
        </p:nvSpPr>
        <p:spPr>
          <a:xfrm>
            <a:off x="502920" y="1078992"/>
            <a:ext cx="7955280" cy="292481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42:00–52:00 · Failure path</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Choose one failure case, its control, enforcement point, expected outcome, and verifying evidence</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42:00–52:00 · Risk check</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Challenge one permission or cost/latency assumption; name its owner and smallest test</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52:00–60:00 · Review</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Record Reviewed—ready, Reviewed—changes required, or Needs review</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52:00–60:00 · Close gaps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Give every open item a status, owner, evidence request, and next action</a:t>
            </a:r>
            <a:endParaRPr lang="en-US" sz="1600" dirty="0"/>
          </a:p>
        </p:txBody>
      </p:sp>
      <p:sp>
        <p:nvSpPr>
          <p:cNvPr id="6" name="Text 4"/>
          <p:cNvSpPr/>
          <p:nvPr/>
        </p:nvSpPr>
        <p:spPr>
          <a:xfrm>
            <a:off x="365760" y="4131818"/>
            <a:ext cx="8412480" cy="577342"/>
          </a:xfrm>
          <a:prstGeom prst="rect">
            <a:avLst/>
          </a:prstGeom>
          <a:noFill/>
          <a:ln/>
        </p:spPr>
        <p:txBody>
          <a:bodyPr wrap="square" lIns="0" tIns="0" rIns="0" bIns="0" rtlCol="0" anchor="t">
            <a:normAutofit/>
          </a:bodyPr>
          <a:lstStyle/>
          <a:p>
            <a:pPr indent="0" marL="0">
              <a:spcAft>
                <a:spcPts val="800"/>
              </a:spcAft>
              <a:buNone/>
            </a:pPr>
            <a:r>
              <a:rPr lang="en-US" sz="1300" dirty="0">
                <a:solidFill>
                  <a:srgbClr val="6B7280"/>
                </a:solidFill>
                <a:latin typeface="Calibri" pitchFamily="34" charset="0"/>
                <a:ea typeface="Calibri" pitchFamily="34" charset="-122"/>
                <a:cs typeface="Calibri" pitchFamily="34" charset="-120"/>
              </a:rPr>
              <a:t>Final checkpoint: charter + sketch + ≥10 planned cases + milestones + review disposition + individual 30-day next steps.</a:t>
            </a:r>
            <a:endParaRPr lang="en-US" sz="130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https://learn.microsoft.com/azure/foundry/concepts/authentication-authorization-foundry  ·  +3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Capstone Scoping Working Session</dc:title>
  <dc:subject>Day 5 — Production Readiness + Capstone Kickoff</dc:subject>
  <dc:creator>Building AI Apps and Agents Workshop</dc:creator>
  <cp:lastModifiedBy>Building AI Apps and Agents Workshop</cp:lastModifiedBy>
  <cp:revision>1</cp:revision>
  <dcterms:created xsi:type="dcterms:W3CDTF">2026-09-18T14:51:05Z</dcterms:created>
  <dcterms:modified xsi:type="dcterms:W3CDTF">2026-09-18T14:51:05Z</dcterms:modified>
</cp:coreProperties>
</file>