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5" r:id="rId3"/>
    <p:sldId id="266" r:id="rId4"/>
    <p:sldId id="257" r:id="rId5"/>
    <p:sldId id="258" r:id="rId6"/>
    <p:sldId id="259" r:id="rId7"/>
    <p:sldId id="260" r:id="rId8"/>
    <p:sldId id="261" r:id="rId9"/>
    <p:sldId id="262" r:id="rId10"/>
    <p:sldId id="263" r:id="rId11"/>
    <p:sldId id="264"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6266"/>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Frame the module around one architecture decision: meet an explicit quality floor while measuring latency and cost in their own units. Use the presenter-prepared reference-agent evidence; nobody needs a Day 4 lab result or an attendee-owned deployment. There is no promised saving or universally best route.
• GROUNDING SOURCE: https://learn.microsoft.com/azure/foundry/openai/how-to/latency
• GROUNDING SOURCE: https://learn.microsoft.com/azure/foundry/openai/how-to/evaluate-model-router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Introduce the two sizing questions before discussing individual metrics. System-level throughput is deployment capacity across the workload and is measured with request volume and tokens per minute. Per-call latency is the response time for one model call. Optimizing one does not automatically optimize the other, so define both requirements explicitly.
• GROUNDING SOURCE: https://learn.microsoft.com/en-us/azure/foundry/openai/how-to/latency#understanding-throughput-vs-latency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081639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a sizing estimate, not a throughput guarantee. For representative requests, estimate input TPM as prompt tokens per request times requests per minute and output TPM as completion tokens per request times requests per minute. Add them for total TPM. Azure Monitor can provide Processed Prompt Tokens and Generated Completion Tokens over one-minute windows; analyze minimum, average, and maximum values over multiple weeks. Prompt caching makes that monitor-based estimate conservative. Standard quota governs admission but does not directly guarantee achieved throughput. Provisioned throughput also depends on input tokens, output tokens, call rate, and cache match rate.
• GROUNDING SOURCE: https://learn.microsoft.com/en-us/azure/foundry/openai/how-to/latency#system-level-throughput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947283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Spend about four minutes separating the signals. TTFT describes responsiveness and TTLT describes model completion; neither automatically includes retrieval, tools, queues, retries, or later model calls in a workflow. Streaming can improve perceived responsiveness without shortening completion, while throughput answers a capacity question rather than a single-request timing question.
• GROUNDING SOURCE: https://learn.microsoft.com/azure/foundry/openai/how-to/latency
• GROUNDING SOURCE: https://learn.microsoft.com/agent-framework/workflows/observability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Token telemetry is a useful usage proxy, not a bill. To estimate currency, record model and version, input/output/cache categories, rate units, currency, and pricing date, then include non-model services and evaluation overhead separately. Cost per successful outcome also needs a defensible success count; with zero successes it is undefined rather than zero.
• GROUNDING SOURCE: https://learn.microsoft.com/agent-framework/agents/observability
• GROUNDING SOURCE: https://learn.microsoft.com/azure/foundry/openai/how-to/prompt-caching
• GROUNDING SOURCE: https://learn.microsoft.com/azure/foundry/openai/how-to/evaluate-model-router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Prompt caching reuses temporary computation for matching input prefixes; the model still generates a response. A response cache reuses an application-stored answer and therefore needs an explicit key, freshness policy, authorization check, and invalidation strategy. Cache support, retention, reads, writes, and charges are model- and deployment-specific, so verify them rather than generalizing.
• GROUNDING SOURCE: https://learn.microsoft.com/azure/foundry/openai/how-to/prompt-caching
• GROUNDING SOURCE: https://learn.microsoft.com/azure/search/search-document-level-access-overview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Keep the product boundary precise. Foundry model router analyzes the request and selects an eligible model before generation according to its configured mode and pool; it is not an application quality checker that grades an answer and retries on a stronger model. Application-owned escalation can do that, but its quality check, retry budget, history handling, and failure response are your design.
• GROUNDING SOURCE: https://learn.microsoft.com/azure/foundry/openai/concepts/model-router
• GROUNDING SOURCE: https://learn.microsoft.com/azure/foundry/openai/concepts/model-router-how-it-works
• GROUNDING SOURCE: https://learn.microsoft.com/azure/foundry/openai/how-to/evaluate-model-router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model switch is not a history transfer. Caller-managed messages can be replayed when the destination supports their roles, content, tool calls, and results; a service-owned conversation or response ID refers to state at its originating service and scope. The documented MAF routing helper is experimental .NET; Python support is unavailable, so this is architecture guidance rather than a Python demo.
• GROUNDING SOURCE: https://learn.microsoft.com/agent-framework/concepts/agents/runtime-model-routing
• GROUNDING SOURCE: https://learn.microsoft.com/azure/foundry/openai/concepts/model-router-how-it-works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Batch processing accepts asynchronous groups of requests and returns results later; it is suitable when a user is not waiting. It does not reduce the interactive request's first-token latency. Before choosing it, verify supported models, data location, quota, turnaround, and current pricing for the exact deployment rather than repeating a generic savings claim.
• GROUNDING SOURCE: https://learn.microsoft.com/azure/foundry/openai/how-to/batch
• GROUNDING SOURCE: https://learn.microsoft.com/azure/foundry/concepts/architecture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Use only the runbook's presenter-prepared synthetic evidence: two bounded runs of the same case, one draft-only and one with a single revision. Read first-visible and completion time, input/output/cache usage, the explicit illustrative rate card, the outcome check, and the stop reason. Do not launch a router, deploy a model, wait on a cloud evaluation, or imply that this one case guarantees savings.
• GROUNDING SOURCE: https://learn.microsoft.com/agent-framework/agents/observability
• GROUNDING SOURCE: https://learn.microsoft.com/agent-framework/workflows/observability
• GROUNDING SOURCE: https://learn.microsoft.com/agent-framework/agents/evaluation
• GROUNDING SOURCE: https://learn.microsoft.com/azure/foundry/openai/how-to/evaluate-model-router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Close in three minutes. A revision or turn cap bounds one dimension of work; it does not cap every token, tool charge, evaluator call, elapsed second, or Azure invoice. Ask for a stop policy that preserves correctness: return a bounded partial answer, defer asynchronous work, or route to an application-owned review path with an explicit owner.
• GROUNDING SOURCE: https://learn.microsoft.com/azure/foundry/openai/how-to/evaluate-model-router
• GROUNDING SOURCE: https://learn.microsoft.com/agent-framework/agents/evaluation
• GROUNDING SOURCE: https://learn.microsoft.com/azure/foundry/concepts/observability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2B17"/>
        </a:solidFill>
        <a:effectLst/>
      </p:bgPr>
    </p:bg>
    <p:spTree>
      <p:nvGrpSpPr>
        <p:cNvPr id="1" name=""/>
        <p:cNvGrpSpPr/>
        <p:nvPr/>
      </p:nvGrpSpPr>
      <p:grpSpPr>
        <a:xfrm>
          <a:off x="0" y="0"/>
          <a:ext cx="0" cy="0"/>
          <a:chOff x="0" y="0"/>
          <a:chExt cx="0" cy="0"/>
        </a:xfrm>
      </p:grpSpPr>
      <p:sp>
        <p:nvSpPr>
          <p:cNvPr id="2" name="Shape 0"/>
          <p:cNvSpPr/>
          <p:nvPr/>
        </p:nvSpPr>
        <p:spPr>
          <a:xfrm>
            <a:off x="7973568" y="137160"/>
            <a:ext cx="3886200" cy="3886200"/>
          </a:xfrm>
          <a:prstGeom prst="ellipse">
            <a:avLst/>
          </a:prstGeom>
          <a:solidFill>
            <a:srgbClr val="E8F4D7"/>
          </a:solidFill>
          <a:ln/>
        </p:spPr>
        <p:txBody>
          <a:bodyPr/>
          <a:lstStyle/>
          <a:p>
            <a:endParaRPr lang="en-US"/>
          </a:p>
        </p:txBody>
      </p:sp>
      <p:sp>
        <p:nvSpPr>
          <p:cNvPr id="3" name="Shape 1"/>
          <p:cNvSpPr/>
          <p:nvPr/>
        </p:nvSpPr>
        <p:spPr>
          <a:xfrm>
            <a:off x="8394192" y="557784"/>
            <a:ext cx="3044952" cy="3044952"/>
          </a:xfrm>
          <a:prstGeom prst="ellipse">
            <a:avLst/>
          </a:prstGeom>
          <a:solidFill>
            <a:srgbClr val="252B17"/>
          </a:solidFill>
          <a:ln/>
        </p:spPr>
        <p:txBody>
          <a:bodyPr/>
          <a:lstStyle/>
          <a:p>
            <a:endParaRPr lang="en-US"/>
          </a:p>
        </p:txBody>
      </p:sp>
      <p:sp>
        <p:nvSpPr>
          <p:cNvPr id="4" name="Shape 2"/>
          <p:cNvSpPr/>
          <p:nvPr/>
        </p:nvSpPr>
        <p:spPr>
          <a:xfrm>
            <a:off x="9175090" y="2595524"/>
            <a:ext cx="421996" cy="811530"/>
          </a:xfrm>
          <a:prstGeom prst="rect">
            <a:avLst/>
          </a:prstGeom>
          <a:solidFill>
            <a:srgbClr val="72B01D"/>
          </a:solidFill>
          <a:ln/>
        </p:spPr>
        <p:txBody>
          <a:bodyPr/>
          <a:lstStyle/>
          <a:p>
            <a:endParaRPr lang="en-US"/>
          </a:p>
        </p:txBody>
      </p:sp>
      <p:sp>
        <p:nvSpPr>
          <p:cNvPr id="5" name="Shape 3"/>
          <p:cNvSpPr/>
          <p:nvPr/>
        </p:nvSpPr>
        <p:spPr>
          <a:xfrm>
            <a:off x="9889236" y="1913839"/>
            <a:ext cx="421996" cy="1493215"/>
          </a:xfrm>
          <a:prstGeom prst="rect">
            <a:avLst/>
          </a:prstGeom>
          <a:solidFill>
            <a:srgbClr val="72B01D"/>
          </a:solidFill>
          <a:ln/>
        </p:spPr>
        <p:txBody>
          <a:bodyPr/>
          <a:lstStyle/>
          <a:p>
            <a:endParaRPr lang="en-US"/>
          </a:p>
        </p:txBody>
      </p:sp>
      <p:sp>
        <p:nvSpPr>
          <p:cNvPr id="6" name="Shape 4"/>
          <p:cNvSpPr/>
          <p:nvPr/>
        </p:nvSpPr>
        <p:spPr>
          <a:xfrm>
            <a:off x="10603382" y="1134770"/>
            <a:ext cx="421996" cy="2272284"/>
          </a:xfrm>
          <a:prstGeom prst="rect">
            <a:avLst/>
          </a:prstGeom>
          <a:solidFill>
            <a:srgbClr val="D8A846"/>
          </a:solidFill>
          <a:ln/>
        </p:spPr>
        <p:txBody>
          <a:bodyPr/>
          <a:lstStyle/>
          <a:p>
            <a:endParaRPr lang="en-US"/>
          </a:p>
        </p:txBody>
      </p:sp>
      <p:sp>
        <p:nvSpPr>
          <p:cNvPr id="7" name="Shape 5"/>
          <p:cNvSpPr/>
          <p:nvPr/>
        </p:nvSpPr>
        <p:spPr>
          <a:xfrm>
            <a:off x="11317529" y="485546"/>
            <a:ext cx="421996" cy="2921508"/>
          </a:xfrm>
          <a:prstGeom prst="rect">
            <a:avLst/>
          </a:prstGeom>
          <a:solidFill>
            <a:srgbClr val="D8A846"/>
          </a:solidFill>
          <a:ln/>
        </p:spPr>
        <p:txBody>
          <a:bodyPr/>
          <a:lstStyle/>
          <a:p>
            <a:endParaRPr lang="en-US"/>
          </a:p>
        </p:txBody>
      </p:sp>
      <p:sp>
        <p:nvSpPr>
          <p:cNvPr id="8" name="Shape 6"/>
          <p:cNvSpPr/>
          <p:nvPr/>
        </p:nvSpPr>
        <p:spPr>
          <a:xfrm>
            <a:off x="9175090" y="940003"/>
            <a:ext cx="2661818" cy="2012594"/>
          </a:xfrm>
          <a:prstGeom prst="line">
            <a:avLst/>
          </a:prstGeom>
          <a:noFill/>
          <a:ln w="25400">
            <a:solidFill>
              <a:srgbClr val="FFFFFF"/>
            </a:solidFill>
            <a:prstDash val="solid"/>
          </a:ln>
        </p:spPr>
        <p:txBody>
          <a:bodyPr/>
          <a:lstStyle/>
          <a:p>
            <a:endParaRPr lang="en-US"/>
          </a:p>
        </p:txBody>
      </p:sp>
      <p:sp>
        <p:nvSpPr>
          <p:cNvPr id="9" name="Shape 7"/>
          <p:cNvSpPr/>
          <p:nvPr/>
        </p:nvSpPr>
        <p:spPr>
          <a:xfrm>
            <a:off x="713232" y="530352"/>
            <a:ext cx="2148840" cy="365760"/>
          </a:xfrm>
          <a:prstGeom prst="roundRect">
            <a:avLst>
              <a:gd name="adj" fmla="val 20000"/>
            </a:avLst>
          </a:prstGeom>
          <a:solidFill>
            <a:srgbClr val="D8A846"/>
          </a:solidFill>
          <a:ln/>
        </p:spPr>
        <p:txBody>
          <a:bodyPr/>
          <a:lstStyle/>
          <a:p>
            <a:endParaRPr lang="en-US"/>
          </a:p>
        </p:txBody>
      </p:sp>
      <p:sp>
        <p:nvSpPr>
          <p:cNvPr id="10" name="Text 8"/>
          <p:cNvSpPr/>
          <p:nvPr/>
        </p:nvSpPr>
        <p:spPr>
          <a:xfrm>
            <a:off x="868680" y="658368"/>
            <a:ext cx="1828800" cy="109728"/>
          </a:xfrm>
          <a:prstGeom prst="rect">
            <a:avLst/>
          </a:prstGeom>
          <a:noFill/>
          <a:ln/>
        </p:spPr>
        <p:txBody>
          <a:bodyPr wrap="square" lIns="0" tIns="0" rIns="0" bIns="0" rtlCol="0" anchor="ctr"/>
          <a:lstStyle/>
          <a:p>
            <a:pPr marL="0" indent="0" algn="ctr">
              <a:buNone/>
            </a:pPr>
            <a:r>
              <a:rPr lang="en-US" sz="900" b="1" kern="0" spc="160" dirty="0">
                <a:solidFill>
                  <a:srgbClr val="252B17"/>
                </a:solidFill>
                <a:latin typeface="Aptos" pitchFamily="34" charset="0"/>
                <a:ea typeface="Aptos" pitchFamily="34" charset="-122"/>
                <a:cs typeface="Aptos" pitchFamily="34" charset="-120"/>
              </a:rPr>
              <a:t>DAY 5  ·  MODULE 4</a:t>
            </a:r>
            <a:endParaRPr lang="en-US" sz="900" dirty="0"/>
          </a:p>
        </p:txBody>
      </p:sp>
      <p:sp>
        <p:nvSpPr>
          <p:cNvPr id="11" name="Text 9"/>
          <p:cNvSpPr/>
          <p:nvPr/>
        </p:nvSpPr>
        <p:spPr>
          <a:xfrm>
            <a:off x="713232" y="1298448"/>
            <a:ext cx="7150608" cy="1143000"/>
          </a:xfrm>
          <a:prstGeom prst="rect">
            <a:avLst/>
          </a:prstGeom>
          <a:noFill/>
          <a:ln/>
        </p:spPr>
        <p:txBody>
          <a:bodyPr wrap="square" lIns="0" tIns="0" rIns="0" bIns="0" rtlCol="0" anchor="ctr">
            <a:normAutofit/>
          </a:bodyPr>
          <a:lstStyle/>
          <a:p>
            <a:pPr marL="0" indent="0">
              <a:buNone/>
            </a:pPr>
            <a:r>
              <a:rPr lang="en-US" sz="3600" b="1" dirty="0">
                <a:solidFill>
                  <a:srgbClr val="FFFFFF"/>
                </a:solidFill>
                <a:latin typeface="Aptos Display" pitchFamily="34" charset="0"/>
                <a:ea typeface="Aptos Display" pitchFamily="34" charset="-122"/>
                <a:cs typeface="Aptos Display" pitchFamily="34" charset="-120"/>
              </a:rPr>
              <a:t>Cost, Latency, and Model Routing</a:t>
            </a:r>
            <a:endParaRPr lang="en-US" sz="3600" dirty="0"/>
          </a:p>
        </p:txBody>
      </p:sp>
      <p:sp>
        <p:nvSpPr>
          <p:cNvPr id="12" name="Text 10"/>
          <p:cNvSpPr/>
          <p:nvPr/>
        </p:nvSpPr>
        <p:spPr>
          <a:xfrm>
            <a:off x="749808" y="2615184"/>
            <a:ext cx="6931152" cy="786384"/>
          </a:xfrm>
          <a:prstGeom prst="rect">
            <a:avLst/>
          </a:prstGeom>
          <a:noFill/>
          <a:ln/>
        </p:spPr>
        <p:txBody>
          <a:bodyPr wrap="square" lIns="0" tIns="0" rIns="0" bIns="0" rtlCol="0" anchor="ctr">
            <a:normAutofit/>
          </a:bodyPr>
          <a:lstStyle/>
          <a:p>
            <a:pPr marL="0" indent="0">
              <a:buNone/>
            </a:pPr>
            <a:r>
              <a:rPr lang="en-US" sz="1830" dirty="0">
                <a:solidFill>
                  <a:srgbClr val="E4EAF0"/>
                </a:solidFill>
                <a:latin typeface="Aptos" pitchFamily="34" charset="0"/>
                <a:ea typeface="Aptos" pitchFamily="34" charset="-122"/>
                <a:cs typeface="Aptos" pitchFamily="34" charset="-120"/>
              </a:rPr>
              <a:t>Measure the workload, choose the route,</a:t>
            </a:r>
            <a:endParaRPr lang="en-US" sz="1830" dirty="0"/>
          </a:p>
          <a:p>
            <a:pPr marL="0" indent="0">
              <a:buNone/>
            </a:pPr>
            <a:r>
              <a:rPr lang="en-US" sz="1830" dirty="0">
                <a:solidFill>
                  <a:srgbClr val="E4EAF0"/>
                </a:solidFill>
                <a:latin typeface="Aptos" pitchFamily="34" charset="0"/>
                <a:ea typeface="Aptos" pitchFamily="34" charset="-122"/>
                <a:cs typeface="Aptos" pitchFamily="34" charset="-120"/>
              </a:rPr>
              <a:t>and define when work stops</a:t>
            </a:r>
            <a:endParaRPr lang="en-US" sz="1830" dirty="0"/>
          </a:p>
        </p:txBody>
      </p:sp>
      <p:sp>
        <p:nvSpPr>
          <p:cNvPr id="13" name="Shape 11"/>
          <p:cNvSpPr/>
          <p:nvPr/>
        </p:nvSpPr>
        <p:spPr>
          <a:xfrm>
            <a:off x="713232" y="4160520"/>
            <a:ext cx="6793992" cy="1097280"/>
          </a:xfrm>
          <a:prstGeom prst="roundRect">
            <a:avLst>
              <a:gd name="adj" fmla="val 6667"/>
            </a:avLst>
          </a:prstGeom>
          <a:solidFill>
            <a:srgbClr val="FFFFFF"/>
          </a:solidFill>
          <a:ln/>
        </p:spPr>
        <p:txBody>
          <a:bodyPr/>
          <a:lstStyle/>
          <a:p>
            <a:endParaRPr lang="en-US"/>
          </a:p>
        </p:txBody>
      </p:sp>
      <p:sp>
        <p:nvSpPr>
          <p:cNvPr id="14" name="Shape 12"/>
          <p:cNvSpPr/>
          <p:nvPr/>
        </p:nvSpPr>
        <p:spPr>
          <a:xfrm>
            <a:off x="713232" y="4160520"/>
            <a:ext cx="146304" cy="1097280"/>
          </a:xfrm>
          <a:prstGeom prst="rect">
            <a:avLst/>
          </a:prstGeom>
          <a:solidFill>
            <a:srgbClr val="D8A846"/>
          </a:solidFill>
          <a:ln/>
        </p:spPr>
        <p:txBody>
          <a:bodyPr/>
          <a:lstStyle/>
          <a:p>
            <a:endParaRPr lang="en-US"/>
          </a:p>
        </p:txBody>
      </p:sp>
      <p:sp>
        <p:nvSpPr>
          <p:cNvPr id="15" name="Text 13"/>
          <p:cNvSpPr/>
          <p:nvPr/>
        </p:nvSpPr>
        <p:spPr>
          <a:xfrm>
            <a:off x="1078992" y="4407408"/>
            <a:ext cx="6080760" cy="603504"/>
          </a:xfrm>
          <a:prstGeom prst="rect">
            <a:avLst/>
          </a:prstGeom>
          <a:noFill/>
          <a:ln/>
        </p:spPr>
        <p:txBody>
          <a:bodyPr wrap="square" lIns="0" tIns="0" rIns="0" bIns="0" rtlCol="0" anchor="ctr">
            <a:normAutofit/>
          </a:bodyPr>
          <a:lstStyle/>
          <a:p>
            <a:pPr marL="0" indent="0">
              <a:buNone/>
            </a:pPr>
            <a:r>
              <a:rPr lang="en-US" sz="1700" b="1" dirty="0">
                <a:solidFill>
                  <a:srgbClr val="252B17"/>
                </a:solidFill>
                <a:latin typeface="Aptos" pitchFamily="34" charset="0"/>
                <a:ea typeface="Aptos" pitchFamily="34" charset="-122"/>
                <a:cs typeface="Aptos" pitchFamily="34" charset="-120"/>
              </a:rPr>
              <a:t>A cheaper request is not cheaper than a successful outcome when it misses the requirement</a:t>
            </a:r>
            <a:endParaRPr lang="en-US" sz="1700" dirty="0"/>
          </a:p>
        </p:txBody>
      </p:sp>
      <p:sp>
        <p:nvSpPr>
          <p:cNvPr id="16" name="Text 14"/>
          <p:cNvSpPr/>
          <p:nvPr/>
        </p:nvSpPr>
        <p:spPr>
          <a:xfrm>
            <a:off x="9546336" y="4261104"/>
            <a:ext cx="2011680" cy="914400"/>
          </a:xfrm>
          <a:prstGeom prst="rect">
            <a:avLst/>
          </a:prstGeom>
          <a:noFill/>
          <a:ln/>
        </p:spPr>
        <p:txBody>
          <a:bodyPr wrap="square" lIns="0" tIns="0" rIns="0" bIns="0" rtlCol="0" anchor="ctr"/>
          <a:lstStyle/>
          <a:p>
            <a:pPr marL="0" indent="0" algn="ctr">
              <a:buNone/>
            </a:pPr>
            <a:r>
              <a:rPr lang="en-US" sz="6800" b="1" dirty="0">
                <a:solidFill>
                  <a:srgbClr val="D8A846"/>
                </a:solidFill>
                <a:latin typeface="Aptos Display" pitchFamily="34" charset="0"/>
                <a:ea typeface="Aptos Display" pitchFamily="34" charset="-122"/>
                <a:cs typeface="Aptos Display" pitchFamily="34" charset="-120"/>
              </a:rPr>
              <a:t>05</a:t>
            </a:r>
            <a:endParaRPr lang="en-US" sz="6800" dirty="0"/>
          </a:p>
        </p:txBody>
      </p:sp>
      <p:sp>
        <p:nvSpPr>
          <p:cNvPr id="17" name="Text 15"/>
          <p:cNvSpPr/>
          <p:nvPr/>
        </p:nvSpPr>
        <p:spPr>
          <a:xfrm>
            <a:off x="8732520" y="5239512"/>
            <a:ext cx="3611880" cy="182880"/>
          </a:xfrm>
          <a:prstGeom prst="rect">
            <a:avLst/>
          </a:prstGeom>
          <a:noFill/>
          <a:ln/>
        </p:spPr>
        <p:txBody>
          <a:bodyPr wrap="square" lIns="0" tIns="0" rIns="0" bIns="0" rtlCol="0" anchor="ctr"/>
          <a:lstStyle/>
          <a:p>
            <a:pPr marL="0" indent="0" algn="ctr">
              <a:buNone/>
            </a:pPr>
            <a:r>
              <a:rPr lang="en-US" sz="950" b="1" kern="0" spc="240" dirty="0">
                <a:solidFill>
                  <a:srgbClr val="FFFFFF"/>
                </a:solidFill>
                <a:latin typeface="Aptos" pitchFamily="34" charset="0"/>
                <a:ea typeface="Aptos" pitchFamily="34" charset="-122"/>
                <a:cs typeface="Aptos" pitchFamily="34" charset="-120"/>
              </a:rPr>
              <a:t>WORKLOAD ECONOMICS</a:t>
            </a:r>
            <a:endParaRPr lang="en-US" sz="950" dirty="0"/>
          </a:p>
        </p:txBody>
      </p:sp>
      <p:sp>
        <p:nvSpPr>
          <p:cNvPr id="18" name="Text 16"/>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DDE7EF"/>
                </a:solidFill>
                <a:latin typeface="Aptos" pitchFamily="34" charset="0"/>
                <a:ea typeface="Aptos" pitchFamily="34" charset="-122"/>
                <a:cs typeface="Aptos" pitchFamily="34" charset="-120"/>
              </a:rPr>
              <a:t>REFERENCE  learn.microsoft.com/azure/foundry/openai/how-to/latency  ·  +1 more in notes</a:t>
            </a:r>
            <a:endParaRPr lang="en-US" sz="940" dirty="0"/>
          </a:p>
        </p:txBody>
      </p:sp>
      <p:sp>
        <p:nvSpPr>
          <p:cNvPr id="19" name="Shape 17"/>
          <p:cNvSpPr/>
          <p:nvPr/>
        </p:nvSpPr>
        <p:spPr>
          <a:xfrm>
            <a:off x="0" y="6793992"/>
            <a:ext cx="12191695" cy="64008"/>
          </a:xfrm>
          <a:prstGeom prst="rect">
            <a:avLst/>
          </a:prstGeom>
          <a:solidFill>
            <a:srgbClr val="D8A846"/>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FCFAF2"/>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252B17"/>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4  /  WORKLOAD ECONOMICS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252B17"/>
                </a:solidFill>
                <a:latin typeface="Aptos Display" pitchFamily="34" charset="0"/>
                <a:ea typeface="Aptos Display" pitchFamily="34" charset="-122"/>
                <a:cs typeface="Aptos Display" pitchFamily="34" charset="-120"/>
              </a:rPr>
              <a:t>Size throughput and latency separately</a:t>
            </a:r>
            <a:endParaRPr lang="en-US" sz="3100" dirty="0"/>
          </a:p>
        </p:txBody>
      </p:sp>
      <p:sp>
        <p:nvSpPr>
          <p:cNvPr id="5" name="Shape 3"/>
          <p:cNvSpPr/>
          <p:nvPr/>
        </p:nvSpPr>
        <p:spPr>
          <a:xfrm>
            <a:off x="10824301" y="825155"/>
            <a:ext cx="85588" cy="164592"/>
          </a:xfrm>
          <a:prstGeom prst="rect">
            <a:avLst/>
          </a:prstGeom>
          <a:solidFill>
            <a:srgbClr val="F7EACA"/>
          </a:solidFill>
          <a:ln/>
        </p:spPr>
        <p:txBody>
          <a:bodyPr/>
          <a:lstStyle/>
          <a:p>
            <a:endParaRPr lang="en-US"/>
          </a:p>
        </p:txBody>
      </p:sp>
      <p:sp>
        <p:nvSpPr>
          <p:cNvPr id="6" name="Shape 4"/>
          <p:cNvSpPr/>
          <p:nvPr/>
        </p:nvSpPr>
        <p:spPr>
          <a:xfrm>
            <a:off x="10969142" y="686897"/>
            <a:ext cx="85588" cy="302849"/>
          </a:xfrm>
          <a:prstGeom prst="rect">
            <a:avLst/>
          </a:prstGeom>
          <a:solidFill>
            <a:srgbClr val="F7EACA"/>
          </a:solidFill>
          <a:ln/>
        </p:spPr>
        <p:txBody>
          <a:bodyPr/>
          <a:lstStyle/>
          <a:p>
            <a:endParaRPr lang="en-US"/>
          </a:p>
        </p:txBody>
      </p:sp>
      <p:sp>
        <p:nvSpPr>
          <p:cNvPr id="7" name="Shape 5"/>
          <p:cNvSpPr/>
          <p:nvPr/>
        </p:nvSpPr>
        <p:spPr>
          <a:xfrm>
            <a:off x="11113983" y="528889"/>
            <a:ext cx="85588" cy="460858"/>
          </a:xfrm>
          <a:prstGeom prst="rect">
            <a:avLst/>
          </a:prstGeom>
          <a:solidFill>
            <a:srgbClr val="D8A846"/>
          </a:solidFill>
          <a:ln/>
        </p:spPr>
        <p:txBody>
          <a:bodyPr/>
          <a:lstStyle/>
          <a:p>
            <a:endParaRPr lang="en-US"/>
          </a:p>
        </p:txBody>
      </p:sp>
      <p:sp>
        <p:nvSpPr>
          <p:cNvPr id="8" name="Shape 6"/>
          <p:cNvSpPr/>
          <p:nvPr/>
        </p:nvSpPr>
        <p:spPr>
          <a:xfrm>
            <a:off x="11258824" y="397215"/>
            <a:ext cx="85588" cy="592531"/>
          </a:xfrm>
          <a:prstGeom prst="rect">
            <a:avLst/>
          </a:prstGeom>
          <a:solidFill>
            <a:srgbClr val="D8A846"/>
          </a:solidFill>
          <a:ln/>
        </p:spPr>
        <p:txBody>
          <a:bodyPr/>
          <a:lstStyle/>
          <a:p>
            <a:endParaRPr lang="en-US"/>
          </a:p>
        </p:txBody>
      </p:sp>
      <p:sp>
        <p:nvSpPr>
          <p:cNvPr id="9" name="Shape 7"/>
          <p:cNvSpPr/>
          <p:nvPr/>
        </p:nvSpPr>
        <p:spPr>
          <a:xfrm>
            <a:off x="10824301" y="489387"/>
            <a:ext cx="539862" cy="408188"/>
          </a:xfrm>
          <a:prstGeom prst="line">
            <a:avLst/>
          </a:prstGeom>
          <a:noFill/>
          <a:ln w="25400">
            <a:solidFill>
              <a:srgbClr val="252B17"/>
            </a:solidFill>
            <a:prstDash val="solid"/>
          </a:ln>
        </p:spPr>
        <p:txBody>
          <a:bodyPr/>
          <a:lstStyle/>
          <a:p>
            <a:endParaRPr lang="en-US"/>
          </a:p>
        </p:txBody>
      </p:sp>
      <p:sp>
        <p:nvSpPr>
          <p:cNvPr id="10" name="Shape 8"/>
          <p:cNvSpPr/>
          <p:nvPr/>
        </p:nvSpPr>
        <p:spPr>
          <a:xfrm>
            <a:off x="11612880" y="457200"/>
            <a:ext cx="329184" cy="329184"/>
          </a:xfrm>
          <a:prstGeom prst="ellipse">
            <a:avLst/>
          </a:prstGeom>
          <a:solidFill>
            <a:srgbClr val="D8A846"/>
          </a:solidFill>
          <a:ln/>
        </p:spPr>
        <p:txBody>
          <a:bodyPr/>
          <a:lstStyle/>
          <a:p>
            <a:endParaRPr lang="en-US"/>
          </a:p>
        </p:txBody>
      </p:sp>
      <p:sp>
        <p:nvSpPr>
          <p:cNvPr id="11" name="Text 9"/>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252B17"/>
                </a:solidFill>
                <a:latin typeface="Aptos" pitchFamily="34" charset="0"/>
                <a:ea typeface="Aptos" pitchFamily="34" charset="-122"/>
                <a:cs typeface="Aptos" pitchFamily="34" charset="-120"/>
              </a:rPr>
              <a:t>02</a:t>
            </a:r>
            <a:endParaRPr lang="en-US" sz="850" dirty="0"/>
          </a:p>
        </p:txBody>
      </p:sp>
      <p:sp>
        <p:nvSpPr>
          <p:cNvPr id="12" name="Shape 10"/>
          <p:cNvSpPr/>
          <p:nvPr/>
        </p:nvSpPr>
        <p:spPr>
          <a:xfrm>
            <a:off x="9829800" y="1005840"/>
            <a:ext cx="2148840" cy="2148840"/>
          </a:xfrm>
          <a:prstGeom prst="ellipse">
            <a:avLst/>
          </a:prstGeom>
          <a:solidFill>
            <a:srgbClr val="F7EACA"/>
          </a:solidFill>
          <a:ln/>
        </p:spPr>
        <p:txBody>
          <a:bodyPr/>
          <a:lstStyle/>
          <a:p>
            <a:endParaRPr lang="en-US"/>
          </a:p>
        </p:txBody>
      </p:sp>
      <p:sp>
        <p:nvSpPr>
          <p:cNvPr id="13" name="Shape 11"/>
          <p:cNvSpPr/>
          <p:nvPr/>
        </p:nvSpPr>
        <p:spPr>
          <a:xfrm>
            <a:off x="640080" y="1417320"/>
            <a:ext cx="5248656" cy="4626864"/>
          </a:xfrm>
          <a:prstGeom prst="roundRect">
            <a:avLst>
              <a:gd name="adj" fmla="val 1779"/>
            </a:avLst>
          </a:prstGeom>
          <a:solidFill>
            <a:srgbClr val="FFFFFF"/>
          </a:solidFill>
          <a:ln w="15240">
            <a:solidFill>
              <a:srgbClr val="F7EACA"/>
            </a:solidFill>
            <a:prstDash val="solid"/>
          </a:ln>
          <a:effectLst>
            <a:outerShdw blurRad="50800" dist="19050" dir="8100000" algn="bl" rotWithShape="0">
              <a:srgbClr val="111827">
                <a:alpha val="11000"/>
              </a:srgbClr>
            </a:outerShdw>
          </a:effectLst>
        </p:spPr>
        <p:txBody>
          <a:bodyPr/>
          <a:lstStyle/>
          <a:p>
            <a:endParaRPr lang="en-US"/>
          </a:p>
        </p:txBody>
      </p:sp>
      <p:sp>
        <p:nvSpPr>
          <p:cNvPr id="14" name="Shape 12"/>
          <p:cNvSpPr/>
          <p:nvPr/>
        </p:nvSpPr>
        <p:spPr>
          <a:xfrm>
            <a:off x="896112" y="1673352"/>
            <a:ext cx="1572768" cy="310896"/>
          </a:xfrm>
          <a:prstGeom prst="roundRect">
            <a:avLst>
              <a:gd name="adj" fmla="val 23529"/>
            </a:avLst>
          </a:prstGeom>
          <a:solidFill>
            <a:srgbClr val="252B17"/>
          </a:solidFill>
          <a:ln/>
        </p:spPr>
        <p:txBody>
          <a:bodyPr/>
          <a:lstStyle/>
          <a:p>
            <a:endParaRPr lang="en-US"/>
          </a:p>
        </p:txBody>
      </p:sp>
      <p:sp>
        <p:nvSpPr>
          <p:cNvPr id="15" name="Text 13"/>
          <p:cNvSpPr/>
          <p:nvPr/>
        </p:nvSpPr>
        <p:spPr>
          <a:xfrm>
            <a:off x="1005840" y="1773936"/>
            <a:ext cx="1353312" cy="91440"/>
          </a:xfrm>
          <a:prstGeom prst="rect">
            <a:avLst/>
          </a:prstGeom>
          <a:noFill/>
          <a:ln/>
        </p:spPr>
        <p:txBody>
          <a:bodyPr wrap="square" lIns="0" tIns="0" rIns="0" bIns="0" rtlCol="0" anchor="ctr"/>
          <a:lstStyle/>
          <a:p>
            <a:pPr marL="0" indent="0" algn="ctr">
              <a:buNone/>
            </a:pPr>
            <a:r>
              <a:rPr lang="en-US" sz="830" b="1" kern="0" spc="110" dirty="0">
                <a:solidFill>
                  <a:srgbClr val="FFFFFF"/>
                </a:solidFill>
                <a:latin typeface="Aptos" pitchFamily="34" charset="0"/>
                <a:ea typeface="Aptos" pitchFamily="34" charset="-122"/>
                <a:cs typeface="Aptos" pitchFamily="34" charset="-120"/>
              </a:rPr>
              <a:t>THROUGHPUT</a:t>
            </a:r>
            <a:endParaRPr lang="en-US" sz="830" dirty="0"/>
          </a:p>
        </p:txBody>
      </p:sp>
      <p:sp>
        <p:nvSpPr>
          <p:cNvPr id="16" name="Text 14"/>
          <p:cNvSpPr/>
          <p:nvPr/>
        </p:nvSpPr>
        <p:spPr>
          <a:xfrm>
            <a:off x="932688" y="2148840"/>
            <a:ext cx="4663440" cy="621792"/>
          </a:xfrm>
          <a:prstGeom prst="rect">
            <a:avLst/>
          </a:prstGeom>
          <a:noFill/>
          <a:ln/>
        </p:spPr>
        <p:txBody>
          <a:bodyPr wrap="square" lIns="0" tIns="0" rIns="0" bIns="0" rtlCol="0" anchor="ctr">
            <a:normAutofit/>
          </a:bodyPr>
          <a:lstStyle/>
          <a:p>
            <a:pPr marL="0" indent="0">
              <a:buNone/>
            </a:pPr>
            <a:r>
              <a:rPr lang="en-US" sz="2200" b="1" dirty="0">
                <a:solidFill>
                  <a:srgbClr val="252B17"/>
                </a:solidFill>
                <a:latin typeface="Aptos Display" pitchFamily="34" charset="0"/>
                <a:ea typeface="Aptos Display" pitchFamily="34" charset="-122"/>
                <a:cs typeface="Aptos Display" pitchFamily="34" charset="-120"/>
              </a:rPr>
              <a:t>System-level throughput</a:t>
            </a:r>
            <a:endParaRPr lang="en-US" sz="2200" dirty="0"/>
          </a:p>
        </p:txBody>
      </p:sp>
      <p:sp>
        <p:nvSpPr>
          <p:cNvPr id="17" name="Text 15"/>
          <p:cNvSpPr/>
          <p:nvPr/>
        </p:nvSpPr>
        <p:spPr>
          <a:xfrm>
            <a:off x="987552"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2A2C1D"/>
                </a:solidFill>
                <a:latin typeface="Aptos" pitchFamily="34" charset="0"/>
                <a:ea typeface="Aptos" pitchFamily="34" charset="-122"/>
                <a:cs typeface="Aptos" pitchFamily="34" charset="-120"/>
              </a:rPr>
              <a:t>Overall capacity across the deployment</a:t>
            </a:r>
            <a:endParaRPr lang="en-US" sz="1600" dirty="0"/>
          </a:p>
          <a:p>
            <a:pPr marL="342900" indent="-342900">
              <a:buSzPct val="100000"/>
              <a:buChar char="•"/>
            </a:pPr>
            <a:r>
              <a:rPr lang="en-US" sz="1600" dirty="0">
                <a:solidFill>
                  <a:srgbClr val="2A2C1D"/>
                </a:solidFill>
                <a:latin typeface="Aptos" pitchFamily="34" charset="0"/>
                <a:ea typeface="Aptos" pitchFamily="34" charset="-122"/>
                <a:cs typeface="Aptos" pitchFamily="34" charset="-120"/>
              </a:rPr>
              <a:t>Measure requests per minute and total tokens per minute</a:t>
            </a:r>
            <a:endParaRPr lang="en-US" sz="1600" dirty="0"/>
          </a:p>
          <a:p>
            <a:pPr marL="342900" indent="-342900">
              <a:buSzPct val="100000"/>
              <a:buChar char="•"/>
            </a:pPr>
            <a:r>
              <a:rPr lang="en-US" sz="1600" dirty="0">
                <a:solidFill>
                  <a:srgbClr val="2A2C1D"/>
                </a:solidFill>
                <a:latin typeface="Aptos" pitchFamily="34" charset="0"/>
                <a:ea typeface="Aptos" pitchFamily="34" charset="-122"/>
                <a:cs typeface="Aptos" pitchFamily="34" charset="-120"/>
              </a:rPr>
              <a:t>Ask: How much workload can the system sustain?</a:t>
            </a:r>
            <a:endParaRPr lang="en-US" sz="1600" dirty="0"/>
          </a:p>
        </p:txBody>
      </p:sp>
      <p:sp>
        <p:nvSpPr>
          <p:cNvPr id="18" name="Shape 16"/>
          <p:cNvSpPr/>
          <p:nvPr/>
        </p:nvSpPr>
        <p:spPr>
          <a:xfrm>
            <a:off x="5020056" y="1609344"/>
            <a:ext cx="493776" cy="493776"/>
          </a:xfrm>
          <a:prstGeom prst="ellipse">
            <a:avLst/>
          </a:prstGeom>
          <a:solidFill>
            <a:srgbClr val="F7EACA"/>
          </a:solidFill>
          <a:ln/>
        </p:spPr>
        <p:txBody>
          <a:bodyPr/>
          <a:lstStyle/>
          <a:p>
            <a:endParaRPr lang="en-US"/>
          </a:p>
        </p:txBody>
      </p:sp>
      <p:sp>
        <p:nvSpPr>
          <p:cNvPr id="19" name="Text 17"/>
          <p:cNvSpPr/>
          <p:nvPr/>
        </p:nvSpPr>
        <p:spPr>
          <a:xfrm>
            <a:off x="5020056" y="1755648"/>
            <a:ext cx="493776" cy="118872"/>
          </a:xfrm>
          <a:prstGeom prst="rect">
            <a:avLst/>
          </a:prstGeom>
          <a:noFill/>
          <a:ln/>
        </p:spPr>
        <p:txBody>
          <a:bodyPr wrap="square" lIns="0" tIns="0" rIns="0" bIns="0" rtlCol="0" anchor="ctr"/>
          <a:lstStyle/>
          <a:p>
            <a:pPr marL="0" indent="0" algn="ctr">
              <a:buNone/>
            </a:pPr>
            <a:r>
              <a:rPr lang="en-US" sz="1000" b="1" dirty="0">
                <a:solidFill>
                  <a:srgbClr val="252B17"/>
                </a:solidFill>
                <a:latin typeface="Aptos" pitchFamily="34" charset="0"/>
                <a:ea typeface="Aptos" pitchFamily="34" charset="-122"/>
                <a:cs typeface="Aptos" pitchFamily="34" charset="-120"/>
              </a:rPr>
              <a:t>1</a:t>
            </a:r>
            <a:endParaRPr lang="en-US" sz="1000" dirty="0"/>
          </a:p>
        </p:txBody>
      </p:sp>
      <p:sp>
        <p:nvSpPr>
          <p:cNvPr id="20" name="Shape 18"/>
          <p:cNvSpPr/>
          <p:nvPr/>
        </p:nvSpPr>
        <p:spPr>
          <a:xfrm>
            <a:off x="6300216" y="1417320"/>
            <a:ext cx="5248656" cy="4626864"/>
          </a:xfrm>
          <a:prstGeom prst="roundRect">
            <a:avLst>
              <a:gd name="adj" fmla="val 1779"/>
            </a:avLst>
          </a:prstGeom>
          <a:solidFill>
            <a:srgbClr val="F7EACA"/>
          </a:solidFill>
          <a:ln w="15240">
            <a:solidFill>
              <a:srgbClr val="D8A846"/>
            </a:solidFill>
            <a:prstDash val="solid"/>
          </a:ln>
          <a:effectLst>
            <a:outerShdw blurRad="50800" dist="19050" dir="8100000" algn="bl" rotWithShape="0">
              <a:srgbClr val="111827">
                <a:alpha val="11000"/>
              </a:srgbClr>
            </a:outerShdw>
          </a:effectLst>
        </p:spPr>
        <p:txBody>
          <a:bodyPr/>
          <a:lstStyle/>
          <a:p>
            <a:endParaRPr lang="en-US"/>
          </a:p>
        </p:txBody>
      </p:sp>
      <p:sp>
        <p:nvSpPr>
          <p:cNvPr id="21" name="Shape 19"/>
          <p:cNvSpPr/>
          <p:nvPr/>
        </p:nvSpPr>
        <p:spPr>
          <a:xfrm>
            <a:off x="6556248" y="1673352"/>
            <a:ext cx="1572768" cy="310896"/>
          </a:xfrm>
          <a:prstGeom prst="roundRect">
            <a:avLst>
              <a:gd name="adj" fmla="val 23529"/>
            </a:avLst>
          </a:prstGeom>
          <a:solidFill>
            <a:srgbClr val="D8A846"/>
          </a:solidFill>
          <a:ln/>
        </p:spPr>
        <p:txBody>
          <a:bodyPr/>
          <a:lstStyle/>
          <a:p>
            <a:endParaRPr lang="en-US"/>
          </a:p>
        </p:txBody>
      </p:sp>
      <p:sp>
        <p:nvSpPr>
          <p:cNvPr id="22" name="Text 20"/>
          <p:cNvSpPr/>
          <p:nvPr/>
        </p:nvSpPr>
        <p:spPr>
          <a:xfrm>
            <a:off x="6665976" y="1773936"/>
            <a:ext cx="1353312" cy="91440"/>
          </a:xfrm>
          <a:prstGeom prst="rect">
            <a:avLst/>
          </a:prstGeom>
          <a:noFill/>
          <a:ln/>
        </p:spPr>
        <p:txBody>
          <a:bodyPr wrap="square" lIns="0" tIns="0" rIns="0" bIns="0" rtlCol="0" anchor="ctr"/>
          <a:lstStyle/>
          <a:p>
            <a:pPr marL="0" indent="0" algn="ctr">
              <a:buNone/>
            </a:pPr>
            <a:r>
              <a:rPr lang="en-US" sz="830" b="1" kern="0" spc="110" dirty="0">
                <a:solidFill>
                  <a:srgbClr val="252B17"/>
                </a:solidFill>
                <a:latin typeface="Aptos" pitchFamily="34" charset="0"/>
                <a:ea typeface="Aptos" pitchFamily="34" charset="-122"/>
                <a:cs typeface="Aptos" pitchFamily="34" charset="-120"/>
              </a:rPr>
              <a:t>LATENCY</a:t>
            </a:r>
            <a:endParaRPr lang="en-US" sz="830" dirty="0"/>
          </a:p>
        </p:txBody>
      </p:sp>
      <p:sp>
        <p:nvSpPr>
          <p:cNvPr id="23" name="Text 21"/>
          <p:cNvSpPr/>
          <p:nvPr/>
        </p:nvSpPr>
        <p:spPr>
          <a:xfrm>
            <a:off x="6592824" y="2148840"/>
            <a:ext cx="4663440" cy="621792"/>
          </a:xfrm>
          <a:prstGeom prst="rect">
            <a:avLst/>
          </a:prstGeom>
          <a:noFill/>
          <a:ln/>
        </p:spPr>
        <p:txBody>
          <a:bodyPr wrap="square" lIns="0" tIns="0" rIns="0" bIns="0" rtlCol="0" anchor="ctr">
            <a:normAutofit/>
          </a:bodyPr>
          <a:lstStyle/>
          <a:p>
            <a:pPr marL="0" indent="0">
              <a:buNone/>
            </a:pPr>
            <a:r>
              <a:rPr lang="en-US" sz="2200" b="1" dirty="0">
                <a:solidFill>
                  <a:srgbClr val="252B17"/>
                </a:solidFill>
                <a:latin typeface="Aptos Display" pitchFamily="34" charset="0"/>
                <a:ea typeface="Aptos Display" pitchFamily="34" charset="-122"/>
                <a:cs typeface="Aptos Display" pitchFamily="34" charset="-120"/>
              </a:rPr>
              <a:t>Per-call response time</a:t>
            </a:r>
            <a:endParaRPr lang="en-US" sz="2200" dirty="0"/>
          </a:p>
        </p:txBody>
      </p:sp>
      <p:sp>
        <p:nvSpPr>
          <p:cNvPr id="24" name="Text 22"/>
          <p:cNvSpPr/>
          <p:nvPr/>
        </p:nvSpPr>
        <p:spPr>
          <a:xfrm>
            <a:off x="6647688"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2A2C1D"/>
                </a:solidFill>
                <a:latin typeface="Aptos" pitchFamily="34" charset="0"/>
                <a:ea typeface="Aptos" pitchFamily="34" charset="-122"/>
                <a:cs typeface="Aptos" pitchFamily="34" charset="-120"/>
              </a:rPr>
              <a:t>Time to receive one model response</a:t>
            </a:r>
            <a:endParaRPr lang="en-US" sz="1600" dirty="0"/>
          </a:p>
          <a:p>
            <a:pPr marL="342900" indent="-342900">
              <a:buSzPct val="100000"/>
              <a:buChar char="•"/>
            </a:pPr>
            <a:r>
              <a:rPr lang="en-US" sz="1600" dirty="0">
                <a:solidFill>
                  <a:srgbClr val="2A2C1D"/>
                </a:solidFill>
                <a:latin typeface="Aptos" pitchFamily="34" charset="0"/>
                <a:ea typeface="Aptos" pitchFamily="34" charset="-122"/>
                <a:cs typeface="Aptos" pitchFamily="34" charset="-120"/>
              </a:rPr>
              <a:t>Influenced by model, prompt size, generated tokens, and system load</a:t>
            </a:r>
            <a:endParaRPr lang="en-US" sz="1600" dirty="0"/>
          </a:p>
          <a:p>
            <a:pPr marL="342900" indent="-342900">
              <a:buSzPct val="100000"/>
              <a:buChar char="•"/>
            </a:pPr>
            <a:r>
              <a:rPr lang="en-US" sz="1600" dirty="0">
                <a:solidFill>
                  <a:srgbClr val="2A2C1D"/>
                </a:solidFill>
                <a:latin typeface="Aptos" pitchFamily="34" charset="0"/>
                <a:ea typeface="Aptos" pitchFamily="34" charset="-122"/>
                <a:cs typeface="Aptos" pitchFamily="34" charset="-120"/>
              </a:rPr>
              <a:t>Ask: How quickly does one caller receive a response?</a:t>
            </a:r>
            <a:endParaRPr lang="en-US" sz="1600" dirty="0"/>
          </a:p>
        </p:txBody>
      </p:sp>
      <p:sp>
        <p:nvSpPr>
          <p:cNvPr id="25" name="Shape 23"/>
          <p:cNvSpPr/>
          <p:nvPr/>
        </p:nvSpPr>
        <p:spPr>
          <a:xfrm>
            <a:off x="10680192" y="1609344"/>
            <a:ext cx="493776" cy="493776"/>
          </a:xfrm>
          <a:prstGeom prst="ellipse">
            <a:avLst/>
          </a:prstGeom>
          <a:solidFill>
            <a:srgbClr val="72B01D"/>
          </a:solidFill>
          <a:ln/>
        </p:spPr>
        <p:txBody>
          <a:bodyPr/>
          <a:lstStyle/>
          <a:p>
            <a:endParaRPr lang="en-US"/>
          </a:p>
        </p:txBody>
      </p:sp>
      <p:sp>
        <p:nvSpPr>
          <p:cNvPr id="26" name="Text 24"/>
          <p:cNvSpPr/>
          <p:nvPr/>
        </p:nvSpPr>
        <p:spPr>
          <a:xfrm>
            <a:off x="10680192" y="1755648"/>
            <a:ext cx="493776" cy="118872"/>
          </a:xfrm>
          <a:prstGeom prst="rect">
            <a:avLst/>
          </a:prstGeom>
          <a:noFill/>
          <a:ln/>
        </p:spPr>
        <p:txBody>
          <a:bodyPr wrap="square" lIns="0" tIns="0" rIns="0" bIns="0" rtlCol="0" anchor="ctr"/>
          <a:lstStyle/>
          <a:p>
            <a:pPr marL="0" indent="0" algn="ctr">
              <a:buNone/>
            </a:pPr>
            <a:r>
              <a:rPr lang="en-US" sz="1000" b="1" dirty="0">
                <a:solidFill>
                  <a:srgbClr val="252B17"/>
                </a:solidFill>
                <a:latin typeface="Aptos" pitchFamily="34" charset="0"/>
                <a:ea typeface="Aptos" pitchFamily="34" charset="-122"/>
                <a:cs typeface="Aptos" pitchFamily="34" charset="-120"/>
              </a:rPr>
              <a:t>2</a:t>
            </a:r>
            <a:endParaRPr lang="en-US" sz="1000" dirty="0"/>
          </a:p>
        </p:txBody>
      </p:sp>
      <p:sp>
        <p:nvSpPr>
          <p:cNvPr id="27" name="Shape 25"/>
          <p:cNvSpPr/>
          <p:nvPr/>
        </p:nvSpPr>
        <p:spPr>
          <a:xfrm>
            <a:off x="5916168" y="3236976"/>
            <a:ext cx="365760" cy="365760"/>
          </a:xfrm>
          <a:prstGeom prst="ellipse">
            <a:avLst/>
          </a:prstGeom>
          <a:solidFill>
            <a:srgbClr val="252B17"/>
          </a:solidFill>
          <a:ln/>
        </p:spPr>
        <p:txBody>
          <a:bodyPr/>
          <a:lstStyle/>
          <a:p>
            <a:endParaRPr lang="en-US"/>
          </a:p>
        </p:txBody>
      </p:sp>
      <p:sp>
        <p:nvSpPr>
          <p:cNvPr id="28" name="Text 26"/>
          <p:cNvSpPr/>
          <p:nvPr/>
        </p:nvSpPr>
        <p:spPr>
          <a:xfrm>
            <a:off x="5916168" y="3328416"/>
            <a:ext cx="365760" cy="164592"/>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29" name="Text 27"/>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6D6A55"/>
                </a:solidFill>
                <a:latin typeface="Aptos" pitchFamily="34" charset="0"/>
                <a:ea typeface="Aptos" pitchFamily="34" charset="-122"/>
                <a:cs typeface="Aptos" pitchFamily="34" charset="-120"/>
              </a:rPr>
              <a:t>REFERENCE  learn.microsoft.com/azure/foundry/openai/how-to/latency#understanding-throughput-vs-latency</a:t>
            </a:r>
            <a:endParaRPr lang="en-US" sz="940" dirty="0"/>
          </a:p>
        </p:txBody>
      </p:sp>
      <p:sp>
        <p:nvSpPr>
          <p:cNvPr id="30" name="Shape 28"/>
          <p:cNvSpPr/>
          <p:nvPr/>
        </p:nvSpPr>
        <p:spPr>
          <a:xfrm>
            <a:off x="0" y="6793992"/>
            <a:ext cx="12191695" cy="64008"/>
          </a:xfrm>
          <a:prstGeom prst="rect">
            <a:avLst/>
          </a:prstGeom>
          <a:solidFill>
            <a:srgbClr val="D8A846"/>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9">
    <p:bg>
      <p:bgPr>
        <a:solidFill>
          <a:srgbClr val="FCFAF2"/>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252B17"/>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4  /  WORKLOAD ECONOMICS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252B17"/>
                </a:solidFill>
                <a:latin typeface="Aptos Display" pitchFamily="34" charset="0"/>
                <a:ea typeface="Aptos Display" pitchFamily="34" charset="-122"/>
                <a:cs typeface="Aptos Display" pitchFamily="34" charset="-120"/>
              </a:rPr>
              <a:t>Throughput follows workload shape—not quota alone</a:t>
            </a:r>
            <a:endParaRPr lang="en-US" sz="3100" dirty="0"/>
          </a:p>
        </p:txBody>
      </p:sp>
      <p:sp>
        <p:nvSpPr>
          <p:cNvPr id="5" name="Shape 3"/>
          <p:cNvSpPr/>
          <p:nvPr/>
        </p:nvSpPr>
        <p:spPr>
          <a:xfrm>
            <a:off x="10824301" y="825155"/>
            <a:ext cx="85588" cy="164592"/>
          </a:xfrm>
          <a:prstGeom prst="rect">
            <a:avLst/>
          </a:prstGeom>
          <a:solidFill>
            <a:srgbClr val="F7EACA"/>
          </a:solidFill>
          <a:ln/>
        </p:spPr>
        <p:txBody>
          <a:bodyPr/>
          <a:lstStyle/>
          <a:p>
            <a:endParaRPr lang="en-US"/>
          </a:p>
        </p:txBody>
      </p:sp>
      <p:sp>
        <p:nvSpPr>
          <p:cNvPr id="6" name="Shape 4"/>
          <p:cNvSpPr/>
          <p:nvPr/>
        </p:nvSpPr>
        <p:spPr>
          <a:xfrm>
            <a:off x="10969142" y="686897"/>
            <a:ext cx="85588" cy="302849"/>
          </a:xfrm>
          <a:prstGeom prst="rect">
            <a:avLst/>
          </a:prstGeom>
          <a:solidFill>
            <a:srgbClr val="F7EACA"/>
          </a:solidFill>
          <a:ln/>
        </p:spPr>
        <p:txBody>
          <a:bodyPr/>
          <a:lstStyle/>
          <a:p>
            <a:endParaRPr lang="en-US"/>
          </a:p>
        </p:txBody>
      </p:sp>
      <p:sp>
        <p:nvSpPr>
          <p:cNvPr id="7" name="Shape 5"/>
          <p:cNvSpPr/>
          <p:nvPr/>
        </p:nvSpPr>
        <p:spPr>
          <a:xfrm>
            <a:off x="11113983" y="528889"/>
            <a:ext cx="85588" cy="460858"/>
          </a:xfrm>
          <a:prstGeom prst="rect">
            <a:avLst/>
          </a:prstGeom>
          <a:solidFill>
            <a:srgbClr val="D8A846"/>
          </a:solidFill>
          <a:ln/>
        </p:spPr>
        <p:txBody>
          <a:bodyPr/>
          <a:lstStyle/>
          <a:p>
            <a:endParaRPr lang="en-US"/>
          </a:p>
        </p:txBody>
      </p:sp>
      <p:sp>
        <p:nvSpPr>
          <p:cNvPr id="8" name="Shape 6"/>
          <p:cNvSpPr/>
          <p:nvPr/>
        </p:nvSpPr>
        <p:spPr>
          <a:xfrm>
            <a:off x="11258824" y="397215"/>
            <a:ext cx="85588" cy="592531"/>
          </a:xfrm>
          <a:prstGeom prst="rect">
            <a:avLst/>
          </a:prstGeom>
          <a:solidFill>
            <a:srgbClr val="D8A846"/>
          </a:solidFill>
          <a:ln/>
        </p:spPr>
        <p:txBody>
          <a:bodyPr/>
          <a:lstStyle/>
          <a:p>
            <a:endParaRPr lang="en-US"/>
          </a:p>
        </p:txBody>
      </p:sp>
      <p:sp>
        <p:nvSpPr>
          <p:cNvPr id="9" name="Shape 7"/>
          <p:cNvSpPr/>
          <p:nvPr/>
        </p:nvSpPr>
        <p:spPr>
          <a:xfrm>
            <a:off x="10824301" y="489387"/>
            <a:ext cx="539862" cy="408188"/>
          </a:xfrm>
          <a:prstGeom prst="line">
            <a:avLst/>
          </a:prstGeom>
          <a:noFill/>
          <a:ln w="25400">
            <a:solidFill>
              <a:srgbClr val="252B17"/>
            </a:solidFill>
            <a:prstDash val="solid"/>
          </a:ln>
        </p:spPr>
        <p:txBody>
          <a:bodyPr/>
          <a:lstStyle/>
          <a:p>
            <a:endParaRPr lang="en-US"/>
          </a:p>
        </p:txBody>
      </p:sp>
      <p:sp>
        <p:nvSpPr>
          <p:cNvPr id="10" name="Shape 8"/>
          <p:cNvSpPr/>
          <p:nvPr/>
        </p:nvSpPr>
        <p:spPr>
          <a:xfrm>
            <a:off x="11612880" y="457200"/>
            <a:ext cx="329184" cy="329184"/>
          </a:xfrm>
          <a:prstGeom prst="ellipse">
            <a:avLst/>
          </a:prstGeom>
          <a:solidFill>
            <a:srgbClr val="D8A846"/>
          </a:solidFill>
          <a:ln/>
        </p:spPr>
        <p:txBody>
          <a:bodyPr/>
          <a:lstStyle/>
          <a:p>
            <a:endParaRPr lang="en-US"/>
          </a:p>
        </p:txBody>
      </p:sp>
      <p:sp>
        <p:nvSpPr>
          <p:cNvPr id="11" name="Text 9"/>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252B17"/>
                </a:solidFill>
                <a:latin typeface="Aptos" pitchFamily="34" charset="0"/>
                <a:ea typeface="Aptos" pitchFamily="34" charset="-122"/>
                <a:cs typeface="Aptos" pitchFamily="34" charset="-120"/>
              </a:rPr>
              <a:t>03</a:t>
            </a:r>
            <a:endParaRPr lang="en-US" sz="850" dirty="0"/>
          </a:p>
        </p:txBody>
      </p:sp>
      <p:sp>
        <p:nvSpPr>
          <p:cNvPr id="12" name="Shape 10"/>
          <p:cNvSpPr/>
          <p:nvPr/>
        </p:nvSpPr>
        <p:spPr>
          <a:xfrm>
            <a:off x="9829800" y="1005840"/>
            <a:ext cx="2148840" cy="2148840"/>
          </a:xfrm>
          <a:prstGeom prst="ellipse">
            <a:avLst/>
          </a:prstGeom>
          <a:solidFill>
            <a:srgbClr val="F7EACA"/>
          </a:solidFill>
          <a:ln/>
        </p:spPr>
        <p:txBody>
          <a:bodyPr/>
          <a:lstStyle/>
          <a:p>
            <a:endParaRPr lang="en-US"/>
          </a:p>
        </p:txBody>
      </p:sp>
      <p:sp>
        <p:nvSpPr>
          <p:cNvPr id="13" name="Shape 11"/>
          <p:cNvSpPr/>
          <p:nvPr/>
        </p:nvSpPr>
        <p:spPr>
          <a:xfrm>
            <a:off x="1005840" y="2148840"/>
            <a:ext cx="10177272" cy="0"/>
          </a:xfrm>
          <a:prstGeom prst="line">
            <a:avLst/>
          </a:prstGeom>
          <a:noFill/>
          <a:ln w="50800">
            <a:solidFill>
              <a:srgbClr val="D8A846"/>
            </a:solidFill>
            <a:prstDash val="solid"/>
          </a:ln>
        </p:spPr>
        <p:txBody>
          <a:bodyPr/>
          <a:lstStyle/>
          <a:p>
            <a:endParaRPr lang="en-US"/>
          </a:p>
        </p:txBody>
      </p:sp>
      <p:sp>
        <p:nvSpPr>
          <p:cNvPr id="14" name="Shape 12"/>
          <p:cNvSpPr/>
          <p:nvPr/>
        </p:nvSpPr>
        <p:spPr>
          <a:xfrm>
            <a:off x="1637919" y="1892808"/>
            <a:ext cx="512064" cy="512064"/>
          </a:xfrm>
          <a:prstGeom prst="ellipse">
            <a:avLst/>
          </a:prstGeom>
          <a:solidFill>
            <a:srgbClr val="D8A846"/>
          </a:solidFill>
          <a:ln w="10160">
            <a:solidFill>
              <a:srgbClr val="252B17"/>
            </a:solidFill>
            <a:prstDash val="solid"/>
          </a:ln>
        </p:spPr>
        <p:txBody>
          <a:bodyPr/>
          <a:lstStyle/>
          <a:p>
            <a:endParaRPr lang="en-US"/>
          </a:p>
        </p:txBody>
      </p:sp>
      <p:sp>
        <p:nvSpPr>
          <p:cNvPr id="15" name="Text 13"/>
          <p:cNvSpPr/>
          <p:nvPr/>
        </p:nvSpPr>
        <p:spPr>
          <a:xfrm>
            <a:off x="1637919" y="2039112"/>
            <a:ext cx="512064" cy="109728"/>
          </a:xfrm>
          <a:prstGeom prst="rect">
            <a:avLst/>
          </a:prstGeom>
          <a:noFill/>
          <a:ln/>
        </p:spPr>
        <p:txBody>
          <a:bodyPr wrap="square" lIns="0" tIns="0" rIns="0" bIns="0" rtlCol="0" anchor="ctr"/>
          <a:lstStyle/>
          <a:p>
            <a:pPr marL="0" indent="0" algn="ctr">
              <a:buNone/>
            </a:pPr>
            <a:r>
              <a:rPr lang="en-US" sz="1000" b="1" dirty="0">
                <a:solidFill>
                  <a:srgbClr val="252B17"/>
                </a:solidFill>
                <a:latin typeface="Aptos" pitchFamily="34" charset="0"/>
                <a:ea typeface="Aptos" pitchFamily="34" charset="-122"/>
                <a:cs typeface="Aptos" pitchFamily="34" charset="-120"/>
              </a:rPr>
              <a:t>1</a:t>
            </a:r>
            <a:endParaRPr lang="en-US" sz="1000" dirty="0"/>
          </a:p>
        </p:txBody>
      </p:sp>
      <p:sp>
        <p:nvSpPr>
          <p:cNvPr id="16" name="Shape 14"/>
          <p:cNvSpPr/>
          <p:nvPr/>
        </p:nvSpPr>
        <p:spPr>
          <a:xfrm>
            <a:off x="640080" y="2542032"/>
            <a:ext cx="2507742" cy="3703320"/>
          </a:xfrm>
          <a:prstGeom prst="roundRect">
            <a:avLst>
              <a:gd name="adj" fmla="val 2552"/>
            </a:avLst>
          </a:prstGeom>
          <a:solidFill>
            <a:srgbClr val="F7EACA"/>
          </a:solidFill>
          <a:ln w="11430">
            <a:solidFill>
              <a:srgbClr val="F7EACA"/>
            </a:solidFill>
            <a:prstDash val="solid"/>
          </a:ln>
          <a:effectLst>
            <a:outerShdw blurRad="50800" dist="19050" dir="8100000" algn="bl" rotWithShape="0">
              <a:srgbClr val="111827">
                <a:alpha val="11000"/>
              </a:srgbClr>
            </a:outerShdw>
          </a:effectLst>
        </p:spPr>
        <p:txBody>
          <a:bodyPr/>
          <a:lstStyle/>
          <a:p>
            <a:endParaRPr lang="en-US"/>
          </a:p>
        </p:txBody>
      </p:sp>
      <p:sp>
        <p:nvSpPr>
          <p:cNvPr id="17" name="Text 15"/>
          <p:cNvSpPr/>
          <p:nvPr/>
        </p:nvSpPr>
        <p:spPr>
          <a:xfrm>
            <a:off x="822960" y="2816352"/>
            <a:ext cx="2141982" cy="566928"/>
          </a:xfrm>
          <a:prstGeom prst="rect">
            <a:avLst/>
          </a:prstGeom>
          <a:noFill/>
          <a:ln/>
        </p:spPr>
        <p:txBody>
          <a:bodyPr wrap="square" lIns="0" tIns="0" rIns="0" bIns="0" rtlCol="0" anchor="ctr">
            <a:normAutofit/>
          </a:bodyPr>
          <a:lstStyle/>
          <a:p>
            <a:pPr marL="0" indent="0" algn="ctr">
              <a:buNone/>
            </a:pPr>
            <a:r>
              <a:rPr lang="en-US" sz="1800" b="1" dirty="0">
                <a:solidFill>
                  <a:srgbClr val="252B17"/>
                </a:solidFill>
                <a:latin typeface="Aptos Display" pitchFamily="34" charset="0"/>
                <a:ea typeface="Aptos Display" pitchFamily="34" charset="-122"/>
                <a:cs typeface="Aptos Display" pitchFamily="34" charset="-120"/>
              </a:rPr>
              <a:t>Observe workload shape</a:t>
            </a:r>
            <a:endParaRPr lang="en-US" sz="1800" dirty="0"/>
          </a:p>
        </p:txBody>
      </p:sp>
      <p:sp>
        <p:nvSpPr>
          <p:cNvPr id="18" name="Text 16"/>
          <p:cNvSpPr/>
          <p:nvPr/>
        </p:nvSpPr>
        <p:spPr>
          <a:xfrm>
            <a:off x="877824" y="3566160"/>
            <a:ext cx="2032254" cy="2423160"/>
          </a:xfrm>
          <a:prstGeom prst="rect">
            <a:avLst/>
          </a:prstGeom>
          <a:noFill/>
          <a:ln/>
        </p:spPr>
        <p:txBody>
          <a:bodyPr wrap="square" lIns="0" tIns="0" rIns="0" bIns="0" rtlCol="0" anchor="t">
            <a:normAutofit/>
          </a:bodyPr>
          <a:lstStyle/>
          <a:p>
            <a:pPr marL="0" indent="0" algn="ctr">
              <a:buNone/>
            </a:pPr>
            <a:r>
              <a:rPr lang="en-US" sz="1430" dirty="0">
                <a:solidFill>
                  <a:srgbClr val="2A2C1D"/>
                </a:solidFill>
                <a:latin typeface="Aptos" pitchFamily="34" charset="0"/>
                <a:ea typeface="Aptos" pitchFamily="34" charset="-122"/>
                <a:cs typeface="Aptos" pitchFamily="34" charset="-120"/>
              </a:rPr>
              <a:t>Input tokens · output tokens · RPM · cache match rate</a:t>
            </a:r>
            <a:endParaRPr lang="en-US" sz="1430" dirty="0"/>
          </a:p>
        </p:txBody>
      </p:sp>
      <p:sp>
        <p:nvSpPr>
          <p:cNvPr id="19" name="Shape 17"/>
          <p:cNvSpPr/>
          <p:nvPr/>
        </p:nvSpPr>
        <p:spPr>
          <a:xfrm>
            <a:off x="4438269" y="1892808"/>
            <a:ext cx="512064" cy="512064"/>
          </a:xfrm>
          <a:prstGeom prst="ellipse">
            <a:avLst/>
          </a:prstGeom>
          <a:solidFill>
            <a:srgbClr val="D8A846"/>
          </a:solidFill>
          <a:ln w="10160">
            <a:solidFill>
              <a:srgbClr val="252B17"/>
            </a:solidFill>
            <a:prstDash val="solid"/>
          </a:ln>
        </p:spPr>
        <p:txBody>
          <a:bodyPr/>
          <a:lstStyle/>
          <a:p>
            <a:endParaRPr lang="en-US"/>
          </a:p>
        </p:txBody>
      </p:sp>
      <p:sp>
        <p:nvSpPr>
          <p:cNvPr id="20" name="Text 18"/>
          <p:cNvSpPr/>
          <p:nvPr/>
        </p:nvSpPr>
        <p:spPr>
          <a:xfrm>
            <a:off x="4438269" y="2039112"/>
            <a:ext cx="512064" cy="109728"/>
          </a:xfrm>
          <a:prstGeom prst="rect">
            <a:avLst/>
          </a:prstGeom>
          <a:noFill/>
          <a:ln/>
        </p:spPr>
        <p:txBody>
          <a:bodyPr wrap="square" lIns="0" tIns="0" rIns="0" bIns="0" rtlCol="0" anchor="ctr"/>
          <a:lstStyle/>
          <a:p>
            <a:pPr marL="0" indent="0" algn="ctr">
              <a:buNone/>
            </a:pPr>
            <a:r>
              <a:rPr lang="en-US" sz="1000" b="1" dirty="0">
                <a:solidFill>
                  <a:srgbClr val="252B17"/>
                </a:solidFill>
                <a:latin typeface="Aptos" pitchFamily="34" charset="0"/>
                <a:ea typeface="Aptos" pitchFamily="34" charset="-122"/>
                <a:cs typeface="Aptos" pitchFamily="34" charset="-120"/>
              </a:rPr>
              <a:t>2</a:t>
            </a:r>
            <a:endParaRPr lang="en-US" sz="1000" dirty="0"/>
          </a:p>
        </p:txBody>
      </p:sp>
      <p:sp>
        <p:nvSpPr>
          <p:cNvPr id="21" name="Shape 19"/>
          <p:cNvSpPr/>
          <p:nvPr/>
        </p:nvSpPr>
        <p:spPr>
          <a:xfrm>
            <a:off x="3440430" y="2542032"/>
            <a:ext cx="2507742" cy="3703320"/>
          </a:xfrm>
          <a:prstGeom prst="roundRect">
            <a:avLst>
              <a:gd name="adj" fmla="val 2552"/>
            </a:avLst>
          </a:prstGeom>
          <a:solidFill>
            <a:srgbClr val="FFFFFF"/>
          </a:solidFill>
          <a:ln w="11430">
            <a:solidFill>
              <a:srgbClr val="F7EACA"/>
            </a:solidFill>
            <a:prstDash val="solid"/>
          </a:ln>
          <a:effectLst>
            <a:outerShdw blurRad="50800" dist="19050" dir="8100000" algn="bl" rotWithShape="0">
              <a:srgbClr val="111827">
                <a:alpha val="11000"/>
              </a:srgbClr>
            </a:outerShdw>
          </a:effectLst>
        </p:spPr>
        <p:txBody>
          <a:bodyPr/>
          <a:lstStyle/>
          <a:p>
            <a:endParaRPr lang="en-US"/>
          </a:p>
        </p:txBody>
      </p:sp>
      <p:sp>
        <p:nvSpPr>
          <p:cNvPr id="22" name="Text 20"/>
          <p:cNvSpPr/>
          <p:nvPr/>
        </p:nvSpPr>
        <p:spPr>
          <a:xfrm>
            <a:off x="3623310" y="2816352"/>
            <a:ext cx="2141982" cy="566928"/>
          </a:xfrm>
          <a:prstGeom prst="rect">
            <a:avLst/>
          </a:prstGeom>
          <a:noFill/>
          <a:ln/>
        </p:spPr>
        <p:txBody>
          <a:bodyPr wrap="square" lIns="0" tIns="0" rIns="0" bIns="0" rtlCol="0" anchor="ctr">
            <a:normAutofit/>
          </a:bodyPr>
          <a:lstStyle/>
          <a:p>
            <a:pPr marL="0" indent="0" algn="ctr">
              <a:buNone/>
            </a:pPr>
            <a:r>
              <a:rPr lang="en-US" sz="1800" b="1" dirty="0">
                <a:solidFill>
                  <a:srgbClr val="252B17"/>
                </a:solidFill>
                <a:latin typeface="Aptos Display" pitchFamily="34" charset="0"/>
                <a:ea typeface="Aptos Display" pitchFamily="34" charset="-122"/>
                <a:cs typeface="Aptos Display" pitchFamily="34" charset="-120"/>
              </a:rPr>
              <a:t>Estimate input + output TPM</a:t>
            </a:r>
            <a:endParaRPr lang="en-US" sz="1800" dirty="0"/>
          </a:p>
        </p:txBody>
      </p:sp>
      <p:sp>
        <p:nvSpPr>
          <p:cNvPr id="23" name="Text 21"/>
          <p:cNvSpPr/>
          <p:nvPr/>
        </p:nvSpPr>
        <p:spPr>
          <a:xfrm>
            <a:off x="3678174" y="3566160"/>
            <a:ext cx="2032254" cy="2423160"/>
          </a:xfrm>
          <a:prstGeom prst="rect">
            <a:avLst/>
          </a:prstGeom>
          <a:noFill/>
          <a:ln/>
        </p:spPr>
        <p:txBody>
          <a:bodyPr wrap="square" lIns="0" tIns="0" rIns="0" bIns="0" rtlCol="0" anchor="t">
            <a:normAutofit/>
          </a:bodyPr>
          <a:lstStyle/>
          <a:p>
            <a:pPr marL="0" indent="0" algn="ctr">
              <a:buNone/>
            </a:pPr>
            <a:r>
              <a:rPr lang="en-US" sz="1430" dirty="0">
                <a:solidFill>
                  <a:srgbClr val="2A2C1D"/>
                </a:solidFill>
                <a:latin typeface="Aptos" pitchFamily="34" charset="0"/>
                <a:ea typeface="Aptos" pitchFamily="34" charset="-122"/>
                <a:cs typeface="Aptos" pitchFamily="34" charset="-120"/>
              </a:rPr>
              <a:t>Input TPM = prompt tokens × RPM; output TPM = completion tokens × RPM</a:t>
            </a:r>
            <a:endParaRPr lang="en-US" sz="1430" dirty="0"/>
          </a:p>
        </p:txBody>
      </p:sp>
      <p:sp>
        <p:nvSpPr>
          <p:cNvPr id="24" name="Shape 22"/>
          <p:cNvSpPr/>
          <p:nvPr/>
        </p:nvSpPr>
        <p:spPr>
          <a:xfrm>
            <a:off x="7238619" y="1892808"/>
            <a:ext cx="512064" cy="512064"/>
          </a:xfrm>
          <a:prstGeom prst="ellipse">
            <a:avLst/>
          </a:prstGeom>
          <a:solidFill>
            <a:srgbClr val="D8A846"/>
          </a:solidFill>
          <a:ln w="10160">
            <a:solidFill>
              <a:srgbClr val="252B17"/>
            </a:solidFill>
            <a:prstDash val="solid"/>
          </a:ln>
        </p:spPr>
        <p:txBody>
          <a:bodyPr/>
          <a:lstStyle/>
          <a:p>
            <a:endParaRPr lang="en-US"/>
          </a:p>
        </p:txBody>
      </p:sp>
      <p:sp>
        <p:nvSpPr>
          <p:cNvPr id="25" name="Text 23"/>
          <p:cNvSpPr/>
          <p:nvPr/>
        </p:nvSpPr>
        <p:spPr>
          <a:xfrm>
            <a:off x="7238619" y="2039112"/>
            <a:ext cx="512064" cy="109728"/>
          </a:xfrm>
          <a:prstGeom prst="rect">
            <a:avLst/>
          </a:prstGeom>
          <a:noFill/>
          <a:ln/>
        </p:spPr>
        <p:txBody>
          <a:bodyPr wrap="square" lIns="0" tIns="0" rIns="0" bIns="0" rtlCol="0" anchor="ctr"/>
          <a:lstStyle/>
          <a:p>
            <a:pPr marL="0" indent="0" algn="ctr">
              <a:buNone/>
            </a:pPr>
            <a:r>
              <a:rPr lang="en-US" sz="1000" b="1" dirty="0">
                <a:solidFill>
                  <a:srgbClr val="252B17"/>
                </a:solidFill>
                <a:latin typeface="Aptos" pitchFamily="34" charset="0"/>
                <a:ea typeface="Aptos" pitchFamily="34" charset="-122"/>
                <a:cs typeface="Aptos" pitchFamily="34" charset="-120"/>
              </a:rPr>
              <a:t>3</a:t>
            </a:r>
            <a:endParaRPr lang="en-US" sz="1000" dirty="0"/>
          </a:p>
        </p:txBody>
      </p:sp>
      <p:sp>
        <p:nvSpPr>
          <p:cNvPr id="26" name="Shape 24"/>
          <p:cNvSpPr/>
          <p:nvPr/>
        </p:nvSpPr>
        <p:spPr>
          <a:xfrm>
            <a:off x="6240780" y="2542032"/>
            <a:ext cx="2507742" cy="3703320"/>
          </a:xfrm>
          <a:prstGeom prst="roundRect">
            <a:avLst>
              <a:gd name="adj" fmla="val 2552"/>
            </a:avLst>
          </a:prstGeom>
          <a:solidFill>
            <a:srgbClr val="F7EACA"/>
          </a:solidFill>
          <a:ln w="11430">
            <a:solidFill>
              <a:srgbClr val="F7EACA"/>
            </a:solidFill>
            <a:prstDash val="solid"/>
          </a:ln>
          <a:effectLst>
            <a:outerShdw blurRad="50800" dist="19050" dir="8100000" algn="bl" rotWithShape="0">
              <a:srgbClr val="111827">
                <a:alpha val="11000"/>
              </a:srgbClr>
            </a:outerShdw>
          </a:effectLst>
        </p:spPr>
        <p:txBody>
          <a:bodyPr/>
          <a:lstStyle/>
          <a:p>
            <a:endParaRPr lang="en-US"/>
          </a:p>
        </p:txBody>
      </p:sp>
      <p:sp>
        <p:nvSpPr>
          <p:cNvPr id="27" name="Text 25"/>
          <p:cNvSpPr/>
          <p:nvPr/>
        </p:nvSpPr>
        <p:spPr>
          <a:xfrm>
            <a:off x="6423660" y="2816352"/>
            <a:ext cx="2141982" cy="566928"/>
          </a:xfrm>
          <a:prstGeom prst="rect">
            <a:avLst/>
          </a:prstGeom>
          <a:noFill/>
          <a:ln/>
        </p:spPr>
        <p:txBody>
          <a:bodyPr wrap="square" lIns="0" tIns="0" rIns="0" bIns="0" rtlCol="0" anchor="ctr">
            <a:normAutofit/>
          </a:bodyPr>
          <a:lstStyle/>
          <a:p>
            <a:pPr marL="0" indent="0" algn="ctr">
              <a:buNone/>
            </a:pPr>
            <a:r>
              <a:rPr lang="en-US" sz="1800" b="1" dirty="0">
                <a:solidFill>
                  <a:srgbClr val="252B17"/>
                </a:solidFill>
                <a:latin typeface="Aptos Display" pitchFamily="34" charset="0"/>
                <a:ea typeface="Aptos Display" pitchFamily="34" charset="-122"/>
                <a:cs typeface="Aptos Display" pitchFamily="34" charset="-120"/>
              </a:rPr>
              <a:t>Validate in Azure Monitor</a:t>
            </a:r>
            <a:endParaRPr lang="en-US" sz="1800" dirty="0"/>
          </a:p>
        </p:txBody>
      </p:sp>
      <p:sp>
        <p:nvSpPr>
          <p:cNvPr id="28" name="Text 26"/>
          <p:cNvSpPr/>
          <p:nvPr/>
        </p:nvSpPr>
        <p:spPr>
          <a:xfrm>
            <a:off x="6478524" y="3566160"/>
            <a:ext cx="2032254" cy="2423160"/>
          </a:xfrm>
          <a:prstGeom prst="rect">
            <a:avLst/>
          </a:prstGeom>
          <a:noFill/>
          <a:ln/>
        </p:spPr>
        <p:txBody>
          <a:bodyPr wrap="square" lIns="0" tIns="0" rIns="0" bIns="0" rtlCol="0" anchor="t">
            <a:normAutofit/>
          </a:bodyPr>
          <a:lstStyle/>
          <a:p>
            <a:pPr marL="0" indent="0" algn="ctr">
              <a:buNone/>
            </a:pPr>
            <a:r>
              <a:rPr lang="en-US" sz="1430" dirty="0">
                <a:solidFill>
                  <a:srgbClr val="2A2C1D"/>
                </a:solidFill>
                <a:latin typeface="Aptos" pitchFamily="34" charset="0"/>
                <a:ea typeface="Aptos" pitchFamily="34" charset="-122"/>
                <a:cs typeface="Aptos" pitchFamily="34" charset="-120"/>
              </a:rPr>
              <a:t>Processed Prompt Tokens + Generated Completion Tokens; one-minute windows across multiple weeks</a:t>
            </a:r>
            <a:endParaRPr lang="en-US" sz="1430" dirty="0"/>
          </a:p>
        </p:txBody>
      </p:sp>
      <p:sp>
        <p:nvSpPr>
          <p:cNvPr id="29" name="Shape 27"/>
          <p:cNvSpPr/>
          <p:nvPr/>
        </p:nvSpPr>
        <p:spPr>
          <a:xfrm>
            <a:off x="10038969" y="1892808"/>
            <a:ext cx="512064" cy="512064"/>
          </a:xfrm>
          <a:prstGeom prst="ellipse">
            <a:avLst/>
          </a:prstGeom>
          <a:solidFill>
            <a:srgbClr val="72B01D"/>
          </a:solidFill>
          <a:ln w="10160">
            <a:solidFill>
              <a:srgbClr val="252B17"/>
            </a:solidFill>
            <a:prstDash val="solid"/>
          </a:ln>
        </p:spPr>
        <p:txBody>
          <a:bodyPr/>
          <a:lstStyle/>
          <a:p>
            <a:endParaRPr lang="en-US"/>
          </a:p>
        </p:txBody>
      </p:sp>
      <p:sp>
        <p:nvSpPr>
          <p:cNvPr id="30" name="Text 28"/>
          <p:cNvSpPr/>
          <p:nvPr/>
        </p:nvSpPr>
        <p:spPr>
          <a:xfrm>
            <a:off x="10038969" y="2039112"/>
            <a:ext cx="512064" cy="109728"/>
          </a:xfrm>
          <a:prstGeom prst="rect">
            <a:avLst/>
          </a:prstGeom>
          <a:noFill/>
          <a:ln/>
        </p:spPr>
        <p:txBody>
          <a:bodyPr wrap="square" lIns="0" tIns="0" rIns="0" bIns="0" rtlCol="0" anchor="ctr"/>
          <a:lstStyle/>
          <a:p>
            <a:pPr marL="0" indent="0" algn="ctr">
              <a:buNone/>
            </a:pPr>
            <a:r>
              <a:rPr lang="en-US" sz="1000" b="1" dirty="0">
                <a:solidFill>
                  <a:srgbClr val="252B17"/>
                </a:solidFill>
                <a:latin typeface="Aptos" pitchFamily="34" charset="0"/>
                <a:ea typeface="Aptos" pitchFamily="34" charset="-122"/>
                <a:cs typeface="Aptos" pitchFamily="34" charset="-120"/>
              </a:rPr>
              <a:t>4</a:t>
            </a:r>
            <a:endParaRPr lang="en-US" sz="1000" dirty="0"/>
          </a:p>
        </p:txBody>
      </p:sp>
      <p:sp>
        <p:nvSpPr>
          <p:cNvPr id="31" name="Shape 29"/>
          <p:cNvSpPr/>
          <p:nvPr/>
        </p:nvSpPr>
        <p:spPr>
          <a:xfrm>
            <a:off x="9041130" y="2542032"/>
            <a:ext cx="2507742" cy="3703320"/>
          </a:xfrm>
          <a:prstGeom prst="roundRect">
            <a:avLst>
              <a:gd name="adj" fmla="val 2552"/>
            </a:avLst>
          </a:prstGeom>
          <a:solidFill>
            <a:srgbClr val="FFFFFF"/>
          </a:solidFill>
          <a:ln w="11430">
            <a:solidFill>
              <a:srgbClr val="72B01D"/>
            </a:solidFill>
            <a:prstDash val="solid"/>
          </a:ln>
          <a:effectLst>
            <a:outerShdw blurRad="50800" dist="19050" dir="8100000" algn="bl" rotWithShape="0">
              <a:srgbClr val="111827">
                <a:alpha val="11000"/>
              </a:srgbClr>
            </a:outerShdw>
          </a:effectLst>
        </p:spPr>
        <p:txBody>
          <a:bodyPr/>
          <a:lstStyle/>
          <a:p>
            <a:endParaRPr lang="en-US"/>
          </a:p>
        </p:txBody>
      </p:sp>
      <p:sp>
        <p:nvSpPr>
          <p:cNvPr id="32" name="Text 30"/>
          <p:cNvSpPr/>
          <p:nvPr/>
        </p:nvSpPr>
        <p:spPr>
          <a:xfrm>
            <a:off x="9224010" y="2816352"/>
            <a:ext cx="2141982" cy="566928"/>
          </a:xfrm>
          <a:prstGeom prst="rect">
            <a:avLst/>
          </a:prstGeom>
          <a:noFill/>
          <a:ln/>
        </p:spPr>
        <p:txBody>
          <a:bodyPr wrap="square" lIns="0" tIns="0" rIns="0" bIns="0" rtlCol="0" anchor="ctr">
            <a:normAutofit/>
          </a:bodyPr>
          <a:lstStyle/>
          <a:p>
            <a:pPr marL="0" indent="0" algn="ctr">
              <a:buNone/>
            </a:pPr>
            <a:r>
              <a:rPr lang="en-US" sz="1800" b="1" dirty="0">
                <a:solidFill>
                  <a:srgbClr val="252B17"/>
                </a:solidFill>
                <a:latin typeface="Aptos Display" pitchFamily="34" charset="0"/>
                <a:ea typeface="Aptos Display" pitchFamily="34" charset="-122"/>
                <a:cs typeface="Aptos Display" pitchFamily="34" charset="-120"/>
              </a:rPr>
              <a:t>Size the deployment</a:t>
            </a:r>
            <a:endParaRPr lang="en-US" sz="1800" dirty="0"/>
          </a:p>
        </p:txBody>
      </p:sp>
      <p:sp>
        <p:nvSpPr>
          <p:cNvPr id="33" name="Text 31"/>
          <p:cNvSpPr/>
          <p:nvPr/>
        </p:nvSpPr>
        <p:spPr>
          <a:xfrm>
            <a:off x="9278874" y="3566160"/>
            <a:ext cx="2032254" cy="2423160"/>
          </a:xfrm>
          <a:prstGeom prst="rect">
            <a:avLst/>
          </a:prstGeom>
          <a:noFill/>
          <a:ln/>
        </p:spPr>
        <p:txBody>
          <a:bodyPr wrap="square" lIns="0" tIns="0" rIns="0" bIns="0" rtlCol="0" anchor="t">
            <a:normAutofit/>
          </a:bodyPr>
          <a:lstStyle/>
          <a:p>
            <a:pPr marL="0" indent="0" algn="ctr">
              <a:buNone/>
            </a:pPr>
            <a:r>
              <a:rPr lang="en-US" sz="1430" dirty="0">
                <a:solidFill>
                  <a:srgbClr val="2A2C1D"/>
                </a:solidFill>
                <a:latin typeface="Aptos" pitchFamily="34" charset="0"/>
                <a:ea typeface="Aptos" pitchFamily="34" charset="-122"/>
                <a:cs typeface="Aptos" pitchFamily="34" charset="-120"/>
              </a:rPr>
              <a:t>Standard: input + output TPM; Provisioned: capacity calculator → PTUs</a:t>
            </a:r>
            <a:endParaRPr lang="en-US" sz="1430" dirty="0"/>
          </a:p>
        </p:txBody>
      </p:sp>
      <p:sp>
        <p:nvSpPr>
          <p:cNvPr id="34" name="Text 32"/>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6D6A55"/>
                </a:solidFill>
                <a:latin typeface="Aptos" pitchFamily="34" charset="0"/>
                <a:ea typeface="Aptos" pitchFamily="34" charset="-122"/>
                <a:cs typeface="Aptos" pitchFamily="34" charset="-120"/>
              </a:rPr>
              <a:t>REFERENCE  learn.microsoft.com/azure/foundry/openai/how-to/latency#system-level-throughput</a:t>
            </a:r>
            <a:endParaRPr lang="en-US" sz="940" dirty="0"/>
          </a:p>
        </p:txBody>
      </p:sp>
      <p:sp>
        <p:nvSpPr>
          <p:cNvPr id="35" name="Shape 33"/>
          <p:cNvSpPr/>
          <p:nvPr/>
        </p:nvSpPr>
        <p:spPr>
          <a:xfrm>
            <a:off x="0" y="6793992"/>
            <a:ext cx="12191695" cy="64008"/>
          </a:xfrm>
          <a:prstGeom prst="rect">
            <a:avLst/>
          </a:prstGeom>
          <a:solidFill>
            <a:srgbClr val="D8A846"/>
          </a:solidFill>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CFAF2"/>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252B17"/>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4  /  WORKLOAD ECONOMICS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252B17"/>
                </a:solidFill>
                <a:latin typeface="Aptos Display" pitchFamily="34" charset="0"/>
                <a:ea typeface="Aptos Display" pitchFamily="34" charset="-122"/>
                <a:cs typeface="Aptos Display" pitchFamily="34" charset="-120"/>
              </a:rPr>
              <a:t>Measure the signal you mean</a:t>
            </a:r>
            <a:endParaRPr lang="en-US" sz="3100" dirty="0"/>
          </a:p>
        </p:txBody>
      </p:sp>
      <p:sp>
        <p:nvSpPr>
          <p:cNvPr id="5" name="Shape 3"/>
          <p:cNvSpPr/>
          <p:nvPr/>
        </p:nvSpPr>
        <p:spPr>
          <a:xfrm>
            <a:off x="10824301" y="825155"/>
            <a:ext cx="85588" cy="164592"/>
          </a:xfrm>
          <a:prstGeom prst="rect">
            <a:avLst/>
          </a:prstGeom>
          <a:solidFill>
            <a:srgbClr val="F7EACA"/>
          </a:solidFill>
          <a:ln/>
        </p:spPr>
        <p:txBody>
          <a:bodyPr/>
          <a:lstStyle/>
          <a:p>
            <a:endParaRPr lang="en-US"/>
          </a:p>
        </p:txBody>
      </p:sp>
      <p:sp>
        <p:nvSpPr>
          <p:cNvPr id="6" name="Shape 4"/>
          <p:cNvSpPr/>
          <p:nvPr/>
        </p:nvSpPr>
        <p:spPr>
          <a:xfrm>
            <a:off x="10969142" y="686897"/>
            <a:ext cx="85588" cy="302849"/>
          </a:xfrm>
          <a:prstGeom prst="rect">
            <a:avLst/>
          </a:prstGeom>
          <a:solidFill>
            <a:srgbClr val="F7EACA"/>
          </a:solidFill>
          <a:ln/>
        </p:spPr>
        <p:txBody>
          <a:bodyPr/>
          <a:lstStyle/>
          <a:p>
            <a:endParaRPr lang="en-US"/>
          </a:p>
        </p:txBody>
      </p:sp>
      <p:sp>
        <p:nvSpPr>
          <p:cNvPr id="7" name="Shape 5"/>
          <p:cNvSpPr/>
          <p:nvPr/>
        </p:nvSpPr>
        <p:spPr>
          <a:xfrm>
            <a:off x="11113983" y="528889"/>
            <a:ext cx="85588" cy="460858"/>
          </a:xfrm>
          <a:prstGeom prst="rect">
            <a:avLst/>
          </a:prstGeom>
          <a:solidFill>
            <a:srgbClr val="D8A846"/>
          </a:solidFill>
          <a:ln/>
        </p:spPr>
        <p:txBody>
          <a:bodyPr/>
          <a:lstStyle/>
          <a:p>
            <a:endParaRPr lang="en-US"/>
          </a:p>
        </p:txBody>
      </p:sp>
      <p:sp>
        <p:nvSpPr>
          <p:cNvPr id="8" name="Shape 6"/>
          <p:cNvSpPr/>
          <p:nvPr/>
        </p:nvSpPr>
        <p:spPr>
          <a:xfrm>
            <a:off x="11258824" y="397215"/>
            <a:ext cx="85588" cy="592531"/>
          </a:xfrm>
          <a:prstGeom prst="rect">
            <a:avLst/>
          </a:prstGeom>
          <a:solidFill>
            <a:srgbClr val="D8A846"/>
          </a:solidFill>
          <a:ln/>
        </p:spPr>
        <p:txBody>
          <a:bodyPr/>
          <a:lstStyle/>
          <a:p>
            <a:endParaRPr lang="en-US"/>
          </a:p>
        </p:txBody>
      </p:sp>
      <p:sp>
        <p:nvSpPr>
          <p:cNvPr id="9" name="Shape 7"/>
          <p:cNvSpPr/>
          <p:nvPr/>
        </p:nvSpPr>
        <p:spPr>
          <a:xfrm>
            <a:off x="10824301" y="489387"/>
            <a:ext cx="539862" cy="408188"/>
          </a:xfrm>
          <a:prstGeom prst="line">
            <a:avLst/>
          </a:prstGeom>
          <a:noFill/>
          <a:ln w="25400">
            <a:solidFill>
              <a:srgbClr val="252B17"/>
            </a:solidFill>
            <a:prstDash val="solid"/>
          </a:ln>
        </p:spPr>
        <p:txBody>
          <a:bodyPr/>
          <a:lstStyle/>
          <a:p>
            <a:endParaRPr lang="en-US"/>
          </a:p>
        </p:txBody>
      </p:sp>
      <p:sp>
        <p:nvSpPr>
          <p:cNvPr id="10" name="Shape 8"/>
          <p:cNvSpPr/>
          <p:nvPr/>
        </p:nvSpPr>
        <p:spPr>
          <a:xfrm>
            <a:off x="11612880" y="457200"/>
            <a:ext cx="329184" cy="329184"/>
          </a:xfrm>
          <a:prstGeom prst="ellipse">
            <a:avLst/>
          </a:prstGeom>
          <a:solidFill>
            <a:srgbClr val="D8A846"/>
          </a:solidFill>
          <a:ln/>
        </p:spPr>
        <p:txBody>
          <a:bodyPr/>
          <a:lstStyle/>
          <a:p>
            <a:endParaRPr lang="en-US"/>
          </a:p>
        </p:txBody>
      </p:sp>
      <p:sp>
        <p:nvSpPr>
          <p:cNvPr id="11" name="Text 9"/>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252B17"/>
                </a:solidFill>
                <a:latin typeface="Aptos" pitchFamily="34" charset="0"/>
                <a:ea typeface="Aptos" pitchFamily="34" charset="-122"/>
                <a:cs typeface="Aptos" pitchFamily="34" charset="-120"/>
              </a:rPr>
              <a:t>04</a:t>
            </a:r>
            <a:endParaRPr lang="en-US" sz="850" dirty="0"/>
          </a:p>
        </p:txBody>
      </p:sp>
      <p:sp>
        <p:nvSpPr>
          <p:cNvPr id="12" name="Shape 10"/>
          <p:cNvSpPr/>
          <p:nvPr/>
        </p:nvSpPr>
        <p:spPr>
          <a:xfrm>
            <a:off x="9829800" y="1005840"/>
            <a:ext cx="2148840" cy="2148840"/>
          </a:xfrm>
          <a:prstGeom prst="ellipse">
            <a:avLst/>
          </a:prstGeom>
          <a:solidFill>
            <a:srgbClr val="F7EACA"/>
          </a:solidFill>
          <a:ln/>
        </p:spPr>
        <p:txBody>
          <a:bodyPr/>
          <a:lstStyle/>
          <a:p>
            <a:endParaRPr lang="en-US"/>
          </a:p>
        </p:txBody>
      </p:sp>
      <p:sp>
        <p:nvSpPr>
          <p:cNvPr id="13" name="Shape 11"/>
          <p:cNvSpPr/>
          <p:nvPr/>
        </p:nvSpPr>
        <p:spPr>
          <a:xfrm>
            <a:off x="640080" y="1389888"/>
            <a:ext cx="10908792" cy="1389888"/>
          </a:xfrm>
          <a:prstGeom prst="roundRect">
            <a:avLst>
              <a:gd name="adj" fmla="val 5263"/>
            </a:avLst>
          </a:prstGeom>
          <a:solidFill>
            <a:srgbClr val="252B17"/>
          </a:solidFill>
          <a:ln/>
        </p:spPr>
        <p:txBody>
          <a:bodyPr/>
          <a:lstStyle/>
          <a:p>
            <a:endParaRPr lang="en-US"/>
          </a:p>
        </p:txBody>
      </p:sp>
      <p:sp>
        <p:nvSpPr>
          <p:cNvPr id="14" name="Text 12"/>
          <p:cNvSpPr/>
          <p:nvPr/>
        </p:nvSpPr>
        <p:spPr>
          <a:xfrm>
            <a:off x="914400" y="1673352"/>
            <a:ext cx="1005840" cy="155448"/>
          </a:xfrm>
          <a:prstGeom prst="rect">
            <a:avLst/>
          </a:prstGeom>
          <a:noFill/>
          <a:ln/>
        </p:spPr>
        <p:txBody>
          <a:bodyPr wrap="square" lIns="0" tIns="0" rIns="0" bIns="0" rtlCol="0" anchor="ctr"/>
          <a:lstStyle/>
          <a:p>
            <a:pPr marL="0" indent="0">
              <a:buNone/>
            </a:pPr>
            <a:r>
              <a:rPr lang="en-US" sz="1000" b="1" kern="0" spc="140" dirty="0">
                <a:solidFill>
                  <a:srgbClr val="FFFFFF"/>
                </a:solidFill>
                <a:latin typeface="Aptos" pitchFamily="34" charset="0"/>
                <a:ea typeface="Aptos" pitchFamily="34" charset="-122"/>
                <a:cs typeface="Aptos" pitchFamily="34" charset="-120"/>
              </a:rPr>
              <a:t>REQUEST</a:t>
            </a:r>
            <a:endParaRPr lang="en-US" sz="1000" dirty="0"/>
          </a:p>
        </p:txBody>
      </p:sp>
      <p:sp>
        <p:nvSpPr>
          <p:cNvPr id="15" name="Shape 13"/>
          <p:cNvSpPr/>
          <p:nvPr/>
        </p:nvSpPr>
        <p:spPr>
          <a:xfrm>
            <a:off x="1261872" y="2139696"/>
            <a:ext cx="9052560" cy="0"/>
          </a:xfrm>
          <a:prstGeom prst="line">
            <a:avLst/>
          </a:prstGeom>
          <a:noFill/>
          <a:ln w="50800">
            <a:solidFill>
              <a:srgbClr val="D8A846"/>
            </a:solidFill>
            <a:prstDash val="solid"/>
          </a:ln>
        </p:spPr>
        <p:txBody>
          <a:bodyPr/>
          <a:lstStyle/>
          <a:p>
            <a:endParaRPr lang="en-US"/>
          </a:p>
        </p:txBody>
      </p:sp>
      <p:sp>
        <p:nvSpPr>
          <p:cNvPr id="16" name="Shape 14"/>
          <p:cNvSpPr/>
          <p:nvPr/>
        </p:nvSpPr>
        <p:spPr>
          <a:xfrm>
            <a:off x="1280160" y="1901952"/>
            <a:ext cx="475488" cy="475488"/>
          </a:xfrm>
          <a:prstGeom prst="ellipse">
            <a:avLst/>
          </a:prstGeom>
          <a:solidFill>
            <a:srgbClr val="D8A846"/>
          </a:solidFill>
          <a:ln/>
        </p:spPr>
        <p:txBody>
          <a:bodyPr/>
          <a:lstStyle/>
          <a:p>
            <a:endParaRPr lang="en-US"/>
          </a:p>
        </p:txBody>
      </p:sp>
      <p:sp>
        <p:nvSpPr>
          <p:cNvPr id="17" name="Text 15"/>
          <p:cNvSpPr/>
          <p:nvPr/>
        </p:nvSpPr>
        <p:spPr>
          <a:xfrm>
            <a:off x="777240" y="2441448"/>
            <a:ext cx="1481328" cy="146304"/>
          </a:xfrm>
          <a:prstGeom prst="rect">
            <a:avLst/>
          </a:prstGeom>
          <a:noFill/>
          <a:ln/>
        </p:spPr>
        <p:txBody>
          <a:bodyPr wrap="square" lIns="0" tIns="0" rIns="0" bIns="0" rtlCol="0" anchor="ctr">
            <a:normAutofit/>
          </a:bodyPr>
          <a:lstStyle/>
          <a:p>
            <a:pPr marL="0" indent="0" algn="ctr">
              <a:buNone/>
            </a:pPr>
            <a:r>
              <a:rPr lang="en-US" sz="930" b="1" dirty="0">
                <a:solidFill>
                  <a:srgbClr val="FFFFFF"/>
                </a:solidFill>
                <a:latin typeface="Aptos" pitchFamily="34" charset="0"/>
                <a:ea typeface="Aptos" pitchFamily="34" charset="-122"/>
                <a:cs typeface="Aptos" pitchFamily="34" charset="-120"/>
              </a:rPr>
              <a:t>start</a:t>
            </a:r>
            <a:endParaRPr lang="en-US" sz="930" dirty="0"/>
          </a:p>
        </p:txBody>
      </p:sp>
      <p:sp>
        <p:nvSpPr>
          <p:cNvPr id="18" name="Shape 16"/>
          <p:cNvSpPr/>
          <p:nvPr/>
        </p:nvSpPr>
        <p:spPr>
          <a:xfrm>
            <a:off x="4572000" y="1901952"/>
            <a:ext cx="475488" cy="475488"/>
          </a:xfrm>
          <a:prstGeom prst="ellipse">
            <a:avLst/>
          </a:prstGeom>
          <a:solidFill>
            <a:srgbClr val="D8A846"/>
          </a:solidFill>
          <a:ln/>
        </p:spPr>
        <p:txBody>
          <a:bodyPr/>
          <a:lstStyle/>
          <a:p>
            <a:endParaRPr lang="en-US"/>
          </a:p>
        </p:txBody>
      </p:sp>
      <p:sp>
        <p:nvSpPr>
          <p:cNvPr id="19" name="Text 17"/>
          <p:cNvSpPr/>
          <p:nvPr/>
        </p:nvSpPr>
        <p:spPr>
          <a:xfrm>
            <a:off x="4069080" y="2441448"/>
            <a:ext cx="1481328" cy="146304"/>
          </a:xfrm>
          <a:prstGeom prst="rect">
            <a:avLst/>
          </a:prstGeom>
          <a:noFill/>
          <a:ln/>
        </p:spPr>
        <p:txBody>
          <a:bodyPr wrap="square" lIns="0" tIns="0" rIns="0" bIns="0" rtlCol="0" anchor="ctr">
            <a:normAutofit/>
          </a:bodyPr>
          <a:lstStyle/>
          <a:p>
            <a:pPr marL="0" indent="0" algn="ctr">
              <a:buNone/>
            </a:pPr>
            <a:r>
              <a:rPr lang="en-US" sz="930" b="1" dirty="0">
                <a:solidFill>
                  <a:srgbClr val="FFFFFF"/>
                </a:solidFill>
                <a:latin typeface="Aptos" pitchFamily="34" charset="0"/>
                <a:ea typeface="Aptos" pitchFamily="34" charset="-122"/>
                <a:cs typeface="Aptos" pitchFamily="34" charset="-120"/>
              </a:rPr>
              <a:t>first token</a:t>
            </a:r>
            <a:endParaRPr lang="en-US" sz="930" dirty="0"/>
          </a:p>
        </p:txBody>
      </p:sp>
      <p:sp>
        <p:nvSpPr>
          <p:cNvPr id="20" name="Shape 18"/>
          <p:cNvSpPr/>
          <p:nvPr/>
        </p:nvSpPr>
        <p:spPr>
          <a:xfrm>
            <a:off x="7498080" y="1901952"/>
            <a:ext cx="475488" cy="475488"/>
          </a:xfrm>
          <a:prstGeom prst="ellipse">
            <a:avLst/>
          </a:prstGeom>
          <a:solidFill>
            <a:srgbClr val="D8A846"/>
          </a:solidFill>
          <a:ln/>
        </p:spPr>
        <p:txBody>
          <a:bodyPr/>
          <a:lstStyle/>
          <a:p>
            <a:endParaRPr lang="en-US"/>
          </a:p>
        </p:txBody>
      </p:sp>
      <p:sp>
        <p:nvSpPr>
          <p:cNvPr id="21" name="Text 19"/>
          <p:cNvSpPr/>
          <p:nvPr/>
        </p:nvSpPr>
        <p:spPr>
          <a:xfrm>
            <a:off x="6995160" y="2441448"/>
            <a:ext cx="1481328" cy="146304"/>
          </a:xfrm>
          <a:prstGeom prst="rect">
            <a:avLst/>
          </a:prstGeom>
          <a:noFill/>
          <a:ln/>
        </p:spPr>
        <p:txBody>
          <a:bodyPr wrap="square" lIns="0" tIns="0" rIns="0" bIns="0" rtlCol="0" anchor="ctr">
            <a:normAutofit/>
          </a:bodyPr>
          <a:lstStyle/>
          <a:p>
            <a:pPr marL="0" indent="0" algn="ctr">
              <a:buNone/>
            </a:pPr>
            <a:r>
              <a:rPr lang="en-US" sz="930" b="1" dirty="0">
                <a:solidFill>
                  <a:srgbClr val="FFFFFF"/>
                </a:solidFill>
                <a:latin typeface="Aptos" pitchFamily="34" charset="0"/>
                <a:ea typeface="Aptos" pitchFamily="34" charset="-122"/>
                <a:cs typeface="Aptos" pitchFamily="34" charset="-120"/>
              </a:rPr>
              <a:t>last token</a:t>
            </a:r>
            <a:endParaRPr lang="en-US" sz="930" dirty="0"/>
          </a:p>
        </p:txBody>
      </p:sp>
      <p:sp>
        <p:nvSpPr>
          <p:cNvPr id="22" name="Shape 20"/>
          <p:cNvSpPr/>
          <p:nvPr/>
        </p:nvSpPr>
        <p:spPr>
          <a:xfrm>
            <a:off x="10332720" y="1901952"/>
            <a:ext cx="475488" cy="475488"/>
          </a:xfrm>
          <a:prstGeom prst="ellipse">
            <a:avLst/>
          </a:prstGeom>
          <a:solidFill>
            <a:srgbClr val="72B01D"/>
          </a:solidFill>
          <a:ln/>
        </p:spPr>
        <p:txBody>
          <a:bodyPr/>
          <a:lstStyle/>
          <a:p>
            <a:endParaRPr lang="en-US"/>
          </a:p>
        </p:txBody>
      </p:sp>
      <p:sp>
        <p:nvSpPr>
          <p:cNvPr id="23" name="Text 21"/>
          <p:cNvSpPr/>
          <p:nvPr/>
        </p:nvSpPr>
        <p:spPr>
          <a:xfrm>
            <a:off x="9829800" y="2441448"/>
            <a:ext cx="1481328" cy="146304"/>
          </a:xfrm>
          <a:prstGeom prst="rect">
            <a:avLst/>
          </a:prstGeom>
          <a:noFill/>
          <a:ln/>
        </p:spPr>
        <p:txBody>
          <a:bodyPr wrap="square" lIns="0" tIns="0" rIns="0" bIns="0" rtlCol="0" anchor="ctr">
            <a:normAutofit/>
          </a:bodyPr>
          <a:lstStyle/>
          <a:p>
            <a:pPr marL="0" indent="0" algn="ctr">
              <a:buNone/>
            </a:pPr>
            <a:r>
              <a:rPr lang="en-US" sz="930" b="1" dirty="0">
                <a:solidFill>
                  <a:srgbClr val="FFFFFF"/>
                </a:solidFill>
                <a:latin typeface="Aptos" pitchFamily="34" charset="0"/>
                <a:ea typeface="Aptos" pitchFamily="34" charset="-122"/>
                <a:cs typeface="Aptos" pitchFamily="34" charset="-120"/>
              </a:rPr>
              <a:t>usable outcome</a:t>
            </a:r>
            <a:endParaRPr lang="en-US" sz="930" dirty="0"/>
          </a:p>
        </p:txBody>
      </p:sp>
      <p:sp>
        <p:nvSpPr>
          <p:cNvPr id="24" name="Text 22"/>
          <p:cNvSpPr/>
          <p:nvPr/>
        </p:nvSpPr>
        <p:spPr>
          <a:xfrm>
            <a:off x="2313432" y="1609344"/>
            <a:ext cx="1170432" cy="155448"/>
          </a:xfrm>
          <a:prstGeom prst="rect">
            <a:avLst/>
          </a:prstGeom>
          <a:noFill/>
          <a:ln/>
        </p:spPr>
        <p:txBody>
          <a:bodyPr wrap="square" lIns="0" tIns="0" rIns="0" bIns="0" rtlCol="0" anchor="ctr"/>
          <a:lstStyle/>
          <a:p>
            <a:pPr marL="0" indent="0" algn="ctr">
              <a:buNone/>
            </a:pPr>
            <a:r>
              <a:rPr lang="en-US" sz="1200" b="1" dirty="0">
                <a:solidFill>
                  <a:srgbClr val="D8A846"/>
                </a:solidFill>
                <a:latin typeface="Aptos" pitchFamily="34" charset="0"/>
                <a:ea typeface="Aptos" pitchFamily="34" charset="-122"/>
                <a:cs typeface="Aptos" pitchFamily="34" charset="-120"/>
              </a:rPr>
              <a:t>TTFT</a:t>
            </a:r>
            <a:endParaRPr lang="en-US" sz="1200" dirty="0"/>
          </a:p>
        </p:txBody>
      </p:sp>
      <p:sp>
        <p:nvSpPr>
          <p:cNvPr id="25" name="Text 23"/>
          <p:cNvSpPr/>
          <p:nvPr/>
        </p:nvSpPr>
        <p:spPr>
          <a:xfrm>
            <a:off x="5678424" y="1609344"/>
            <a:ext cx="1170432" cy="155448"/>
          </a:xfrm>
          <a:prstGeom prst="rect">
            <a:avLst/>
          </a:prstGeom>
          <a:noFill/>
          <a:ln/>
        </p:spPr>
        <p:txBody>
          <a:bodyPr wrap="square" lIns="0" tIns="0" rIns="0" bIns="0" rtlCol="0" anchor="ctr"/>
          <a:lstStyle/>
          <a:p>
            <a:pPr marL="0" indent="0" algn="ctr">
              <a:buNone/>
            </a:pPr>
            <a:r>
              <a:rPr lang="en-US" sz="1200" b="1" dirty="0">
                <a:solidFill>
                  <a:srgbClr val="D8A846"/>
                </a:solidFill>
                <a:latin typeface="Aptos" pitchFamily="34" charset="0"/>
                <a:ea typeface="Aptos" pitchFamily="34" charset="-122"/>
                <a:cs typeface="Aptos" pitchFamily="34" charset="-120"/>
              </a:rPr>
              <a:t>TTLT</a:t>
            </a:r>
            <a:endParaRPr lang="en-US" sz="1200" dirty="0"/>
          </a:p>
        </p:txBody>
      </p:sp>
      <p:sp>
        <p:nvSpPr>
          <p:cNvPr id="26" name="Text 24"/>
          <p:cNvSpPr/>
          <p:nvPr/>
        </p:nvSpPr>
        <p:spPr>
          <a:xfrm>
            <a:off x="7982712" y="1609344"/>
            <a:ext cx="2103120" cy="155448"/>
          </a:xfrm>
          <a:prstGeom prst="rect">
            <a:avLst/>
          </a:prstGeom>
          <a:noFill/>
          <a:ln/>
        </p:spPr>
        <p:txBody>
          <a:bodyPr wrap="square" lIns="0" tIns="0" rIns="0" bIns="0" rtlCol="0" anchor="ctr"/>
          <a:lstStyle/>
          <a:p>
            <a:pPr marL="0" indent="0" algn="ctr">
              <a:buNone/>
            </a:pPr>
            <a:r>
              <a:rPr lang="en-US" sz="1050" b="1" dirty="0">
                <a:solidFill>
                  <a:srgbClr val="72B01D"/>
                </a:solidFill>
                <a:latin typeface="Aptos" pitchFamily="34" charset="0"/>
                <a:ea typeface="Aptos" pitchFamily="34" charset="-122"/>
                <a:cs typeface="Aptos" pitchFamily="34" charset="-120"/>
              </a:rPr>
              <a:t>WORKFLOW COMPLETION</a:t>
            </a:r>
            <a:endParaRPr lang="en-US" sz="1050" dirty="0"/>
          </a:p>
        </p:txBody>
      </p:sp>
      <p:sp>
        <p:nvSpPr>
          <p:cNvPr id="27" name="Shape 25"/>
          <p:cNvSpPr/>
          <p:nvPr/>
        </p:nvSpPr>
        <p:spPr>
          <a:xfrm>
            <a:off x="640080" y="3063240"/>
            <a:ext cx="2064715" cy="3008376"/>
          </a:xfrm>
          <a:prstGeom prst="roundRect">
            <a:avLst>
              <a:gd name="adj" fmla="val 3543"/>
            </a:avLst>
          </a:prstGeom>
          <a:solidFill>
            <a:srgbClr val="F7EACA"/>
          </a:solidFill>
          <a:ln w="10160">
            <a:solidFill>
              <a:srgbClr val="F7EACA"/>
            </a:solidFill>
            <a:prstDash val="solid"/>
          </a:ln>
        </p:spPr>
        <p:txBody>
          <a:bodyPr/>
          <a:lstStyle/>
          <a:p>
            <a:endParaRPr lang="en-US"/>
          </a:p>
        </p:txBody>
      </p:sp>
      <p:sp>
        <p:nvSpPr>
          <p:cNvPr id="28" name="Text 26"/>
          <p:cNvSpPr/>
          <p:nvPr/>
        </p:nvSpPr>
        <p:spPr>
          <a:xfrm>
            <a:off x="822960" y="3374136"/>
            <a:ext cx="1698955" cy="384048"/>
          </a:xfrm>
          <a:prstGeom prst="rect">
            <a:avLst/>
          </a:prstGeom>
          <a:noFill/>
          <a:ln/>
        </p:spPr>
        <p:txBody>
          <a:bodyPr wrap="square" lIns="0" tIns="0" rIns="0" bIns="0" rtlCol="0" anchor="ctr">
            <a:normAutofit/>
          </a:bodyPr>
          <a:lstStyle/>
          <a:p>
            <a:pPr marL="0" indent="0" algn="ctr">
              <a:buNone/>
            </a:pPr>
            <a:r>
              <a:rPr lang="en-US" sz="1800" b="1" dirty="0">
                <a:solidFill>
                  <a:srgbClr val="252B17"/>
                </a:solidFill>
                <a:latin typeface="Aptos Display" pitchFamily="34" charset="0"/>
                <a:ea typeface="Aptos Display" pitchFamily="34" charset="-122"/>
                <a:cs typeface="Aptos Display" pitchFamily="34" charset="-120"/>
              </a:rPr>
              <a:t>Latency</a:t>
            </a:r>
            <a:endParaRPr lang="en-US" sz="1800" dirty="0"/>
          </a:p>
        </p:txBody>
      </p:sp>
      <p:sp>
        <p:nvSpPr>
          <p:cNvPr id="29" name="Text 27"/>
          <p:cNvSpPr/>
          <p:nvPr/>
        </p:nvSpPr>
        <p:spPr>
          <a:xfrm>
            <a:off x="841248" y="3867912"/>
            <a:ext cx="1662379" cy="118872"/>
          </a:xfrm>
          <a:prstGeom prst="rect">
            <a:avLst/>
          </a:prstGeom>
          <a:noFill/>
          <a:ln/>
        </p:spPr>
        <p:txBody>
          <a:bodyPr wrap="square" lIns="0" tIns="0" rIns="0" bIns="0" rtlCol="0" anchor="ctr"/>
          <a:lstStyle/>
          <a:p>
            <a:pPr marL="0" indent="0" algn="ctr">
              <a:buNone/>
            </a:pPr>
            <a:r>
              <a:rPr lang="en-US" sz="820" b="1" kern="0" spc="100" dirty="0">
                <a:solidFill>
                  <a:srgbClr val="6D6A55"/>
                </a:solidFill>
                <a:latin typeface="Aptos" pitchFamily="34" charset="0"/>
                <a:ea typeface="Aptos" pitchFamily="34" charset="-122"/>
                <a:cs typeface="Aptos" pitchFamily="34" charset="-120"/>
              </a:rPr>
              <a:t>MEANING</a:t>
            </a:r>
            <a:endParaRPr lang="en-US" sz="820" dirty="0"/>
          </a:p>
        </p:txBody>
      </p:sp>
      <p:sp>
        <p:nvSpPr>
          <p:cNvPr id="30" name="Text 28"/>
          <p:cNvSpPr/>
          <p:nvPr/>
        </p:nvSpPr>
        <p:spPr>
          <a:xfrm>
            <a:off x="841248" y="4096512"/>
            <a:ext cx="1662379" cy="621792"/>
          </a:xfrm>
          <a:prstGeom prst="rect">
            <a:avLst/>
          </a:prstGeom>
          <a:noFill/>
          <a:ln/>
        </p:spPr>
        <p:txBody>
          <a:bodyPr wrap="square" lIns="0" tIns="0" rIns="0" bIns="0" rtlCol="0" anchor="ctr">
            <a:normAutofit/>
          </a:bodyPr>
          <a:lstStyle/>
          <a:p>
            <a:pPr marL="0" indent="0" algn="ctr">
              <a:buNone/>
            </a:pPr>
            <a:r>
              <a:rPr lang="en-US" sz="1380" dirty="0">
                <a:solidFill>
                  <a:srgbClr val="2A2C1D"/>
                </a:solidFill>
                <a:latin typeface="Aptos" pitchFamily="34" charset="0"/>
                <a:ea typeface="Aptos" pitchFamily="34" charset="-122"/>
                <a:cs typeface="Aptos" pitchFamily="34" charset="-120"/>
              </a:rPr>
              <a:t>Elapsed time for one request or operation</a:t>
            </a:r>
            <a:endParaRPr lang="en-US" sz="1380" dirty="0"/>
          </a:p>
        </p:txBody>
      </p:sp>
      <p:sp>
        <p:nvSpPr>
          <p:cNvPr id="31" name="Shape 29"/>
          <p:cNvSpPr/>
          <p:nvPr/>
        </p:nvSpPr>
        <p:spPr>
          <a:xfrm>
            <a:off x="804672" y="4937760"/>
            <a:ext cx="1735531" cy="868680"/>
          </a:xfrm>
          <a:prstGeom prst="roundRect">
            <a:avLst>
              <a:gd name="adj" fmla="val 8421"/>
            </a:avLst>
          </a:prstGeom>
          <a:solidFill>
            <a:srgbClr val="252B17"/>
          </a:solidFill>
          <a:ln/>
        </p:spPr>
        <p:txBody>
          <a:bodyPr/>
          <a:lstStyle/>
          <a:p>
            <a:endParaRPr lang="en-US"/>
          </a:p>
        </p:txBody>
      </p:sp>
      <p:sp>
        <p:nvSpPr>
          <p:cNvPr id="32" name="Text 30"/>
          <p:cNvSpPr/>
          <p:nvPr/>
        </p:nvSpPr>
        <p:spPr>
          <a:xfrm>
            <a:off x="914400" y="5065776"/>
            <a:ext cx="1516075" cy="100584"/>
          </a:xfrm>
          <a:prstGeom prst="rect">
            <a:avLst/>
          </a:prstGeom>
          <a:noFill/>
          <a:ln/>
        </p:spPr>
        <p:txBody>
          <a:bodyPr wrap="square" lIns="0" tIns="0" rIns="0" bIns="0" rtlCol="0" anchor="ctr">
            <a:normAutofit/>
          </a:bodyPr>
          <a:lstStyle/>
          <a:p>
            <a:pPr marL="0" indent="0" algn="ctr">
              <a:buNone/>
            </a:pPr>
            <a:r>
              <a:rPr lang="en-US" sz="720" b="1" kern="0" spc="60" dirty="0">
                <a:solidFill>
                  <a:srgbClr val="D8A846"/>
                </a:solidFill>
                <a:latin typeface="Aptos" pitchFamily="34" charset="0"/>
                <a:ea typeface="Aptos" pitchFamily="34" charset="-122"/>
                <a:cs typeface="Aptos" pitchFamily="34" charset="-120"/>
              </a:rPr>
              <a:t>USE IT TO ASK</a:t>
            </a:r>
            <a:endParaRPr lang="en-US" sz="720" dirty="0"/>
          </a:p>
        </p:txBody>
      </p:sp>
      <p:sp>
        <p:nvSpPr>
          <p:cNvPr id="33" name="Text 31"/>
          <p:cNvSpPr/>
          <p:nvPr/>
        </p:nvSpPr>
        <p:spPr>
          <a:xfrm>
            <a:off x="960120" y="5276088"/>
            <a:ext cx="1424635" cy="384048"/>
          </a:xfrm>
          <a:prstGeom prst="rect">
            <a:avLst/>
          </a:prstGeom>
          <a:noFill/>
          <a:ln/>
        </p:spPr>
        <p:txBody>
          <a:bodyPr wrap="square" lIns="0" tIns="0" rIns="0" bIns="0" rtlCol="0" anchor="ctr">
            <a:normAutofit/>
          </a:bodyPr>
          <a:lstStyle/>
          <a:p>
            <a:pPr marL="0" indent="0" algn="ctr">
              <a:buNone/>
            </a:pPr>
            <a:r>
              <a:rPr lang="en-US" sz="1040" b="1" dirty="0">
                <a:solidFill>
                  <a:srgbClr val="FFFFFF"/>
                </a:solidFill>
                <a:latin typeface="Aptos" pitchFamily="34" charset="0"/>
                <a:ea typeface="Aptos" pitchFamily="34" charset="-122"/>
                <a:cs typeface="Aptos" pitchFamily="34" charset="-120"/>
              </a:rPr>
              <a:t>How long did this request take?</a:t>
            </a:r>
            <a:endParaRPr lang="en-US" sz="1040" dirty="0"/>
          </a:p>
        </p:txBody>
      </p:sp>
      <p:sp>
        <p:nvSpPr>
          <p:cNvPr id="34" name="Shape 32"/>
          <p:cNvSpPr/>
          <p:nvPr/>
        </p:nvSpPr>
        <p:spPr>
          <a:xfrm>
            <a:off x="2851099" y="3063240"/>
            <a:ext cx="2064715" cy="3008376"/>
          </a:xfrm>
          <a:prstGeom prst="roundRect">
            <a:avLst>
              <a:gd name="adj" fmla="val 3543"/>
            </a:avLst>
          </a:prstGeom>
          <a:solidFill>
            <a:srgbClr val="FFFFFF"/>
          </a:solidFill>
          <a:ln w="10160">
            <a:solidFill>
              <a:srgbClr val="F7EACA"/>
            </a:solidFill>
            <a:prstDash val="solid"/>
          </a:ln>
        </p:spPr>
        <p:txBody>
          <a:bodyPr/>
          <a:lstStyle/>
          <a:p>
            <a:endParaRPr lang="en-US"/>
          </a:p>
        </p:txBody>
      </p:sp>
      <p:sp>
        <p:nvSpPr>
          <p:cNvPr id="35" name="Text 33"/>
          <p:cNvSpPr/>
          <p:nvPr/>
        </p:nvSpPr>
        <p:spPr>
          <a:xfrm>
            <a:off x="3033979" y="3374136"/>
            <a:ext cx="1698955" cy="384048"/>
          </a:xfrm>
          <a:prstGeom prst="rect">
            <a:avLst/>
          </a:prstGeom>
          <a:noFill/>
          <a:ln/>
        </p:spPr>
        <p:txBody>
          <a:bodyPr wrap="square" lIns="0" tIns="0" rIns="0" bIns="0" rtlCol="0" anchor="ctr">
            <a:normAutofit/>
          </a:bodyPr>
          <a:lstStyle/>
          <a:p>
            <a:pPr marL="0" indent="0" algn="ctr">
              <a:buNone/>
            </a:pPr>
            <a:r>
              <a:rPr lang="en-US" sz="1800" b="1" dirty="0">
                <a:solidFill>
                  <a:srgbClr val="252B17"/>
                </a:solidFill>
                <a:latin typeface="Aptos Display" pitchFamily="34" charset="0"/>
                <a:ea typeface="Aptos Display" pitchFamily="34" charset="-122"/>
                <a:cs typeface="Aptos Display" pitchFamily="34" charset="-120"/>
              </a:rPr>
              <a:t>Throughput</a:t>
            </a:r>
            <a:endParaRPr lang="en-US" sz="1800" dirty="0"/>
          </a:p>
        </p:txBody>
      </p:sp>
      <p:sp>
        <p:nvSpPr>
          <p:cNvPr id="36" name="Text 34"/>
          <p:cNvSpPr/>
          <p:nvPr/>
        </p:nvSpPr>
        <p:spPr>
          <a:xfrm>
            <a:off x="3052267" y="3867912"/>
            <a:ext cx="1662379" cy="118872"/>
          </a:xfrm>
          <a:prstGeom prst="rect">
            <a:avLst/>
          </a:prstGeom>
          <a:noFill/>
          <a:ln/>
        </p:spPr>
        <p:txBody>
          <a:bodyPr wrap="square" lIns="0" tIns="0" rIns="0" bIns="0" rtlCol="0" anchor="ctr"/>
          <a:lstStyle/>
          <a:p>
            <a:pPr marL="0" indent="0" algn="ctr">
              <a:buNone/>
            </a:pPr>
            <a:r>
              <a:rPr lang="en-US" sz="820" b="1" kern="0" spc="100" dirty="0">
                <a:solidFill>
                  <a:srgbClr val="6D6A55"/>
                </a:solidFill>
                <a:latin typeface="Aptos" pitchFamily="34" charset="0"/>
                <a:ea typeface="Aptos" pitchFamily="34" charset="-122"/>
                <a:cs typeface="Aptos" pitchFamily="34" charset="-120"/>
              </a:rPr>
              <a:t>MEANING</a:t>
            </a:r>
            <a:endParaRPr lang="en-US" sz="820" dirty="0"/>
          </a:p>
        </p:txBody>
      </p:sp>
      <p:sp>
        <p:nvSpPr>
          <p:cNvPr id="37" name="Text 35"/>
          <p:cNvSpPr/>
          <p:nvPr/>
        </p:nvSpPr>
        <p:spPr>
          <a:xfrm>
            <a:off x="3052267" y="4096512"/>
            <a:ext cx="1662379" cy="621792"/>
          </a:xfrm>
          <a:prstGeom prst="rect">
            <a:avLst/>
          </a:prstGeom>
          <a:noFill/>
          <a:ln/>
        </p:spPr>
        <p:txBody>
          <a:bodyPr wrap="square" lIns="0" tIns="0" rIns="0" bIns="0" rtlCol="0" anchor="ctr">
            <a:normAutofit/>
          </a:bodyPr>
          <a:lstStyle/>
          <a:p>
            <a:pPr marL="0" indent="0" algn="ctr">
              <a:buNone/>
            </a:pPr>
            <a:r>
              <a:rPr lang="en-US" sz="1380" dirty="0">
                <a:solidFill>
                  <a:srgbClr val="2A2C1D"/>
                </a:solidFill>
                <a:latin typeface="Aptos" pitchFamily="34" charset="0"/>
                <a:ea typeface="Aptos" pitchFamily="34" charset="-122"/>
                <a:cs typeface="Aptos" pitchFamily="34" charset="-120"/>
              </a:rPr>
              <a:t>Work completed per unit time</a:t>
            </a:r>
            <a:endParaRPr lang="en-US" sz="1380" dirty="0"/>
          </a:p>
        </p:txBody>
      </p:sp>
      <p:sp>
        <p:nvSpPr>
          <p:cNvPr id="38" name="Shape 36"/>
          <p:cNvSpPr/>
          <p:nvPr/>
        </p:nvSpPr>
        <p:spPr>
          <a:xfrm>
            <a:off x="3015691" y="4937760"/>
            <a:ext cx="1735531" cy="868680"/>
          </a:xfrm>
          <a:prstGeom prst="roundRect">
            <a:avLst>
              <a:gd name="adj" fmla="val 8421"/>
            </a:avLst>
          </a:prstGeom>
          <a:solidFill>
            <a:srgbClr val="252B17"/>
          </a:solidFill>
          <a:ln/>
        </p:spPr>
        <p:txBody>
          <a:bodyPr/>
          <a:lstStyle/>
          <a:p>
            <a:endParaRPr lang="en-US"/>
          </a:p>
        </p:txBody>
      </p:sp>
      <p:sp>
        <p:nvSpPr>
          <p:cNvPr id="39" name="Text 37"/>
          <p:cNvSpPr/>
          <p:nvPr/>
        </p:nvSpPr>
        <p:spPr>
          <a:xfrm>
            <a:off x="3125419" y="5065776"/>
            <a:ext cx="1516075" cy="100584"/>
          </a:xfrm>
          <a:prstGeom prst="rect">
            <a:avLst/>
          </a:prstGeom>
          <a:noFill/>
          <a:ln/>
        </p:spPr>
        <p:txBody>
          <a:bodyPr wrap="square" lIns="0" tIns="0" rIns="0" bIns="0" rtlCol="0" anchor="ctr">
            <a:normAutofit/>
          </a:bodyPr>
          <a:lstStyle/>
          <a:p>
            <a:pPr marL="0" indent="0" algn="ctr">
              <a:buNone/>
            </a:pPr>
            <a:r>
              <a:rPr lang="en-US" sz="720" b="1" kern="0" spc="60" dirty="0">
                <a:solidFill>
                  <a:srgbClr val="D8A846"/>
                </a:solidFill>
                <a:latin typeface="Aptos" pitchFamily="34" charset="0"/>
                <a:ea typeface="Aptos" pitchFamily="34" charset="-122"/>
                <a:cs typeface="Aptos" pitchFamily="34" charset="-120"/>
              </a:rPr>
              <a:t>USE IT TO ASK</a:t>
            </a:r>
            <a:endParaRPr lang="en-US" sz="720" dirty="0"/>
          </a:p>
        </p:txBody>
      </p:sp>
      <p:sp>
        <p:nvSpPr>
          <p:cNvPr id="40" name="Text 38"/>
          <p:cNvSpPr/>
          <p:nvPr/>
        </p:nvSpPr>
        <p:spPr>
          <a:xfrm>
            <a:off x="3171139" y="5276088"/>
            <a:ext cx="1424635" cy="384048"/>
          </a:xfrm>
          <a:prstGeom prst="rect">
            <a:avLst/>
          </a:prstGeom>
          <a:noFill/>
          <a:ln/>
        </p:spPr>
        <p:txBody>
          <a:bodyPr wrap="square" lIns="0" tIns="0" rIns="0" bIns="0" rtlCol="0" anchor="ctr">
            <a:normAutofit/>
          </a:bodyPr>
          <a:lstStyle/>
          <a:p>
            <a:pPr marL="0" indent="0" algn="ctr">
              <a:buNone/>
            </a:pPr>
            <a:r>
              <a:rPr lang="en-US" sz="1040" b="1" dirty="0">
                <a:solidFill>
                  <a:srgbClr val="FFFFFF"/>
                </a:solidFill>
                <a:latin typeface="Aptos" pitchFamily="34" charset="0"/>
                <a:ea typeface="Aptos" pitchFamily="34" charset="-122"/>
                <a:cs typeface="Aptos" pitchFamily="34" charset="-120"/>
              </a:rPr>
              <a:t>How much load can the system sustain?</a:t>
            </a:r>
            <a:endParaRPr lang="en-US" sz="1040" dirty="0"/>
          </a:p>
        </p:txBody>
      </p:sp>
      <p:sp>
        <p:nvSpPr>
          <p:cNvPr id="41" name="Shape 39"/>
          <p:cNvSpPr/>
          <p:nvPr/>
        </p:nvSpPr>
        <p:spPr>
          <a:xfrm>
            <a:off x="5062118" y="3063240"/>
            <a:ext cx="2064715" cy="3008376"/>
          </a:xfrm>
          <a:prstGeom prst="roundRect">
            <a:avLst>
              <a:gd name="adj" fmla="val 3543"/>
            </a:avLst>
          </a:prstGeom>
          <a:solidFill>
            <a:srgbClr val="F7EACA"/>
          </a:solidFill>
          <a:ln w="10160">
            <a:solidFill>
              <a:srgbClr val="F7EACA"/>
            </a:solidFill>
            <a:prstDash val="solid"/>
          </a:ln>
        </p:spPr>
        <p:txBody>
          <a:bodyPr/>
          <a:lstStyle/>
          <a:p>
            <a:endParaRPr lang="en-US"/>
          </a:p>
        </p:txBody>
      </p:sp>
      <p:sp>
        <p:nvSpPr>
          <p:cNvPr id="42" name="Text 40"/>
          <p:cNvSpPr/>
          <p:nvPr/>
        </p:nvSpPr>
        <p:spPr>
          <a:xfrm>
            <a:off x="5244998" y="3374136"/>
            <a:ext cx="1698955" cy="384048"/>
          </a:xfrm>
          <a:prstGeom prst="rect">
            <a:avLst/>
          </a:prstGeom>
          <a:noFill/>
          <a:ln/>
        </p:spPr>
        <p:txBody>
          <a:bodyPr wrap="square" lIns="0" tIns="0" rIns="0" bIns="0" rtlCol="0" anchor="ctr">
            <a:normAutofit/>
          </a:bodyPr>
          <a:lstStyle/>
          <a:p>
            <a:pPr marL="0" indent="0" algn="ctr">
              <a:buNone/>
            </a:pPr>
            <a:r>
              <a:rPr lang="en-US" sz="1800" b="1" dirty="0">
                <a:solidFill>
                  <a:srgbClr val="252B17"/>
                </a:solidFill>
                <a:latin typeface="Aptos Display" pitchFamily="34" charset="0"/>
                <a:ea typeface="Aptos Display" pitchFamily="34" charset="-122"/>
                <a:cs typeface="Aptos Display" pitchFamily="34" charset="-120"/>
              </a:rPr>
              <a:t>TTFT</a:t>
            </a:r>
            <a:endParaRPr lang="en-US" sz="1800" dirty="0"/>
          </a:p>
        </p:txBody>
      </p:sp>
      <p:sp>
        <p:nvSpPr>
          <p:cNvPr id="43" name="Text 41"/>
          <p:cNvSpPr/>
          <p:nvPr/>
        </p:nvSpPr>
        <p:spPr>
          <a:xfrm>
            <a:off x="5263286" y="3867912"/>
            <a:ext cx="1662379" cy="118872"/>
          </a:xfrm>
          <a:prstGeom prst="rect">
            <a:avLst/>
          </a:prstGeom>
          <a:noFill/>
          <a:ln/>
        </p:spPr>
        <p:txBody>
          <a:bodyPr wrap="square" lIns="0" tIns="0" rIns="0" bIns="0" rtlCol="0" anchor="ctr"/>
          <a:lstStyle/>
          <a:p>
            <a:pPr marL="0" indent="0" algn="ctr">
              <a:buNone/>
            </a:pPr>
            <a:r>
              <a:rPr lang="en-US" sz="820" b="1" kern="0" spc="100" dirty="0">
                <a:solidFill>
                  <a:srgbClr val="6D6A55"/>
                </a:solidFill>
                <a:latin typeface="Aptos" pitchFamily="34" charset="0"/>
                <a:ea typeface="Aptos" pitchFamily="34" charset="-122"/>
                <a:cs typeface="Aptos" pitchFamily="34" charset="-120"/>
              </a:rPr>
              <a:t>MEANING</a:t>
            </a:r>
            <a:endParaRPr lang="en-US" sz="820" dirty="0"/>
          </a:p>
        </p:txBody>
      </p:sp>
      <p:sp>
        <p:nvSpPr>
          <p:cNvPr id="44" name="Text 42"/>
          <p:cNvSpPr/>
          <p:nvPr/>
        </p:nvSpPr>
        <p:spPr>
          <a:xfrm>
            <a:off x="5263286" y="4096512"/>
            <a:ext cx="1662379" cy="621792"/>
          </a:xfrm>
          <a:prstGeom prst="rect">
            <a:avLst/>
          </a:prstGeom>
          <a:noFill/>
          <a:ln/>
        </p:spPr>
        <p:txBody>
          <a:bodyPr wrap="square" lIns="0" tIns="0" rIns="0" bIns="0" rtlCol="0" anchor="ctr">
            <a:normAutofit/>
          </a:bodyPr>
          <a:lstStyle/>
          <a:p>
            <a:pPr marL="0" indent="0" algn="ctr">
              <a:buNone/>
            </a:pPr>
            <a:r>
              <a:rPr lang="en-US" sz="1380" dirty="0">
                <a:solidFill>
                  <a:srgbClr val="2A2C1D"/>
                </a:solidFill>
                <a:latin typeface="Aptos" pitchFamily="34" charset="0"/>
                <a:ea typeface="Aptos" pitchFamily="34" charset="-122"/>
                <a:cs typeface="Aptos" pitchFamily="34" charset="-120"/>
              </a:rPr>
              <a:t>Time from model request to first token</a:t>
            </a:r>
            <a:endParaRPr lang="en-US" sz="1380" dirty="0"/>
          </a:p>
        </p:txBody>
      </p:sp>
      <p:sp>
        <p:nvSpPr>
          <p:cNvPr id="45" name="Shape 43"/>
          <p:cNvSpPr/>
          <p:nvPr/>
        </p:nvSpPr>
        <p:spPr>
          <a:xfrm>
            <a:off x="5226710" y="4937760"/>
            <a:ext cx="1735531" cy="868680"/>
          </a:xfrm>
          <a:prstGeom prst="roundRect">
            <a:avLst>
              <a:gd name="adj" fmla="val 8421"/>
            </a:avLst>
          </a:prstGeom>
          <a:solidFill>
            <a:srgbClr val="252B17"/>
          </a:solidFill>
          <a:ln/>
        </p:spPr>
        <p:txBody>
          <a:bodyPr/>
          <a:lstStyle/>
          <a:p>
            <a:endParaRPr lang="en-US"/>
          </a:p>
        </p:txBody>
      </p:sp>
      <p:sp>
        <p:nvSpPr>
          <p:cNvPr id="46" name="Text 44"/>
          <p:cNvSpPr/>
          <p:nvPr/>
        </p:nvSpPr>
        <p:spPr>
          <a:xfrm>
            <a:off x="5336438" y="5065776"/>
            <a:ext cx="1516075" cy="100584"/>
          </a:xfrm>
          <a:prstGeom prst="rect">
            <a:avLst/>
          </a:prstGeom>
          <a:noFill/>
          <a:ln/>
        </p:spPr>
        <p:txBody>
          <a:bodyPr wrap="square" lIns="0" tIns="0" rIns="0" bIns="0" rtlCol="0" anchor="ctr">
            <a:normAutofit/>
          </a:bodyPr>
          <a:lstStyle/>
          <a:p>
            <a:pPr marL="0" indent="0" algn="ctr">
              <a:buNone/>
            </a:pPr>
            <a:r>
              <a:rPr lang="en-US" sz="720" b="1" kern="0" spc="60" dirty="0">
                <a:solidFill>
                  <a:srgbClr val="D8A846"/>
                </a:solidFill>
                <a:latin typeface="Aptos" pitchFamily="34" charset="0"/>
                <a:ea typeface="Aptos" pitchFamily="34" charset="-122"/>
                <a:cs typeface="Aptos" pitchFamily="34" charset="-120"/>
              </a:rPr>
              <a:t>USE IT TO ASK</a:t>
            </a:r>
            <a:endParaRPr lang="en-US" sz="720" dirty="0"/>
          </a:p>
        </p:txBody>
      </p:sp>
      <p:sp>
        <p:nvSpPr>
          <p:cNvPr id="47" name="Text 45"/>
          <p:cNvSpPr/>
          <p:nvPr/>
        </p:nvSpPr>
        <p:spPr>
          <a:xfrm>
            <a:off x="5382158" y="5276088"/>
            <a:ext cx="1424635" cy="384048"/>
          </a:xfrm>
          <a:prstGeom prst="rect">
            <a:avLst/>
          </a:prstGeom>
          <a:noFill/>
          <a:ln/>
        </p:spPr>
        <p:txBody>
          <a:bodyPr wrap="square" lIns="0" tIns="0" rIns="0" bIns="0" rtlCol="0" anchor="ctr">
            <a:normAutofit/>
          </a:bodyPr>
          <a:lstStyle/>
          <a:p>
            <a:pPr marL="0" indent="0" algn="ctr">
              <a:buNone/>
            </a:pPr>
            <a:r>
              <a:rPr lang="en-US" sz="1040" b="1" dirty="0">
                <a:solidFill>
                  <a:srgbClr val="FFFFFF"/>
                </a:solidFill>
                <a:latin typeface="Aptos" pitchFamily="34" charset="0"/>
                <a:ea typeface="Aptos" pitchFamily="34" charset="-122"/>
                <a:cs typeface="Aptos" pitchFamily="34" charset="-120"/>
              </a:rPr>
              <a:t>When does a streamed response begin?</a:t>
            </a:r>
            <a:endParaRPr lang="en-US" sz="1040" dirty="0"/>
          </a:p>
        </p:txBody>
      </p:sp>
      <p:sp>
        <p:nvSpPr>
          <p:cNvPr id="48" name="Shape 46"/>
          <p:cNvSpPr/>
          <p:nvPr/>
        </p:nvSpPr>
        <p:spPr>
          <a:xfrm>
            <a:off x="7273138" y="3063240"/>
            <a:ext cx="2064715" cy="3008376"/>
          </a:xfrm>
          <a:prstGeom prst="roundRect">
            <a:avLst>
              <a:gd name="adj" fmla="val 3543"/>
            </a:avLst>
          </a:prstGeom>
          <a:solidFill>
            <a:srgbClr val="FFFFFF"/>
          </a:solidFill>
          <a:ln w="10160">
            <a:solidFill>
              <a:srgbClr val="F7EACA"/>
            </a:solidFill>
            <a:prstDash val="solid"/>
          </a:ln>
        </p:spPr>
        <p:txBody>
          <a:bodyPr/>
          <a:lstStyle/>
          <a:p>
            <a:endParaRPr lang="en-US"/>
          </a:p>
        </p:txBody>
      </p:sp>
      <p:sp>
        <p:nvSpPr>
          <p:cNvPr id="49" name="Text 47"/>
          <p:cNvSpPr/>
          <p:nvPr/>
        </p:nvSpPr>
        <p:spPr>
          <a:xfrm>
            <a:off x="7456018" y="3374136"/>
            <a:ext cx="1698955" cy="384048"/>
          </a:xfrm>
          <a:prstGeom prst="rect">
            <a:avLst/>
          </a:prstGeom>
          <a:noFill/>
          <a:ln/>
        </p:spPr>
        <p:txBody>
          <a:bodyPr wrap="square" lIns="0" tIns="0" rIns="0" bIns="0" rtlCol="0" anchor="ctr">
            <a:normAutofit/>
          </a:bodyPr>
          <a:lstStyle/>
          <a:p>
            <a:pPr marL="0" indent="0" algn="ctr">
              <a:buNone/>
            </a:pPr>
            <a:r>
              <a:rPr lang="en-US" sz="1800" b="1" dirty="0">
                <a:solidFill>
                  <a:srgbClr val="252B17"/>
                </a:solidFill>
                <a:latin typeface="Aptos Display" pitchFamily="34" charset="0"/>
                <a:ea typeface="Aptos Display" pitchFamily="34" charset="-122"/>
                <a:cs typeface="Aptos Display" pitchFamily="34" charset="-120"/>
              </a:rPr>
              <a:t>TTLT</a:t>
            </a:r>
            <a:endParaRPr lang="en-US" sz="1800" dirty="0"/>
          </a:p>
        </p:txBody>
      </p:sp>
      <p:sp>
        <p:nvSpPr>
          <p:cNvPr id="50" name="Text 48"/>
          <p:cNvSpPr/>
          <p:nvPr/>
        </p:nvSpPr>
        <p:spPr>
          <a:xfrm>
            <a:off x="7474306" y="3867912"/>
            <a:ext cx="1662379" cy="118872"/>
          </a:xfrm>
          <a:prstGeom prst="rect">
            <a:avLst/>
          </a:prstGeom>
          <a:noFill/>
          <a:ln/>
        </p:spPr>
        <p:txBody>
          <a:bodyPr wrap="square" lIns="0" tIns="0" rIns="0" bIns="0" rtlCol="0" anchor="ctr"/>
          <a:lstStyle/>
          <a:p>
            <a:pPr marL="0" indent="0" algn="ctr">
              <a:buNone/>
            </a:pPr>
            <a:r>
              <a:rPr lang="en-US" sz="820" b="1" kern="0" spc="100" dirty="0">
                <a:solidFill>
                  <a:srgbClr val="6D6A55"/>
                </a:solidFill>
                <a:latin typeface="Aptos" pitchFamily="34" charset="0"/>
                <a:ea typeface="Aptos" pitchFamily="34" charset="-122"/>
                <a:cs typeface="Aptos" pitchFamily="34" charset="-120"/>
              </a:rPr>
              <a:t>MEANING</a:t>
            </a:r>
            <a:endParaRPr lang="en-US" sz="820" dirty="0"/>
          </a:p>
        </p:txBody>
      </p:sp>
      <p:sp>
        <p:nvSpPr>
          <p:cNvPr id="51" name="Text 49"/>
          <p:cNvSpPr/>
          <p:nvPr/>
        </p:nvSpPr>
        <p:spPr>
          <a:xfrm>
            <a:off x="7474306" y="4096512"/>
            <a:ext cx="1662379" cy="621792"/>
          </a:xfrm>
          <a:prstGeom prst="rect">
            <a:avLst/>
          </a:prstGeom>
          <a:noFill/>
          <a:ln/>
        </p:spPr>
        <p:txBody>
          <a:bodyPr wrap="square" lIns="0" tIns="0" rIns="0" bIns="0" rtlCol="0" anchor="ctr">
            <a:normAutofit/>
          </a:bodyPr>
          <a:lstStyle/>
          <a:p>
            <a:pPr marL="0" indent="0" algn="ctr">
              <a:buNone/>
            </a:pPr>
            <a:r>
              <a:rPr lang="en-US" sz="1380" dirty="0">
                <a:solidFill>
                  <a:srgbClr val="2A2C1D"/>
                </a:solidFill>
                <a:latin typeface="Aptos" pitchFamily="34" charset="0"/>
                <a:ea typeface="Aptos" pitchFamily="34" charset="-122"/>
                <a:cs typeface="Aptos" pitchFamily="34" charset="-120"/>
              </a:rPr>
              <a:t>Time from model request to last token</a:t>
            </a:r>
            <a:endParaRPr lang="en-US" sz="1380" dirty="0"/>
          </a:p>
        </p:txBody>
      </p:sp>
      <p:sp>
        <p:nvSpPr>
          <p:cNvPr id="52" name="Shape 50"/>
          <p:cNvSpPr/>
          <p:nvPr/>
        </p:nvSpPr>
        <p:spPr>
          <a:xfrm>
            <a:off x="7437730" y="4937760"/>
            <a:ext cx="1735531" cy="868680"/>
          </a:xfrm>
          <a:prstGeom prst="roundRect">
            <a:avLst>
              <a:gd name="adj" fmla="val 8421"/>
            </a:avLst>
          </a:prstGeom>
          <a:solidFill>
            <a:srgbClr val="252B17"/>
          </a:solidFill>
          <a:ln/>
        </p:spPr>
        <p:txBody>
          <a:bodyPr/>
          <a:lstStyle/>
          <a:p>
            <a:endParaRPr lang="en-US"/>
          </a:p>
        </p:txBody>
      </p:sp>
      <p:sp>
        <p:nvSpPr>
          <p:cNvPr id="53" name="Text 51"/>
          <p:cNvSpPr/>
          <p:nvPr/>
        </p:nvSpPr>
        <p:spPr>
          <a:xfrm>
            <a:off x="7547458" y="5065776"/>
            <a:ext cx="1516075" cy="100584"/>
          </a:xfrm>
          <a:prstGeom prst="rect">
            <a:avLst/>
          </a:prstGeom>
          <a:noFill/>
          <a:ln/>
        </p:spPr>
        <p:txBody>
          <a:bodyPr wrap="square" lIns="0" tIns="0" rIns="0" bIns="0" rtlCol="0" anchor="ctr">
            <a:normAutofit/>
          </a:bodyPr>
          <a:lstStyle/>
          <a:p>
            <a:pPr marL="0" indent="0" algn="ctr">
              <a:buNone/>
            </a:pPr>
            <a:r>
              <a:rPr lang="en-US" sz="720" b="1" kern="0" spc="60" dirty="0">
                <a:solidFill>
                  <a:srgbClr val="D8A846"/>
                </a:solidFill>
                <a:latin typeface="Aptos" pitchFamily="34" charset="0"/>
                <a:ea typeface="Aptos" pitchFamily="34" charset="-122"/>
                <a:cs typeface="Aptos" pitchFamily="34" charset="-120"/>
              </a:rPr>
              <a:t>USE IT TO ASK</a:t>
            </a:r>
            <a:endParaRPr lang="en-US" sz="720" dirty="0"/>
          </a:p>
        </p:txBody>
      </p:sp>
      <p:sp>
        <p:nvSpPr>
          <p:cNvPr id="54" name="Text 52"/>
          <p:cNvSpPr/>
          <p:nvPr/>
        </p:nvSpPr>
        <p:spPr>
          <a:xfrm>
            <a:off x="7593178" y="5276088"/>
            <a:ext cx="1424635" cy="384048"/>
          </a:xfrm>
          <a:prstGeom prst="rect">
            <a:avLst/>
          </a:prstGeom>
          <a:noFill/>
          <a:ln/>
        </p:spPr>
        <p:txBody>
          <a:bodyPr wrap="square" lIns="0" tIns="0" rIns="0" bIns="0" rtlCol="0" anchor="ctr">
            <a:normAutofit/>
          </a:bodyPr>
          <a:lstStyle/>
          <a:p>
            <a:pPr marL="0" indent="0" algn="ctr">
              <a:buNone/>
            </a:pPr>
            <a:r>
              <a:rPr lang="en-US" sz="1040" b="1" dirty="0">
                <a:solidFill>
                  <a:srgbClr val="FFFFFF"/>
                </a:solidFill>
                <a:latin typeface="Aptos" pitchFamily="34" charset="0"/>
                <a:ea typeface="Aptos" pitchFamily="34" charset="-122"/>
                <a:cs typeface="Aptos" pitchFamily="34" charset="-120"/>
              </a:rPr>
              <a:t>When does that model call finish?</a:t>
            </a:r>
            <a:endParaRPr lang="en-US" sz="1040" dirty="0"/>
          </a:p>
        </p:txBody>
      </p:sp>
      <p:sp>
        <p:nvSpPr>
          <p:cNvPr id="55" name="Shape 53"/>
          <p:cNvSpPr/>
          <p:nvPr/>
        </p:nvSpPr>
        <p:spPr>
          <a:xfrm>
            <a:off x="9484157" y="3063240"/>
            <a:ext cx="2064715" cy="3008376"/>
          </a:xfrm>
          <a:prstGeom prst="roundRect">
            <a:avLst>
              <a:gd name="adj" fmla="val 3543"/>
            </a:avLst>
          </a:prstGeom>
          <a:solidFill>
            <a:srgbClr val="E8F4D7"/>
          </a:solidFill>
          <a:ln w="10160">
            <a:solidFill>
              <a:srgbClr val="72B01D"/>
            </a:solidFill>
            <a:prstDash val="solid"/>
          </a:ln>
        </p:spPr>
        <p:txBody>
          <a:bodyPr/>
          <a:lstStyle/>
          <a:p>
            <a:endParaRPr lang="en-US"/>
          </a:p>
        </p:txBody>
      </p:sp>
      <p:sp>
        <p:nvSpPr>
          <p:cNvPr id="56" name="Text 54"/>
          <p:cNvSpPr/>
          <p:nvPr/>
        </p:nvSpPr>
        <p:spPr>
          <a:xfrm>
            <a:off x="9667037" y="3374136"/>
            <a:ext cx="1698955" cy="384048"/>
          </a:xfrm>
          <a:prstGeom prst="rect">
            <a:avLst/>
          </a:prstGeom>
          <a:noFill/>
          <a:ln/>
        </p:spPr>
        <p:txBody>
          <a:bodyPr wrap="square" lIns="0" tIns="0" rIns="0" bIns="0" rtlCol="0" anchor="ctr">
            <a:normAutofit/>
          </a:bodyPr>
          <a:lstStyle/>
          <a:p>
            <a:pPr marL="0" indent="0" algn="ctr">
              <a:buNone/>
            </a:pPr>
            <a:r>
              <a:rPr lang="en-US" sz="1800" b="1" dirty="0">
                <a:solidFill>
                  <a:srgbClr val="252B17"/>
                </a:solidFill>
                <a:latin typeface="Aptos Display" pitchFamily="34" charset="0"/>
                <a:ea typeface="Aptos Display" pitchFamily="34" charset="-122"/>
                <a:cs typeface="Aptos Display" pitchFamily="34" charset="-120"/>
              </a:rPr>
              <a:t>Workflow completion</a:t>
            </a:r>
            <a:endParaRPr lang="en-US" sz="1800" dirty="0"/>
          </a:p>
        </p:txBody>
      </p:sp>
      <p:sp>
        <p:nvSpPr>
          <p:cNvPr id="57" name="Text 55"/>
          <p:cNvSpPr/>
          <p:nvPr/>
        </p:nvSpPr>
        <p:spPr>
          <a:xfrm>
            <a:off x="9685325" y="3867912"/>
            <a:ext cx="1662379" cy="118872"/>
          </a:xfrm>
          <a:prstGeom prst="rect">
            <a:avLst/>
          </a:prstGeom>
          <a:noFill/>
          <a:ln/>
        </p:spPr>
        <p:txBody>
          <a:bodyPr wrap="square" lIns="0" tIns="0" rIns="0" bIns="0" rtlCol="0" anchor="ctr"/>
          <a:lstStyle/>
          <a:p>
            <a:pPr marL="0" indent="0" algn="ctr">
              <a:buNone/>
            </a:pPr>
            <a:r>
              <a:rPr lang="en-US" sz="820" b="1" kern="0" spc="100" dirty="0">
                <a:solidFill>
                  <a:srgbClr val="6D6A55"/>
                </a:solidFill>
                <a:latin typeface="Aptos" pitchFamily="34" charset="0"/>
                <a:ea typeface="Aptos" pitchFamily="34" charset="-122"/>
                <a:cs typeface="Aptos" pitchFamily="34" charset="-120"/>
              </a:rPr>
              <a:t>MEANING</a:t>
            </a:r>
            <a:endParaRPr lang="en-US" sz="820" dirty="0"/>
          </a:p>
        </p:txBody>
      </p:sp>
      <p:sp>
        <p:nvSpPr>
          <p:cNvPr id="58" name="Text 56"/>
          <p:cNvSpPr/>
          <p:nvPr/>
        </p:nvSpPr>
        <p:spPr>
          <a:xfrm>
            <a:off x="9685325" y="4096512"/>
            <a:ext cx="1662379" cy="621792"/>
          </a:xfrm>
          <a:prstGeom prst="rect">
            <a:avLst/>
          </a:prstGeom>
          <a:noFill/>
          <a:ln/>
        </p:spPr>
        <p:txBody>
          <a:bodyPr wrap="square" lIns="0" tIns="0" rIns="0" bIns="0" rtlCol="0" anchor="ctr">
            <a:normAutofit/>
          </a:bodyPr>
          <a:lstStyle/>
          <a:p>
            <a:pPr marL="0" indent="0" algn="ctr">
              <a:buNone/>
            </a:pPr>
            <a:r>
              <a:rPr lang="en-US" sz="1380" dirty="0">
                <a:solidFill>
                  <a:srgbClr val="2A2C1D"/>
                </a:solidFill>
                <a:latin typeface="Aptos" pitchFamily="34" charset="0"/>
                <a:ea typeface="Aptos" pitchFamily="34" charset="-122"/>
                <a:cs typeface="Aptos" pitchFamily="34" charset="-120"/>
              </a:rPr>
              <a:t>End-to-end time across model, retrieval, tools, and revisions</a:t>
            </a:r>
            <a:endParaRPr lang="en-US" sz="1380" dirty="0"/>
          </a:p>
        </p:txBody>
      </p:sp>
      <p:sp>
        <p:nvSpPr>
          <p:cNvPr id="59" name="Shape 57"/>
          <p:cNvSpPr/>
          <p:nvPr/>
        </p:nvSpPr>
        <p:spPr>
          <a:xfrm>
            <a:off x="9648749" y="4937760"/>
            <a:ext cx="1735531" cy="868680"/>
          </a:xfrm>
          <a:prstGeom prst="roundRect">
            <a:avLst>
              <a:gd name="adj" fmla="val 8421"/>
            </a:avLst>
          </a:prstGeom>
          <a:solidFill>
            <a:srgbClr val="252B17"/>
          </a:solidFill>
          <a:ln/>
        </p:spPr>
        <p:txBody>
          <a:bodyPr/>
          <a:lstStyle/>
          <a:p>
            <a:endParaRPr lang="en-US"/>
          </a:p>
        </p:txBody>
      </p:sp>
      <p:sp>
        <p:nvSpPr>
          <p:cNvPr id="60" name="Text 58"/>
          <p:cNvSpPr/>
          <p:nvPr/>
        </p:nvSpPr>
        <p:spPr>
          <a:xfrm>
            <a:off x="9758477" y="5065776"/>
            <a:ext cx="1516075" cy="100584"/>
          </a:xfrm>
          <a:prstGeom prst="rect">
            <a:avLst/>
          </a:prstGeom>
          <a:noFill/>
          <a:ln/>
        </p:spPr>
        <p:txBody>
          <a:bodyPr wrap="square" lIns="0" tIns="0" rIns="0" bIns="0" rtlCol="0" anchor="ctr">
            <a:normAutofit/>
          </a:bodyPr>
          <a:lstStyle/>
          <a:p>
            <a:pPr marL="0" indent="0" algn="ctr">
              <a:buNone/>
            </a:pPr>
            <a:r>
              <a:rPr lang="en-US" sz="720" b="1" kern="0" spc="60" dirty="0">
                <a:solidFill>
                  <a:srgbClr val="D8A846"/>
                </a:solidFill>
                <a:latin typeface="Aptos" pitchFamily="34" charset="0"/>
                <a:ea typeface="Aptos" pitchFamily="34" charset="-122"/>
                <a:cs typeface="Aptos" pitchFamily="34" charset="-120"/>
              </a:rPr>
              <a:t>USE IT TO ASK</a:t>
            </a:r>
            <a:endParaRPr lang="en-US" sz="720" dirty="0"/>
          </a:p>
        </p:txBody>
      </p:sp>
      <p:sp>
        <p:nvSpPr>
          <p:cNvPr id="61" name="Text 59"/>
          <p:cNvSpPr/>
          <p:nvPr/>
        </p:nvSpPr>
        <p:spPr>
          <a:xfrm>
            <a:off x="9804197" y="5276088"/>
            <a:ext cx="1424635" cy="384048"/>
          </a:xfrm>
          <a:prstGeom prst="rect">
            <a:avLst/>
          </a:prstGeom>
          <a:noFill/>
          <a:ln/>
        </p:spPr>
        <p:txBody>
          <a:bodyPr wrap="square" lIns="0" tIns="0" rIns="0" bIns="0" rtlCol="0" anchor="ctr">
            <a:normAutofit/>
          </a:bodyPr>
          <a:lstStyle/>
          <a:p>
            <a:pPr marL="0" indent="0" algn="ctr">
              <a:buNone/>
            </a:pPr>
            <a:r>
              <a:rPr lang="en-US" sz="1040" b="1" dirty="0">
                <a:solidFill>
                  <a:srgbClr val="FFFFFF"/>
                </a:solidFill>
                <a:latin typeface="Aptos" pitchFamily="34" charset="0"/>
                <a:ea typeface="Aptos" pitchFamily="34" charset="-122"/>
                <a:cs typeface="Aptos" pitchFamily="34" charset="-120"/>
              </a:rPr>
              <a:t>When is the usable outcome ready?</a:t>
            </a:r>
            <a:endParaRPr lang="en-US" sz="1040" dirty="0"/>
          </a:p>
        </p:txBody>
      </p:sp>
      <p:sp>
        <p:nvSpPr>
          <p:cNvPr id="62" name="Text 60"/>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6D6A55"/>
                </a:solidFill>
                <a:latin typeface="Aptos" pitchFamily="34" charset="0"/>
                <a:ea typeface="Aptos" pitchFamily="34" charset="-122"/>
                <a:cs typeface="Aptos" pitchFamily="34" charset="-120"/>
              </a:rPr>
              <a:t>REFERENCE  learn.microsoft.com/azure/foundry/openai/how-to/latency  ·  +1 more in notes</a:t>
            </a:r>
            <a:endParaRPr lang="en-US" sz="940" dirty="0"/>
          </a:p>
        </p:txBody>
      </p:sp>
      <p:sp>
        <p:nvSpPr>
          <p:cNvPr id="63" name="Shape 61"/>
          <p:cNvSpPr/>
          <p:nvPr/>
        </p:nvSpPr>
        <p:spPr>
          <a:xfrm>
            <a:off x="0" y="6793992"/>
            <a:ext cx="12191695" cy="64008"/>
          </a:xfrm>
          <a:prstGeom prst="rect">
            <a:avLst/>
          </a:prstGeom>
          <a:solidFill>
            <a:srgbClr val="D8A846"/>
          </a:solidFill>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CFAF2"/>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252B17"/>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4  /  WORKLOAD ECONOMICS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252B17"/>
                </a:solidFill>
                <a:latin typeface="Aptos Display" pitchFamily="34" charset="0"/>
                <a:ea typeface="Aptos Display" pitchFamily="34" charset="-122"/>
                <a:cs typeface="Aptos Display" pitchFamily="34" charset="-120"/>
              </a:rPr>
              <a:t>Tokens are usage—not dollars</a:t>
            </a:r>
            <a:endParaRPr lang="en-US" sz="3100" dirty="0"/>
          </a:p>
        </p:txBody>
      </p:sp>
      <p:sp>
        <p:nvSpPr>
          <p:cNvPr id="5" name="Shape 3"/>
          <p:cNvSpPr/>
          <p:nvPr/>
        </p:nvSpPr>
        <p:spPr>
          <a:xfrm>
            <a:off x="10824301" y="825155"/>
            <a:ext cx="85588" cy="164592"/>
          </a:xfrm>
          <a:prstGeom prst="rect">
            <a:avLst/>
          </a:prstGeom>
          <a:solidFill>
            <a:srgbClr val="F7EACA"/>
          </a:solidFill>
          <a:ln/>
        </p:spPr>
        <p:txBody>
          <a:bodyPr/>
          <a:lstStyle/>
          <a:p>
            <a:endParaRPr lang="en-US"/>
          </a:p>
        </p:txBody>
      </p:sp>
      <p:sp>
        <p:nvSpPr>
          <p:cNvPr id="6" name="Shape 4"/>
          <p:cNvSpPr/>
          <p:nvPr/>
        </p:nvSpPr>
        <p:spPr>
          <a:xfrm>
            <a:off x="10969142" y="686897"/>
            <a:ext cx="85588" cy="302849"/>
          </a:xfrm>
          <a:prstGeom prst="rect">
            <a:avLst/>
          </a:prstGeom>
          <a:solidFill>
            <a:srgbClr val="F7EACA"/>
          </a:solidFill>
          <a:ln/>
        </p:spPr>
        <p:txBody>
          <a:bodyPr/>
          <a:lstStyle/>
          <a:p>
            <a:endParaRPr lang="en-US"/>
          </a:p>
        </p:txBody>
      </p:sp>
      <p:sp>
        <p:nvSpPr>
          <p:cNvPr id="7" name="Shape 5"/>
          <p:cNvSpPr/>
          <p:nvPr/>
        </p:nvSpPr>
        <p:spPr>
          <a:xfrm>
            <a:off x="11113983" y="528889"/>
            <a:ext cx="85588" cy="460858"/>
          </a:xfrm>
          <a:prstGeom prst="rect">
            <a:avLst/>
          </a:prstGeom>
          <a:solidFill>
            <a:srgbClr val="D8A846"/>
          </a:solidFill>
          <a:ln/>
        </p:spPr>
        <p:txBody>
          <a:bodyPr/>
          <a:lstStyle/>
          <a:p>
            <a:endParaRPr lang="en-US"/>
          </a:p>
        </p:txBody>
      </p:sp>
      <p:sp>
        <p:nvSpPr>
          <p:cNvPr id="8" name="Shape 6"/>
          <p:cNvSpPr/>
          <p:nvPr/>
        </p:nvSpPr>
        <p:spPr>
          <a:xfrm>
            <a:off x="11258824" y="397215"/>
            <a:ext cx="85588" cy="592531"/>
          </a:xfrm>
          <a:prstGeom prst="rect">
            <a:avLst/>
          </a:prstGeom>
          <a:solidFill>
            <a:srgbClr val="D8A846"/>
          </a:solidFill>
          <a:ln/>
        </p:spPr>
        <p:txBody>
          <a:bodyPr/>
          <a:lstStyle/>
          <a:p>
            <a:endParaRPr lang="en-US"/>
          </a:p>
        </p:txBody>
      </p:sp>
      <p:sp>
        <p:nvSpPr>
          <p:cNvPr id="9" name="Shape 7"/>
          <p:cNvSpPr/>
          <p:nvPr/>
        </p:nvSpPr>
        <p:spPr>
          <a:xfrm>
            <a:off x="10824301" y="489387"/>
            <a:ext cx="539862" cy="408188"/>
          </a:xfrm>
          <a:prstGeom prst="line">
            <a:avLst/>
          </a:prstGeom>
          <a:noFill/>
          <a:ln w="25400">
            <a:solidFill>
              <a:srgbClr val="252B17"/>
            </a:solidFill>
            <a:prstDash val="solid"/>
          </a:ln>
        </p:spPr>
        <p:txBody>
          <a:bodyPr/>
          <a:lstStyle/>
          <a:p>
            <a:endParaRPr lang="en-US"/>
          </a:p>
        </p:txBody>
      </p:sp>
      <p:sp>
        <p:nvSpPr>
          <p:cNvPr id="10" name="Shape 8"/>
          <p:cNvSpPr/>
          <p:nvPr/>
        </p:nvSpPr>
        <p:spPr>
          <a:xfrm>
            <a:off x="11612880" y="457200"/>
            <a:ext cx="329184" cy="329184"/>
          </a:xfrm>
          <a:prstGeom prst="ellipse">
            <a:avLst/>
          </a:prstGeom>
          <a:solidFill>
            <a:srgbClr val="D8A846"/>
          </a:solidFill>
          <a:ln/>
        </p:spPr>
        <p:txBody>
          <a:bodyPr/>
          <a:lstStyle/>
          <a:p>
            <a:endParaRPr lang="en-US"/>
          </a:p>
        </p:txBody>
      </p:sp>
      <p:sp>
        <p:nvSpPr>
          <p:cNvPr id="11" name="Text 9"/>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252B17"/>
                </a:solidFill>
                <a:latin typeface="Aptos" pitchFamily="34" charset="0"/>
                <a:ea typeface="Aptos" pitchFamily="34" charset="-122"/>
                <a:cs typeface="Aptos" pitchFamily="34" charset="-120"/>
              </a:rPr>
              <a:t>05</a:t>
            </a:r>
            <a:endParaRPr lang="en-US" sz="850" dirty="0"/>
          </a:p>
        </p:txBody>
      </p:sp>
      <p:sp>
        <p:nvSpPr>
          <p:cNvPr id="12" name="Shape 10"/>
          <p:cNvSpPr/>
          <p:nvPr/>
        </p:nvSpPr>
        <p:spPr>
          <a:xfrm>
            <a:off x="9829800" y="1005840"/>
            <a:ext cx="2148840" cy="2148840"/>
          </a:xfrm>
          <a:prstGeom prst="ellipse">
            <a:avLst/>
          </a:prstGeom>
          <a:solidFill>
            <a:srgbClr val="F7EACA"/>
          </a:solidFill>
          <a:ln/>
        </p:spPr>
        <p:txBody>
          <a:bodyPr/>
          <a:lstStyle/>
          <a:p>
            <a:endParaRPr lang="en-US"/>
          </a:p>
        </p:txBody>
      </p:sp>
      <p:sp>
        <p:nvSpPr>
          <p:cNvPr id="13" name="Shape 11"/>
          <p:cNvSpPr/>
          <p:nvPr/>
        </p:nvSpPr>
        <p:spPr>
          <a:xfrm>
            <a:off x="640080" y="1645920"/>
            <a:ext cx="2011680" cy="3611880"/>
          </a:xfrm>
          <a:prstGeom prst="roundRect">
            <a:avLst>
              <a:gd name="adj" fmla="val 3636"/>
            </a:avLst>
          </a:prstGeom>
          <a:solidFill>
            <a:srgbClr val="F7EACA"/>
          </a:solidFill>
          <a:ln w="10160">
            <a:solidFill>
              <a:srgbClr val="F7EACA"/>
            </a:solidFill>
            <a:prstDash val="solid"/>
          </a:ln>
        </p:spPr>
        <p:txBody>
          <a:bodyPr/>
          <a:lstStyle/>
          <a:p>
            <a:endParaRPr lang="en-US"/>
          </a:p>
        </p:txBody>
      </p:sp>
      <p:sp>
        <p:nvSpPr>
          <p:cNvPr id="14" name="Shape 12"/>
          <p:cNvSpPr/>
          <p:nvPr/>
        </p:nvSpPr>
        <p:spPr>
          <a:xfrm>
            <a:off x="1298448" y="2029968"/>
            <a:ext cx="694944" cy="694944"/>
          </a:xfrm>
          <a:prstGeom prst="ellipse">
            <a:avLst/>
          </a:prstGeom>
          <a:solidFill>
            <a:srgbClr val="D8A846"/>
          </a:solidFill>
          <a:ln/>
        </p:spPr>
        <p:txBody>
          <a:bodyPr/>
          <a:lstStyle/>
          <a:p>
            <a:endParaRPr lang="en-US"/>
          </a:p>
        </p:txBody>
      </p:sp>
      <p:sp>
        <p:nvSpPr>
          <p:cNvPr id="15" name="Text 13"/>
          <p:cNvSpPr/>
          <p:nvPr/>
        </p:nvSpPr>
        <p:spPr>
          <a:xfrm>
            <a:off x="1298448" y="2231136"/>
            <a:ext cx="694944" cy="219456"/>
          </a:xfrm>
          <a:prstGeom prst="rect">
            <a:avLst/>
          </a:prstGeom>
          <a:noFill/>
          <a:ln/>
        </p:spPr>
        <p:txBody>
          <a:bodyPr wrap="square" lIns="0" tIns="0" rIns="0" bIns="0" rtlCol="0" anchor="ctr"/>
          <a:lstStyle/>
          <a:p>
            <a:pPr marL="0" indent="0" algn="ctr">
              <a:buNone/>
            </a:pPr>
            <a:r>
              <a:rPr lang="en-US" sz="1800" b="1" dirty="0">
                <a:solidFill>
                  <a:srgbClr val="252B17"/>
                </a:solidFill>
                <a:latin typeface="Aptos" pitchFamily="34" charset="0"/>
                <a:ea typeface="Aptos" pitchFamily="34" charset="-122"/>
                <a:cs typeface="Aptos" pitchFamily="34" charset="-120"/>
              </a:rPr>
              <a:t>T</a:t>
            </a:r>
            <a:endParaRPr lang="en-US" sz="1800" dirty="0"/>
          </a:p>
        </p:txBody>
      </p:sp>
      <p:sp>
        <p:nvSpPr>
          <p:cNvPr id="16" name="Text 14"/>
          <p:cNvSpPr/>
          <p:nvPr/>
        </p:nvSpPr>
        <p:spPr>
          <a:xfrm>
            <a:off x="822960" y="3017520"/>
            <a:ext cx="1645920" cy="457200"/>
          </a:xfrm>
          <a:prstGeom prst="rect">
            <a:avLst/>
          </a:prstGeom>
          <a:noFill/>
          <a:ln/>
        </p:spPr>
        <p:txBody>
          <a:bodyPr wrap="square" lIns="0" tIns="0" rIns="0" bIns="0" rtlCol="0" anchor="ctr">
            <a:normAutofit/>
          </a:bodyPr>
          <a:lstStyle/>
          <a:p>
            <a:pPr marL="0" indent="0" algn="ctr">
              <a:buNone/>
            </a:pPr>
            <a:r>
              <a:rPr lang="en-US" sz="1800" b="1" dirty="0">
                <a:solidFill>
                  <a:srgbClr val="252B17"/>
                </a:solidFill>
                <a:latin typeface="Aptos Display" pitchFamily="34" charset="0"/>
                <a:ea typeface="Aptos Display" pitchFamily="34" charset="-122"/>
                <a:cs typeface="Aptos Display" pitchFamily="34" charset="-120"/>
              </a:rPr>
              <a:t>Usage</a:t>
            </a:r>
            <a:endParaRPr lang="en-US" sz="1800" dirty="0"/>
          </a:p>
        </p:txBody>
      </p:sp>
      <p:sp>
        <p:nvSpPr>
          <p:cNvPr id="17" name="Text 15"/>
          <p:cNvSpPr/>
          <p:nvPr/>
        </p:nvSpPr>
        <p:spPr>
          <a:xfrm>
            <a:off x="841248" y="3694176"/>
            <a:ext cx="1609344" cy="932688"/>
          </a:xfrm>
          <a:prstGeom prst="rect">
            <a:avLst/>
          </a:prstGeom>
          <a:noFill/>
          <a:ln/>
        </p:spPr>
        <p:txBody>
          <a:bodyPr wrap="square" lIns="0" tIns="0" rIns="0" bIns="0" rtlCol="0" anchor="ctr">
            <a:normAutofit/>
          </a:bodyPr>
          <a:lstStyle/>
          <a:p>
            <a:pPr marL="0" indent="0" algn="ctr">
              <a:buNone/>
            </a:pPr>
            <a:r>
              <a:rPr lang="en-US" sz="1350" dirty="0">
                <a:solidFill>
                  <a:srgbClr val="2A2C1D"/>
                </a:solidFill>
                <a:latin typeface="Aptos" pitchFamily="34" charset="0"/>
                <a:ea typeface="Aptos" pitchFamily="34" charset="-122"/>
                <a:cs typeface="Aptos" pitchFamily="34" charset="-120"/>
              </a:rPr>
              <a:t>Input, output, and cached-token fields describe model work</a:t>
            </a:r>
            <a:endParaRPr lang="en-US" sz="1350" dirty="0"/>
          </a:p>
        </p:txBody>
      </p:sp>
      <p:sp>
        <p:nvSpPr>
          <p:cNvPr id="18" name="Text 16"/>
          <p:cNvSpPr/>
          <p:nvPr/>
        </p:nvSpPr>
        <p:spPr>
          <a:xfrm>
            <a:off x="2660904" y="3026664"/>
            <a:ext cx="292608" cy="320040"/>
          </a:xfrm>
          <a:prstGeom prst="rect">
            <a:avLst/>
          </a:prstGeom>
          <a:noFill/>
          <a:ln/>
        </p:spPr>
        <p:txBody>
          <a:bodyPr wrap="square" lIns="0" tIns="0" rIns="0" bIns="0" rtlCol="0" anchor="ctr"/>
          <a:lstStyle/>
          <a:p>
            <a:pPr marL="0" indent="0" algn="ctr">
              <a:buNone/>
            </a:pPr>
            <a:r>
              <a:rPr lang="en-US" sz="2300" b="1" dirty="0">
                <a:solidFill>
                  <a:srgbClr val="D8A846"/>
                </a:solidFill>
                <a:latin typeface="Aptos" pitchFamily="34" charset="0"/>
                <a:ea typeface="Aptos" pitchFamily="34" charset="-122"/>
                <a:cs typeface="Aptos" pitchFamily="34" charset="-120"/>
              </a:rPr>
              <a:t>→</a:t>
            </a:r>
            <a:endParaRPr lang="en-US" sz="2300" dirty="0"/>
          </a:p>
        </p:txBody>
      </p:sp>
      <p:sp>
        <p:nvSpPr>
          <p:cNvPr id="19" name="Shape 17"/>
          <p:cNvSpPr/>
          <p:nvPr/>
        </p:nvSpPr>
        <p:spPr>
          <a:xfrm>
            <a:off x="2962656" y="2029968"/>
            <a:ext cx="2286000" cy="3383280"/>
          </a:xfrm>
          <a:prstGeom prst="roundRect">
            <a:avLst>
              <a:gd name="adj" fmla="val 3200"/>
            </a:avLst>
          </a:prstGeom>
          <a:solidFill>
            <a:srgbClr val="FFFFFF"/>
          </a:solidFill>
          <a:ln w="10160">
            <a:solidFill>
              <a:srgbClr val="F7EACA"/>
            </a:solidFill>
            <a:prstDash val="solid"/>
          </a:ln>
        </p:spPr>
        <p:txBody>
          <a:bodyPr/>
          <a:lstStyle/>
          <a:p>
            <a:endParaRPr lang="en-US"/>
          </a:p>
        </p:txBody>
      </p:sp>
      <p:sp>
        <p:nvSpPr>
          <p:cNvPr id="20" name="Shape 18"/>
          <p:cNvSpPr/>
          <p:nvPr/>
        </p:nvSpPr>
        <p:spPr>
          <a:xfrm>
            <a:off x="3758184" y="2414016"/>
            <a:ext cx="694944" cy="694944"/>
          </a:xfrm>
          <a:prstGeom prst="ellipse">
            <a:avLst/>
          </a:prstGeom>
          <a:solidFill>
            <a:srgbClr val="D8A846"/>
          </a:solidFill>
          <a:ln/>
        </p:spPr>
        <p:txBody>
          <a:bodyPr/>
          <a:lstStyle/>
          <a:p>
            <a:endParaRPr lang="en-US"/>
          </a:p>
        </p:txBody>
      </p:sp>
      <p:sp>
        <p:nvSpPr>
          <p:cNvPr id="21" name="Text 19"/>
          <p:cNvSpPr/>
          <p:nvPr/>
        </p:nvSpPr>
        <p:spPr>
          <a:xfrm>
            <a:off x="3758184" y="2615184"/>
            <a:ext cx="694944" cy="219456"/>
          </a:xfrm>
          <a:prstGeom prst="rect">
            <a:avLst/>
          </a:prstGeom>
          <a:noFill/>
          <a:ln/>
        </p:spPr>
        <p:txBody>
          <a:bodyPr wrap="square" lIns="0" tIns="0" rIns="0" bIns="0" rtlCol="0" anchor="ctr"/>
          <a:lstStyle/>
          <a:p>
            <a:pPr marL="0" indent="0" algn="ctr">
              <a:buNone/>
            </a:pPr>
            <a:r>
              <a:rPr lang="en-US" sz="1800" b="1" dirty="0">
                <a:solidFill>
                  <a:srgbClr val="252B17"/>
                </a:solidFill>
                <a:latin typeface="Aptos" pitchFamily="34" charset="0"/>
                <a:ea typeface="Aptos" pitchFamily="34" charset="-122"/>
                <a:cs typeface="Aptos" pitchFamily="34" charset="-120"/>
              </a:rPr>
              <a:t>$</a:t>
            </a:r>
            <a:endParaRPr lang="en-US" sz="1800" dirty="0"/>
          </a:p>
        </p:txBody>
      </p:sp>
      <p:sp>
        <p:nvSpPr>
          <p:cNvPr id="22" name="Text 20"/>
          <p:cNvSpPr/>
          <p:nvPr/>
        </p:nvSpPr>
        <p:spPr>
          <a:xfrm>
            <a:off x="3145536" y="3401568"/>
            <a:ext cx="1920240" cy="457200"/>
          </a:xfrm>
          <a:prstGeom prst="rect">
            <a:avLst/>
          </a:prstGeom>
          <a:noFill/>
          <a:ln/>
        </p:spPr>
        <p:txBody>
          <a:bodyPr wrap="square" lIns="0" tIns="0" rIns="0" bIns="0" rtlCol="0" anchor="ctr">
            <a:normAutofit/>
          </a:bodyPr>
          <a:lstStyle/>
          <a:p>
            <a:pPr marL="0" indent="0" algn="ctr">
              <a:buNone/>
            </a:pPr>
            <a:r>
              <a:rPr lang="en-US" sz="1800" b="1" dirty="0">
                <a:solidFill>
                  <a:srgbClr val="252B17"/>
                </a:solidFill>
                <a:latin typeface="Aptos Display" pitchFamily="34" charset="0"/>
                <a:ea typeface="Aptos Display" pitchFamily="34" charset="-122"/>
                <a:cs typeface="Aptos Display" pitchFamily="34" charset="-120"/>
              </a:rPr>
              <a:t>Price</a:t>
            </a:r>
            <a:endParaRPr lang="en-US" sz="1800" dirty="0"/>
          </a:p>
        </p:txBody>
      </p:sp>
      <p:sp>
        <p:nvSpPr>
          <p:cNvPr id="23" name="Text 21"/>
          <p:cNvSpPr/>
          <p:nvPr/>
        </p:nvSpPr>
        <p:spPr>
          <a:xfrm>
            <a:off x="3163824" y="4078224"/>
            <a:ext cx="1883664" cy="932688"/>
          </a:xfrm>
          <a:prstGeom prst="rect">
            <a:avLst/>
          </a:prstGeom>
          <a:noFill/>
          <a:ln/>
        </p:spPr>
        <p:txBody>
          <a:bodyPr wrap="square" lIns="0" tIns="0" rIns="0" bIns="0" rtlCol="0" anchor="ctr">
            <a:normAutofit/>
          </a:bodyPr>
          <a:lstStyle/>
          <a:p>
            <a:pPr marL="0" indent="0" algn="ctr">
              <a:buNone/>
            </a:pPr>
            <a:r>
              <a:rPr lang="en-US" sz="1350" dirty="0">
                <a:solidFill>
                  <a:srgbClr val="2A2C1D"/>
                </a:solidFill>
                <a:latin typeface="Aptos" pitchFamily="34" charset="0"/>
                <a:ea typeface="Aptos" pitchFamily="34" charset="-122"/>
                <a:cs typeface="Aptos" pitchFamily="34" charset="-120"/>
              </a:rPr>
              <a:t>Apply the correct model/version rate, currency, and pricing date</a:t>
            </a:r>
            <a:endParaRPr lang="en-US" sz="1350" dirty="0"/>
          </a:p>
        </p:txBody>
      </p:sp>
      <p:sp>
        <p:nvSpPr>
          <p:cNvPr id="24" name="Text 22"/>
          <p:cNvSpPr/>
          <p:nvPr/>
        </p:nvSpPr>
        <p:spPr>
          <a:xfrm>
            <a:off x="5257800" y="3026664"/>
            <a:ext cx="292608" cy="320040"/>
          </a:xfrm>
          <a:prstGeom prst="rect">
            <a:avLst/>
          </a:prstGeom>
          <a:noFill/>
          <a:ln/>
        </p:spPr>
        <p:txBody>
          <a:bodyPr wrap="square" lIns="0" tIns="0" rIns="0" bIns="0" rtlCol="0" anchor="ctr"/>
          <a:lstStyle/>
          <a:p>
            <a:pPr marL="0" indent="0" algn="ctr">
              <a:buNone/>
            </a:pPr>
            <a:r>
              <a:rPr lang="en-US" sz="2300" b="1" dirty="0">
                <a:solidFill>
                  <a:srgbClr val="D8A846"/>
                </a:solidFill>
                <a:latin typeface="Aptos" pitchFamily="34" charset="0"/>
                <a:ea typeface="Aptos" pitchFamily="34" charset="-122"/>
                <a:cs typeface="Aptos" pitchFamily="34" charset="-120"/>
              </a:rPr>
              <a:t>→</a:t>
            </a:r>
            <a:endParaRPr lang="en-US" sz="2300" dirty="0"/>
          </a:p>
        </p:txBody>
      </p:sp>
      <p:sp>
        <p:nvSpPr>
          <p:cNvPr id="25" name="Shape 23"/>
          <p:cNvSpPr/>
          <p:nvPr/>
        </p:nvSpPr>
        <p:spPr>
          <a:xfrm>
            <a:off x="5559552" y="2414016"/>
            <a:ext cx="2697480" cy="3154680"/>
          </a:xfrm>
          <a:prstGeom prst="roundRect">
            <a:avLst>
              <a:gd name="adj" fmla="val 2712"/>
            </a:avLst>
          </a:prstGeom>
          <a:solidFill>
            <a:srgbClr val="F7EACA"/>
          </a:solidFill>
          <a:ln w="10160">
            <a:solidFill>
              <a:srgbClr val="F7EACA"/>
            </a:solidFill>
            <a:prstDash val="solid"/>
          </a:ln>
        </p:spPr>
        <p:txBody>
          <a:bodyPr/>
          <a:lstStyle/>
          <a:p>
            <a:endParaRPr lang="en-US"/>
          </a:p>
        </p:txBody>
      </p:sp>
      <p:sp>
        <p:nvSpPr>
          <p:cNvPr id="26" name="Shape 24"/>
          <p:cNvSpPr/>
          <p:nvPr/>
        </p:nvSpPr>
        <p:spPr>
          <a:xfrm>
            <a:off x="6560820" y="2798064"/>
            <a:ext cx="694944" cy="694944"/>
          </a:xfrm>
          <a:prstGeom prst="ellipse">
            <a:avLst/>
          </a:prstGeom>
          <a:solidFill>
            <a:srgbClr val="D8A846"/>
          </a:solidFill>
          <a:ln/>
        </p:spPr>
        <p:txBody>
          <a:bodyPr/>
          <a:lstStyle/>
          <a:p>
            <a:endParaRPr lang="en-US"/>
          </a:p>
        </p:txBody>
      </p:sp>
      <p:sp>
        <p:nvSpPr>
          <p:cNvPr id="27" name="Text 25"/>
          <p:cNvSpPr/>
          <p:nvPr/>
        </p:nvSpPr>
        <p:spPr>
          <a:xfrm>
            <a:off x="6560820" y="2999232"/>
            <a:ext cx="694944" cy="219456"/>
          </a:xfrm>
          <a:prstGeom prst="rect">
            <a:avLst/>
          </a:prstGeom>
          <a:noFill/>
          <a:ln/>
        </p:spPr>
        <p:txBody>
          <a:bodyPr wrap="square" lIns="0" tIns="0" rIns="0" bIns="0" rtlCol="0" anchor="ctr"/>
          <a:lstStyle/>
          <a:p>
            <a:pPr marL="0" indent="0" algn="ctr">
              <a:buNone/>
            </a:pPr>
            <a:r>
              <a:rPr lang="en-US" sz="1800" b="1" dirty="0">
                <a:solidFill>
                  <a:srgbClr val="252B17"/>
                </a:solidFill>
                <a:latin typeface="Aptos" pitchFamily="34" charset="0"/>
                <a:ea typeface="Aptos" pitchFamily="34" charset="-122"/>
                <a:cs typeface="Aptos" pitchFamily="34" charset="-120"/>
              </a:rPr>
              <a:t>+</a:t>
            </a:r>
            <a:endParaRPr lang="en-US" sz="1800" dirty="0"/>
          </a:p>
        </p:txBody>
      </p:sp>
      <p:sp>
        <p:nvSpPr>
          <p:cNvPr id="28" name="Text 26"/>
          <p:cNvSpPr/>
          <p:nvPr/>
        </p:nvSpPr>
        <p:spPr>
          <a:xfrm>
            <a:off x="5742432" y="3785616"/>
            <a:ext cx="2331720" cy="457200"/>
          </a:xfrm>
          <a:prstGeom prst="rect">
            <a:avLst/>
          </a:prstGeom>
          <a:noFill/>
          <a:ln/>
        </p:spPr>
        <p:txBody>
          <a:bodyPr wrap="square" lIns="0" tIns="0" rIns="0" bIns="0" rtlCol="0" anchor="ctr">
            <a:normAutofit/>
          </a:bodyPr>
          <a:lstStyle/>
          <a:p>
            <a:pPr marL="0" indent="0" algn="ctr">
              <a:buNone/>
            </a:pPr>
            <a:r>
              <a:rPr lang="en-US" sz="1800" b="1" dirty="0">
                <a:solidFill>
                  <a:srgbClr val="252B17"/>
                </a:solidFill>
                <a:latin typeface="Aptos Display" pitchFamily="34" charset="0"/>
                <a:ea typeface="Aptos Display" pitchFamily="34" charset="-122"/>
                <a:cs typeface="Aptos Display" pitchFamily="34" charset="-120"/>
              </a:rPr>
              <a:t>Whole-system cost</a:t>
            </a:r>
            <a:endParaRPr lang="en-US" sz="1800" dirty="0"/>
          </a:p>
        </p:txBody>
      </p:sp>
      <p:sp>
        <p:nvSpPr>
          <p:cNvPr id="29" name="Text 27"/>
          <p:cNvSpPr/>
          <p:nvPr/>
        </p:nvSpPr>
        <p:spPr>
          <a:xfrm>
            <a:off x="5760720" y="4462272"/>
            <a:ext cx="2295144" cy="932688"/>
          </a:xfrm>
          <a:prstGeom prst="rect">
            <a:avLst/>
          </a:prstGeom>
          <a:noFill/>
          <a:ln/>
        </p:spPr>
        <p:txBody>
          <a:bodyPr wrap="square" lIns="0" tIns="0" rIns="0" bIns="0" rtlCol="0" anchor="ctr">
            <a:normAutofit/>
          </a:bodyPr>
          <a:lstStyle/>
          <a:p>
            <a:pPr marL="0" indent="0" algn="ctr">
              <a:buNone/>
            </a:pPr>
            <a:r>
              <a:rPr lang="en-US" sz="1350" dirty="0">
                <a:solidFill>
                  <a:srgbClr val="2A2C1D"/>
                </a:solidFill>
                <a:latin typeface="Aptos" pitchFamily="34" charset="0"/>
                <a:ea typeface="Aptos" pitchFamily="34" charset="-122"/>
                <a:cs typeface="Aptos" pitchFamily="34" charset="-120"/>
              </a:rPr>
              <a:t>Add retrieval, tools, telemetry, evaluation, and hosting</a:t>
            </a:r>
            <a:endParaRPr lang="en-US" sz="1350" dirty="0"/>
          </a:p>
        </p:txBody>
      </p:sp>
      <p:sp>
        <p:nvSpPr>
          <p:cNvPr id="30" name="Text 28"/>
          <p:cNvSpPr/>
          <p:nvPr/>
        </p:nvSpPr>
        <p:spPr>
          <a:xfrm>
            <a:off x="8266176" y="3026664"/>
            <a:ext cx="292608" cy="320040"/>
          </a:xfrm>
          <a:prstGeom prst="rect">
            <a:avLst/>
          </a:prstGeom>
          <a:noFill/>
          <a:ln/>
        </p:spPr>
        <p:txBody>
          <a:bodyPr wrap="square" lIns="0" tIns="0" rIns="0" bIns="0" rtlCol="0" anchor="ctr"/>
          <a:lstStyle/>
          <a:p>
            <a:pPr marL="0" indent="0" algn="ctr">
              <a:buNone/>
            </a:pPr>
            <a:r>
              <a:rPr lang="en-US" sz="2300" b="1" dirty="0">
                <a:solidFill>
                  <a:srgbClr val="D8A846"/>
                </a:solidFill>
                <a:latin typeface="Aptos" pitchFamily="34" charset="0"/>
                <a:ea typeface="Aptos" pitchFamily="34" charset="-122"/>
                <a:cs typeface="Aptos" pitchFamily="34" charset="-120"/>
              </a:rPr>
              <a:t>→</a:t>
            </a:r>
            <a:endParaRPr lang="en-US" sz="2300" dirty="0"/>
          </a:p>
        </p:txBody>
      </p:sp>
      <p:sp>
        <p:nvSpPr>
          <p:cNvPr id="31" name="Shape 29"/>
          <p:cNvSpPr/>
          <p:nvPr/>
        </p:nvSpPr>
        <p:spPr>
          <a:xfrm>
            <a:off x="8567928" y="2798064"/>
            <a:ext cx="2980944" cy="2926080"/>
          </a:xfrm>
          <a:prstGeom prst="roundRect">
            <a:avLst>
              <a:gd name="adj" fmla="val 2500"/>
            </a:avLst>
          </a:prstGeom>
          <a:solidFill>
            <a:srgbClr val="FFFFFF"/>
          </a:solidFill>
          <a:ln w="10160">
            <a:solidFill>
              <a:srgbClr val="72B01D"/>
            </a:solidFill>
            <a:prstDash val="solid"/>
          </a:ln>
        </p:spPr>
        <p:txBody>
          <a:bodyPr/>
          <a:lstStyle/>
          <a:p>
            <a:endParaRPr lang="en-US"/>
          </a:p>
        </p:txBody>
      </p:sp>
      <p:sp>
        <p:nvSpPr>
          <p:cNvPr id="32" name="Shape 30"/>
          <p:cNvSpPr/>
          <p:nvPr/>
        </p:nvSpPr>
        <p:spPr>
          <a:xfrm>
            <a:off x="9710928" y="3182112"/>
            <a:ext cx="694944" cy="694944"/>
          </a:xfrm>
          <a:prstGeom prst="ellipse">
            <a:avLst/>
          </a:prstGeom>
          <a:solidFill>
            <a:srgbClr val="72B01D"/>
          </a:solidFill>
          <a:ln/>
        </p:spPr>
        <p:txBody>
          <a:bodyPr/>
          <a:lstStyle/>
          <a:p>
            <a:endParaRPr lang="en-US"/>
          </a:p>
        </p:txBody>
      </p:sp>
      <p:sp>
        <p:nvSpPr>
          <p:cNvPr id="33" name="Text 31"/>
          <p:cNvSpPr/>
          <p:nvPr/>
        </p:nvSpPr>
        <p:spPr>
          <a:xfrm>
            <a:off x="9710928" y="3383280"/>
            <a:ext cx="694944" cy="219456"/>
          </a:xfrm>
          <a:prstGeom prst="rect">
            <a:avLst/>
          </a:prstGeom>
          <a:noFill/>
          <a:ln/>
        </p:spPr>
        <p:txBody>
          <a:bodyPr wrap="square" lIns="0" tIns="0" rIns="0" bIns="0" rtlCol="0" anchor="ctr"/>
          <a:lstStyle/>
          <a:p>
            <a:pPr marL="0" indent="0" algn="ctr">
              <a:buNone/>
            </a:pPr>
            <a:r>
              <a:rPr lang="en-US" sz="1800" b="1" dirty="0">
                <a:solidFill>
                  <a:srgbClr val="252B17"/>
                </a:solidFill>
                <a:latin typeface="Aptos" pitchFamily="34" charset="0"/>
                <a:ea typeface="Aptos" pitchFamily="34" charset="-122"/>
                <a:cs typeface="Aptos" pitchFamily="34" charset="-120"/>
              </a:rPr>
              <a:t>✓</a:t>
            </a:r>
            <a:endParaRPr lang="en-US" sz="1800" dirty="0"/>
          </a:p>
        </p:txBody>
      </p:sp>
      <p:sp>
        <p:nvSpPr>
          <p:cNvPr id="34" name="Text 32"/>
          <p:cNvSpPr/>
          <p:nvPr/>
        </p:nvSpPr>
        <p:spPr>
          <a:xfrm>
            <a:off x="8750808" y="4169664"/>
            <a:ext cx="2615184" cy="457200"/>
          </a:xfrm>
          <a:prstGeom prst="rect">
            <a:avLst/>
          </a:prstGeom>
          <a:noFill/>
          <a:ln/>
        </p:spPr>
        <p:txBody>
          <a:bodyPr wrap="square" lIns="0" tIns="0" rIns="0" bIns="0" rtlCol="0" anchor="ctr">
            <a:normAutofit/>
          </a:bodyPr>
          <a:lstStyle/>
          <a:p>
            <a:pPr marL="0" indent="0" algn="ctr">
              <a:buNone/>
            </a:pPr>
            <a:r>
              <a:rPr lang="en-US" sz="1800" b="1" dirty="0">
                <a:solidFill>
                  <a:srgbClr val="252B17"/>
                </a:solidFill>
                <a:latin typeface="Aptos Display" pitchFamily="34" charset="0"/>
                <a:ea typeface="Aptos Display" pitchFamily="34" charset="-122"/>
                <a:cs typeface="Aptos Display" pitchFamily="34" charset="-120"/>
              </a:rPr>
              <a:t>Efficiency</a:t>
            </a:r>
            <a:endParaRPr lang="en-US" sz="1800" dirty="0"/>
          </a:p>
        </p:txBody>
      </p:sp>
      <p:sp>
        <p:nvSpPr>
          <p:cNvPr id="35" name="Text 33"/>
          <p:cNvSpPr/>
          <p:nvPr/>
        </p:nvSpPr>
        <p:spPr>
          <a:xfrm>
            <a:off x="8769096" y="4846320"/>
            <a:ext cx="2578608" cy="932688"/>
          </a:xfrm>
          <a:prstGeom prst="rect">
            <a:avLst/>
          </a:prstGeom>
          <a:noFill/>
          <a:ln/>
        </p:spPr>
        <p:txBody>
          <a:bodyPr wrap="square" lIns="0" tIns="0" rIns="0" bIns="0" rtlCol="0" anchor="ctr">
            <a:normAutofit/>
          </a:bodyPr>
          <a:lstStyle/>
          <a:p>
            <a:pPr marL="0" indent="0" algn="ctr">
              <a:buNone/>
            </a:pPr>
            <a:r>
              <a:rPr lang="en-US" sz="1350" dirty="0">
                <a:solidFill>
                  <a:srgbClr val="2A2C1D"/>
                </a:solidFill>
                <a:latin typeface="Aptos" pitchFamily="34" charset="0"/>
                <a:ea typeface="Aptos" pitchFamily="34" charset="-122"/>
                <a:cs typeface="Aptos" pitchFamily="34" charset="-120"/>
              </a:rPr>
              <a:t>Compare cost per accepted outcome, not tokens per request alone</a:t>
            </a:r>
            <a:endParaRPr lang="en-US" sz="1350" dirty="0"/>
          </a:p>
        </p:txBody>
      </p:sp>
      <p:sp>
        <p:nvSpPr>
          <p:cNvPr id="36" name="Text 34"/>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6D6A55"/>
                </a:solidFill>
                <a:latin typeface="Aptos" pitchFamily="34" charset="0"/>
                <a:ea typeface="Aptos" pitchFamily="34" charset="-122"/>
                <a:cs typeface="Aptos" pitchFamily="34" charset="-120"/>
              </a:rPr>
              <a:t>REFERENCE  learn.microsoft.com/agent-framework/agents/observability  ·  +2 more in notes</a:t>
            </a:r>
            <a:endParaRPr lang="en-US" sz="940" dirty="0"/>
          </a:p>
        </p:txBody>
      </p:sp>
      <p:sp>
        <p:nvSpPr>
          <p:cNvPr id="37" name="Shape 35"/>
          <p:cNvSpPr/>
          <p:nvPr/>
        </p:nvSpPr>
        <p:spPr>
          <a:xfrm>
            <a:off x="0" y="6793992"/>
            <a:ext cx="12191695" cy="64008"/>
          </a:xfrm>
          <a:prstGeom prst="rect">
            <a:avLst/>
          </a:prstGeom>
          <a:solidFill>
            <a:srgbClr val="D8A846"/>
          </a:solid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CFAF2"/>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252B17"/>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4  /  WORKLOAD ECONOMICS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252B17"/>
                </a:solidFill>
                <a:latin typeface="Aptos Display" pitchFamily="34" charset="0"/>
                <a:ea typeface="Aptos Display" pitchFamily="34" charset="-122"/>
                <a:cs typeface="Aptos Display" pitchFamily="34" charset="-120"/>
              </a:rPr>
              <a:t>Prompt cache ≠ response cache</a:t>
            </a:r>
            <a:endParaRPr lang="en-US" sz="3100" dirty="0"/>
          </a:p>
        </p:txBody>
      </p:sp>
      <p:sp>
        <p:nvSpPr>
          <p:cNvPr id="5" name="Shape 3"/>
          <p:cNvSpPr/>
          <p:nvPr/>
        </p:nvSpPr>
        <p:spPr>
          <a:xfrm>
            <a:off x="10824301" y="825155"/>
            <a:ext cx="85588" cy="164592"/>
          </a:xfrm>
          <a:prstGeom prst="rect">
            <a:avLst/>
          </a:prstGeom>
          <a:solidFill>
            <a:srgbClr val="F7EACA"/>
          </a:solidFill>
          <a:ln/>
        </p:spPr>
        <p:txBody>
          <a:bodyPr/>
          <a:lstStyle/>
          <a:p>
            <a:endParaRPr lang="en-US"/>
          </a:p>
        </p:txBody>
      </p:sp>
      <p:sp>
        <p:nvSpPr>
          <p:cNvPr id="6" name="Shape 4"/>
          <p:cNvSpPr/>
          <p:nvPr/>
        </p:nvSpPr>
        <p:spPr>
          <a:xfrm>
            <a:off x="10969142" y="686897"/>
            <a:ext cx="85588" cy="302849"/>
          </a:xfrm>
          <a:prstGeom prst="rect">
            <a:avLst/>
          </a:prstGeom>
          <a:solidFill>
            <a:srgbClr val="F7EACA"/>
          </a:solidFill>
          <a:ln/>
        </p:spPr>
        <p:txBody>
          <a:bodyPr/>
          <a:lstStyle/>
          <a:p>
            <a:endParaRPr lang="en-US"/>
          </a:p>
        </p:txBody>
      </p:sp>
      <p:sp>
        <p:nvSpPr>
          <p:cNvPr id="7" name="Shape 5"/>
          <p:cNvSpPr/>
          <p:nvPr/>
        </p:nvSpPr>
        <p:spPr>
          <a:xfrm>
            <a:off x="11113983" y="528889"/>
            <a:ext cx="85588" cy="460858"/>
          </a:xfrm>
          <a:prstGeom prst="rect">
            <a:avLst/>
          </a:prstGeom>
          <a:solidFill>
            <a:srgbClr val="D8A846"/>
          </a:solidFill>
          <a:ln/>
        </p:spPr>
        <p:txBody>
          <a:bodyPr/>
          <a:lstStyle/>
          <a:p>
            <a:endParaRPr lang="en-US"/>
          </a:p>
        </p:txBody>
      </p:sp>
      <p:sp>
        <p:nvSpPr>
          <p:cNvPr id="8" name="Shape 6"/>
          <p:cNvSpPr/>
          <p:nvPr/>
        </p:nvSpPr>
        <p:spPr>
          <a:xfrm>
            <a:off x="11258824" y="397215"/>
            <a:ext cx="85588" cy="592531"/>
          </a:xfrm>
          <a:prstGeom prst="rect">
            <a:avLst/>
          </a:prstGeom>
          <a:solidFill>
            <a:srgbClr val="D8A846"/>
          </a:solidFill>
          <a:ln/>
        </p:spPr>
        <p:txBody>
          <a:bodyPr/>
          <a:lstStyle/>
          <a:p>
            <a:endParaRPr lang="en-US"/>
          </a:p>
        </p:txBody>
      </p:sp>
      <p:sp>
        <p:nvSpPr>
          <p:cNvPr id="9" name="Shape 7"/>
          <p:cNvSpPr/>
          <p:nvPr/>
        </p:nvSpPr>
        <p:spPr>
          <a:xfrm>
            <a:off x="10824301" y="489387"/>
            <a:ext cx="539862" cy="408188"/>
          </a:xfrm>
          <a:prstGeom prst="line">
            <a:avLst/>
          </a:prstGeom>
          <a:noFill/>
          <a:ln w="25400">
            <a:solidFill>
              <a:srgbClr val="252B17"/>
            </a:solidFill>
            <a:prstDash val="solid"/>
          </a:ln>
        </p:spPr>
        <p:txBody>
          <a:bodyPr/>
          <a:lstStyle/>
          <a:p>
            <a:endParaRPr lang="en-US"/>
          </a:p>
        </p:txBody>
      </p:sp>
      <p:sp>
        <p:nvSpPr>
          <p:cNvPr id="10" name="Shape 8"/>
          <p:cNvSpPr/>
          <p:nvPr/>
        </p:nvSpPr>
        <p:spPr>
          <a:xfrm>
            <a:off x="11612880" y="457200"/>
            <a:ext cx="329184" cy="329184"/>
          </a:xfrm>
          <a:prstGeom prst="ellipse">
            <a:avLst/>
          </a:prstGeom>
          <a:solidFill>
            <a:srgbClr val="D8A846"/>
          </a:solidFill>
          <a:ln/>
        </p:spPr>
        <p:txBody>
          <a:bodyPr/>
          <a:lstStyle/>
          <a:p>
            <a:endParaRPr lang="en-US"/>
          </a:p>
        </p:txBody>
      </p:sp>
      <p:sp>
        <p:nvSpPr>
          <p:cNvPr id="11" name="Text 9"/>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252B17"/>
                </a:solidFill>
                <a:latin typeface="Aptos" pitchFamily="34" charset="0"/>
                <a:ea typeface="Aptos" pitchFamily="34" charset="-122"/>
                <a:cs typeface="Aptos" pitchFamily="34" charset="-120"/>
              </a:rPr>
              <a:t>06</a:t>
            </a:r>
            <a:endParaRPr lang="en-US" sz="850" dirty="0"/>
          </a:p>
        </p:txBody>
      </p:sp>
      <p:sp>
        <p:nvSpPr>
          <p:cNvPr id="12" name="Shape 10"/>
          <p:cNvSpPr/>
          <p:nvPr/>
        </p:nvSpPr>
        <p:spPr>
          <a:xfrm>
            <a:off x="9829800" y="1005840"/>
            <a:ext cx="2148840" cy="2148840"/>
          </a:xfrm>
          <a:prstGeom prst="ellipse">
            <a:avLst/>
          </a:prstGeom>
          <a:solidFill>
            <a:srgbClr val="F7EACA"/>
          </a:solidFill>
          <a:ln/>
        </p:spPr>
        <p:txBody>
          <a:bodyPr/>
          <a:lstStyle/>
          <a:p>
            <a:endParaRPr lang="en-US"/>
          </a:p>
        </p:txBody>
      </p:sp>
      <p:sp>
        <p:nvSpPr>
          <p:cNvPr id="13" name="Shape 11"/>
          <p:cNvSpPr/>
          <p:nvPr/>
        </p:nvSpPr>
        <p:spPr>
          <a:xfrm>
            <a:off x="640080" y="1417320"/>
            <a:ext cx="5248656" cy="4626864"/>
          </a:xfrm>
          <a:prstGeom prst="roundRect">
            <a:avLst>
              <a:gd name="adj" fmla="val 1779"/>
            </a:avLst>
          </a:prstGeom>
          <a:solidFill>
            <a:srgbClr val="FFFFFF"/>
          </a:solidFill>
          <a:ln w="15240">
            <a:solidFill>
              <a:srgbClr val="F7EACA"/>
            </a:solidFill>
            <a:prstDash val="solid"/>
          </a:ln>
          <a:effectLst>
            <a:outerShdw blurRad="50800" dist="19050" dir="8100000" algn="bl" rotWithShape="0">
              <a:srgbClr val="111827">
                <a:alpha val="11000"/>
              </a:srgbClr>
            </a:outerShdw>
          </a:effectLst>
        </p:spPr>
        <p:txBody>
          <a:bodyPr/>
          <a:lstStyle/>
          <a:p>
            <a:endParaRPr lang="en-US"/>
          </a:p>
        </p:txBody>
      </p:sp>
      <p:sp>
        <p:nvSpPr>
          <p:cNvPr id="14" name="Shape 12"/>
          <p:cNvSpPr/>
          <p:nvPr/>
        </p:nvSpPr>
        <p:spPr>
          <a:xfrm>
            <a:off x="896112" y="1673352"/>
            <a:ext cx="1572768" cy="310896"/>
          </a:xfrm>
          <a:prstGeom prst="roundRect">
            <a:avLst>
              <a:gd name="adj" fmla="val 23529"/>
            </a:avLst>
          </a:prstGeom>
          <a:solidFill>
            <a:srgbClr val="252B17"/>
          </a:solidFill>
          <a:ln/>
        </p:spPr>
        <p:txBody>
          <a:bodyPr/>
          <a:lstStyle/>
          <a:p>
            <a:endParaRPr lang="en-US"/>
          </a:p>
        </p:txBody>
      </p:sp>
      <p:sp>
        <p:nvSpPr>
          <p:cNvPr id="15" name="Text 13"/>
          <p:cNvSpPr/>
          <p:nvPr/>
        </p:nvSpPr>
        <p:spPr>
          <a:xfrm>
            <a:off x="1005840" y="1773936"/>
            <a:ext cx="1353312" cy="91440"/>
          </a:xfrm>
          <a:prstGeom prst="rect">
            <a:avLst/>
          </a:prstGeom>
          <a:noFill/>
          <a:ln/>
        </p:spPr>
        <p:txBody>
          <a:bodyPr wrap="square" lIns="0" tIns="0" rIns="0" bIns="0" rtlCol="0" anchor="ctr"/>
          <a:lstStyle/>
          <a:p>
            <a:pPr marL="0" indent="0" algn="ctr">
              <a:buNone/>
            </a:pPr>
            <a:r>
              <a:rPr lang="en-US" sz="830" b="1" kern="0" spc="110" dirty="0">
                <a:solidFill>
                  <a:srgbClr val="FFFFFF"/>
                </a:solidFill>
                <a:latin typeface="Aptos" pitchFamily="34" charset="0"/>
                <a:ea typeface="Aptos" pitchFamily="34" charset="-122"/>
                <a:cs typeface="Aptos" pitchFamily="34" charset="-120"/>
              </a:rPr>
              <a:t>PROMPT CACHE</a:t>
            </a:r>
            <a:endParaRPr lang="en-US" sz="830" dirty="0"/>
          </a:p>
        </p:txBody>
      </p:sp>
      <p:sp>
        <p:nvSpPr>
          <p:cNvPr id="16" name="Text 14"/>
          <p:cNvSpPr/>
          <p:nvPr/>
        </p:nvSpPr>
        <p:spPr>
          <a:xfrm>
            <a:off x="932688" y="2148840"/>
            <a:ext cx="4663440" cy="621792"/>
          </a:xfrm>
          <a:prstGeom prst="rect">
            <a:avLst/>
          </a:prstGeom>
          <a:noFill/>
          <a:ln/>
        </p:spPr>
        <p:txBody>
          <a:bodyPr wrap="square" lIns="0" tIns="0" rIns="0" bIns="0" rtlCol="0" anchor="ctr">
            <a:normAutofit/>
          </a:bodyPr>
          <a:lstStyle/>
          <a:p>
            <a:pPr marL="0" indent="0">
              <a:buNone/>
            </a:pPr>
            <a:r>
              <a:rPr lang="en-US" sz="2200" b="1" dirty="0">
                <a:solidFill>
                  <a:srgbClr val="252B17"/>
                </a:solidFill>
                <a:latin typeface="Aptos Display" pitchFamily="34" charset="0"/>
                <a:ea typeface="Aptos Display" pitchFamily="34" charset="-122"/>
                <a:cs typeface="Aptos Display" pitchFamily="34" charset="-120"/>
              </a:rPr>
              <a:t>Prompt caching</a:t>
            </a:r>
            <a:endParaRPr lang="en-US" sz="2200" dirty="0"/>
          </a:p>
        </p:txBody>
      </p:sp>
      <p:sp>
        <p:nvSpPr>
          <p:cNvPr id="17" name="Text 15"/>
          <p:cNvSpPr/>
          <p:nvPr/>
        </p:nvSpPr>
        <p:spPr>
          <a:xfrm>
            <a:off x="987552"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2A2C1D"/>
                </a:solidFill>
                <a:latin typeface="Aptos" pitchFamily="34" charset="0"/>
                <a:ea typeface="Aptos" pitchFamily="34" charset="-122"/>
                <a:cs typeface="Aptos" pitchFamily="34" charset="-120"/>
              </a:rPr>
              <a:t>Reuses computation for matching input prefixes</a:t>
            </a:r>
            <a:endParaRPr lang="en-US" sz="1600" dirty="0"/>
          </a:p>
          <a:p>
            <a:pPr marL="342900" indent="-342900">
              <a:buSzPct val="100000"/>
              <a:buChar char="•"/>
            </a:pPr>
            <a:r>
              <a:rPr lang="en-US" sz="1600" dirty="0">
                <a:solidFill>
                  <a:srgbClr val="2A2C1D"/>
                </a:solidFill>
                <a:latin typeface="Aptos" pitchFamily="34" charset="0"/>
                <a:ea typeface="Aptos" pitchFamily="34" charset="-122"/>
                <a:cs typeface="Aptos" pitchFamily="34" charset="-120"/>
              </a:rPr>
              <a:t>Still generates a new model response</a:t>
            </a:r>
            <a:endParaRPr lang="en-US" sz="1600" dirty="0"/>
          </a:p>
          <a:p>
            <a:pPr marL="342900" indent="-342900">
              <a:buSzPct val="100000"/>
              <a:buChar char="•"/>
            </a:pPr>
            <a:r>
              <a:rPr lang="en-US" sz="1600" dirty="0">
                <a:solidFill>
                  <a:srgbClr val="2A2C1D"/>
                </a:solidFill>
                <a:latin typeface="Aptos" pitchFamily="34" charset="0"/>
                <a:ea typeface="Aptos" pitchFamily="34" charset="-122"/>
                <a:cs typeface="Aptos" pitchFamily="34" charset="-120"/>
              </a:rPr>
              <a:t>Observe cache-token fields; support and charges vary</a:t>
            </a:r>
            <a:endParaRPr lang="en-US" sz="1600" dirty="0"/>
          </a:p>
        </p:txBody>
      </p:sp>
      <p:sp>
        <p:nvSpPr>
          <p:cNvPr id="18" name="Shape 16"/>
          <p:cNvSpPr/>
          <p:nvPr/>
        </p:nvSpPr>
        <p:spPr>
          <a:xfrm>
            <a:off x="5020056" y="1609344"/>
            <a:ext cx="493776" cy="493776"/>
          </a:xfrm>
          <a:prstGeom prst="ellipse">
            <a:avLst/>
          </a:prstGeom>
          <a:solidFill>
            <a:srgbClr val="F7EACA"/>
          </a:solidFill>
          <a:ln/>
        </p:spPr>
        <p:txBody>
          <a:bodyPr/>
          <a:lstStyle/>
          <a:p>
            <a:endParaRPr lang="en-US"/>
          </a:p>
        </p:txBody>
      </p:sp>
      <p:sp>
        <p:nvSpPr>
          <p:cNvPr id="19" name="Text 17"/>
          <p:cNvSpPr/>
          <p:nvPr/>
        </p:nvSpPr>
        <p:spPr>
          <a:xfrm>
            <a:off x="5020056" y="1755648"/>
            <a:ext cx="493776" cy="118872"/>
          </a:xfrm>
          <a:prstGeom prst="rect">
            <a:avLst/>
          </a:prstGeom>
          <a:noFill/>
          <a:ln/>
        </p:spPr>
        <p:txBody>
          <a:bodyPr wrap="square" lIns="0" tIns="0" rIns="0" bIns="0" rtlCol="0" anchor="ctr"/>
          <a:lstStyle/>
          <a:p>
            <a:pPr marL="0" indent="0" algn="ctr">
              <a:buNone/>
            </a:pPr>
            <a:r>
              <a:rPr lang="en-US" sz="1000" b="1" dirty="0">
                <a:solidFill>
                  <a:srgbClr val="252B17"/>
                </a:solidFill>
                <a:latin typeface="Aptos" pitchFamily="34" charset="0"/>
                <a:ea typeface="Aptos" pitchFamily="34" charset="-122"/>
                <a:cs typeface="Aptos" pitchFamily="34" charset="-120"/>
              </a:rPr>
              <a:t>1</a:t>
            </a:r>
            <a:endParaRPr lang="en-US" sz="1000" dirty="0"/>
          </a:p>
        </p:txBody>
      </p:sp>
      <p:sp>
        <p:nvSpPr>
          <p:cNvPr id="20" name="Shape 18"/>
          <p:cNvSpPr/>
          <p:nvPr/>
        </p:nvSpPr>
        <p:spPr>
          <a:xfrm>
            <a:off x="6300216" y="1417320"/>
            <a:ext cx="5248656" cy="4626864"/>
          </a:xfrm>
          <a:prstGeom prst="roundRect">
            <a:avLst>
              <a:gd name="adj" fmla="val 1779"/>
            </a:avLst>
          </a:prstGeom>
          <a:solidFill>
            <a:srgbClr val="F7EACA"/>
          </a:solidFill>
          <a:ln w="15240">
            <a:solidFill>
              <a:srgbClr val="D8A846"/>
            </a:solidFill>
            <a:prstDash val="solid"/>
          </a:ln>
          <a:effectLst>
            <a:outerShdw blurRad="50800" dist="19050" dir="8100000" algn="bl" rotWithShape="0">
              <a:srgbClr val="111827">
                <a:alpha val="11000"/>
              </a:srgbClr>
            </a:outerShdw>
          </a:effectLst>
        </p:spPr>
        <p:txBody>
          <a:bodyPr/>
          <a:lstStyle/>
          <a:p>
            <a:endParaRPr lang="en-US"/>
          </a:p>
        </p:txBody>
      </p:sp>
      <p:sp>
        <p:nvSpPr>
          <p:cNvPr id="21" name="Shape 19"/>
          <p:cNvSpPr/>
          <p:nvPr/>
        </p:nvSpPr>
        <p:spPr>
          <a:xfrm>
            <a:off x="6556248" y="1673352"/>
            <a:ext cx="1572768" cy="310896"/>
          </a:xfrm>
          <a:prstGeom prst="roundRect">
            <a:avLst>
              <a:gd name="adj" fmla="val 23529"/>
            </a:avLst>
          </a:prstGeom>
          <a:solidFill>
            <a:srgbClr val="D8A846"/>
          </a:solidFill>
          <a:ln/>
        </p:spPr>
        <p:txBody>
          <a:bodyPr/>
          <a:lstStyle/>
          <a:p>
            <a:endParaRPr lang="en-US"/>
          </a:p>
        </p:txBody>
      </p:sp>
      <p:sp>
        <p:nvSpPr>
          <p:cNvPr id="22" name="Text 20"/>
          <p:cNvSpPr/>
          <p:nvPr/>
        </p:nvSpPr>
        <p:spPr>
          <a:xfrm>
            <a:off x="6665976" y="1773936"/>
            <a:ext cx="1353312" cy="91440"/>
          </a:xfrm>
          <a:prstGeom prst="rect">
            <a:avLst/>
          </a:prstGeom>
          <a:noFill/>
          <a:ln/>
        </p:spPr>
        <p:txBody>
          <a:bodyPr wrap="square" lIns="0" tIns="0" rIns="0" bIns="0" rtlCol="0" anchor="ctr"/>
          <a:lstStyle/>
          <a:p>
            <a:pPr marL="0" indent="0" algn="ctr">
              <a:buNone/>
            </a:pPr>
            <a:r>
              <a:rPr lang="en-US" sz="830" b="1" kern="0" spc="110" dirty="0">
                <a:solidFill>
                  <a:srgbClr val="252B17"/>
                </a:solidFill>
                <a:latin typeface="Aptos" pitchFamily="34" charset="0"/>
                <a:ea typeface="Aptos" pitchFamily="34" charset="-122"/>
                <a:cs typeface="Aptos" pitchFamily="34" charset="-120"/>
              </a:rPr>
              <a:t>RESPONSE CACHE</a:t>
            </a:r>
            <a:endParaRPr lang="en-US" sz="830" dirty="0"/>
          </a:p>
        </p:txBody>
      </p:sp>
      <p:sp>
        <p:nvSpPr>
          <p:cNvPr id="23" name="Text 21"/>
          <p:cNvSpPr/>
          <p:nvPr/>
        </p:nvSpPr>
        <p:spPr>
          <a:xfrm>
            <a:off x="6592824" y="2148840"/>
            <a:ext cx="4663440" cy="621792"/>
          </a:xfrm>
          <a:prstGeom prst="rect">
            <a:avLst/>
          </a:prstGeom>
          <a:noFill/>
          <a:ln/>
        </p:spPr>
        <p:txBody>
          <a:bodyPr wrap="square" lIns="0" tIns="0" rIns="0" bIns="0" rtlCol="0" anchor="ctr">
            <a:normAutofit/>
          </a:bodyPr>
          <a:lstStyle/>
          <a:p>
            <a:pPr marL="0" indent="0">
              <a:buNone/>
            </a:pPr>
            <a:r>
              <a:rPr lang="en-US" sz="2200" b="1" dirty="0">
                <a:solidFill>
                  <a:srgbClr val="252B17"/>
                </a:solidFill>
                <a:latin typeface="Aptos Display" pitchFamily="34" charset="0"/>
                <a:ea typeface="Aptos Display" pitchFamily="34" charset="-122"/>
                <a:cs typeface="Aptos Display" pitchFamily="34" charset="-120"/>
              </a:rPr>
              <a:t>Application response caching</a:t>
            </a:r>
            <a:endParaRPr lang="en-US" sz="2200" dirty="0"/>
          </a:p>
        </p:txBody>
      </p:sp>
      <p:sp>
        <p:nvSpPr>
          <p:cNvPr id="24" name="Text 22"/>
          <p:cNvSpPr/>
          <p:nvPr/>
        </p:nvSpPr>
        <p:spPr>
          <a:xfrm>
            <a:off x="6647688"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2A2C1D"/>
                </a:solidFill>
                <a:latin typeface="Aptos" pitchFamily="34" charset="0"/>
                <a:ea typeface="Aptos" pitchFamily="34" charset="-122"/>
                <a:cs typeface="Aptos" pitchFamily="34" charset="-120"/>
              </a:rPr>
              <a:t>Reuses a previously stored final answer</a:t>
            </a:r>
            <a:endParaRPr lang="en-US" sz="1600" dirty="0"/>
          </a:p>
          <a:p>
            <a:pPr marL="342900" indent="-342900">
              <a:buSzPct val="100000"/>
              <a:buChar char="•"/>
            </a:pPr>
            <a:r>
              <a:rPr lang="en-US" sz="1600" dirty="0">
                <a:solidFill>
                  <a:srgbClr val="2A2C1D"/>
                </a:solidFill>
                <a:latin typeface="Aptos" pitchFamily="34" charset="0"/>
                <a:ea typeface="Aptos" pitchFamily="34" charset="-122"/>
                <a:cs typeface="Aptos" pitchFamily="34" charset="-120"/>
              </a:rPr>
              <a:t>Must enforce freshness, tenant/user access, and invalidation</a:t>
            </a:r>
            <a:endParaRPr lang="en-US" sz="1600" dirty="0"/>
          </a:p>
          <a:p>
            <a:pPr marL="342900" indent="-342900">
              <a:buSzPct val="100000"/>
              <a:buChar char="•"/>
            </a:pPr>
            <a:r>
              <a:rPr lang="en-US" sz="1600" dirty="0">
                <a:solidFill>
                  <a:srgbClr val="2A2C1D"/>
                </a:solidFill>
                <a:latin typeface="Aptos" pitchFamily="34" charset="0"/>
                <a:ea typeface="Aptos" pitchFamily="34" charset="-122"/>
                <a:cs typeface="Aptos" pitchFamily="34" charset="-120"/>
              </a:rPr>
              <a:t>Is an application architecture choice—not prompt caching</a:t>
            </a:r>
            <a:endParaRPr lang="en-US" sz="1600" dirty="0"/>
          </a:p>
        </p:txBody>
      </p:sp>
      <p:sp>
        <p:nvSpPr>
          <p:cNvPr id="25" name="Shape 23"/>
          <p:cNvSpPr/>
          <p:nvPr/>
        </p:nvSpPr>
        <p:spPr>
          <a:xfrm>
            <a:off x="10680192" y="1609344"/>
            <a:ext cx="493776" cy="493776"/>
          </a:xfrm>
          <a:prstGeom prst="ellipse">
            <a:avLst/>
          </a:prstGeom>
          <a:solidFill>
            <a:srgbClr val="72B01D"/>
          </a:solidFill>
          <a:ln/>
        </p:spPr>
        <p:txBody>
          <a:bodyPr/>
          <a:lstStyle/>
          <a:p>
            <a:endParaRPr lang="en-US"/>
          </a:p>
        </p:txBody>
      </p:sp>
      <p:sp>
        <p:nvSpPr>
          <p:cNvPr id="26" name="Text 24"/>
          <p:cNvSpPr/>
          <p:nvPr/>
        </p:nvSpPr>
        <p:spPr>
          <a:xfrm>
            <a:off x="10680192" y="1755648"/>
            <a:ext cx="493776" cy="118872"/>
          </a:xfrm>
          <a:prstGeom prst="rect">
            <a:avLst/>
          </a:prstGeom>
          <a:noFill/>
          <a:ln/>
        </p:spPr>
        <p:txBody>
          <a:bodyPr wrap="square" lIns="0" tIns="0" rIns="0" bIns="0" rtlCol="0" anchor="ctr"/>
          <a:lstStyle/>
          <a:p>
            <a:pPr marL="0" indent="0" algn="ctr">
              <a:buNone/>
            </a:pPr>
            <a:r>
              <a:rPr lang="en-US" sz="1000" b="1" dirty="0">
                <a:solidFill>
                  <a:srgbClr val="252B17"/>
                </a:solidFill>
                <a:latin typeface="Aptos" pitchFamily="34" charset="0"/>
                <a:ea typeface="Aptos" pitchFamily="34" charset="-122"/>
                <a:cs typeface="Aptos" pitchFamily="34" charset="-120"/>
              </a:rPr>
              <a:t>2</a:t>
            </a:r>
            <a:endParaRPr lang="en-US" sz="1000" dirty="0"/>
          </a:p>
        </p:txBody>
      </p:sp>
      <p:sp>
        <p:nvSpPr>
          <p:cNvPr id="27" name="Shape 25"/>
          <p:cNvSpPr/>
          <p:nvPr/>
        </p:nvSpPr>
        <p:spPr>
          <a:xfrm>
            <a:off x="5916168" y="3236976"/>
            <a:ext cx="365760" cy="365760"/>
          </a:xfrm>
          <a:prstGeom prst="ellipse">
            <a:avLst/>
          </a:prstGeom>
          <a:solidFill>
            <a:srgbClr val="252B17"/>
          </a:solidFill>
          <a:ln/>
        </p:spPr>
        <p:txBody>
          <a:bodyPr/>
          <a:lstStyle/>
          <a:p>
            <a:endParaRPr lang="en-US"/>
          </a:p>
        </p:txBody>
      </p:sp>
      <p:sp>
        <p:nvSpPr>
          <p:cNvPr id="28" name="Text 26"/>
          <p:cNvSpPr/>
          <p:nvPr/>
        </p:nvSpPr>
        <p:spPr>
          <a:xfrm>
            <a:off x="5916168" y="3328416"/>
            <a:ext cx="365760" cy="164592"/>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29" name="Text 27"/>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6D6A55"/>
                </a:solidFill>
                <a:latin typeface="Aptos" pitchFamily="34" charset="0"/>
                <a:ea typeface="Aptos" pitchFamily="34" charset="-122"/>
                <a:cs typeface="Aptos" pitchFamily="34" charset="-120"/>
              </a:rPr>
              <a:t>REFERENCE  learn.microsoft.com/azure/foundry/openai/how-to/prompt-caching  ·  +1 more in notes</a:t>
            </a:r>
            <a:endParaRPr lang="en-US" sz="940" dirty="0"/>
          </a:p>
        </p:txBody>
      </p:sp>
      <p:sp>
        <p:nvSpPr>
          <p:cNvPr id="30" name="Shape 28"/>
          <p:cNvSpPr/>
          <p:nvPr/>
        </p:nvSpPr>
        <p:spPr>
          <a:xfrm>
            <a:off x="0" y="6793992"/>
            <a:ext cx="12191695" cy="64008"/>
          </a:xfrm>
          <a:prstGeom prst="rect">
            <a:avLst/>
          </a:prstGeom>
          <a:solidFill>
            <a:srgbClr val="D8A846"/>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CFAF2"/>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252B17"/>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4  /  WORKLOAD ECONOMICS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252B17"/>
                </a:solidFill>
                <a:latin typeface="Aptos Display" pitchFamily="34" charset="0"/>
                <a:ea typeface="Aptos Display" pitchFamily="34" charset="-122"/>
                <a:cs typeface="Aptos Display" pitchFamily="34" charset="-120"/>
              </a:rPr>
              <a:t>Three model choices, three control points</a:t>
            </a:r>
            <a:endParaRPr lang="en-US" sz="3100" dirty="0"/>
          </a:p>
        </p:txBody>
      </p:sp>
      <p:sp>
        <p:nvSpPr>
          <p:cNvPr id="5" name="Shape 3"/>
          <p:cNvSpPr/>
          <p:nvPr/>
        </p:nvSpPr>
        <p:spPr>
          <a:xfrm>
            <a:off x="10824301" y="825155"/>
            <a:ext cx="85588" cy="164592"/>
          </a:xfrm>
          <a:prstGeom prst="rect">
            <a:avLst/>
          </a:prstGeom>
          <a:solidFill>
            <a:srgbClr val="F7EACA"/>
          </a:solidFill>
          <a:ln/>
        </p:spPr>
        <p:txBody>
          <a:bodyPr/>
          <a:lstStyle/>
          <a:p>
            <a:endParaRPr lang="en-US"/>
          </a:p>
        </p:txBody>
      </p:sp>
      <p:sp>
        <p:nvSpPr>
          <p:cNvPr id="6" name="Shape 4"/>
          <p:cNvSpPr/>
          <p:nvPr/>
        </p:nvSpPr>
        <p:spPr>
          <a:xfrm>
            <a:off x="10969142" y="686897"/>
            <a:ext cx="85588" cy="302849"/>
          </a:xfrm>
          <a:prstGeom prst="rect">
            <a:avLst/>
          </a:prstGeom>
          <a:solidFill>
            <a:srgbClr val="F7EACA"/>
          </a:solidFill>
          <a:ln/>
        </p:spPr>
        <p:txBody>
          <a:bodyPr/>
          <a:lstStyle/>
          <a:p>
            <a:endParaRPr lang="en-US"/>
          </a:p>
        </p:txBody>
      </p:sp>
      <p:sp>
        <p:nvSpPr>
          <p:cNvPr id="7" name="Shape 5"/>
          <p:cNvSpPr/>
          <p:nvPr/>
        </p:nvSpPr>
        <p:spPr>
          <a:xfrm>
            <a:off x="11113983" y="528889"/>
            <a:ext cx="85588" cy="460858"/>
          </a:xfrm>
          <a:prstGeom prst="rect">
            <a:avLst/>
          </a:prstGeom>
          <a:solidFill>
            <a:srgbClr val="D8A846"/>
          </a:solidFill>
          <a:ln/>
        </p:spPr>
        <p:txBody>
          <a:bodyPr/>
          <a:lstStyle/>
          <a:p>
            <a:endParaRPr lang="en-US"/>
          </a:p>
        </p:txBody>
      </p:sp>
      <p:sp>
        <p:nvSpPr>
          <p:cNvPr id="8" name="Shape 6"/>
          <p:cNvSpPr/>
          <p:nvPr/>
        </p:nvSpPr>
        <p:spPr>
          <a:xfrm>
            <a:off x="11258824" y="397215"/>
            <a:ext cx="85588" cy="592531"/>
          </a:xfrm>
          <a:prstGeom prst="rect">
            <a:avLst/>
          </a:prstGeom>
          <a:solidFill>
            <a:srgbClr val="D8A846"/>
          </a:solidFill>
          <a:ln/>
        </p:spPr>
        <p:txBody>
          <a:bodyPr/>
          <a:lstStyle/>
          <a:p>
            <a:endParaRPr lang="en-US"/>
          </a:p>
        </p:txBody>
      </p:sp>
      <p:sp>
        <p:nvSpPr>
          <p:cNvPr id="9" name="Shape 7"/>
          <p:cNvSpPr/>
          <p:nvPr/>
        </p:nvSpPr>
        <p:spPr>
          <a:xfrm>
            <a:off x="10824301" y="489387"/>
            <a:ext cx="539862" cy="408188"/>
          </a:xfrm>
          <a:prstGeom prst="line">
            <a:avLst/>
          </a:prstGeom>
          <a:noFill/>
          <a:ln w="25400">
            <a:solidFill>
              <a:srgbClr val="252B17"/>
            </a:solidFill>
            <a:prstDash val="solid"/>
          </a:ln>
        </p:spPr>
        <p:txBody>
          <a:bodyPr/>
          <a:lstStyle/>
          <a:p>
            <a:endParaRPr lang="en-US"/>
          </a:p>
        </p:txBody>
      </p:sp>
      <p:sp>
        <p:nvSpPr>
          <p:cNvPr id="10" name="Shape 8"/>
          <p:cNvSpPr/>
          <p:nvPr/>
        </p:nvSpPr>
        <p:spPr>
          <a:xfrm>
            <a:off x="11612880" y="457200"/>
            <a:ext cx="329184" cy="329184"/>
          </a:xfrm>
          <a:prstGeom prst="ellipse">
            <a:avLst/>
          </a:prstGeom>
          <a:solidFill>
            <a:srgbClr val="D8A846"/>
          </a:solidFill>
          <a:ln/>
        </p:spPr>
        <p:txBody>
          <a:bodyPr/>
          <a:lstStyle/>
          <a:p>
            <a:endParaRPr lang="en-US"/>
          </a:p>
        </p:txBody>
      </p:sp>
      <p:sp>
        <p:nvSpPr>
          <p:cNvPr id="11" name="Text 9"/>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252B17"/>
                </a:solidFill>
                <a:latin typeface="Aptos" pitchFamily="34" charset="0"/>
                <a:ea typeface="Aptos" pitchFamily="34" charset="-122"/>
                <a:cs typeface="Aptos" pitchFamily="34" charset="-120"/>
              </a:rPr>
              <a:t>07</a:t>
            </a:r>
            <a:endParaRPr lang="en-US" sz="850" dirty="0"/>
          </a:p>
        </p:txBody>
      </p:sp>
      <p:sp>
        <p:nvSpPr>
          <p:cNvPr id="12" name="Shape 10"/>
          <p:cNvSpPr/>
          <p:nvPr/>
        </p:nvSpPr>
        <p:spPr>
          <a:xfrm>
            <a:off x="9829800" y="1005840"/>
            <a:ext cx="2148840" cy="2148840"/>
          </a:xfrm>
          <a:prstGeom prst="ellipse">
            <a:avLst/>
          </a:prstGeom>
          <a:solidFill>
            <a:srgbClr val="F7EACA"/>
          </a:solidFill>
          <a:ln/>
        </p:spPr>
        <p:txBody>
          <a:bodyPr/>
          <a:lstStyle/>
          <a:p>
            <a:endParaRPr lang="en-US"/>
          </a:p>
        </p:txBody>
      </p:sp>
      <p:sp>
        <p:nvSpPr>
          <p:cNvPr id="13" name="Shape 11"/>
          <p:cNvSpPr/>
          <p:nvPr/>
        </p:nvSpPr>
        <p:spPr>
          <a:xfrm>
            <a:off x="640080" y="1417320"/>
            <a:ext cx="3447288" cy="3566160"/>
          </a:xfrm>
          <a:prstGeom prst="roundRect">
            <a:avLst>
              <a:gd name="adj" fmla="val 2122"/>
            </a:avLst>
          </a:prstGeom>
          <a:solidFill>
            <a:srgbClr val="FFFFFF"/>
          </a:solidFill>
          <a:ln w="10160">
            <a:solidFill>
              <a:srgbClr val="F7EACA"/>
            </a:solidFill>
            <a:prstDash val="solid"/>
          </a:ln>
        </p:spPr>
        <p:txBody>
          <a:bodyPr/>
          <a:lstStyle/>
          <a:p>
            <a:endParaRPr lang="en-US"/>
          </a:p>
        </p:txBody>
      </p:sp>
      <p:sp>
        <p:nvSpPr>
          <p:cNvPr id="14" name="Shape 12"/>
          <p:cNvSpPr/>
          <p:nvPr/>
        </p:nvSpPr>
        <p:spPr>
          <a:xfrm>
            <a:off x="932688" y="1737360"/>
            <a:ext cx="1024128" cy="347472"/>
          </a:xfrm>
          <a:prstGeom prst="roundRect">
            <a:avLst>
              <a:gd name="adj" fmla="val 21053"/>
            </a:avLst>
          </a:prstGeom>
          <a:solidFill>
            <a:srgbClr val="D8A846"/>
          </a:solidFill>
          <a:ln/>
        </p:spPr>
        <p:txBody>
          <a:bodyPr/>
          <a:lstStyle/>
          <a:p>
            <a:endParaRPr lang="en-US"/>
          </a:p>
        </p:txBody>
      </p:sp>
      <p:sp>
        <p:nvSpPr>
          <p:cNvPr id="15" name="Text 13"/>
          <p:cNvSpPr/>
          <p:nvPr/>
        </p:nvSpPr>
        <p:spPr>
          <a:xfrm>
            <a:off x="1024128" y="1856232"/>
            <a:ext cx="841248" cy="100584"/>
          </a:xfrm>
          <a:prstGeom prst="rect">
            <a:avLst/>
          </a:prstGeom>
          <a:noFill/>
          <a:ln/>
        </p:spPr>
        <p:txBody>
          <a:bodyPr wrap="square" lIns="0" tIns="0" rIns="0" bIns="0" rtlCol="0" anchor="ctr"/>
          <a:lstStyle/>
          <a:p>
            <a:pPr marL="0" indent="0" algn="ctr">
              <a:buNone/>
            </a:pPr>
            <a:r>
              <a:rPr lang="en-US" sz="850" b="1" kern="0" spc="120" dirty="0">
                <a:solidFill>
                  <a:srgbClr val="252B17"/>
                </a:solidFill>
                <a:latin typeface="Aptos" pitchFamily="34" charset="0"/>
                <a:ea typeface="Aptos" pitchFamily="34" charset="-122"/>
                <a:cs typeface="Aptos" pitchFamily="34" charset="-120"/>
              </a:rPr>
              <a:t>FIXED</a:t>
            </a:r>
            <a:endParaRPr lang="en-US" sz="850" dirty="0"/>
          </a:p>
        </p:txBody>
      </p:sp>
      <p:sp>
        <p:nvSpPr>
          <p:cNvPr id="16" name="Text 14"/>
          <p:cNvSpPr/>
          <p:nvPr/>
        </p:nvSpPr>
        <p:spPr>
          <a:xfrm>
            <a:off x="932688" y="2331720"/>
            <a:ext cx="2862072" cy="594360"/>
          </a:xfrm>
          <a:prstGeom prst="rect">
            <a:avLst/>
          </a:prstGeom>
          <a:noFill/>
          <a:ln/>
        </p:spPr>
        <p:txBody>
          <a:bodyPr wrap="square" lIns="0" tIns="0" rIns="0" bIns="0" rtlCol="0" anchor="ctr">
            <a:normAutofit/>
          </a:bodyPr>
          <a:lstStyle/>
          <a:p>
            <a:pPr marL="0" indent="0" algn="ctr">
              <a:buNone/>
            </a:pPr>
            <a:r>
              <a:rPr lang="en-US" sz="2100" b="1" dirty="0">
                <a:solidFill>
                  <a:srgbClr val="252B17"/>
                </a:solidFill>
                <a:latin typeface="Aptos Display" pitchFamily="34" charset="0"/>
                <a:ea typeface="Aptos Display" pitchFamily="34" charset="-122"/>
                <a:cs typeface="Aptos Display" pitchFamily="34" charset="-120"/>
              </a:rPr>
              <a:t>Fixed deployment</a:t>
            </a:r>
            <a:endParaRPr lang="en-US" sz="2100" dirty="0"/>
          </a:p>
        </p:txBody>
      </p:sp>
      <p:sp>
        <p:nvSpPr>
          <p:cNvPr id="17" name="Text 15"/>
          <p:cNvSpPr/>
          <p:nvPr/>
        </p:nvSpPr>
        <p:spPr>
          <a:xfrm>
            <a:off x="950976" y="3246120"/>
            <a:ext cx="2825496" cy="1097280"/>
          </a:xfrm>
          <a:prstGeom prst="rect">
            <a:avLst/>
          </a:prstGeom>
          <a:noFill/>
          <a:ln/>
        </p:spPr>
        <p:txBody>
          <a:bodyPr wrap="square" lIns="0" tIns="0" rIns="0" bIns="0" rtlCol="0" anchor="ctr">
            <a:normAutofit/>
          </a:bodyPr>
          <a:lstStyle/>
          <a:p>
            <a:pPr marL="0" indent="0" algn="ctr">
              <a:buNone/>
            </a:pPr>
            <a:r>
              <a:rPr lang="en-US" sz="1420" dirty="0">
                <a:solidFill>
                  <a:srgbClr val="2A2C1D"/>
                </a:solidFill>
                <a:latin typeface="Aptos" pitchFamily="34" charset="0"/>
                <a:ea typeface="Aptos" pitchFamily="34" charset="-122"/>
                <a:cs typeface="Aptos" pitchFamily="34" charset="-120"/>
              </a:rPr>
              <a:t>One known model handles every request; simplest baseline</a:t>
            </a:r>
            <a:endParaRPr lang="en-US" sz="1420" dirty="0"/>
          </a:p>
        </p:txBody>
      </p:sp>
      <p:sp>
        <p:nvSpPr>
          <p:cNvPr id="18" name="Shape 16"/>
          <p:cNvSpPr/>
          <p:nvPr/>
        </p:nvSpPr>
        <p:spPr>
          <a:xfrm>
            <a:off x="4361688" y="1417320"/>
            <a:ext cx="3447288" cy="3566160"/>
          </a:xfrm>
          <a:prstGeom prst="roundRect">
            <a:avLst>
              <a:gd name="adj" fmla="val 2122"/>
            </a:avLst>
          </a:prstGeom>
          <a:solidFill>
            <a:srgbClr val="F7EACA"/>
          </a:solidFill>
          <a:ln w="10160">
            <a:solidFill>
              <a:srgbClr val="D8A846"/>
            </a:solidFill>
            <a:prstDash val="solid"/>
          </a:ln>
        </p:spPr>
        <p:txBody>
          <a:bodyPr/>
          <a:lstStyle/>
          <a:p>
            <a:endParaRPr lang="en-US"/>
          </a:p>
        </p:txBody>
      </p:sp>
      <p:sp>
        <p:nvSpPr>
          <p:cNvPr id="19" name="Shape 17"/>
          <p:cNvSpPr/>
          <p:nvPr/>
        </p:nvSpPr>
        <p:spPr>
          <a:xfrm>
            <a:off x="4654296" y="1737360"/>
            <a:ext cx="1024128" cy="347472"/>
          </a:xfrm>
          <a:prstGeom prst="roundRect">
            <a:avLst>
              <a:gd name="adj" fmla="val 21053"/>
            </a:avLst>
          </a:prstGeom>
          <a:solidFill>
            <a:srgbClr val="72B01D"/>
          </a:solidFill>
          <a:ln/>
        </p:spPr>
        <p:txBody>
          <a:bodyPr/>
          <a:lstStyle/>
          <a:p>
            <a:endParaRPr lang="en-US"/>
          </a:p>
        </p:txBody>
      </p:sp>
      <p:sp>
        <p:nvSpPr>
          <p:cNvPr id="20" name="Text 18"/>
          <p:cNvSpPr/>
          <p:nvPr/>
        </p:nvSpPr>
        <p:spPr>
          <a:xfrm>
            <a:off x="4745736" y="1856232"/>
            <a:ext cx="841248" cy="100584"/>
          </a:xfrm>
          <a:prstGeom prst="rect">
            <a:avLst/>
          </a:prstGeom>
          <a:noFill/>
          <a:ln/>
        </p:spPr>
        <p:txBody>
          <a:bodyPr wrap="square" lIns="0" tIns="0" rIns="0" bIns="0" rtlCol="0" anchor="ctr"/>
          <a:lstStyle/>
          <a:p>
            <a:pPr marL="0" indent="0" algn="ctr">
              <a:buNone/>
            </a:pPr>
            <a:r>
              <a:rPr lang="en-US" sz="850" b="1" kern="0" spc="120" dirty="0">
                <a:solidFill>
                  <a:srgbClr val="252B17"/>
                </a:solidFill>
                <a:latin typeface="Aptos" pitchFamily="34" charset="0"/>
                <a:ea typeface="Aptos" pitchFamily="34" charset="-122"/>
                <a:cs typeface="Aptos" pitchFamily="34" charset="-120"/>
              </a:rPr>
              <a:t>ROUTED</a:t>
            </a:r>
            <a:endParaRPr lang="en-US" sz="850" dirty="0"/>
          </a:p>
        </p:txBody>
      </p:sp>
      <p:sp>
        <p:nvSpPr>
          <p:cNvPr id="21" name="Text 19"/>
          <p:cNvSpPr/>
          <p:nvPr/>
        </p:nvSpPr>
        <p:spPr>
          <a:xfrm>
            <a:off x="4654296" y="2331720"/>
            <a:ext cx="2862072" cy="594360"/>
          </a:xfrm>
          <a:prstGeom prst="rect">
            <a:avLst/>
          </a:prstGeom>
          <a:noFill/>
          <a:ln/>
        </p:spPr>
        <p:txBody>
          <a:bodyPr wrap="square" lIns="0" tIns="0" rIns="0" bIns="0" rtlCol="0" anchor="ctr">
            <a:normAutofit/>
          </a:bodyPr>
          <a:lstStyle/>
          <a:p>
            <a:pPr marL="0" indent="0" algn="ctr">
              <a:buNone/>
            </a:pPr>
            <a:r>
              <a:rPr lang="en-US" sz="2100" b="1" dirty="0">
                <a:solidFill>
                  <a:srgbClr val="252B17"/>
                </a:solidFill>
                <a:latin typeface="Aptos Display" pitchFamily="34" charset="0"/>
                <a:ea typeface="Aptos Display" pitchFamily="34" charset="-122"/>
                <a:cs typeface="Aptos Display" pitchFamily="34" charset="-120"/>
              </a:rPr>
              <a:t>Managed model router</a:t>
            </a:r>
            <a:endParaRPr lang="en-US" sz="2100" dirty="0"/>
          </a:p>
        </p:txBody>
      </p:sp>
      <p:sp>
        <p:nvSpPr>
          <p:cNvPr id="22" name="Text 20"/>
          <p:cNvSpPr/>
          <p:nvPr/>
        </p:nvSpPr>
        <p:spPr>
          <a:xfrm>
            <a:off x="4672584" y="3246120"/>
            <a:ext cx="2825496" cy="1097280"/>
          </a:xfrm>
          <a:prstGeom prst="rect">
            <a:avLst/>
          </a:prstGeom>
          <a:noFill/>
          <a:ln/>
        </p:spPr>
        <p:txBody>
          <a:bodyPr wrap="square" lIns="0" tIns="0" rIns="0" bIns="0" rtlCol="0" anchor="ctr">
            <a:normAutofit/>
          </a:bodyPr>
          <a:lstStyle/>
          <a:p>
            <a:pPr marL="0" indent="0" algn="ctr">
              <a:buNone/>
            </a:pPr>
            <a:r>
              <a:rPr lang="en-US" sz="1420" dirty="0">
                <a:solidFill>
                  <a:srgbClr val="2A2C1D"/>
                </a:solidFill>
                <a:latin typeface="Aptos" pitchFamily="34" charset="0"/>
                <a:ea typeface="Aptos" pitchFamily="34" charset="-122"/>
                <a:cs typeface="Aptos" pitchFamily="34" charset="-120"/>
              </a:rPr>
              <a:t>Selects an eligible model at request time before generation</a:t>
            </a:r>
            <a:endParaRPr lang="en-US" sz="1420" dirty="0"/>
          </a:p>
        </p:txBody>
      </p:sp>
      <p:sp>
        <p:nvSpPr>
          <p:cNvPr id="23" name="Shape 21"/>
          <p:cNvSpPr/>
          <p:nvPr/>
        </p:nvSpPr>
        <p:spPr>
          <a:xfrm>
            <a:off x="8083296" y="1417320"/>
            <a:ext cx="3447288" cy="3566160"/>
          </a:xfrm>
          <a:prstGeom prst="roundRect">
            <a:avLst>
              <a:gd name="adj" fmla="val 2122"/>
            </a:avLst>
          </a:prstGeom>
          <a:solidFill>
            <a:srgbClr val="FFFFFF"/>
          </a:solidFill>
          <a:ln w="10160">
            <a:solidFill>
              <a:srgbClr val="F7EACA"/>
            </a:solidFill>
            <a:prstDash val="solid"/>
          </a:ln>
        </p:spPr>
        <p:txBody>
          <a:bodyPr/>
          <a:lstStyle/>
          <a:p>
            <a:endParaRPr lang="en-US"/>
          </a:p>
        </p:txBody>
      </p:sp>
      <p:sp>
        <p:nvSpPr>
          <p:cNvPr id="24" name="Shape 22"/>
          <p:cNvSpPr/>
          <p:nvPr/>
        </p:nvSpPr>
        <p:spPr>
          <a:xfrm>
            <a:off x="8375904" y="1737360"/>
            <a:ext cx="1024128" cy="347472"/>
          </a:xfrm>
          <a:prstGeom prst="roundRect">
            <a:avLst>
              <a:gd name="adj" fmla="val 21053"/>
            </a:avLst>
          </a:prstGeom>
          <a:solidFill>
            <a:srgbClr val="D8A846"/>
          </a:solidFill>
          <a:ln/>
        </p:spPr>
        <p:txBody>
          <a:bodyPr/>
          <a:lstStyle/>
          <a:p>
            <a:endParaRPr lang="en-US"/>
          </a:p>
        </p:txBody>
      </p:sp>
      <p:sp>
        <p:nvSpPr>
          <p:cNvPr id="25" name="Text 23"/>
          <p:cNvSpPr/>
          <p:nvPr/>
        </p:nvSpPr>
        <p:spPr>
          <a:xfrm>
            <a:off x="8467344" y="1856232"/>
            <a:ext cx="841248" cy="100584"/>
          </a:xfrm>
          <a:prstGeom prst="rect">
            <a:avLst/>
          </a:prstGeom>
          <a:noFill/>
          <a:ln/>
        </p:spPr>
        <p:txBody>
          <a:bodyPr wrap="square" lIns="0" tIns="0" rIns="0" bIns="0" rtlCol="0" anchor="ctr"/>
          <a:lstStyle/>
          <a:p>
            <a:pPr marL="0" indent="0" algn="ctr">
              <a:buNone/>
            </a:pPr>
            <a:r>
              <a:rPr lang="en-US" sz="850" b="1" kern="0" spc="120" dirty="0">
                <a:solidFill>
                  <a:srgbClr val="252B17"/>
                </a:solidFill>
                <a:latin typeface="Aptos" pitchFamily="34" charset="0"/>
                <a:ea typeface="Aptos" pitchFamily="34" charset="-122"/>
                <a:cs typeface="Aptos" pitchFamily="34" charset="-120"/>
              </a:rPr>
              <a:t>RETRIED</a:t>
            </a:r>
            <a:endParaRPr lang="en-US" sz="850" dirty="0"/>
          </a:p>
        </p:txBody>
      </p:sp>
      <p:sp>
        <p:nvSpPr>
          <p:cNvPr id="26" name="Text 24"/>
          <p:cNvSpPr/>
          <p:nvPr/>
        </p:nvSpPr>
        <p:spPr>
          <a:xfrm>
            <a:off x="8375904" y="2331720"/>
            <a:ext cx="2862072" cy="594360"/>
          </a:xfrm>
          <a:prstGeom prst="rect">
            <a:avLst/>
          </a:prstGeom>
          <a:noFill/>
          <a:ln/>
        </p:spPr>
        <p:txBody>
          <a:bodyPr wrap="square" lIns="0" tIns="0" rIns="0" bIns="0" rtlCol="0" anchor="ctr">
            <a:normAutofit/>
          </a:bodyPr>
          <a:lstStyle/>
          <a:p>
            <a:pPr marL="0" indent="0" algn="ctr">
              <a:buNone/>
            </a:pPr>
            <a:r>
              <a:rPr lang="en-US" sz="2100" b="1" dirty="0">
                <a:solidFill>
                  <a:srgbClr val="252B17"/>
                </a:solidFill>
                <a:latin typeface="Aptos Display" pitchFamily="34" charset="0"/>
                <a:ea typeface="Aptos Display" pitchFamily="34" charset="-122"/>
                <a:cs typeface="Aptos Display" pitchFamily="34" charset="-120"/>
              </a:rPr>
              <a:t>Application escalation</a:t>
            </a:r>
            <a:endParaRPr lang="en-US" sz="2100" dirty="0"/>
          </a:p>
        </p:txBody>
      </p:sp>
      <p:sp>
        <p:nvSpPr>
          <p:cNvPr id="27" name="Text 25"/>
          <p:cNvSpPr/>
          <p:nvPr/>
        </p:nvSpPr>
        <p:spPr>
          <a:xfrm>
            <a:off x="8394192" y="3246120"/>
            <a:ext cx="2825496" cy="1097280"/>
          </a:xfrm>
          <a:prstGeom prst="rect">
            <a:avLst/>
          </a:prstGeom>
          <a:noFill/>
          <a:ln/>
        </p:spPr>
        <p:txBody>
          <a:bodyPr wrap="square" lIns="0" tIns="0" rIns="0" bIns="0" rtlCol="0" anchor="ctr">
            <a:normAutofit/>
          </a:bodyPr>
          <a:lstStyle/>
          <a:p>
            <a:pPr marL="0" indent="0" algn="ctr">
              <a:buNone/>
            </a:pPr>
            <a:r>
              <a:rPr lang="en-US" sz="1420" dirty="0">
                <a:solidFill>
                  <a:srgbClr val="2A2C1D"/>
                </a:solidFill>
                <a:latin typeface="Aptos" pitchFamily="34" charset="0"/>
                <a:ea typeface="Aptos" pitchFamily="34" charset="-122"/>
                <a:cs typeface="Aptos" pitchFamily="34" charset="-120"/>
              </a:rPr>
              <a:t>Evaluates an outcome, then may retry through application logic</a:t>
            </a:r>
            <a:endParaRPr lang="en-US" sz="1420" dirty="0"/>
          </a:p>
        </p:txBody>
      </p:sp>
      <p:sp>
        <p:nvSpPr>
          <p:cNvPr id="28" name="Shape 26"/>
          <p:cNvSpPr/>
          <p:nvPr/>
        </p:nvSpPr>
        <p:spPr>
          <a:xfrm>
            <a:off x="1234440" y="5285232"/>
            <a:ext cx="9720072" cy="768096"/>
          </a:xfrm>
          <a:prstGeom prst="roundRect">
            <a:avLst>
              <a:gd name="adj" fmla="val 9524"/>
            </a:avLst>
          </a:prstGeom>
          <a:solidFill>
            <a:srgbClr val="252B17"/>
          </a:solidFill>
          <a:ln/>
        </p:spPr>
        <p:txBody>
          <a:bodyPr/>
          <a:lstStyle/>
          <a:p>
            <a:endParaRPr lang="en-US"/>
          </a:p>
        </p:txBody>
      </p:sp>
      <p:sp>
        <p:nvSpPr>
          <p:cNvPr id="29" name="Text 27"/>
          <p:cNvSpPr/>
          <p:nvPr/>
        </p:nvSpPr>
        <p:spPr>
          <a:xfrm>
            <a:off x="1554480" y="5522976"/>
            <a:ext cx="2057400" cy="201168"/>
          </a:xfrm>
          <a:prstGeom prst="rect">
            <a:avLst/>
          </a:prstGeom>
          <a:noFill/>
          <a:ln/>
        </p:spPr>
        <p:txBody>
          <a:bodyPr wrap="square" lIns="0" tIns="0" rIns="0" bIns="0" rtlCol="0" anchor="ctr"/>
          <a:lstStyle/>
          <a:p>
            <a:pPr marL="0" indent="0">
              <a:buNone/>
            </a:pPr>
            <a:r>
              <a:rPr lang="en-US" sz="1500" b="1" dirty="0">
                <a:solidFill>
                  <a:srgbClr val="D8A846"/>
                </a:solidFill>
                <a:latin typeface="Aptos" pitchFamily="34" charset="0"/>
                <a:ea typeface="Aptos" pitchFamily="34" charset="-122"/>
                <a:cs typeface="Aptos" pitchFamily="34" charset="-120"/>
              </a:rPr>
              <a:t>Adoption decision</a:t>
            </a:r>
            <a:endParaRPr lang="en-US" sz="1500" dirty="0"/>
          </a:p>
        </p:txBody>
      </p:sp>
      <p:sp>
        <p:nvSpPr>
          <p:cNvPr id="30" name="Text 28"/>
          <p:cNvSpPr/>
          <p:nvPr/>
        </p:nvSpPr>
        <p:spPr>
          <a:xfrm>
            <a:off x="3749040" y="5468112"/>
            <a:ext cx="6858000" cy="310896"/>
          </a:xfrm>
          <a:prstGeom prst="rect">
            <a:avLst/>
          </a:prstGeom>
          <a:noFill/>
          <a:ln/>
        </p:spPr>
        <p:txBody>
          <a:bodyPr wrap="square" lIns="0" tIns="0" rIns="0" bIns="0" rtlCol="0" anchor="ctr">
            <a:normAutofit/>
          </a:bodyPr>
          <a:lstStyle/>
          <a:p>
            <a:pPr marL="0" indent="0">
              <a:buNone/>
            </a:pPr>
            <a:r>
              <a:rPr lang="en-US" sz="1360" b="1" dirty="0">
                <a:solidFill>
                  <a:srgbClr val="FFFFFF"/>
                </a:solidFill>
                <a:latin typeface="Aptos" pitchFamily="34" charset="0"/>
                <a:ea typeface="Aptos" pitchFamily="34" charset="-122"/>
                <a:cs typeface="Aptos" pitchFamily="34" charset="-120"/>
              </a:rPr>
              <a:t>Compare representative quality, cost, latency, and policy evidence</a:t>
            </a:r>
            <a:endParaRPr lang="en-US" sz="1360" dirty="0"/>
          </a:p>
        </p:txBody>
      </p:sp>
      <p:sp>
        <p:nvSpPr>
          <p:cNvPr id="31" name="Text 29"/>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6D6A55"/>
                </a:solidFill>
                <a:latin typeface="Aptos" pitchFamily="34" charset="0"/>
                <a:ea typeface="Aptos" pitchFamily="34" charset="-122"/>
                <a:cs typeface="Aptos" pitchFamily="34" charset="-120"/>
              </a:rPr>
              <a:t>REFERENCE  learn.microsoft.com/azure/foundry/openai/concepts/model-router  ·  +2 more in notes</a:t>
            </a:r>
            <a:endParaRPr lang="en-US" sz="940" dirty="0"/>
          </a:p>
        </p:txBody>
      </p:sp>
      <p:sp>
        <p:nvSpPr>
          <p:cNvPr id="32" name="Shape 30"/>
          <p:cNvSpPr/>
          <p:nvPr/>
        </p:nvSpPr>
        <p:spPr>
          <a:xfrm>
            <a:off x="0" y="6793992"/>
            <a:ext cx="12191695" cy="64008"/>
          </a:xfrm>
          <a:prstGeom prst="rect">
            <a:avLst/>
          </a:prstGeom>
          <a:solidFill>
            <a:srgbClr val="D8A846"/>
          </a:solidFill>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CFAF2"/>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252B17"/>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4  /  WORKLOAD ECONOMICS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252B17"/>
                </a:solidFill>
                <a:latin typeface="Aptos Display" pitchFamily="34" charset="0"/>
                <a:ea typeface="Aptos Display" pitchFamily="34" charset="-122"/>
                <a:cs typeface="Aptos Display" pitchFamily="34" charset="-120"/>
              </a:rPr>
              <a:t>History determines portability</a:t>
            </a:r>
            <a:endParaRPr lang="en-US" sz="3100" dirty="0"/>
          </a:p>
        </p:txBody>
      </p:sp>
      <p:sp>
        <p:nvSpPr>
          <p:cNvPr id="5" name="Shape 3"/>
          <p:cNvSpPr/>
          <p:nvPr/>
        </p:nvSpPr>
        <p:spPr>
          <a:xfrm>
            <a:off x="10824301" y="825155"/>
            <a:ext cx="85588" cy="164592"/>
          </a:xfrm>
          <a:prstGeom prst="rect">
            <a:avLst/>
          </a:prstGeom>
          <a:solidFill>
            <a:srgbClr val="F7EACA"/>
          </a:solidFill>
          <a:ln/>
        </p:spPr>
        <p:txBody>
          <a:bodyPr/>
          <a:lstStyle/>
          <a:p>
            <a:endParaRPr lang="en-US"/>
          </a:p>
        </p:txBody>
      </p:sp>
      <p:sp>
        <p:nvSpPr>
          <p:cNvPr id="6" name="Shape 4"/>
          <p:cNvSpPr/>
          <p:nvPr/>
        </p:nvSpPr>
        <p:spPr>
          <a:xfrm>
            <a:off x="10969142" y="686897"/>
            <a:ext cx="85588" cy="302849"/>
          </a:xfrm>
          <a:prstGeom prst="rect">
            <a:avLst/>
          </a:prstGeom>
          <a:solidFill>
            <a:srgbClr val="F7EACA"/>
          </a:solidFill>
          <a:ln/>
        </p:spPr>
        <p:txBody>
          <a:bodyPr/>
          <a:lstStyle/>
          <a:p>
            <a:endParaRPr lang="en-US"/>
          </a:p>
        </p:txBody>
      </p:sp>
      <p:sp>
        <p:nvSpPr>
          <p:cNvPr id="7" name="Shape 5"/>
          <p:cNvSpPr/>
          <p:nvPr/>
        </p:nvSpPr>
        <p:spPr>
          <a:xfrm>
            <a:off x="11113983" y="528889"/>
            <a:ext cx="85588" cy="460858"/>
          </a:xfrm>
          <a:prstGeom prst="rect">
            <a:avLst/>
          </a:prstGeom>
          <a:solidFill>
            <a:srgbClr val="D8A846"/>
          </a:solidFill>
          <a:ln/>
        </p:spPr>
        <p:txBody>
          <a:bodyPr/>
          <a:lstStyle/>
          <a:p>
            <a:endParaRPr lang="en-US"/>
          </a:p>
        </p:txBody>
      </p:sp>
      <p:sp>
        <p:nvSpPr>
          <p:cNvPr id="8" name="Shape 6"/>
          <p:cNvSpPr/>
          <p:nvPr/>
        </p:nvSpPr>
        <p:spPr>
          <a:xfrm>
            <a:off x="11258824" y="397215"/>
            <a:ext cx="85588" cy="592531"/>
          </a:xfrm>
          <a:prstGeom prst="rect">
            <a:avLst/>
          </a:prstGeom>
          <a:solidFill>
            <a:srgbClr val="D8A846"/>
          </a:solidFill>
          <a:ln/>
        </p:spPr>
        <p:txBody>
          <a:bodyPr/>
          <a:lstStyle/>
          <a:p>
            <a:endParaRPr lang="en-US"/>
          </a:p>
        </p:txBody>
      </p:sp>
      <p:sp>
        <p:nvSpPr>
          <p:cNvPr id="9" name="Shape 7"/>
          <p:cNvSpPr/>
          <p:nvPr/>
        </p:nvSpPr>
        <p:spPr>
          <a:xfrm>
            <a:off x="10824301" y="489387"/>
            <a:ext cx="539862" cy="408188"/>
          </a:xfrm>
          <a:prstGeom prst="line">
            <a:avLst/>
          </a:prstGeom>
          <a:noFill/>
          <a:ln w="25400">
            <a:solidFill>
              <a:srgbClr val="252B17"/>
            </a:solidFill>
            <a:prstDash val="solid"/>
          </a:ln>
        </p:spPr>
        <p:txBody>
          <a:bodyPr/>
          <a:lstStyle/>
          <a:p>
            <a:endParaRPr lang="en-US"/>
          </a:p>
        </p:txBody>
      </p:sp>
      <p:sp>
        <p:nvSpPr>
          <p:cNvPr id="10" name="Shape 8"/>
          <p:cNvSpPr/>
          <p:nvPr/>
        </p:nvSpPr>
        <p:spPr>
          <a:xfrm>
            <a:off x="11612880" y="457200"/>
            <a:ext cx="329184" cy="329184"/>
          </a:xfrm>
          <a:prstGeom prst="ellipse">
            <a:avLst/>
          </a:prstGeom>
          <a:solidFill>
            <a:srgbClr val="D8A846"/>
          </a:solidFill>
          <a:ln/>
        </p:spPr>
        <p:txBody>
          <a:bodyPr/>
          <a:lstStyle/>
          <a:p>
            <a:endParaRPr lang="en-US"/>
          </a:p>
        </p:txBody>
      </p:sp>
      <p:sp>
        <p:nvSpPr>
          <p:cNvPr id="11" name="Text 9"/>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252B17"/>
                </a:solidFill>
                <a:latin typeface="Aptos" pitchFamily="34" charset="0"/>
                <a:ea typeface="Aptos" pitchFamily="34" charset="-122"/>
                <a:cs typeface="Aptos" pitchFamily="34" charset="-120"/>
              </a:rPr>
              <a:t>08</a:t>
            </a:r>
            <a:endParaRPr lang="en-US" sz="850" dirty="0"/>
          </a:p>
        </p:txBody>
      </p:sp>
      <p:sp>
        <p:nvSpPr>
          <p:cNvPr id="12" name="Shape 10"/>
          <p:cNvSpPr/>
          <p:nvPr/>
        </p:nvSpPr>
        <p:spPr>
          <a:xfrm>
            <a:off x="9829800" y="1005840"/>
            <a:ext cx="2148840" cy="2148840"/>
          </a:xfrm>
          <a:prstGeom prst="ellipse">
            <a:avLst/>
          </a:prstGeom>
          <a:solidFill>
            <a:srgbClr val="F7EACA"/>
          </a:solidFill>
          <a:ln/>
        </p:spPr>
        <p:txBody>
          <a:bodyPr/>
          <a:lstStyle/>
          <a:p>
            <a:endParaRPr lang="en-US"/>
          </a:p>
        </p:txBody>
      </p:sp>
      <p:sp>
        <p:nvSpPr>
          <p:cNvPr id="13" name="Text 11"/>
          <p:cNvSpPr/>
          <p:nvPr/>
        </p:nvSpPr>
        <p:spPr>
          <a:xfrm>
            <a:off x="1005840" y="1371600"/>
            <a:ext cx="1691640" cy="128016"/>
          </a:xfrm>
          <a:prstGeom prst="rect">
            <a:avLst/>
          </a:prstGeom>
          <a:noFill/>
          <a:ln/>
        </p:spPr>
        <p:txBody>
          <a:bodyPr wrap="square" lIns="0" tIns="0" rIns="0" bIns="0" rtlCol="0" anchor="ctr"/>
          <a:lstStyle/>
          <a:p>
            <a:pPr marL="0" indent="0" algn="ctr">
              <a:buNone/>
            </a:pPr>
            <a:r>
              <a:rPr lang="en-US" sz="880" b="1" kern="0" spc="100" dirty="0">
                <a:solidFill>
                  <a:srgbClr val="6D6A55"/>
                </a:solidFill>
                <a:latin typeface="Aptos" pitchFamily="34" charset="0"/>
                <a:ea typeface="Aptos" pitchFamily="34" charset="-122"/>
                <a:cs typeface="Aptos" pitchFamily="34" charset="-120"/>
              </a:rPr>
              <a:t>HISTORY MODEL</a:t>
            </a:r>
            <a:endParaRPr lang="en-US" sz="880" dirty="0"/>
          </a:p>
        </p:txBody>
      </p:sp>
      <p:sp>
        <p:nvSpPr>
          <p:cNvPr id="14" name="Text 12"/>
          <p:cNvSpPr/>
          <p:nvPr/>
        </p:nvSpPr>
        <p:spPr>
          <a:xfrm>
            <a:off x="3035808" y="1371600"/>
            <a:ext cx="3419856" cy="128016"/>
          </a:xfrm>
          <a:prstGeom prst="rect">
            <a:avLst/>
          </a:prstGeom>
          <a:noFill/>
          <a:ln/>
        </p:spPr>
        <p:txBody>
          <a:bodyPr wrap="square" lIns="0" tIns="0" rIns="0" bIns="0" rtlCol="0" anchor="ctr"/>
          <a:lstStyle/>
          <a:p>
            <a:pPr marL="0" indent="0" algn="ctr">
              <a:buNone/>
            </a:pPr>
            <a:r>
              <a:rPr lang="en-US" sz="880" b="1" kern="0" spc="100" dirty="0">
                <a:solidFill>
                  <a:srgbClr val="6D6A55"/>
                </a:solidFill>
                <a:latin typeface="Aptos" pitchFamily="34" charset="0"/>
                <a:ea typeface="Aptos" pitchFamily="34" charset="-122"/>
                <a:cs typeface="Aptos" pitchFamily="34" charset="-120"/>
              </a:rPr>
              <a:t>CALLER HAS</a:t>
            </a:r>
            <a:endParaRPr lang="en-US" sz="880" dirty="0"/>
          </a:p>
        </p:txBody>
      </p:sp>
      <p:sp>
        <p:nvSpPr>
          <p:cNvPr id="15" name="Text 13"/>
          <p:cNvSpPr/>
          <p:nvPr/>
        </p:nvSpPr>
        <p:spPr>
          <a:xfrm>
            <a:off x="7278624" y="1371600"/>
            <a:ext cx="3931920" cy="128016"/>
          </a:xfrm>
          <a:prstGeom prst="rect">
            <a:avLst/>
          </a:prstGeom>
          <a:noFill/>
          <a:ln/>
        </p:spPr>
        <p:txBody>
          <a:bodyPr wrap="square" lIns="0" tIns="0" rIns="0" bIns="0" rtlCol="0" anchor="ctr"/>
          <a:lstStyle/>
          <a:p>
            <a:pPr marL="0" indent="0" algn="ctr">
              <a:buNone/>
            </a:pPr>
            <a:r>
              <a:rPr lang="en-US" sz="880" b="1" kern="0" spc="100" dirty="0">
                <a:solidFill>
                  <a:srgbClr val="6D6A55"/>
                </a:solidFill>
                <a:latin typeface="Aptos" pitchFamily="34" charset="0"/>
                <a:ea typeface="Aptos" pitchFamily="34" charset="-122"/>
                <a:cs typeface="Aptos" pitchFamily="34" charset="-120"/>
              </a:rPr>
              <a:t>ROUTING CONSEQUENCE</a:t>
            </a:r>
            <a:endParaRPr lang="en-US" sz="880" dirty="0"/>
          </a:p>
        </p:txBody>
      </p:sp>
      <p:sp>
        <p:nvSpPr>
          <p:cNvPr id="16" name="Shape 14"/>
          <p:cNvSpPr/>
          <p:nvPr/>
        </p:nvSpPr>
        <p:spPr>
          <a:xfrm>
            <a:off x="640080" y="1600200"/>
            <a:ext cx="10908792" cy="1170432"/>
          </a:xfrm>
          <a:prstGeom prst="roundRect">
            <a:avLst>
              <a:gd name="adj" fmla="val 6250"/>
            </a:avLst>
          </a:prstGeom>
          <a:solidFill>
            <a:srgbClr val="E8F4D7"/>
          </a:solidFill>
          <a:ln w="10160">
            <a:solidFill>
              <a:srgbClr val="72B01D"/>
            </a:solidFill>
            <a:prstDash val="solid"/>
          </a:ln>
        </p:spPr>
        <p:txBody>
          <a:bodyPr/>
          <a:lstStyle/>
          <a:p>
            <a:endParaRPr lang="en-US"/>
          </a:p>
        </p:txBody>
      </p:sp>
      <p:sp>
        <p:nvSpPr>
          <p:cNvPr id="17" name="Shape 15"/>
          <p:cNvSpPr/>
          <p:nvPr/>
        </p:nvSpPr>
        <p:spPr>
          <a:xfrm>
            <a:off x="877824" y="1837944"/>
            <a:ext cx="1874520" cy="694944"/>
          </a:xfrm>
          <a:prstGeom prst="roundRect">
            <a:avLst>
              <a:gd name="adj" fmla="val 10526"/>
            </a:avLst>
          </a:prstGeom>
          <a:solidFill>
            <a:srgbClr val="72B01D"/>
          </a:solidFill>
          <a:ln/>
        </p:spPr>
        <p:txBody>
          <a:bodyPr/>
          <a:lstStyle/>
          <a:p>
            <a:endParaRPr lang="en-US"/>
          </a:p>
        </p:txBody>
      </p:sp>
      <p:sp>
        <p:nvSpPr>
          <p:cNvPr id="18" name="Text 16"/>
          <p:cNvSpPr/>
          <p:nvPr/>
        </p:nvSpPr>
        <p:spPr>
          <a:xfrm>
            <a:off x="1042416" y="2039112"/>
            <a:ext cx="1545336" cy="237744"/>
          </a:xfrm>
          <a:prstGeom prst="rect">
            <a:avLst/>
          </a:prstGeom>
          <a:noFill/>
          <a:ln/>
        </p:spPr>
        <p:txBody>
          <a:bodyPr wrap="square" lIns="0" tIns="0" rIns="0" bIns="0" rtlCol="0" anchor="ctr">
            <a:normAutofit/>
          </a:bodyPr>
          <a:lstStyle/>
          <a:p>
            <a:pPr marL="0" indent="0" algn="ctr">
              <a:buNone/>
            </a:pPr>
            <a:r>
              <a:rPr lang="en-US" sz="1350" b="1" dirty="0">
                <a:solidFill>
                  <a:srgbClr val="252B17"/>
                </a:solidFill>
                <a:latin typeface="Aptos" pitchFamily="34" charset="0"/>
                <a:ea typeface="Aptos" pitchFamily="34" charset="-122"/>
                <a:cs typeface="Aptos" pitchFamily="34" charset="-120"/>
              </a:rPr>
              <a:t>Caller-managed</a:t>
            </a:r>
            <a:endParaRPr lang="en-US" sz="1350" dirty="0"/>
          </a:p>
        </p:txBody>
      </p:sp>
      <p:sp>
        <p:nvSpPr>
          <p:cNvPr id="19" name="Text 17"/>
          <p:cNvSpPr/>
          <p:nvPr/>
        </p:nvSpPr>
        <p:spPr>
          <a:xfrm>
            <a:off x="3035808" y="1837944"/>
            <a:ext cx="3419856" cy="694944"/>
          </a:xfrm>
          <a:prstGeom prst="rect">
            <a:avLst/>
          </a:prstGeom>
          <a:noFill/>
          <a:ln/>
        </p:spPr>
        <p:txBody>
          <a:bodyPr wrap="square" lIns="0" tIns="0" rIns="0" bIns="0" rtlCol="0" anchor="ctr">
            <a:normAutofit/>
          </a:bodyPr>
          <a:lstStyle/>
          <a:p>
            <a:pPr marL="0" indent="0">
              <a:buNone/>
            </a:pPr>
            <a:r>
              <a:rPr lang="en-US" sz="1420" dirty="0">
                <a:solidFill>
                  <a:srgbClr val="2A2C1D"/>
                </a:solidFill>
                <a:latin typeface="Aptos" pitchFamily="34" charset="0"/>
                <a:ea typeface="Aptos" pitchFamily="34" charset="-122"/>
                <a:cs typeface="Aptos" pitchFamily="34" charset="-120"/>
              </a:rPr>
              <a:t>Relevant messages in application-controlled storage</a:t>
            </a:r>
            <a:endParaRPr lang="en-US" sz="1420" dirty="0"/>
          </a:p>
        </p:txBody>
      </p:sp>
      <p:sp>
        <p:nvSpPr>
          <p:cNvPr id="20" name="Text 18"/>
          <p:cNvSpPr/>
          <p:nvPr/>
        </p:nvSpPr>
        <p:spPr>
          <a:xfrm>
            <a:off x="6583680" y="2039112"/>
            <a:ext cx="457200" cy="219456"/>
          </a:xfrm>
          <a:prstGeom prst="rect">
            <a:avLst/>
          </a:prstGeom>
          <a:noFill/>
          <a:ln/>
        </p:spPr>
        <p:txBody>
          <a:bodyPr wrap="square" lIns="0" tIns="0" rIns="0" bIns="0" rtlCol="0" anchor="ctr"/>
          <a:lstStyle/>
          <a:p>
            <a:pPr marL="0" indent="0" algn="ctr">
              <a:buNone/>
            </a:pPr>
            <a:r>
              <a:rPr lang="en-US" sz="2000" b="1" dirty="0">
                <a:solidFill>
                  <a:srgbClr val="D8A846"/>
                </a:solidFill>
                <a:latin typeface="Aptos" pitchFamily="34" charset="0"/>
                <a:ea typeface="Aptos" pitchFamily="34" charset="-122"/>
                <a:cs typeface="Aptos" pitchFamily="34" charset="-120"/>
              </a:rPr>
              <a:t>→</a:t>
            </a:r>
            <a:endParaRPr lang="en-US" sz="2000" dirty="0"/>
          </a:p>
        </p:txBody>
      </p:sp>
      <p:sp>
        <p:nvSpPr>
          <p:cNvPr id="21" name="Text 19"/>
          <p:cNvSpPr/>
          <p:nvPr/>
        </p:nvSpPr>
        <p:spPr>
          <a:xfrm>
            <a:off x="7278624" y="1837944"/>
            <a:ext cx="3931920" cy="694944"/>
          </a:xfrm>
          <a:prstGeom prst="rect">
            <a:avLst/>
          </a:prstGeom>
          <a:noFill/>
          <a:ln/>
        </p:spPr>
        <p:txBody>
          <a:bodyPr wrap="square" lIns="0" tIns="0" rIns="0" bIns="0" rtlCol="0" anchor="ctr">
            <a:normAutofit/>
          </a:bodyPr>
          <a:lstStyle/>
          <a:p>
            <a:pPr marL="0" indent="0">
              <a:buNone/>
            </a:pPr>
            <a:r>
              <a:rPr lang="en-US" sz="1420" b="1" dirty="0">
                <a:solidFill>
                  <a:srgbClr val="252B17"/>
                </a:solidFill>
                <a:latin typeface="Aptos" pitchFamily="34" charset="0"/>
                <a:ea typeface="Aptos" pitchFamily="34" charset="-122"/>
                <a:cs typeface="Aptos" pitchFamily="34" charset="-120"/>
              </a:rPr>
              <a:t>Can replay them to a compatible destination</a:t>
            </a:r>
            <a:endParaRPr lang="en-US" sz="1420" dirty="0"/>
          </a:p>
        </p:txBody>
      </p:sp>
      <p:sp>
        <p:nvSpPr>
          <p:cNvPr id="22" name="Shape 20"/>
          <p:cNvSpPr/>
          <p:nvPr/>
        </p:nvSpPr>
        <p:spPr>
          <a:xfrm>
            <a:off x="640080" y="3044952"/>
            <a:ext cx="10908792" cy="1170432"/>
          </a:xfrm>
          <a:prstGeom prst="roundRect">
            <a:avLst>
              <a:gd name="adj" fmla="val 6250"/>
            </a:avLst>
          </a:prstGeom>
          <a:solidFill>
            <a:srgbClr val="FFFFFF"/>
          </a:solidFill>
          <a:ln w="10160">
            <a:solidFill>
              <a:srgbClr val="F7EACA"/>
            </a:solidFill>
            <a:prstDash val="solid"/>
          </a:ln>
        </p:spPr>
        <p:txBody>
          <a:bodyPr/>
          <a:lstStyle/>
          <a:p>
            <a:endParaRPr lang="en-US"/>
          </a:p>
        </p:txBody>
      </p:sp>
      <p:sp>
        <p:nvSpPr>
          <p:cNvPr id="23" name="Shape 21"/>
          <p:cNvSpPr/>
          <p:nvPr/>
        </p:nvSpPr>
        <p:spPr>
          <a:xfrm>
            <a:off x="877824" y="3282696"/>
            <a:ext cx="1874520" cy="694944"/>
          </a:xfrm>
          <a:prstGeom prst="roundRect">
            <a:avLst>
              <a:gd name="adj" fmla="val 10526"/>
            </a:avLst>
          </a:prstGeom>
          <a:solidFill>
            <a:srgbClr val="252B17"/>
          </a:solidFill>
          <a:ln/>
        </p:spPr>
        <p:txBody>
          <a:bodyPr/>
          <a:lstStyle/>
          <a:p>
            <a:endParaRPr lang="en-US"/>
          </a:p>
        </p:txBody>
      </p:sp>
      <p:sp>
        <p:nvSpPr>
          <p:cNvPr id="24" name="Text 22"/>
          <p:cNvSpPr/>
          <p:nvPr/>
        </p:nvSpPr>
        <p:spPr>
          <a:xfrm>
            <a:off x="1042416" y="3483864"/>
            <a:ext cx="1545336" cy="237744"/>
          </a:xfrm>
          <a:prstGeom prst="rect">
            <a:avLst/>
          </a:prstGeom>
          <a:noFill/>
          <a:ln/>
        </p:spPr>
        <p:txBody>
          <a:bodyPr wrap="square" lIns="0" tIns="0" rIns="0" bIns="0" rtlCol="0" anchor="ctr">
            <a:normAutofit/>
          </a:bodyPr>
          <a:lstStyle/>
          <a:p>
            <a:pPr marL="0" indent="0" algn="ctr">
              <a:buNone/>
            </a:pPr>
            <a:r>
              <a:rPr lang="en-US" sz="1350" b="1" dirty="0">
                <a:solidFill>
                  <a:srgbClr val="FFFFFF"/>
                </a:solidFill>
                <a:latin typeface="Aptos" pitchFamily="34" charset="0"/>
                <a:ea typeface="Aptos" pitchFamily="34" charset="-122"/>
                <a:cs typeface="Aptos" pitchFamily="34" charset="-120"/>
              </a:rPr>
              <a:t>Service-managed</a:t>
            </a:r>
            <a:endParaRPr lang="en-US" sz="1350" dirty="0"/>
          </a:p>
        </p:txBody>
      </p:sp>
      <p:sp>
        <p:nvSpPr>
          <p:cNvPr id="25" name="Text 23"/>
          <p:cNvSpPr/>
          <p:nvPr/>
        </p:nvSpPr>
        <p:spPr>
          <a:xfrm>
            <a:off x="3035808" y="3282696"/>
            <a:ext cx="3419856" cy="694944"/>
          </a:xfrm>
          <a:prstGeom prst="rect">
            <a:avLst/>
          </a:prstGeom>
          <a:noFill/>
          <a:ln/>
        </p:spPr>
        <p:txBody>
          <a:bodyPr wrap="square" lIns="0" tIns="0" rIns="0" bIns="0" rtlCol="0" anchor="ctr">
            <a:normAutofit/>
          </a:bodyPr>
          <a:lstStyle/>
          <a:p>
            <a:pPr marL="0" indent="0">
              <a:buNone/>
            </a:pPr>
            <a:r>
              <a:rPr lang="en-US" sz="1420" dirty="0">
                <a:solidFill>
                  <a:srgbClr val="2A2C1D"/>
                </a:solidFill>
                <a:latin typeface="Aptos" pitchFamily="34" charset="0"/>
                <a:ea typeface="Aptos" pitchFamily="34" charset="-122"/>
                <a:cs typeface="Aptos" pitchFamily="34" charset="-120"/>
              </a:rPr>
              <a:t>A service-specific conversation or response ID</a:t>
            </a:r>
            <a:endParaRPr lang="en-US" sz="1420" dirty="0"/>
          </a:p>
        </p:txBody>
      </p:sp>
      <p:sp>
        <p:nvSpPr>
          <p:cNvPr id="26" name="Text 24"/>
          <p:cNvSpPr/>
          <p:nvPr/>
        </p:nvSpPr>
        <p:spPr>
          <a:xfrm>
            <a:off x="6583680" y="3483864"/>
            <a:ext cx="457200" cy="219456"/>
          </a:xfrm>
          <a:prstGeom prst="rect">
            <a:avLst/>
          </a:prstGeom>
          <a:noFill/>
          <a:ln/>
        </p:spPr>
        <p:txBody>
          <a:bodyPr wrap="square" lIns="0" tIns="0" rIns="0" bIns="0" rtlCol="0" anchor="ctr"/>
          <a:lstStyle/>
          <a:p>
            <a:pPr marL="0" indent="0" algn="ctr">
              <a:buNone/>
            </a:pPr>
            <a:r>
              <a:rPr lang="en-US" sz="2000" b="1" dirty="0">
                <a:solidFill>
                  <a:srgbClr val="D8A846"/>
                </a:solidFill>
                <a:latin typeface="Aptos" pitchFamily="34" charset="0"/>
                <a:ea typeface="Aptos" pitchFamily="34" charset="-122"/>
                <a:cs typeface="Aptos" pitchFamily="34" charset="-120"/>
              </a:rPr>
              <a:t>→</a:t>
            </a:r>
            <a:endParaRPr lang="en-US" sz="2000" dirty="0"/>
          </a:p>
        </p:txBody>
      </p:sp>
      <p:sp>
        <p:nvSpPr>
          <p:cNvPr id="27" name="Text 25"/>
          <p:cNvSpPr/>
          <p:nvPr/>
        </p:nvSpPr>
        <p:spPr>
          <a:xfrm>
            <a:off x="7278624" y="3282696"/>
            <a:ext cx="3931920" cy="694944"/>
          </a:xfrm>
          <a:prstGeom prst="rect">
            <a:avLst/>
          </a:prstGeom>
          <a:noFill/>
          <a:ln/>
        </p:spPr>
        <p:txBody>
          <a:bodyPr wrap="square" lIns="0" tIns="0" rIns="0" bIns="0" rtlCol="0" anchor="ctr">
            <a:normAutofit/>
          </a:bodyPr>
          <a:lstStyle/>
          <a:p>
            <a:pPr marL="0" indent="0">
              <a:buNone/>
            </a:pPr>
            <a:r>
              <a:rPr lang="en-US" sz="1420" b="1" dirty="0">
                <a:solidFill>
                  <a:srgbClr val="252B17"/>
                </a:solidFill>
                <a:latin typeface="Aptos" pitchFamily="34" charset="0"/>
                <a:ea typeface="Aptos" pitchFamily="34" charset="-122"/>
                <a:cs typeface="Aptos" pitchFamily="34" charset="-120"/>
              </a:rPr>
              <a:t>ID does not carry history to another service</a:t>
            </a:r>
            <a:endParaRPr lang="en-US" sz="1420" dirty="0"/>
          </a:p>
        </p:txBody>
      </p:sp>
      <p:sp>
        <p:nvSpPr>
          <p:cNvPr id="28" name="Shape 26"/>
          <p:cNvSpPr/>
          <p:nvPr/>
        </p:nvSpPr>
        <p:spPr>
          <a:xfrm>
            <a:off x="640080" y="4489704"/>
            <a:ext cx="10908792" cy="1170432"/>
          </a:xfrm>
          <a:prstGeom prst="roundRect">
            <a:avLst>
              <a:gd name="adj" fmla="val 6250"/>
            </a:avLst>
          </a:prstGeom>
          <a:solidFill>
            <a:srgbClr val="F7EACA"/>
          </a:solidFill>
          <a:ln w="10160">
            <a:solidFill>
              <a:srgbClr val="F7EACA"/>
            </a:solidFill>
            <a:prstDash val="solid"/>
          </a:ln>
        </p:spPr>
        <p:txBody>
          <a:bodyPr/>
          <a:lstStyle/>
          <a:p>
            <a:endParaRPr lang="en-US"/>
          </a:p>
        </p:txBody>
      </p:sp>
      <p:sp>
        <p:nvSpPr>
          <p:cNvPr id="29" name="Shape 27"/>
          <p:cNvSpPr/>
          <p:nvPr/>
        </p:nvSpPr>
        <p:spPr>
          <a:xfrm>
            <a:off x="877824" y="4727448"/>
            <a:ext cx="1874520" cy="694944"/>
          </a:xfrm>
          <a:prstGeom prst="roundRect">
            <a:avLst>
              <a:gd name="adj" fmla="val 10526"/>
            </a:avLst>
          </a:prstGeom>
          <a:solidFill>
            <a:srgbClr val="252B17"/>
          </a:solidFill>
          <a:ln/>
        </p:spPr>
        <p:txBody>
          <a:bodyPr/>
          <a:lstStyle/>
          <a:p>
            <a:endParaRPr lang="en-US"/>
          </a:p>
        </p:txBody>
      </p:sp>
      <p:sp>
        <p:nvSpPr>
          <p:cNvPr id="30" name="Text 28"/>
          <p:cNvSpPr/>
          <p:nvPr/>
        </p:nvSpPr>
        <p:spPr>
          <a:xfrm>
            <a:off x="1042416" y="4928616"/>
            <a:ext cx="1545336" cy="237744"/>
          </a:xfrm>
          <a:prstGeom prst="rect">
            <a:avLst/>
          </a:prstGeom>
          <a:noFill/>
          <a:ln/>
        </p:spPr>
        <p:txBody>
          <a:bodyPr wrap="square" lIns="0" tIns="0" rIns="0" bIns="0" rtlCol="0" anchor="ctr">
            <a:normAutofit/>
          </a:bodyPr>
          <a:lstStyle/>
          <a:p>
            <a:pPr marL="0" indent="0" algn="ctr">
              <a:buNone/>
            </a:pPr>
            <a:r>
              <a:rPr lang="en-US" sz="1350" b="1" dirty="0">
                <a:solidFill>
                  <a:srgbClr val="FFFFFF"/>
                </a:solidFill>
                <a:latin typeface="Aptos" pitchFamily="34" charset="0"/>
                <a:ea typeface="Aptos" pitchFamily="34" charset="-122"/>
                <a:cs typeface="Aptos" pitchFamily="34" charset="-120"/>
              </a:rPr>
              <a:t>MAF routing helper</a:t>
            </a:r>
            <a:endParaRPr lang="en-US" sz="1350" dirty="0"/>
          </a:p>
        </p:txBody>
      </p:sp>
      <p:sp>
        <p:nvSpPr>
          <p:cNvPr id="31" name="Text 29"/>
          <p:cNvSpPr/>
          <p:nvPr/>
        </p:nvSpPr>
        <p:spPr>
          <a:xfrm>
            <a:off x="3035808" y="4727448"/>
            <a:ext cx="3419856" cy="694944"/>
          </a:xfrm>
          <a:prstGeom prst="rect">
            <a:avLst/>
          </a:prstGeom>
          <a:noFill/>
          <a:ln/>
        </p:spPr>
        <p:txBody>
          <a:bodyPr wrap="square" lIns="0" tIns="0" rIns="0" bIns="0" rtlCol="0" anchor="ctr">
            <a:normAutofit/>
          </a:bodyPr>
          <a:lstStyle/>
          <a:p>
            <a:pPr marL="0" indent="0">
              <a:buNone/>
            </a:pPr>
            <a:r>
              <a:rPr lang="en-US" sz="1420" dirty="0">
                <a:solidFill>
                  <a:srgbClr val="2A2C1D"/>
                </a:solidFill>
                <a:latin typeface="Aptos" pitchFamily="34" charset="0"/>
                <a:ea typeface="Aptos" pitchFamily="34" charset="-122"/>
                <a:cs typeface="Aptos" pitchFamily="34" charset="-120"/>
              </a:rPr>
              <a:t>Experimental .NET routing client</a:t>
            </a:r>
            <a:endParaRPr lang="en-US" sz="1420" dirty="0"/>
          </a:p>
        </p:txBody>
      </p:sp>
      <p:sp>
        <p:nvSpPr>
          <p:cNvPr id="32" name="Text 30"/>
          <p:cNvSpPr/>
          <p:nvPr/>
        </p:nvSpPr>
        <p:spPr>
          <a:xfrm>
            <a:off x="6583680" y="4928616"/>
            <a:ext cx="457200" cy="219456"/>
          </a:xfrm>
          <a:prstGeom prst="rect">
            <a:avLst/>
          </a:prstGeom>
          <a:noFill/>
          <a:ln/>
        </p:spPr>
        <p:txBody>
          <a:bodyPr wrap="square" lIns="0" tIns="0" rIns="0" bIns="0" rtlCol="0" anchor="ctr"/>
          <a:lstStyle/>
          <a:p>
            <a:pPr marL="0" indent="0" algn="ctr">
              <a:buNone/>
            </a:pPr>
            <a:r>
              <a:rPr lang="en-US" sz="2000" b="1" dirty="0">
                <a:solidFill>
                  <a:srgbClr val="D8A846"/>
                </a:solidFill>
                <a:latin typeface="Aptos" pitchFamily="34" charset="0"/>
                <a:ea typeface="Aptos" pitchFamily="34" charset="-122"/>
                <a:cs typeface="Aptos" pitchFamily="34" charset="-120"/>
              </a:rPr>
              <a:t>→</a:t>
            </a:r>
            <a:endParaRPr lang="en-US" sz="2000" dirty="0"/>
          </a:p>
        </p:txBody>
      </p:sp>
      <p:sp>
        <p:nvSpPr>
          <p:cNvPr id="33" name="Text 31"/>
          <p:cNvSpPr/>
          <p:nvPr/>
        </p:nvSpPr>
        <p:spPr>
          <a:xfrm>
            <a:off x="7278624" y="4727448"/>
            <a:ext cx="3931920" cy="694944"/>
          </a:xfrm>
          <a:prstGeom prst="rect">
            <a:avLst/>
          </a:prstGeom>
          <a:noFill/>
          <a:ln/>
        </p:spPr>
        <p:txBody>
          <a:bodyPr wrap="square" lIns="0" tIns="0" rIns="0" bIns="0" rtlCol="0" anchor="ctr">
            <a:normAutofit/>
          </a:bodyPr>
          <a:lstStyle/>
          <a:p>
            <a:pPr marL="0" indent="0">
              <a:buNone/>
            </a:pPr>
            <a:r>
              <a:rPr lang="en-US" sz="1420" b="1" dirty="0">
                <a:solidFill>
                  <a:srgbClr val="252B17"/>
                </a:solidFill>
                <a:latin typeface="Aptos" pitchFamily="34" charset="0"/>
                <a:ea typeface="Aptos" pitchFamily="34" charset="-122"/>
                <a:cs typeface="Aptos" pitchFamily="34" charset="-120"/>
              </a:rPr>
              <a:t>Python support is currently unavailable</a:t>
            </a:r>
            <a:endParaRPr lang="en-US" sz="1420" dirty="0"/>
          </a:p>
        </p:txBody>
      </p:sp>
      <p:sp>
        <p:nvSpPr>
          <p:cNvPr id="34" name="Text 32"/>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6D6A55"/>
                </a:solidFill>
                <a:latin typeface="Aptos" pitchFamily="34" charset="0"/>
                <a:ea typeface="Aptos" pitchFamily="34" charset="-122"/>
                <a:cs typeface="Aptos" pitchFamily="34" charset="-120"/>
              </a:rPr>
              <a:t>REFERENCE  learn.microsoft.com/agent-framework/concepts/agents/runtime-model-routing  ·  +1 more in notes</a:t>
            </a:r>
            <a:endParaRPr lang="en-US" sz="940" dirty="0"/>
          </a:p>
        </p:txBody>
      </p:sp>
      <p:sp>
        <p:nvSpPr>
          <p:cNvPr id="35" name="Shape 33"/>
          <p:cNvSpPr/>
          <p:nvPr/>
        </p:nvSpPr>
        <p:spPr>
          <a:xfrm>
            <a:off x="0" y="6793992"/>
            <a:ext cx="12191695" cy="64008"/>
          </a:xfrm>
          <a:prstGeom prst="rect">
            <a:avLst/>
          </a:prstGeom>
          <a:solidFill>
            <a:srgbClr val="D8A846"/>
          </a:solidFill>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CFAF2"/>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252B17"/>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4  /  WORKLOAD ECONOMICS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252B17"/>
                </a:solidFill>
                <a:latin typeface="Aptos Display" pitchFamily="34" charset="0"/>
                <a:ea typeface="Aptos Display" pitchFamily="34" charset="-122"/>
                <a:cs typeface="Aptos Display" pitchFamily="34" charset="-120"/>
              </a:rPr>
              <a:t>Batch is a separate lane</a:t>
            </a:r>
            <a:endParaRPr lang="en-US" sz="3100" dirty="0"/>
          </a:p>
        </p:txBody>
      </p:sp>
      <p:sp>
        <p:nvSpPr>
          <p:cNvPr id="5" name="Shape 3"/>
          <p:cNvSpPr/>
          <p:nvPr/>
        </p:nvSpPr>
        <p:spPr>
          <a:xfrm>
            <a:off x="10824301" y="825155"/>
            <a:ext cx="85588" cy="164592"/>
          </a:xfrm>
          <a:prstGeom prst="rect">
            <a:avLst/>
          </a:prstGeom>
          <a:solidFill>
            <a:srgbClr val="F7EACA"/>
          </a:solidFill>
          <a:ln/>
        </p:spPr>
        <p:txBody>
          <a:bodyPr/>
          <a:lstStyle/>
          <a:p>
            <a:endParaRPr lang="en-US"/>
          </a:p>
        </p:txBody>
      </p:sp>
      <p:sp>
        <p:nvSpPr>
          <p:cNvPr id="6" name="Shape 4"/>
          <p:cNvSpPr/>
          <p:nvPr/>
        </p:nvSpPr>
        <p:spPr>
          <a:xfrm>
            <a:off x="10969142" y="686897"/>
            <a:ext cx="85588" cy="302849"/>
          </a:xfrm>
          <a:prstGeom prst="rect">
            <a:avLst/>
          </a:prstGeom>
          <a:solidFill>
            <a:srgbClr val="F7EACA"/>
          </a:solidFill>
          <a:ln/>
        </p:spPr>
        <p:txBody>
          <a:bodyPr/>
          <a:lstStyle/>
          <a:p>
            <a:endParaRPr lang="en-US"/>
          </a:p>
        </p:txBody>
      </p:sp>
      <p:sp>
        <p:nvSpPr>
          <p:cNvPr id="7" name="Shape 5"/>
          <p:cNvSpPr/>
          <p:nvPr/>
        </p:nvSpPr>
        <p:spPr>
          <a:xfrm>
            <a:off x="11113983" y="528889"/>
            <a:ext cx="85588" cy="460858"/>
          </a:xfrm>
          <a:prstGeom prst="rect">
            <a:avLst/>
          </a:prstGeom>
          <a:solidFill>
            <a:srgbClr val="D8A846"/>
          </a:solidFill>
          <a:ln/>
        </p:spPr>
        <p:txBody>
          <a:bodyPr/>
          <a:lstStyle/>
          <a:p>
            <a:endParaRPr lang="en-US"/>
          </a:p>
        </p:txBody>
      </p:sp>
      <p:sp>
        <p:nvSpPr>
          <p:cNvPr id="8" name="Shape 6"/>
          <p:cNvSpPr/>
          <p:nvPr/>
        </p:nvSpPr>
        <p:spPr>
          <a:xfrm>
            <a:off x="11258824" y="397215"/>
            <a:ext cx="85588" cy="592531"/>
          </a:xfrm>
          <a:prstGeom prst="rect">
            <a:avLst/>
          </a:prstGeom>
          <a:solidFill>
            <a:srgbClr val="D8A846"/>
          </a:solidFill>
          <a:ln/>
        </p:spPr>
        <p:txBody>
          <a:bodyPr/>
          <a:lstStyle/>
          <a:p>
            <a:endParaRPr lang="en-US"/>
          </a:p>
        </p:txBody>
      </p:sp>
      <p:sp>
        <p:nvSpPr>
          <p:cNvPr id="9" name="Shape 7"/>
          <p:cNvSpPr/>
          <p:nvPr/>
        </p:nvSpPr>
        <p:spPr>
          <a:xfrm>
            <a:off x="10824301" y="489387"/>
            <a:ext cx="539862" cy="408188"/>
          </a:xfrm>
          <a:prstGeom prst="line">
            <a:avLst/>
          </a:prstGeom>
          <a:noFill/>
          <a:ln w="25400">
            <a:solidFill>
              <a:srgbClr val="252B17"/>
            </a:solidFill>
            <a:prstDash val="solid"/>
          </a:ln>
        </p:spPr>
        <p:txBody>
          <a:bodyPr/>
          <a:lstStyle/>
          <a:p>
            <a:endParaRPr lang="en-US"/>
          </a:p>
        </p:txBody>
      </p:sp>
      <p:sp>
        <p:nvSpPr>
          <p:cNvPr id="10" name="Shape 8"/>
          <p:cNvSpPr/>
          <p:nvPr/>
        </p:nvSpPr>
        <p:spPr>
          <a:xfrm>
            <a:off x="11612880" y="457200"/>
            <a:ext cx="329184" cy="329184"/>
          </a:xfrm>
          <a:prstGeom prst="ellipse">
            <a:avLst/>
          </a:prstGeom>
          <a:solidFill>
            <a:srgbClr val="D8A846"/>
          </a:solidFill>
          <a:ln/>
        </p:spPr>
        <p:txBody>
          <a:bodyPr/>
          <a:lstStyle/>
          <a:p>
            <a:endParaRPr lang="en-US"/>
          </a:p>
        </p:txBody>
      </p:sp>
      <p:sp>
        <p:nvSpPr>
          <p:cNvPr id="11" name="Text 9"/>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252B17"/>
                </a:solidFill>
                <a:latin typeface="Aptos" pitchFamily="34" charset="0"/>
                <a:ea typeface="Aptos" pitchFamily="34" charset="-122"/>
                <a:cs typeface="Aptos" pitchFamily="34" charset="-120"/>
              </a:rPr>
              <a:t>09</a:t>
            </a:r>
            <a:endParaRPr lang="en-US" sz="850" dirty="0"/>
          </a:p>
        </p:txBody>
      </p:sp>
      <p:sp>
        <p:nvSpPr>
          <p:cNvPr id="12" name="Shape 10"/>
          <p:cNvSpPr/>
          <p:nvPr/>
        </p:nvSpPr>
        <p:spPr>
          <a:xfrm>
            <a:off x="9829800" y="1005840"/>
            <a:ext cx="2148840" cy="2148840"/>
          </a:xfrm>
          <a:prstGeom prst="ellipse">
            <a:avLst/>
          </a:prstGeom>
          <a:solidFill>
            <a:srgbClr val="F7EACA"/>
          </a:solidFill>
          <a:ln/>
        </p:spPr>
        <p:txBody>
          <a:bodyPr/>
          <a:lstStyle/>
          <a:p>
            <a:endParaRPr lang="en-US"/>
          </a:p>
        </p:txBody>
      </p:sp>
      <p:sp>
        <p:nvSpPr>
          <p:cNvPr id="13" name="Shape 11"/>
          <p:cNvSpPr/>
          <p:nvPr/>
        </p:nvSpPr>
        <p:spPr>
          <a:xfrm>
            <a:off x="640080" y="1417320"/>
            <a:ext cx="5248656" cy="4626864"/>
          </a:xfrm>
          <a:prstGeom prst="roundRect">
            <a:avLst>
              <a:gd name="adj" fmla="val 1779"/>
            </a:avLst>
          </a:prstGeom>
          <a:solidFill>
            <a:srgbClr val="FFFFFF"/>
          </a:solidFill>
          <a:ln w="15240">
            <a:solidFill>
              <a:srgbClr val="F7EACA"/>
            </a:solidFill>
            <a:prstDash val="solid"/>
          </a:ln>
          <a:effectLst>
            <a:outerShdw blurRad="50800" dist="19050" dir="8100000" algn="bl" rotWithShape="0">
              <a:srgbClr val="111827">
                <a:alpha val="11000"/>
              </a:srgbClr>
            </a:outerShdw>
          </a:effectLst>
        </p:spPr>
        <p:txBody>
          <a:bodyPr/>
          <a:lstStyle/>
          <a:p>
            <a:endParaRPr lang="en-US"/>
          </a:p>
        </p:txBody>
      </p:sp>
      <p:sp>
        <p:nvSpPr>
          <p:cNvPr id="14" name="Shape 12"/>
          <p:cNvSpPr/>
          <p:nvPr/>
        </p:nvSpPr>
        <p:spPr>
          <a:xfrm>
            <a:off x="896112" y="1673352"/>
            <a:ext cx="1572768" cy="310896"/>
          </a:xfrm>
          <a:prstGeom prst="roundRect">
            <a:avLst>
              <a:gd name="adj" fmla="val 23529"/>
            </a:avLst>
          </a:prstGeom>
          <a:solidFill>
            <a:srgbClr val="252B17"/>
          </a:solidFill>
          <a:ln/>
        </p:spPr>
        <p:txBody>
          <a:bodyPr/>
          <a:lstStyle/>
          <a:p>
            <a:endParaRPr lang="en-US"/>
          </a:p>
        </p:txBody>
      </p:sp>
      <p:sp>
        <p:nvSpPr>
          <p:cNvPr id="15" name="Text 13"/>
          <p:cNvSpPr/>
          <p:nvPr/>
        </p:nvSpPr>
        <p:spPr>
          <a:xfrm>
            <a:off x="1005840" y="1773936"/>
            <a:ext cx="1353312" cy="91440"/>
          </a:xfrm>
          <a:prstGeom prst="rect">
            <a:avLst/>
          </a:prstGeom>
          <a:noFill/>
          <a:ln/>
        </p:spPr>
        <p:txBody>
          <a:bodyPr wrap="square" lIns="0" tIns="0" rIns="0" bIns="0" rtlCol="0" anchor="ctr"/>
          <a:lstStyle/>
          <a:p>
            <a:pPr marL="0" indent="0" algn="ctr">
              <a:buNone/>
            </a:pPr>
            <a:r>
              <a:rPr lang="en-US" sz="830" b="1" kern="0" spc="110" dirty="0">
                <a:solidFill>
                  <a:srgbClr val="FFFFFF"/>
                </a:solidFill>
                <a:latin typeface="Aptos" pitchFamily="34" charset="0"/>
                <a:ea typeface="Aptos" pitchFamily="34" charset="-122"/>
                <a:cs typeface="Aptos" pitchFamily="34" charset="-120"/>
              </a:rPr>
              <a:t>INTERACTIVE</a:t>
            </a:r>
            <a:endParaRPr lang="en-US" sz="830" dirty="0"/>
          </a:p>
        </p:txBody>
      </p:sp>
      <p:sp>
        <p:nvSpPr>
          <p:cNvPr id="16" name="Text 14"/>
          <p:cNvSpPr/>
          <p:nvPr/>
        </p:nvSpPr>
        <p:spPr>
          <a:xfrm>
            <a:off x="932688" y="2148840"/>
            <a:ext cx="4663440" cy="621792"/>
          </a:xfrm>
          <a:prstGeom prst="rect">
            <a:avLst/>
          </a:prstGeom>
          <a:noFill/>
          <a:ln/>
        </p:spPr>
        <p:txBody>
          <a:bodyPr wrap="square" lIns="0" tIns="0" rIns="0" bIns="0" rtlCol="0" anchor="ctr">
            <a:normAutofit/>
          </a:bodyPr>
          <a:lstStyle/>
          <a:p>
            <a:pPr marL="0" indent="0">
              <a:buNone/>
            </a:pPr>
            <a:r>
              <a:rPr lang="en-US" sz="2200" b="1" dirty="0">
                <a:solidFill>
                  <a:srgbClr val="252B17"/>
                </a:solidFill>
                <a:latin typeface="Aptos Display" pitchFamily="34" charset="0"/>
                <a:ea typeface="Aptos Display" pitchFamily="34" charset="-122"/>
                <a:cs typeface="Aptos Display" pitchFamily="34" charset="-120"/>
              </a:rPr>
              <a:t>Interactive path</a:t>
            </a:r>
            <a:endParaRPr lang="en-US" sz="2200" dirty="0"/>
          </a:p>
        </p:txBody>
      </p:sp>
      <p:sp>
        <p:nvSpPr>
          <p:cNvPr id="17" name="Text 15"/>
          <p:cNvSpPr/>
          <p:nvPr/>
        </p:nvSpPr>
        <p:spPr>
          <a:xfrm>
            <a:off x="987552"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2A2C1D"/>
                </a:solidFill>
                <a:latin typeface="Aptos" pitchFamily="34" charset="0"/>
                <a:ea typeface="Aptos" pitchFamily="34" charset="-122"/>
                <a:cs typeface="Aptos" pitchFamily="34" charset="-120"/>
              </a:rPr>
              <a:t>A caller waits for this response</a:t>
            </a:r>
            <a:endParaRPr lang="en-US" sz="1600" dirty="0"/>
          </a:p>
          <a:p>
            <a:pPr marL="342900" indent="-342900">
              <a:buSzPct val="100000"/>
              <a:buChar char="•"/>
            </a:pPr>
            <a:r>
              <a:rPr lang="en-US" sz="1600" dirty="0">
                <a:solidFill>
                  <a:srgbClr val="2A2C1D"/>
                </a:solidFill>
                <a:latin typeface="Aptos" pitchFamily="34" charset="0"/>
                <a:ea typeface="Aptos" pitchFamily="34" charset="-122"/>
                <a:cs typeface="Aptos" pitchFamily="34" charset="-120"/>
              </a:rPr>
              <a:t>Measure first-token and completion latency separately</a:t>
            </a:r>
            <a:endParaRPr lang="en-US" sz="1600" dirty="0"/>
          </a:p>
          <a:p>
            <a:pPr marL="342900" indent="-342900">
              <a:buSzPct val="100000"/>
              <a:buChar char="•"/>
            </a:pPr>
            <a:r>
              <a:rPr lang="en-US" sz="1600" dirty="0">
                <a:solidFill>
                  <a:srgbClr val="2A2C1D"/>
                </a:solidFill>
                <a:latin typeface="Aptos" pitchFamily="34" charset="0"/>
                <a:ea typeface="Aptos" pitchFamily="34" charset="-122"/>
                <a:cs typeface="Aptos" pitchFamily="34" charset="-120"/>
              </a:rPr>
              <a:t>Stream when early visibility helps the experience</a:t>
            </a:r>
            <a:endParaRPr lang="en-US" sz="1600" dirty="0"/>
          </a:p>
        </p:txBody>
      </p:sp>
      <p:sp>
        <p:nvSpPr>
          <p:cNvPr id="18" name="Shape 16"/>
          <p:cNvSpPr/>
          <p:nvPr/>
        </p:nvSpPr>
        <p:spPr>
          <a:xfrm>
            <a:off x="5020056" y="1609344"/>
            <a:ext cx="493776" cy="493776"/>
          </a:xfrm>
          <a:prstGeom prst="ellipse">
            <a:avLst/>
          </a:prstGeom>
          <a:solidFill>
            <a:srgbClr val="F7EACA"/>
          </a:solidFill>
          <a:ln/>
        </p:spPr>
        <p:txBody>
          <a:bodyPr/>
          <a:lstStyle/>
          <a:p>
            <a:endParaRPr lang="en-US"/>
          </a:p>
        </p:txBody>
      </p:sp>
      <p:sp>
        <p:nvSpPr>
          <p:cNvPr id="19" name="Text 17"/>
          <p:cNvSpPr/>
          <p:nvPr/>
        </p:nvSpPr>
        <p:spPr>
          <a:xfrm>
            <a:off x="5020056" y="1755648"/>
            <a:ext cx="493776" cy="118872"/>
          </a:xfrm>
          <a:prstGeom prst="rect">
            <a:avLst/>
          </a:prstGeom>
          <a:noFill/>
          <a:ln/>
        </p:spPr>
        <p:txBody>
          <a:bodyPr wrap="square" lIns="0" tIns="0" rIns="0" bIns="0" rtlCol="0" anchor="ctr"/>
          <a:lstStyle/>
          <a:p>
            <a:pPr marL="0" indent="0" algn="ctr">
              <a:buNone/>
            </a:pPr>
            <a:r>
              <a:rPr lang="en-US" sz="1000" b="1" dirty="0">
                <a:solidFill>
                  <a:srgbClr val="252B17"/>
                </a:solidFill>
                <a:latin typeface="Aptos" pitchFamily="34" charset="0"/>
                <a:ea typeface="Aptos" pitchFamily="34" charset="-122"/>
                <a:cs typeface="Aptos" pitchFamily="34" charset="-120"/>
              </a:rPr>
              <a:t>1</a:t>
            </a:r>
            <a:endParaRPr lang="en-US" sz="1000" dirty="0"/>
          </a:p>
        </p:txBody>
      </p:sp>
      <p:sp>
        <p:nvSpPr>
          <p:cNvPr id="20" name="Shape 18"/>
          <p:cNvSpPr/>
          <p:nvPr/>
        </p:nvSpPr>
        <p:spPr>
          <a:xfrm>
            <a:off x="6300216" y="1417320"/>
            <a:ext cx="5248656" cy="4626864"/>
          </a:xfrm>
          <a:prstGeom prst="roundRect">
            <a:avLst>
              <a:gd name="adj" fmla="val 1779"/>
            </a:avLst>
          </a:prstGeom>
          <a:solidFill>
            <a:srgbClr val="F7EACA"/>
          </a:solidFill>
          <a:ln w="15240">
            <a:solidFill>
              <a:srgbClr val="D8A846"/>
            </a:solidFill>
            <a:prstDash val="solid"/>
          </a:ln>
          <a:effectLst>
            <a:outerShdw blurRad="50800" dist="19050" dir="8100000" algn="bl" rotWithShape="0">
              <a:srgbClr val="111827">
                <a:alpha val="11000"/>
              </a:srgbClr>
            </a:outerShdw>
          </a:effectLst>
        </p:spPr>
        <p:txBody>
          <a:bodyPr/>
          <a:lstStyle/>
          <a:p>
            <a:endParaRPr lang="en-US"/>
          </a:p>
        </p:txBody>
      </p:sp>
      <p:sp>
        <p:nvSpPr>
          <p:cNvPr id="21" name="Shape 19"/>
          <p:cNvSpPr/>
          <p:nvPr/>
        </p:nvSpPr>
        <p:spPr>
          <a:xfrm>
            <a:off x="6556248" y="1673352"/>
            <a:ext cx="1572768" cy="310896"/>
          </a:xfrm>
          <a:prstGeom prst="roundRect">
            <a:avLst>
              <a:gd name="adj" fmla="val 23529"/>
            </a:avLst>
          </a:prstGeom>
          <a:solidFill>
            <a:srgbClr val="D8A846"/>
          </a:solidFill>
          <a:ln/>
        </p:spPr>
        <p:txBody>
          <a:bodyPr/>
          <a:lstStyle/>
          <a:p>
            <a:endParaRPr lang="en-US"/>
          </a:p>
        </p:txBody>
      </p:sp>
      <p:sp>
        <p:nvSpPr>
          <p:cNvPr id="22" name="Text 20"/>
          <p:cNvSpPr/>
          <p:nvPr/>
        </p:nvSpPr>
        <p:spPr>
          <a:xfrm>
            <a:off x="6665976" y="1773936"/>
            <a:ext cx="1353312" cy="91440"/>
          </a:xfrm>
          <a:prstGeom prst="rect">
            <a:avLst/>
          </a:prstGeom>
          <a:noFill/>
          <a:ln/>
        </p:spPr>
        <p:txBody>
          <a:bodyPr wrap="square" lIns="0" tIns="0" rIns="0" bIns="0" rtlCol="0" anchor="ctr"/>
          <a:lstStyle/>
          <a:p>
            <a:pPr marL="0" indent="0" algn="ctr">
              <a:buNone/>
            </a:pPr>
            <a:r>
              <a:rPr lang="en-US" sz="830" b="1" kern="0" spc="110" dirty="0">
                <a:solidFill>
                  <a:srgbClr val="252B17"/>
                </a:solidFill>
                <a:latin typeface="Aptos" pitchFamily="34" charset="0"/>
                <a:ea typeface="Aptos" pitchFamily="34" charset="-122"/>
                <a:cs typeface="Aptos" pitchFamily="34" charset="-120"/>
              </a:rPr>
              <a:t>BATCH</a:t>
            </a:r>
            <a:endParaRPr lang="en-US" sz="830" dirty="0"/>
          </a:p>
        </p:txBody>
      </p:sp>
      <p:sp>
        <p:nvSpPr>
          <p:cNvPr id="23" name="Text 21"/>
          <p:cNvSpPr/>
          <p:nvPr/>
        </p:nvSpPr>
        <p:spPr>
          <a:xfrm>
            <a:off x="6592824" y="2148840"/>
            <a:ext cx="4663440" cy="621792"/>
          </a:xfrm>
          <a:prstGeom prst="rect">
            <a:avLst/>
          </a:prstGeom>
          <a:noFill/>
          <a:ln/>
        </p:spPr>
        <p:txBody>
          <a:bodyPr wrap="square" lIns="0" tIns="0" rIns="0" bIns="0" rtlCol="0" anchor="ctr">
            <a:normAutofit/>
          </a:bodyPr>
          <a:lstStyle/>
          <a:p>
            <a:pPr marL="0" indent="0">
              <a:buNone/>
            </a:pPr>
            <a:r>
              <a:rPr lang="en-US" sz="2200" b="1" dirty="0">
                <a:solidFill>
                  <a:srgbClr val="252B17"/>
                </a:solidFill>
                <a:latin typeface="Aptos Display" pitchFamily="34" charset="0"/>
                <a:ea typeface="Aptos Display" pitchFamily="34" charset="-122"/>
                <a:cs typeface="Aptos Display" pitchFamily="34" charset="-120"/>
              </a:rPr>
              <a:t>Batch path</a:t>
            </a:r>
            <a:endParaRPr lang="en-US" sz="2200" dirty="0"/>
          </a:p>
        </p:txBody>
      </p:sp>
      <p:sp>
        <p:nvSpPr>
          <p:cNvPr id="24" name="Text 22"/>
          <p:cNvSpPr/>
          <p:nvPr/>
        </p:nvSpPr>
        <p:spPr>
          <a:xfrm>
            <a:off x="6647688"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2A2C1D"/>
                </a:solidFill>
                <a:latin typeface="Aptos" pitchFamily="34" charset="0"/>
                <a:ea typeface="Aptos" pitchFamily="34" charset="-122"/>
                <a:cs typeface="Aptos" pitchFamily="34" charset="-120"/>
              </a:rPr>
              <a:t>Queue asynchronous work and retrieve results later</a:t>
            </a:r>
            <a:endParaRPr lang="en-US" sz="1600" dirty="0"/>
          </a:p>
          <a:p>
            <a:pPr marL="342900" indent="-342900">
              <a:buSzPct val="100000"/>
              <a:buChar char="•"/>
            </a:pPr>
            <a:r>
              <a:rPr lang="en-US" sz="1600" dirty="0">
                <a:solidFill>
                  <a:srgbClr val="2A2C1D"/>
                </a:solidFill>
                <a:latin typeface="Aptos" pitchFamily="34" charset="0"/>
                <a:ea typeface="Aptos" pitchFamily="34" charset="-122"/>
                <a:cs typeface="Aptos" pitchFamily="34" charset="-120"/>
              </a:rPr>
              <a:t>Use separate workload, quota, and turnaround assumptions</a:t>
            </a:r>
            <a:endParaRPr lang="en-US" sz="1600" dirty="0"/>
          </a:p>
          <a:p>
            <a:pPr marL="342900" indent="-342900">
              <a:buSzPct val="100000"/>
              <a:buChar char="•"/>
            </a:pPr>
            <a:r>
              <a:rPr lang="en-US" sz="1600" dirty="0">
                <a:solidFill>
                  <a:srgbClr val="2A2C1D"/>
                </a:solidFill>
                <a:latin typeface="Aptos" pitchFamily="34" charset="0"/>
                <a:ea typeface="Aptos" pitchFamily="34" charset="-122"/>
                <a:cs typeface="Aptos" pitchFamily="34" charset="-120"/>
              </a:rPr>
              <a:t>Not a technique for lower interactive latency</a:t>
            </a:r>
            <a:endParaRPr lang="en-US" sz="1600" dirty="0"/>
          </a:p>
        </p:txBody>
      </p:sp>
      <p:sp>
        <p:nvSpPr>
          <p:cNvPr id="25" name="Shape 23"/>
          <p:cNvSpPr/>
          <p:nvPr/>
        </p:nvSpPr>
        <p:spPr>
          <a:xfrm>
            <a:off x="10680192" y="1609344"/>
            <a:ext cx="493776" cy="493776"/>
          </a:xfrm>
          <a:prstGeom prst="ellipse">
            <a:avLst/>
          </a:prstGeom>
          <a:solidFill>
            <a:srgbClr val="72B01D"/>
          </a:solidFill>
          <a:ln/>
        </p:spPr>
        <p:txBody>
          <a:bodyPr/>
          <a:lstStyle/>
          <a:p>
            <a:endParaRPr lang="en-US"/>
          </a:p>
        </p:txBody>
      </p:sp>
      <p:sp>
        <p:nvSpPr>
          <p:cNvPr id="26" name="Text 24"/>
          <p:cNvSpPr/>
          <p:nvPr/>
        </p:nvSpPr>
        <p:spPr>
          <a:xfrm>
            <a:off x="10680192" y="1755648"/>
            <a:ext cx="493776" cy="118872"/>
          </a:xfrm>
          <a:prstGeom prst="rect">
            <a:avLst/>
          </a:prstGeom>
          <a:noFill/>
          <a:ln/>
        </p:spPr>
        <p:txBody>
          <a:bodyPr wrap="square" lIns="0" tIns="0" rIns="0" bIns="0" rtlCol="0" anchor="ctr"/>
          <a:lstStyle/>
          <a:p>
            <a:pPr marL="0" indent="0" algn="ctr">
              <a:buNone/>
            </a:pPr>
            <a:r>
              <a:rPr lang="en-US" sz="1000" b="1" dirty="0">
                <a:solidFill>
                  <a:srgbClr val="252B17"/>
                </a:solidFill>
                <a:latin typeface="Aptos" pitchFamily="34" charset="0"/>
                <a:ea typeface="Aptos" pitchFamily="34" charset="-122"/>
                <a:cs typeface="Aptos" pitchFamily="34" charset="-120"/>
              </a:rPr>
              <a:t>2</a:t>
            </a:r>
            <a:endParaRPr lang="en-US" sz="1000" dirty="0"/>
          </a:p>
        </p:txBody>
      </p:sp>
      <p:sp>
        <p:nvSpPr>
          <p:cNvPr id="27" name="Shape 25"/>
          <p:cNvSpPr/>
          <p:nvPr/>
        </p:nvSpPr>
        <p:spPr>
          <a:xfrm>
            <a:off x="5916168" y="3236976"/>
            <a:ext cx="365760" cy="365760"/>
          </a:xfrm>
          <a:prstGeom prst="ellipse">
            <a:avLst/>
          </a:prstGeom>
          <a:solidFill>
            <a:srgbClr val="252B17"/>
          </a:solidFill>
          <a:ln/>
        </p:spPr>
        <p:txBody>
          <a:bodyPr/>
          <a:lstStyle/>
          <a:p>
            <a:endParaRPr lang="en-US"/>
          </a:p>
        </p:txBody>
      </p:sp>
      <p:sp>
        <p:nvSpPr>
          <p:cNvPr id="28" name="Text 26"/>
          <p:cNvSpPr/>
          <p:nvPr/>
        </p:nvSpPr>
        <p:spPr>
          <a:xfrm>
            <a:off x="5916168" y="3328416"/>
            <a:ext cx="365760" cy="164592"/>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29" name="Text 27"/>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6D6A55"/>
                </a:solidFill>
                <a:latin typeface="Aptos" pitchFamily="34" charset="0"/>
                <a:ea typeface="Aptos" pitchFamily="34" charset="-122"/>
                <a:cs typeface="Aptos" pitchFamily="34" charset="-120"/>
              </a:rPr>
              <a:t>REFERENCE  learn.microsoft.com/azure/foundry/openai/how-to/batch  ·  +1 more in notes</a:t>
            </a:r>
            <a:endParaRPr lang="en-US" sz="940" dirty="0"/>
          </a:p>
        </p:txBody>
      </p:sp>
      <p:sp>
        <p:nvSpPr>
          <p:cNvPr id="30" name="Shape 28"/>
          <p:cNvSpPr/>
          <p:nvPr/>
        </p:nvSpPr>
        <p:spPr>
          <a:xfrm>
            <a:off x="0" y="6793992"/>
            <a:ext cx="12191695" cy="64008"/>
          </a:xfrm>
          <a:prstGeom prst="rect">
            <a:avLst/>
          </a:prstGeom>
          <a:solidFill>
            <a:srgbClr val="D8A846"/>
          </a:solidFill>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252B17"/>
        </a:solidFill>
        <a:effectLst/>
      </p:bgPr>
    </p:bg>
    <p:spTree>
      <p:nvGrpSpPr>
        <p:cNvPr id="1" name=""/>
        <p:cNvGrpSpPr/>
        <p:nvPr/>
      </p:nvGrpSpPr>
      <p:grpSpPr>
        <a:xfrm>
          <a:off x="0" y="0"/>
          <a:ext cx="0" cy="0"/>
          <a:chOff x="0" y="0"/>
          <a:chExt cx="0" cy="0"/>
        </a:xfrm>
      </p:grpSpPr>
      <p:sp>
        <p:nvSpPr>
          <p:cNvPr id="2" name="Shape 0"/>
          <p:cNvSpPr/>
          <p:nvPr/>
        </p:nvSpPr>
        <p:spPr>
          <a:xfrm>
            <a:off x="182880" y="4407408"/>
            <a:ext cx="1572768" cy="1572768"/>
          </a:xfrm>
          <a:prstGeom prst="ellipse">
            <a:avLst/>
          </a:prstGeom>
          <a:solidFill>
            <a:srgbClr val="E8F4D7"/>
          </a:solidFill>
          <a:ln/>
        </p:spPr>
        <p:txBody>
          <a:bodyPr/>
          <a:lstStyle/>
          <a:p>
            <a:endParaRPr lang="en-US"/>
          </a:p>
        </p:txBody>
      </p:sp>
      <p:sp>
        <p:nvSpPr>
          <p:cNvPr id="3" name="Shape 1"/>
          <p:cNvSpPr/>
          <p:nvPr/>
        </p:nvSpPr>
        <p:spPr>
          <a:xfrm>
            <a:off x="457200" y="4681728"/>
            <a:ext cx="1024128" cy="1024128"/>
          </a:xfrm>
          <a:prstGeom prst="ellipse">
            <a:avLst/>
          </a:prstGeom>
          <a:solidFill>
            <a:srgbClr val="252B17"/>
          </a:solidFill>
          <a:ln/>
        </p:spPr>
        <p:txBody>
          <a:bodyPr/>
          <a:lstStyle/>
          <a:p>
            <a:endParaRPr lang="en-US"/>
          </a:p>
        </p:txBody>
      </p:sp>
      <p:sp>
        <p:nvSpPr>
          <p:cNvPr id="4" name="Text 2"/>
          <p:cNvSpPr/>
          <p:nvPr/>
        </p:nvSpPr>
        <p:spPr>
          <a:xfrm>
            <a:off x="713232" y="530352"/>
            <a:ext cx="2560320" cy="256032"/>
          </a:xfrm>
          <a:prstGeom prst="rect">
            <a:avLst/>
          </a:prstGeom>
          <a:noFill/>
          <a:ln/>
        </p:spPr>
        <p:txBody>
          <a:bodyPr wrap="square" lIns="0" tIns="0" rIns="0" bIns="0" rtlCol="0" anchor="ctr"/>
          <a:lstStyle/>
          <a:p>
            <a:pPr marL="0" indent="0">
              <a:buNone/>
            </a:pPr>
            <a:r>
              <a:rPr lang="en-US" sz="1200" b="1" kern="0" spc="350" dirty="0">
                <a:solidFill>
                  <a:srgbClr val="D8A846"/>
                </a:solidFill>
                <a:latin typeface="Aptos" pitchFamily="34" charset="0"/>
                <a:ea typeface="Aptos" pitchFamily="34" charset="-122"/>
                <a:cs typeface="Aptos" pitchFamily="34" charset="-120"/>
              </a:rPr>
              <a:t>LIVE DEMO</a:t>
            </a:r>
            <a:endParaRPr lang="en-US" sz="1200" dirty="0"/>
          </a:p>
        </p:txBody>
      </p:sp>
      <p:sp>
        <p:nvSpPr>
          <p:cNvPr id="5" name="Text 3"/>
          <p:cNvSpPr/>
          <p:nvPr/>
        </p:nvSpPr>
        <p:spPr>
          <a:xfrm>
            <a:off x="713232" y="1143000"/>
            <a:ext cx="6199632" cy="914400"/>
          </a:xfrm>
          <a:prstGeom prst="rect">
            <a:avLst/>
          </a:prstGeom>
          <a:noFill/>
          <a:ln/>
        </p:spPr>
        <p:txBody>
          <a:bodyPr wrap="square" lIns="0" tIns="0" rIns="0" bIns="0" rtlCol="0" anchor="ctr">
            <a:normAutofit/>
          </a:bodyPr>
          <a:lstStyle/>
          <a:p>
            <a:pPr marL="0" indent="0">
              <a:buNone/>
            </a:pPr>
            <a:r>
              <a:rPr lang="en-US" sz="3500" b="1" dirty="0">
                <a:solidFill>
                  <a:srgbClr val="FFFFFF"/>
                </a:solidFill>
                <a:latin typeface="Aptos Display" pitchFamily="34" charset="0"/>
                <a:ea typeface="Aptos Display" pitchFamily="34" charset="-122"/>
                <a:cs typeface="Aptos Display" pitchFamily="34" charset="-120"/>
              </a:rPr>
              <a:t>Read the cost</a:t>
            </a:r>
            <a:endParaRPr lang="en-US" sz="3500" dirty="0"/>
          </a:p>
          <a:p>
            <a:pPr marL="0" indent="0">
              <a:buNone/>
            </a:pPr>
            <a:r>
              <a:rPr lang="en-US" sz="3500" b="1" dirty="0">
                <a:solidFill>
                  <a:srgbClr val="FFFFFF"/>
                </a:solidFill>
                <a:latin typeface="Aptos Display" pitchFamily="34" charset="0"/>
                <a:ea typeface="Aptos Display" pitchFamily="34" charset="-122"/>
                <a:cs typeface="Aptos Display" pitchFamily="34" charset="-120"/>
              </a:rPr>
              <a:t>of another revision</a:t>
            </a:r>
            <a:endParaRPr lang="en-US" sz="3500" dirty="0"/>
          </a:p>
        </p:txBody>
      </p:sp>
      <p:sp>
        <p:nvSpPr>
          <p:cNvPr id="6" name="Text 4"/>
          <p:cNvSpPr/>
          <p:nvPr/>
        </p:nvSpPr>
        <p:spPr>
          <a:xfrm>
            <a:off x="749808" y="2395728"/>
            <a:ext cx="6473952" cy="2057400"/>
          </a:xfrm>
          <a:prstGeom prst="rect">
            <a:avLst/>
          </a:prstGeom>
          <a:noFill/>
          <a:ln/>
        </p:spPr>
        <p:txBody>
          <a:bodyPr wrap="square" lIns="0" tIns="0" rIns="0" bIns="0" rtlCol="0" anchor="t">
            <a:normAutofit/>
          </a:bodyPr>
          <a:lstStyle/>
          <a:p>
            <a:pPr marL="0" indent="0">
              <a:buNone/>
            </a:pPr>
            <a:r>
              <a:rPr lang="en-US" sz="1480" dirty="0">
                <a:solidFill>
                  <a:srgbClr val="E5EBF0"/>
                </a:solidFill>
                <a:latin typeface="Aptos" pitchFamily="34" charset="0"/>
                <a:ea typeface="Aptos" pitchFamily="34" charset="-122"/>
                <a:cs typeface="Aptos" pitchFamily="34" charset="-120"/>
              </a:rPr>
              <a:t>Compare one synthetic request with zero and one allowed revision.</a:t>
            </a:r>
            <a:endParaRPr lang="en-US" sz="1480" dirty="0"/>
          </a:p>
          <a:p>
            <a:pPr marL="0" indent="0">
              <a:buNone/>
            </a:pPr>
            <a:r>
              <a:rPr lang="en-US" sz="1480" dirty="0">
                <a:solidFill>
                  <a:srgbClr val="E5EBF0"/>
                </a:solidFill>
                <a:latin typeface="Aptos" pitchFamily="34" charset="0"/>
                <a:ea typeface="Aptos" pitchFamily="34" charset="-122"/>
                <a:cs typeface="Aptos" pitchFamily="34" charset="-120"/>
              </a:rPr>
              <a:t>The extra pass costs more time and tokens but supplies the missing fact.</a:t>
            </a:r>
            <a:endParaRPr lang="en-US" sz="1480" dirty="0"/>
          </a:p>
          <a:p>
            <a:pPr marL="0" indent="0">
              <a:buNone/>
            </a:pPr>
            <a:r>
              <a:rPr lang="en-US" sz="1480" dirty="0">
                <a:solidFill>
                  <a:srgbClr val="E5EBF0"/>
                </a:solidFill>
                <a:latin typeface="Aptos" pitchFamily="34" charset="0"/>
                <a:ea typeface="Aptos" pitchFamily="34" charset="-122"/>
                <a:cs typeface="Aptos" pitchFamily="34" charset="-120"/>
              </a:rPr>
              <a:t>Choose from quality, time, estimated cost, and stop reason—not one metric.</a:t>
            </a:r>
            <a:endParaRPr lang="en-US" sz="1480" dirty="0"/>
          </a:p>
        </p:txBody>
      </p:sp>
      <p:sp>
        <p:nvSpPr>
          <p:cNvPr id="7" name="Shape 5"/>
          <p:cNvSpPr/>
          <p:nvPr/>
        </p:nvSpPr>
        <p:spPr>
          <a:xfrm>
            <a:off x="7452360" y="749808"/>
            <a:ext cx="4041648" cy="5074920"/>
          </a:xfrm>
          <a:prstGeom prst="roundRect">
            <a:avLst>
              <a:gd name="adj" fmla="val 1810"/>
            </a:avLst>
          </a:prstGeom>
          <a:solidFill>
            <a:srgbClr val="FFFFFF"/>
          </a:solidFill>
          <a:ln/>
        </p:spPr>
        <p:txBody>
          <a:bodyPr/>
          <a:lstStyle/>
          <a:p>
            <a:endParaRPr lang="en-US"/>
          </a:p>
        </p:txBody>
      </p:sp>
      <p:sp>
        <p:nvSpPr>
          <p:cNvPr id="8" name="Shape 6"/>
          <p:cNvSpPr/>
          <p:nvPr/>
        </p:nvSpPr>
        <p:spPr>
          <a:xfrm>
            <a:off x="7726680" y="1060704"/>
            <a:ext cx="1225296" cy="347472"/>
          </a:xfrm>
          <a:prstGeom prst="roundRect">
            <a:avLst>
              <a:gd name="adj" fmla="val 21053"/>
            </a:avLst>
          </a:prstGeom>
          <a:solidFill>
            <a:srgbClr val="D8A846"/>
          </a:solidFill>
          <a:ln/>
        </p:spPr>
        <p:txBody>
          <a:bodyPr/>
          <a:lstStyle/>
          <a:p>
            <a:endParaRPr lang="en-US"/>
          </a:p>
        </p:txBody>
      </p:sp>
      <p:sp>
        <p:nvSpPr>
          <p:cNvPr id="9" name="Text 7"/>
          <p:cNvSpPr/>
          <p:nvPr/>
        </p:nvSpPr>
        <p:spPr>
          <a:xfrm>
            <a:off x="7836408" y="1170432"/>
            <a:ext cx="1005840" cy="109728"/>
          </a:xfrm>
          <a:prstGeom prst="rect">
            <a:avLst/>
          </a:prstGeom>
          <a:noFill/>
          <a:ln/>
        </p:spPr>
        <p:txBody>
          <a:bodyPr wrap="square" lIns="0" tIns="0" rIns="0" bIns="0" rtlCol="0" anchor="ctr"/>
          <a:lstStyle/>
          <a:p>
            <a:pPr marL="0" indent="0" algn="ctr">
              <a:buNone/>
            </a:pPr>
            <a:r>
              <a:rPr lang="en-US" sz="950" b="1" dirty="0">
                <a:solidFill>
                  <a:srgbClr val="252B17"/>
                </a:solidFill>
                <a:latin typeface="Aptos" pitchFamily="34" charset="0"/>
                <a:ea typeface="Aptos" pitchFamily="34" charset="-122"/>
                <a:cs typeface="Aptos" pitchFamily="34" charset="-120"/>
              </a:rPr>
              <a:t>~5 min</a:t>
            </a:r>
            <a:endParaRPr lang="en-US" sz="950" dirty="0"/>
          </a:p>
        </p:txBody>
      </p:sp>
      <p:sp>
        <p:nvSpPr>
          <p:cNvPr id="10" name="Text 8"/>
          <p:cNvSpPr/>
          <p:nvPr/>
        </p:nvSpPr>
        <p:spPr>
          <a:xfrm>
            <a:off x="7726680" y="1719072"/>
            <a:ext cx="2971800" cy="274320"/>
          </a:xfrm>
          <a:prstGeom prst="rect">
            <a:avLst/>
          </a:prstGeom>
          <a:noFill/>
          <a:ln/>
        </p:spPr>
        <p:txBody>
          <a:bodyPr wrap="square" lIns="0" tIns="0" rIns="0" bIns="0" rtlCol="0" anchor="ctr"/>
          <a:lstStyle/>
          <a:p>
            <a:pPr marL="0" indent="0">
              <a:buNone/>
            </a:pPr>
            <a:r>
              <a:rPr lang="en-US" sz="2100" b="1" dirty="0">
                <a:solidFill>
                  <a:srgbClr val="252B17"/>
                </a:solidFill>
                <a:latin typeface="Aptos Display" pitchFamily="34" charset="0"/>
                <a:ea typeface="Aptos Display" pitchFamily="34" charset="-122"/>
                <a:cs typeface="Aptos Display" pitchFamily="34" charset="-120"/>
              </a:rPr>
              <a:t>WATCH FOR</a:t>
            </a:r>
            <a:endParaRPr lang="en-US" sz="2100" dirty="0"/>
          </a:p>
        </p:txBody>
      </p:sp>
      <p:sp>
        <p:nvSpPr>
          <p:cNvPr id="11" name="Shape 9"/>
          <p:cNvSpPr/>
          <p:nvPr/>
        </p:nvSpPr>
        <p:spPr>
          <a:xfrm>
            <a:off x="7772400" y="2340864"/>
            <a:ext cx="384048" cy="384048"/>
          </a:xfrm>
          <a:prstGeom prst="ellipse">
            <a:avLst/>
          </a:prstGeom>
          <a:solidFill>
            <a:srgbClr val="D8A846"/>
          </a:solidFill>
          <a:ln/>
        </p:spPr>
        <p:txBody>
          <a:bodyPr/>
          <a:lstStyle/>
          <a:p>
            <a:endParaRPr lang="en-US"/>
          </a:p>
        </p:txBody>
      </p:sp>
      <p:sp>
        <p:nvSpPr>
          <p:cNvPr id="12" name="Text 10"/>
          <p:cNvSpPr/>
          <p:nvPr/>
        </p:nvSpPr>
        <p:spPr>
          <a:xfrm>
            <a:off x="7772400" y="2459736"/>
            <a:ext cx="384048" cy="100584"/>
          </a:xfrm>
          <a:prstGeom prst="rect">
            <a:avLst/>
          </a:prstGeom>
          <a:noFill/>
          <a:ln/>
        </p:spPr>
        <p:txBody>
          <a:bodyPr wrap="square" lIns="0" tIns="0" rIns="0" bIns="0" rtlCol="0" anchor="ctr"/>
          <a:lstStyle/>
          <a:p>
            <a:pPr marL="0" indent="0" algn="ctr">
              <a:buNone/>
            </a:pPr>
            <a:r>
              <a:rPr lang="en-US" sz="900" b="1" dirty="0">
                <a:solidFill>
                  <a:srgbClr val="252B17"/>
                </a:solidFill>
                <a:latin typeface="Aptos" pitchFamily="34" charset="0"/>
                <a:ea typeface="Aptos" pitchFamily="34" charset="-122"/>
                <a:cs typeface="Aptos" pitchFamily="34" charset="-120"/>
              </a:rPr>
              <a:t>1</a:t>
            </a:r>
            <a:endParaRPr lang="en-US" sz="900" dirty="0"/>
          </a:p>
        </p:txBody>
      </p:sp>
      <p:sp>
        <p:nvSpPr>
          <p:cNvPr id="13" name="Text 11"/>
          <p:cNvSpPr/>
          <p:nvPr/>
        </p:nvSpPr>
        <p:spPr>
          <a:xfrm>
            <a:off x="8339328" y="2286000"/>
            <a:ext cx="2889504" cy="512064"/>
          </a:xfrm>
          <a:prstGeom prst="rect">
            <a:avLst/>
          </a:prstGeom>
          <a:noFill/>
          <a:ln/>
        </p:spPr>
        <p:txBody>
          <a:bodyPr wrap="square" lIns="0" tIns="0" rIns="0" bIns="0" rtlCol="0" anchor="ctr">
            <a:normAutofit/>
          </a:bodyPr>
          <a:lstStyle/>
          <a:p>
            <a:pPr marL="0" indent="0">
              <a:buNone/>
            </a:pPr>
            <a:r>
              <a:rPr lang="en-US" sz="1480" b="1" dirty="0">
                <a:solidFill>
                  <a:srgbClr val="2A2C1D"/>
                </a:solidFill>
                <a:latin typeface="Aptos" pitchFamily="34" charset="0"/>
                <a:ea typeface="Aptos" pitchFamily="34" charset="-122"/>
                <a:cs typeface="Aptos" pitchFamily="34" charset="-120"/>
              </a:rPr>
              <a:t>Accepted outcome,</a:t>
            </a:r>
            <a:endParaRPr lang="en-US" sz="1480" dirty="0"/>
          </a:p>
          <a:p>
            <a:pPr marL="0" indent="0">
              <a:buNone/>
            </a:pPr>
            <a:r>
              <a:rPr lang="en-US" sz="1480" b="1" dirty="0">
                <a:solidFill>
                  <a:srgbClr val="2A2C1D"/>
                </a:solidFill>
                <a:latin typeface="Aptos" pitchFamily="34" charset="0"/>
                <a:ea typeface="Aptos" pitchFamily="34" charset="-122"/>
                <a:cs typeface="Aptos" pitchFamily="34" charset="-120"/>
              </a:rPr>
              <a:t>not token count</a:t>
            </a:r>
            <a:endParaRPr lang="en-US" sz="1480" dirty="0"/>
          </a:p>
        </p:txBody>
      </p:sp>
      <p:sp>
        <p:nvSpPr>
          <p:cNvPr id="14" name="Shape 12"/>
          <p:cNvSpPr/>
          <p:nvPr/>
        </p:nvSpPr>
        <p:spPr>
          <a:xfrm>
            <a:off x="7772400" y="3127248"/>
            <a:ext cx="384048" cy="384048"/>
          </a:xfrm>
          <a:prstGeom prst="ellipse">
            <a:avLst/>
          </a:prstGeom>
          <a:solidFill>
            <a:srgbClr val="D8A846"/>
          </a:solidFill>
          <a:ln/>
        </p:spPr>
        <p:txBody>
          <a:bodyPr/>
          <a:lstStyle/>
          <a:p>
            <a:endParaRPr lang="en-US"/>
          </a:p>
        </p:txBody>
      </p:sp>
      <p:sp>
        <p:nvSpPr>
          <p:cNvPr id="15" name="Text 13"/>
          <p:cNvSpPr/>
          <p:nvPr/>
        </p:nvSpPr>
        <p:spPr>
          <a:xfrm>
            <a:off x="7772400" y="3246120"/>
            <a:ext cx="384048" cy="100584"/>
          </a:xfrm>
          <a:prstGeom prst="rect">
            <a:avLst/>
          </a:prstGeom>
          <a:noFill/>
          <a:ln/>
        </p:spPr>
        <p:txBody>
          <a:bodyPr wrap="square" lIns="0" tIns="0" rIns="0" bIns="0" rtlCol="0" anchor="ctr"/>
          <a:lstStyle/>
          <a:p>
            <a:pPr marL="0" indent="0" algn="ctr">
              <a:buNone/>
            </a:pPr>
            <a:r>
              <a:rPr lang="en-US" sz="900" b="1" dirty="0">
                <a:solidFill>
                  <a:srgbClr val="252B17"/>
                </a:solidFill>
                <a:latin typeface="Aptos" pitchFamily="34" charset="0"/>
                <a:ea typeface="Aptos" pitchFamily="34" charset="-122"/>
                <a:cs typeface="Aptos" pitchFamily="34" charset="-120"/>
              </a:rPr>
              <a:t>2</a:t>
            </a:r>
            <a:endParaRPr lang="en-US" sz="900" dirty="0"/>
          </a:p>
        </p:txBody>
      </p:sp>
      <p:sp>
        <p:nvSpPr>
          <p:cNvPr id="16" name="Text 14"/>
          <p:cNvSpPr/>
          <p:nvPr/>
        </p:nvSpPr>
        <p:spPr>
          <a:xfrm>
            <a:off x="8339328" y="3072384"/>
            <a:ext cx="2889504" cy="512064"/>
          </a:xfrm>
          <a:prstGeom prst="rect">
            <a:avLst/>
          </a:prstGeom>
          <a:noFill/>
          <a:ln/>
        </p:spPr>
        <p:txBody>
          <a:bodyPr wrap="square" lIns="0" tIns="0" rIns="0" bIns="0" rtlCol="0" anchor="ctr">
            <a:normAutofit/>
          </a:bodyPr>
          <a:lstStyle/>
          <a:p>
            <a:pPr marL="0" indent="0">
              <a:buNone/>
            </a:pPr>
            <a:r>
              <a:rPr lang="en-US" sz="1480" b="1" dirty="0">
                <a:solidFill>
                  <a:srgbClr val="2A2C1D"/>
                </a:solidFill>
                <a:latin typeface="Aptos" pitchFamily="34" charset="0"/>
                <a:ea typeface="Aptos" pitchFamily="34" charset="-122"/>
                <a:cs typeface="Aptos" pitchFamily="34" charset="-120"/>
              </a:rPr>
              <a:t>Revision changes time and usage</a:t>
            </a:r>
            <a:endParaRPr lang="en-US" sz="1480" dirty="0"/>
          </a:p>
        </p:txBody>
      </p:sp>
      <p:sp>
        <p:nvSpPr>
          <p:cNvPr id="17" name="Shape 15"/>
          <p:cNvSpPr/>
          <p:nvPr/>
        </p:nvSpPr>
        <p:spPr>
          <a:xfrm>
            <a:off x="7772400" y="3913632"/>
            <a:ext cx="384048" cy="384048"/>
          </a:xfrm>
          <a:prstGeom prst="ellipse">
            <a:avLst/>
          </a:prstGeom>
          <a:solidFill>
            <a:srgbClr val="72B01D"/>
          </a:solidFill>
          <a:ln/>
        </p:spPr>
        <p:txBody>
          <a:bodyPr/>
          <a:lstStyle/>
          <a:p>
            <a:endParaRPr lang="en-US"/>
          </a:p>
        </p:txBody>
      </p:sp>
      <p:sp>
        <p:nvSpPr>
          <p:cNvPr id="18" name="Text 16"/>
          <p:cNvSpPr/>
          <p:nvPr/>
        </p:nvSpPr>
        <p:spPr>
          <a:xfrm>
            <a:off x="7772400" y="4032504"/>
            <a:ext cx="384048" cy="100584"/>
          </a:xfrm>
          <a:prstGeom prst="rect">
            <a:avLst/>
          </a:prstGeom>
          <a:noFill/>
          <a:ln/>
        </p:spPr>
        <p:txBody>
          <a:bodyPr wrap="square" lIns="0" tIns="0" rIns="0" bIns="0" rtlCol="0" anchor="ctr"/>
          <a:lstStyle/>
          <a:p>
            <a:pPr marL="0" indent="0" algn="ctr">
              <a:buNone/>
            </a:pPr>
            <a:r>
              <a:rPr lang="en-US" sz="900" b="1" dirty="0">
                <a:solidFill>
                  <a:srgbClr val="252B17"/>
                </a:solidFill>
                <a:latin typeface="Aptos" pitchFamily="34" charset="0"/>
                <a:ea typeface="Aptos" pitchFamily="34" charset="-122"/>
                <a:cs typeface="Aptos" pitchFamily="34" charset="-120"/>
              </a:rPr>
              <a:t>3</a:t>
            </a:r>
            <a:endParaRPr lang="en-US" sz="900" dirty="0"/>
          </a:p>
        </p:txBody>
      </p:sp>
      <p:sp>
        <p:nvSpPr>
          <p:cNvPr id="19" name="Text 17"/>
          <p:cNvSpPr/>
          <p:nvPr/>
        </p:nvSpPr>
        <p:spPr>
          <a:xfrm>
            <a:off x="8339328" y="3858768"/>
            <a:ext cx="2889504" cy="512064"/>
          </a:xfrm>
          <a:prstGeom prst="rect">
            <a:avLst/>
          </a:prstGeom>
          <a:noFill/>
          <a:ln/>
        </p:spPr>
        <p:txBody>
          <a:bodyPr wrap="square" lIns="0" tIns="0" rIns="0" bIns="0" rtlCol="0" anchor="ctr">
            <a:normAutofit/>
          </a:bodyPr>
          <a:lstStyle/>
          <a:p>
            <a:pPr marL="0" indent="0">
              <a:buNone/>
            </a:pPr>
            <a:r>
              <a:rPr lang="en-US" sz="1480" b="1" dirty="0">
                <a:solidFill>
                  <a:srgbClr val="2A2C1D"/>
                </a:solidFill>
                <a:latin typeface="Aptos" pitchFamily="34" charset="0"/>
                <a:ea typeface="Aptos" pitchFamily="34" charset="-122"/>
                <a:cs typeface="Aptos" pitchFamily="34" charset="-120"/>
              </a:rPr>
              <a:t>One case proves little</a:t>
            </a:r>
            <a:endParaRPr lang="en-US" sz="1480" dirty="0"/>
          </a:p>
        </p:txBody>
      </p:sp>
      <p:sp>
        <p:nvSpPr>
          <p:cNvPr id="20" name="Shape 18"/>
          <p:cNvSpPr/>
          <p:nvPr/>
        </p:nvSpPr>
        <p:spPr>
          <a:xfrm>
            <a:off x="7726680" y="4882896"/>
            <a:ext cx="3401568" cy="566928"/>
          </a:xfrm>
          <a:prstGeom prst="roundRect">
            <a:avLst>
              <a:gd name="adj" fmla="val 12903"/>
            </a:avLst>
          </a:prstGeom>
          <a:solidFill>
            <a:srgbClr val="F7EACA"/>
          </a:solidFill>
          <a:ln/>
        </p:spPr>
        <p:txBody>
          <a:bodyPr/>
          <a:lstStyle/>
          <a:p>
            <a:endParaRPr lang="en-US"/>
          </a:p>
        </p:txBody>
      </p:sp>
      <p:sp>
        <p:nvSpPr>
          <p:cNvPr id="21" name="Text 19"/>
          <p:cNvSpPr/>
          <p:nvPr/>
        </p:nvSpPr>
        <p:spPr>
          <a:xfrm>
            <a:off x="7882128" y="5029200"/>
            <a:ext cx="3090672" cy="201168"/>
          </a:xfrm>
          <a:prstGeom prst="rect">
            <a:avLst/>
          </a:prstGeom>
          <a:noFill/>
          <a:ln/>
        </p:spPr>
        <p:txBody>
          <a:bodyPr wrap="square" lIns="0" tIns="0" rIns="0" bIns="0" rtlCol="0" anchor="ctr">
            <a:normAutofit/>
          </a:bodyPr>
          <a:lstStyle/>
          <a:p>
            <a:pPr marL="0" indent="0">
              <a:buNone/>
            </a:pPr>
            <a:r>
              <a:rPr lang="en-US" sz="1100" dirty="0">
                <a:solidFill>
                  <a:srgbClr val="252B17"/>
                </a:solidFill>
                <a:latin typeface="Consolas" pitchFamily="34" charset="0"/>
                <a:ea typeface="Consolas" pitchFamily="34" charset="-122"/>
                <a:cs typeface="Consolas" pitchFamily="34" charset="-120"/>
              </a:rPr>
              <a:t>demos/day5/module-4-demo-1-revision-cost.md</a:t>
            </a:r>
            <a:endParaRPr lang="en-US" sz="1100" dirty="0"/>
          </a:p>
        </p:txBody>
      </p:sp>
      <p:sp>
        <p:nvSpPr>
          <p:cNvPr id="22" name="Text 20"/>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DDE7EF"/>
                </a:solidFill>
                <a:latin typeface="Aptos" pitchFamily="34" charset="0"/>
                <a:ea typeface="Aptos" pitchFamily="34" charset="-122"/>
                <a:cs typeface="Aptos" pitchFamily="34" charset="-120"/>
              </a:rPr>
              <a:t>REFERENCE  learn.microsoft.com/agent-framework/agents/observability  ·  +3 more in notes</a:t>
            </a:r>
            <a:endParaRPr lang="en-US" sz="940" dirty="0"/>
          </a:p>
        </p:txBody>
      </p:sp>
      <p:sp>
        <p:nvSpPr>
          <p:cNvPr id="23" name="Shape 21"/>
          <p:cNvSpPr/>
          <p:nvPr/>
        </p:nvSpPr>
        <p:spPr>
          <a:xfrm>
            <a:off x="0" y="6793992"/>
            <a:ext cx="12191695" cy="64008"/>
          </a:xfrm>
          <a:prstGeom prst="rect">
            <a:avLst/>
          </a:prstGeom>
          <a:solidFill>
            <a:srgbClr val="D8A846"/>
          </a:solidFill>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CFAF2"/>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252B17"/>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4  /  WORKLOAD ECONOMICS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252B17"/>
                </a:solidFill>
                <a:latin typeface="Aptos Display" pitchFamily="34" charset="0"/>
                <a:ea typeface="Aptos Display" pitchFamily="34" charset="-122"/>
                <a:cs typeface="Aptos Display" pitchFamily="34" charset="-120"/>
              </a:rPr>
              <a:t>A budget is a policy—not a promise</a:t>
            </a:r>
            <a:endParaRPr lang="en-US" sz="3100" dirty="0"/>
          </a:p>
        </p:txBody>
      </p:sp>
      <p:sp>
        <p:nvSpPr>
          <p:cNvPr id="5" name="Shape 3"/>
          <p:cNvSpPr/>
          <p:nvPr/>
        </p:nvSpPr>
        <p:spPr>
          <a:xfrm>
            <a:off x="10824301" y="825155"/>
            <a:ext cx="85588" cy="164592"/>
          </a:xfrm>
          <a:prstGeom prst="rect">
            <a:avLst/>
          </a:prstGeom>
          <a:solidFill>
            <a:srgbClr val="F7EACA"/>
          </a:solidFill>
          <a:ln/>
        </p:spPr>
        <p:txBody>
          <a:bodyPr/>
          <a:lstStyle/>
          <a:p>
            <a:endParaRPr lang="en-US"/>
          </a:p>
        </p:txBody>
      </p:sp>
      <p:sp>
        <p:nvSpPr>
          <p:cNvPr id="6" name="Shape 4"/>
          <p:cNvSpPr/>
          <p:nvPr/>
        </p:nvSpPr>
        <p:spPr>
          <a:xfrm>
            <a:off x="10969142" y="686897"/>
            <a:ext cx="85588" cy="302849"/>
          </a:xfrm>
          <a:prstGeom prst="rect">
            <a:avLst/>
          </a:prstGeom>
          <a:solidFill>
            <a:srgbClr val="F7EACA"/>
          </a:solidFill>
          <a:ln/>
        </p:spPr>
        <p:txBody>
          <a:bodyPr/>
          <a:lstStyle/>
          <a:p>
            <a:endParaRPr lang="en-US"/>
          </a:p>
        </p:txBody>
      </p:sp>
      <p:sp>
        <p:nvSpPr>
          <p:cNvPr id="7" name="Shape 5"/>
          <p:cNvSpPr/>
          <p:nvPr/>
        </p:nvSpPr>
        <p:spPr>
          <a:xfrm>
            <a:off x="11113983" y="528889"/>
            <a:ext cx="85588" cy="460858"/>
          </a:xfrm>
          <a:prstGeom prst="rect">
            <a:avLst/>
          </a:prstGeom>
          <a:solidFill>
            <a:srgbClr val="D8A846"/>
          </a:solidFill>
          <a:ln/>
        </p:spPr>
        <p:txBody>
          <a:bodyPr/>
          <a:lstStyle/>
          <a:p>
            <a:endParaRPr lang="en-US"/>
          </a:p>
        </p:txBody>
      </p:sp>
      <p:sp>
        <p:nvSpPr>
          <p:cNvPr id="8" name="Shape 6"/>
          <p:cNvSpPr/>
          <p:nvPr/>
        </p:nvSpPr>
        <p:spPr>
          <a:xfrm>
            <a:off x="11258824" y="397215"/>
            <a:ext cx="85588" cy="592531"/>
          </a:xfrm>
          <a:prstGeom prst="rect">
            <a:avLst/>
          </a:prstGeom>
          <a:solidFill>
            <a:srgbClr val="D8A846"/>
          </a:solidFill>
          <a:ln/>
        </p:spPr>
        <p:txBody>
          <a:bodyPr/>
          <a:lstStyle/>
          <a:p>
            <a:endParaRPr lang="en-US"/>
          </a:p>
        </p:txBody>
      </p:sp>
      <p:sp>
        <p:nvSpPr>
          <p:cNvPr id="9" name="Shape 7"/>
          <p:cNvSpPr/>
          <p:nvPr/>
        </p:nvSpPr>
        <p:spPr>
          <a:xfrm>
            <a:off x="10824301" y="489387"/>
            <a:ext cx="539862" cy="408188"/>
          </a:xfrm>
          <a:prstGeom prst="line">
            <a:avLst/>
          </a:prstGeom>
          <a:noFill/>
          <a:ln w="25400">
            <a:solidFill>
              <a:srgbClr val="252B17"/>
            </a:solidFill>
            <a:prstDash val="solid"/>
          </a:ln>
        </p:spPr>
        <p:txBody>
          <a:bodyPr/>
          <a:lstStyle/>
          <a:p>
            <a:endParaRPr lang="en-US"/>
          </a:p>
        </p:txBody>
      </p:sp>
      <p:sp>
        <p:nvSpPr>
          <p:cNvPr id="10" name="Shape 8"/>
          <p:cNvSpPr/>
          <p:nvPr/>
        </p:nvSpPr>
        <p:spPr>
          <a:xfrm>
            <a:off x="11612880" y="457200"/>
            <a:ext cx="329184" cy="329184"/>
          </a:xfrm>
          <a:prstGeom prst="ellipse">
            <a:avLst/>
          </a:prstGeom>
          <a:solidFill>
            <a:srgbClr val="D8A846"/>
          </a:solidFill>
          <a:ln/>
        </p:spPr>
        <p:txBody>
          <a:bodyPr/>
          <a:lstStyle/>
          <a:p>
            <a:endParaRPr lang="en-US"/>
          </a:p>
        </p:txBody>
      </p:sp>
      <p:sp>
        <p:nvSpPr>
          <p:cNvPr id="11" name="Text 9"/>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252B17"/>
                </a:solidFill>
                <a:latin typeface="Aptos" pitchFamily="34" charset="0"/>
                <a:ea typeface="Aptos" pitchFamily="34" charset="-122"/>
                <a:cs typeface="Aptos" pitchFamily="34" charset="-120"/>
              </a:rPr>
              <a:t>11</a:t>
            </a:r>
            <a:endParaRPr lang="en-US" sz="850" dirty="0"/>
          </a:p>
        </p:txBody>
      </p:sp>
      <p:sp>
        <p:nvSpPr>
          <p:cNvPr id="12" name="Shape 10"/>
          <p:cNvSpPr/>
          <p:nvPr/>
        </p:nvSpPr>
        <p:spPr>
          <a:xfrm>
            <a:off x="9829800" y="1005840"/>
            <a:ext cx="2148840" cy="2148840"/>
          </a:xfrm>
          <a:prstGeom prst="ellipse">
            <a:avLst/>
          </a:prstGeom>
          <a:solidFill>
            <a:srgbClr val="F7EACA"/>
          </a:solidFill>
          <a:ln/>
        </p:spPr>
        <p:txBody>
          <a:bodyPr/>
          <a:lstStyle/>
          <a:p>
            <a:endParaRPr lang="en-US"/>
          </a:p>
        </p:txBody>
      </p:sp>
      <p:sp>
        <p:nvSpPr>
          <p:cNvPr id="13" name="Shape 11"/>
          <p:cNvSpPr/>
          <p:nvPr/>
        </p:nvSpPr>
        <p:spPr>
          <a:xfrm>
            <a:off x="1005840" y="2148840"/>
            <a:ext cx="10177272" cy="0"/>
          </a:xfrm>
          <a:prstGeom prst="line">
            <a:avLst/>
          </a:prstGeom>
          <a:noFill/>
          <a:ln w="50800">
            <a:solidFill>
              <a:srgbClr val="D8A846"/>
            </a:solidFill>
            <a:prstDash val="solid"/>
          </a:ln>
        </p:spPr>
        <p:txBody>
          <a:bodyPr/>
          <a:lstStyle/>
          <a:p>
            <a:endParaRPr lang="en-US"/>
          </a:p>
        </p:txBody>
      </p:sp>
      <p:sp>
        <p:nvSpPr>
          <p:cNvPr id="14" name="Shape 12"/>
          <p:cNvSpPr/>
          <p:nvPr/>
        </p:nvSpPr>
        <p:spPr>
          <a:xfrm>
            <a:off x="1637919" y="1892808"/>
            <a:ext cx="512064" cy="512064"/>
          </a:xfrm>
          <a:prstGeom prst="ellipse">
            <a:avLst/>
          </a:prstGeom>
          <a:solidFill>
            <a:srgbClr val="D8A846"/>
          </a:solidFill>
          <a:ln w="10160">
            <a:solidFill>
              <a:srgbClr val="252B17"/>
            </a:solidFill>
            <a:prstDash val="solid"/>
          </a:ln>
        </p:spPr>
        <p:txBody>
          <a:bodyPr/>
          <a:lstStyle/>
          <a:p>
            <a:endParaRPr lang="en-US"/>
          </a:p>
        </p:txBody>
      </p:sp>
      <p:sp>
        <p:nvSpPr>
          <p:cNvPr id="15" name="Text 13"/>
          <p:cNvSpPr/>
          <p:nvPr/>
        </p:nvSpPr>
        <p:spPr>
          <a:xfrm>
            <a:off x="1637919" y="2039112"/>
            <a:ext cx="512064" cy="109728"/>
          </a:xfrm>
          <a:prstGeom prst="rect">
            <a:avLst/>
          </a:prstGeom>
          <a:noFill/>
          <a:ln/>
        </p:spPr>
        <p:txBody>
          <a:bodyPr wrap="square" lIns="0" tIns="0" rIns="0" bIns="0" rtlCol="0" anchor="ctr"/>
          <a:lstStyle/>
          <a:p>
            <a:pPr marL="0" indent="0" algn="ctr">
              <a:buNone/>
            </a:pPr>
            <a:r>
              <a:rPr lang="en-US" sz="1000" b="1" dirty="0">
                <a:solidFill>
                  <a:srgbClr val="252B17"/>
                </a:solidFill>
                <a:latin typeface="Aptos" pitchFamily="34" charset="0"/>
                <a:ea typeface="Aptos" pitchFamily="34" charset="-122"/>
                <a:cs typeface="Aptos" pitchFamily="34" charset="-120"/>
              </a:rPr>
              <a:t>1</a:t>
            </a:r>
            <a:endParaRPr lang="en-US" sz="1000" dirty="0"/>
          </a:p>
        </p:txBody>
      </p:sp>
      <p:sp>
        <p:nvSpPr>
          <p:cNvPr id="16" name="Shape 14"/>
          <p:cNvSpPr/>
          <p:nvPr/>
        </p:nvSpPr>
        <p:spPr>
          <a:xfrm>
            <a:off x="640080" y="2542032"/>
            <a:ext cx="2507742" cy="3703320"/>
          </a:xfrm>
          <a:prstGeom prst="roundRect">
            <a:avLst>
              <a:gd name="adj" fmla="val 2552"/>
            </a:avLst>
          </a:prstGeom>
          <a:solidFill>
            <a:srgbClr val="F7EACA"/>
          </a:solidFill>
          <a:ln w="11430">
            <a:solidFill>
              <a:srgbClr val="F7EACA"/>
            </a:solidFill>
            <a:prstDash val="solid"/>
          </a:ln>
          <a:effectLst>
            <a:outerShdw blurRad="50800" dist="19050" dir="8100000" algn="bl" rotWithShape="0">
              <a:srgbClr val="111827">
                <a:alpha val="11000"/>
              </a:srgbClr>
            </a:outerShdw>
          </a:effectLst>
        </p:spPr>
        <p:txBody>
          <a:bodyPr/>
          <a:lstStyle/>
          <a:p>
            <a:endParaRPr lang="en-US"/>
          </a:p>
        </p:txBody>
      </p:sp>
      <p:sp>
        <p:nvSpPr>
          <p:cNvPr id="17" name="Text 15"/>
          <p:cNvSpPr/>
          <p:nvPr/>
        </p:nvSpPr>
        <p:spPr>
          <a:xfrm>
            <a:off x="822960" y="2816352"/>
            <a:ext cx="2141982" cy="566928"/>
          </a:xfrm>
          <a:prstGeom prst="rect">
            <a:avLst/>
          </a:prstGeom>
          <a:noFill/>
          <a:ln/>
        </p:spPr>
        <p:txBody>
          <a:bodyPr wrap="square" lIns="0" tIns="0" rIns="0" bIns="0" rtlCol="0" anchor="ctr">
            <a:normAutofit/>
          </a:bodyPr>
          <a:lstStyle/>
          <a:p>
            <a:pPr marL="0" indent="0" algn="ctr">
              <a:buNone/>
            </a:pPr>
            <a:r>
              <a:rPr lang="en-US" sz="1800" b="1" dirty="0">
                <a:solidFill>
                  <a:srgbClr val="252B17"/>
                </a:solidFill>
                <a:latin typeface="Aptos Display" pitchFamily="34" charset="0"/>
                <a:ea typeface="Aptos Display" pitchFamily="34" charset="-122"/>
                <a:cs typeface="Aptos Display" pitchFamily="34" charset="-120"/>
              </a:rPr>
              <a:t>Set the quality floor</a:t>
            </a:r>
            <a:endParaRPr lang="en-US" sz="1800" dirty="0"/>
          </a:p>
        </p:txBody>
      </p:sp>
      <p:sp>
        <p:nvSpPr>
          <p:cNvPr id="18" name="Text 16"/>
          <p:cNvSpPr/>
          <p:nvPr/>
        </p:nvSpPr>
        <p:spPr>
          <a:xfrm>
            <a:off x="877824" y="3566160"/>
            <a:ext cx="2032254" cy="2423160"/>
          </a:xfrm>
          <a:prstGeom prst="rect">
            <a:avLst/>
          </a:prstGeom>
          <a:noFill/>
          <a:ln/>
        </p:spPr>
        <p:txBody>
          <a:bodyPr wrap="square" lIns="0" tIns="0" rIns="0" bIns="0" rtlCol="0" anchor="t">
            <a:normAutofit/>
          </a:bodyPr>
          <a:lstStyle/>
          <a:p>
            <a:pPr marL="0" indent="0" algn="ctr">
              <a:buNone/>
            </a:pPr>
            <a:r>
              <a:rPr lang="en-US" sz="1430" dirty="0">
                <a:solidFill>
                  <a:srgbClr val="2A2C1D"/>
                </a:solidFill>
                <a:latin typeface="Aptos" pitchFamily="34" charset="0"/>
                <a:ea typeface="Aptos" pitchFamily="34" charset="-122"/>
                <a:cs typeface="Aptos" pitchFamily="34" charset="-120"/>
              </a:rPr>
              <a:t>Define what an acceptable outcome must contain</a:t>
            </a:r>
            <a:endParaRPr lang="en-US" sz="1430" dirty="0"/>
          </a:p>
        </p:txBody>
      </p:sp>
      <p:sp>
        <p:nvSpPr>
          <p:cNvPr id="19" name="Shape 17"/>
          <p:cNvSpPr/>
          <p:nvPr/>
        </p:nvSpPr>
        <p:spPr>
          <a:xfrm>
            <a:off x="4438269" y="1892808"/>
            <a:ext cx="512064" cy="512064"/>
          </a:xfrm>
          <a:prstGeom prst="ellipse">
            <a:avLst/>
          </a:prstGeom>
          <a:solidFill>
            <a:srgbClr val="D8A846"/>
          </a:solidFill>
          <a:ln w="10160">
            <a:solidFill>
              <a:srgbClr val="252B17"/>
            </a:solidFill>
            <a:prstDash val="solid"/>
          </a:ln>
        </p:spPr>
        <p:txBody>
          <a:bodyPr/>
          <a:lstStyle/>
          <a:p>
            <a:endParaRPr lang="en-US"/>
          </a:p>
        </p:txBody>
      </p:sp>
      <p:sp>
        <p:nvSpPr>
          <p:cNvPr id="20" name="Text 18"/>
          <p:cNvSpPr/>
          <p:nvPr/>
        </p:nvSpPr>
        <p:spPr>
          <a:xfrm>
            <a:off x="4438269" y="2039112"/>
            <a:ext cx="512064" cy="109728"/>
          </a:xfrm>
          <a:prstGeom prst="rect">
            <a:avLst/>
          </a:prstGeom>
          <a:noFill/>
          <a:ln/>
        </p:spPr>
        <p:txBody>
          <a:bodyPr wrap="square" lIns="0" tIns="0" rIns="0" bIns="0" rtlCol="0" anchor="ctr"/>
          <a:lstStyle/>
          <a:p>
            <a:pPr marL="0" indent="0" algn="ctr">
              <a:buNone/>
            </a:pPr>
            <a:r>
              <a:rPr lang="en-US" sz="1000" b="1" dirty="0">
                <a:solidFill>
                  <a:srgbClr val="252B17"/>
                </a:solidFill>
                <a:latin typeface="Aptos" pitchFamily="34" charset="0"/>
                <a:ea typeface="Aptos" pitchFamily="34" charset="-122"/>
                <a:cs typeface="Aptos" pitchFamily="34" charset="-120"/>
              </a:rPr>
              <a:t>2</a:t>
            </a:r>
            <a:endParaRPr lang="en-US" sz="1000" dirty="0"/>
          </a:p>
        </p:txBody>
      </p:sp>
      <p:sp>
        <p:nvSpPr>
          <p:cNvPr id="21" name="Shape 19"/>
          <p:cNvSpPr/>
          <p:nvPr/>
        </p:nvSpPr>
        <p:spPr>
          <a:xfrm>
            <a:off x="3440430" y="2542032"/>
            <a:ext cx="2507742" cy="3703320"/>
          </a:xfrm>
          <a:prstGeom prst="roundRect">
            <a:avLst>
              <a:gd name="adj" fmla="val 2552"/>
            </a:avLst>
          </a:prstGeom>
          <a:solidFill>
            <a:srgbClr val="FFFFFF"/>
          </a:solidFill>
          <a:ln w="11430">
            <a:solidFill>
              <a:srgbClr val="F7EACA"/>
            </a:solidFill>
            <a:prstDash val="solid"/>
          </a:ln>
          <a:effectLst>
            <a:outerShdw blurRad="50800" dist="19050" dir="8100000" algn="bl" rotWithShape="0">
              <a:srgbClr val="111827">
                <a:alpha val="11000"/>
              </a:srgbClr>
            </a:outerShdw>
          </a:effectLst>
        </p:spPr>
        <p:txBody>
          <a:bodyPr/>
          <a:lstStyle/>
          <a:p>
            <a:endParaRPr lang="en-US"/>
          </a:p>
        </p:txBody>
      </p:sp>
      <p:sp>
        <p:nvSpPr>
          <p:cNvPr id="22" name="Text 20"/>
          <p:cNvSpPr/>
          <p:nvPr/>
        </p:nvSpPr>
        <p:spPr>
          <a:xfrm>
            <a:off x="3623310" y="2816352"/>
            <a:ext cx="2141982" cy="566928"/>
          </a:xfrm>
          <a:prstGeom prst="rect">
            <a:avLst/>
          </a:prstGeom>
          <a:noFill/>
          <a:ln/>
        </p:spPr>
        <p:txBody>
          <a:bodyPr wrap="square" lIns="0" tIns="0" rIns="0" bIns="0" rtlCol="0" anchor="ctr">
            <a:normAutofit/>
          </a:bodyPr>
          <a:lstStyle/>
          <a:p>
            <a:pPr marL="0" indent="0" algn="ctr">
              <a:buNone/>
            </a:pPr>
            <a:r>
              <a:rPr lang="en-US" sz="1800" b="1" dirty="0">
                <a:solidFill>
                  <a:srgbClr val="252B17"/>
                </a:solidFill>
                <a:latin typeface="Aptos Display" pitchFamily="34" charset="0"/>
                <a:ea typeface="Aptos Display" pitchFamily="34" charset="-122"/>
                <a:cs typeface="Aptos Display" pitchFamily="34" charset="-120"/>
              </a:rPr>
              <a:t>Measure in units</a:t>
            </a:r>
            <a:endParaRPr lang="en-US" sz="1800" dirty="0"/>
          </a:p>
        </p:txBody>
      </p:sp>
      <p:sp>
        <p:nvSpPr>
          <p:cNvPr id="23" name="Text 21"/>
          <p:cNvSpPr/>
          <p:nvPr/>
        </p:nvSpPr>
        <p:spPr>
          <a:xfrm>
            <a:off x="3678174" y="3566160"/>
            <a:ext cx="2032254" cy="2423160"/>
          </a:xfrm>
          <a:prstGeom prst="rect">
            <a:avLst/>
          </a:prstGeom>
          <a:noFill/>
          <a:ln/>
        </p:spPr>
        <p:txBody>
          <a:bodyPr wrap="square" lIns="0" tIns="0" rIns="0" bIns="0" rtlCol="0" anchor="t">
            <a:normAutofit/>
          </a:bodyPr>
          <a:lstStyle/>
          <a:p>
            <a:pPr marL="0" indent="0" algn="ctr">
              <a:buNone/>
            </a:pPr>
            <a:r>
              <a:rPr lang="en-US" sz="1430" dirty="0">
                <a:solidFill>
                  <a:srgbClr val="2A2C1D"/>
                </a:solidFill>
                <a:latin typeface="Aptos" pitchFamily="34" charset="0"/>
                <a:ea typeface="Aptos" pitchFamily="34" charset="-122"/>
                <a:cs typeface="Aptos" pitchFamily="34" charset="-120"/>
              </a:rPr>
              <a:t>Record latency, usage, currency assumptions, and success</a:t>
            </a:r>
            <a:endParaRPr lang="en-US" sz="1430" dirty="0"/>
          </a:p>
        </p:txBody>
      </p:sp>
      <p:sp>
        <p:nvSpPr>
          <p:cNvPr id="24" name="Shape 22"/>
          <p:cNvSpPr/>
          <p:nvPr/>
        </p:nvSpPr>
        <p:spPr>
          <a:xfrm>
            <a:off x="7238619" y="1892808"/>
            <a:ext cx="512064" cy="512064"/>
          </a:xfrm>
          <a:prstGeom prst="ellipse">
            <a:avLst/>
          </a:prstGeom>
          <a:solidFill>
            <a:srgbClr val="D8A846"/>
          </a:solidFill>
          <a:ln w="10160">
            <a:solidFill>
              <a:srgbClr val="252B17"/>
            </a:solidFill>
            <a:prstDash val="solid"/>
          </a:ln>
        </p:spPr>
        <p:txBody>
          <a:bodyPr/>
          <a:lstStyle/>
          <a:p>
            <a:endParaRPr lang="en-US"/>
          </a:p>
        </p:txBody>
      </p:sp>
      <p:sp>
        <p:nvSpPr>
          <p:cNvPr id="25" name="Text 23"/>
          <p:cNvSpPr/>
          <p:nvPr/>
        </p:nvSpPr>
        <p:spPr>
          <a:xfrm>
            <a:off x="7238619" y="2039112"/>
            <a:ext cx="512064" cy="109728"/>
          </a:xfrm>
          <a:prstGeom prst="rect">
            <a:avLst/>
          </a:prstGeom>
          <a:noFill/>
          <a:ln/>
        </p:spPr>
        <p:txBody>
          <a:bodyPr wrap="square" lIns="0" tIns="0" rIns="0" bIns="0" rtlCol="0" anchor="ctr"/>
          <a:lstStyle/>
          <a:p>
            <a:pPr marL="0" indent="0" algn="ctr">
              <a:buNone/>
            </a:pPr>
            <a:r>
              <a:rPr lang="en-US" sz="1000" b="1" dirty="0">
                <a:solidFill>
                  <a:srgbClr val="252B17"/>
                </a:solidFill>
                <a:latin typeface="Aptos" pitchFamily="34" charset="0"/>
                <a:ea typeface="Aptos" pitchFamily="34" charset="-122"/>
                <a:cs typeface="Aptos" pitchFamily="34" charset="-120"/>
              </a:rPr>
              <a:t>3</a:t>
            </a:r>
            <a:endParaRPr lang="en-US" sz="1000" dirty="0"/>
          </a:p>
        </p:txBody>
      </p:sp>
      <p:sp>
        <p:nvSpPr>
          <p:cNvPr id="26" name="Shape 24"/>
          <p:cNvSpPr/>
          <p:nvPr/>
        </p:nvSpPr>
        <p:spPr>
          <a:xfrm>
            <a:off x="6240780" y="2542032"/>
            <a:ext cx="2507742" cy="3703320"/>
          </a:xfrm>
          <a:prstGeom prst="roundRect">
            <a:avLst>
              <a:gd name="adj" fmla="val 2552"/>
            </a:avLst>
          </a:prstGeom>
          <a:solidFill>
            <a:srgbClr val="F7EACA"/>
          </a:solidFill>
          <a:ln w="11430">
            <a:solidFill>
              <a:srgbClr val="F7EACA"/>
            </a:solidFill>
            <a:prstDash val="solid"/>
          </a:ln>
          <a:effectLst>
            <a:outerShdw blurRad="50800" dist="19050" dir="8100000" algn="bl" rotWithShape="0">
              <a:srgbClr val="111827">
                <a:alpha val="11000"/>
              </a:srgbClr>
            </a:outerShdw>
          </a:effectLst>
        </p:spPr>
        <p:txBody>
          <a:bodyPr/>
          <a:lstStyle/>
          <a:p>
            <a:endParaRPr lang="en-US"/>
          </a:p>
        </p:txBody>
      </p:sp>
      <p:sp>
        <p:nvSpPr>
          <p:cNvPr id="27" name="Text 25"/>
          <p:cNvSpPr/>
          <p:nvPr/>
        </p:nvSpPr>
        <p:spPr>
          <a:xfrm>
            <a:off x="6423660" y="2816352"/>
            <a:ext cx="2141982" cy="566928"/>
          </a:xfrm>
          <a:prstGeom prst="rect">
            <a:avLst/>
          </a:prstGeom>
          <a:noFill/>
          <a:ln/>
        </p:spPr>
        <p:txBody>
          <a:bodyPr wrap="square" lIns="0" tIns="0" rIns="0" bIns="0" rtlCol="0" anchor="ctr">
            <a:normAutofit/>
          </a:bodyPr>
          <a:lstStyle/>
          <a:p>
            <a:pPr marL="0" indent="0" algn="ctr">
              <a:buNone/>
            </a:pPr>
            <a:r>
              <a:rPr lang="en-US" sz="1800" b="1" dirty="0">
                <a:solidFill>
                  <a:srgbClr val="252B17"/>
                </a:solidFill>
                <a:latin typeface="Aptos Display" pitchFamily="34" charset="0"/>
                <a:ea typeface="Aptos Display" pitchFamily="34" charset="-122"/>
                <a:cs typeface="Aptos Display" pitchFamily="34" charset="-120"/>
              </a:rPr>
              <a:t>Bound each dimension</a:t>
            </a:r>
            <a:endParaRPr lang="en-US" sz="1800" dirty="0"/>
          </a:p>
        </p:txBody>
      </p:sp>
      <p:sp>
        <p:nvSpPr>
          <p:cNvPr id="28" name="Text 26"/>
          <p:cNvSpPr/>
          <p:nvPr/>
        </p:nvSpPr>
        <p:spPr>
          <a:xfrm>
            <a:off x="6478524" y="3566160"/>
            <a:ext cx="2032254" cy="2423160"/>
          </a:xfrm>
          <a:prstGeom prst="rect">
            <a:avLst/>
          </a:prstGeom>
          <a:noFill/>
          <a:ln/>
        </p:spPr>
        <p:txBody>
          <a:bodyPr wrap="square" lIns="0" tIns="0" rIns="0" bIns="0" rtlCol="0" anchor="t">
            <a:normAutofit/>
          </a:bodyPr>
          <a:lstStyle/>
          <a:p>
            <a:pPr marL="0" indent="0" algn="ctr">
              <a:buNone/>
            </a:pPr>
            <a:r>
              <a:rPr lang="en-US" sz="1430" dirty="0">
                <a:solidFill>
                  <a:srgbClr val="2A2C1D"/>
                </a:solidFill>
                <a:latin typeface="Aptos" pitchFamily="34" charset="0"/>
                <a:ea typeface="Aptos" pitchFamily="34" charset="-122"/>
                <a:cs typeface="Aptos" pitchFamily="34" charset="-120"/>
              </a:rPr>
              <a:t>Revisions, tokens, tools, elapsed time, and evaluator work</a:t>
            </a:r>
            <a:endParaRPr lang="en-US" sz="1430" dirty="0"/>
          </a:p>
        </p:txBody>
      </p:sp>
      <p:sp>
        <p:nvSpPr>
          <p:cNvPr id="29" name="Shape 27"/>
          <p:cNvSpPr/>
          <p:nvPr/>
        </p:nvSpPr>
        <p:spPr>
          <a:xfrm>
            <a:off x="10038969" y="1892808"/>
            <a:ext cx="512064" cy="512064"/>
          </a:xfrm>
          <a:prstGeom prst="ellipse">
            <a:avLst/>
          </a:prstGeom>
          <a:solidFill>
            <a:srgbClr val="72B01D"/>
          </a:solidFill>
          <a:ln w="10160">
            <a:solidFill>
              <a:srgbClr val="252B17"/>
            </a:solidFill>
            <a:prstDash val="solid"/>
          </a:ln>
        </p:spPr>
        <p:txBody>
          <a:bodyPr/>
          <a:lstStyle/>
          <a:p>
            <a:endParaRPr lang="en-US"/>
          </a:p>
        </p:txBody>
      </p:sp>
      <p:sp>
        <p:nvSpPr>
          <p:cNvPr id="30" name="Text 28"/>
          <p:cNvSpPr/>
          <p:nvPr/>
        </p:nvSpPr>
        <p:spPr>
          <a:xfrm>
            <a:off x="10038969" y="2039112"/>
            <a:ext cx="512064" cy="109728"/>
          </a:xfrm>
          <a:prstGeom prst="rect">
            <a:avLst/>
          </a:prstGeom>
          <a:noFill/>
          <a:ln/>
        </p:spPr>
        <p:txBody>
          <a:bodyPr wrap="square" lIns="0" tIns="0" rIns="0" bIns="0" rtlCol="0" anchor="ctr"/>
          <a:lstStyle/>
          <a:p>
            <a:pPr marL="0" indent="0" algn="ctr">
              <a:buNone/>
            </a:pPr>
            <a:r>
              <a:rPr lang="en-US" sz="1000" b="1" dirty="0">
                <a:solidFill>
                  <a:srgbClr val="252B17"/>
                </a:solidFill>
                <a:latin typeface="Aptos" pitchFamily="34" charset="0"/>
                <a:ea typeface="Aptos" pitchFamily="34" charset="-122"/>
                <a:cs typeface="Aptos" pitchFamily="34" charset="-120"/>
              </a:rPr>
              <a:t>4</a:t>
            </a:r>
            <a:endParaRPr lang="en-US" sz="1000" dirty="0"/>
          </a:p>
        </p:txBody>
      </p:sp>
      <p:sp>
        <p:nvSpPr>
          <p:cNvPr id="31" name="Shape 29"/>
          <p:cNvSpPr/>
          <p:nvPr/>
        </p:nvSpPr>
        <p:spPr>
          <a:xfrm>
            <a:off x="9041130" y="2542032"/>
            <a:ext cx="2507742" cy="3703320"/>
          </a:xfrm>
          <a:prstGeom prst="roundRect">
            <a:avLst>
              <a:gd name="adj" fmla="val 2552"/>
            </a:avLst>
          </a:prstGeom>
          <a:solidFill>
            <a:srgbClr val="FFFFFF"/>
          </a:solidFill>
          <a:ln w="11430">
            <a:solidFill>
              <a:srgbClr val="72B01D"/>
            </a:solidFill>
            <a:prstDash val="solid"/>
          </a:ln>
          <a:effectLst>
            <a:outerShdw blurRad="50800" dist="19050" dir="8100000" algn="bl" rotWithShape="0">
              <a:srgbClr val="111827">
                <a:alpha val="11000"/>
              </a:srgbClr>
            </a:outerShdw>
          </a:effectLst>
        </p:spPr>
        <p:txBody>
          <a:bodyPr/>
          <a:lstStyle/>
          <a:p>
            <a:endParaRPr lang="en-US"/>
          </a:p>
        </p:txBody>
      </p:sp>
      <p:sp>
        <p:nvSpPr>
          <p:cNvPr id="32" name="Text 30"/>
          <p:cNvSpPr/>
          <p:nvPr/>
        </p:nvSpPr>
        <p:spPr>
          <a:xfrm>
            <a:off x="9224010" y="2816352"/>
            <a:ext cx="2141982" cy="566928"/>
          </a:xfrm>
          <a:prstGeom prst="rect">
            <a:avLst/>
          </a:prstGeom>
          <a:noFill/>
          <a:ln/>
        </p:spPr>
        <p:txBody>
          <a:bodyPr wrap="square" lIns="0" tIns="0" rIns="0" bIns="0" rtlCol="0" anchor="ctr">
            <a:normAutofit/>
          </a:bodyPr>
          <a:lstStyle/>
          <a:p>
            <a:pPr marL="0" indent="0" algn="ctr">
              <a:buNone/>
            </a:pPr>
            <a:r>
              <a:rPr lang="en-US" sz="1800" b="1" dirty="0">
                <a:solidFill>
                  <a:srgbClr val="252B17"/>
                </a:solidFill>
                <a:latin typeface="Aptos Display" pitchFamily="34" charset="0"/>
                <a:ea typeface="Aptos Display" pitchFamily="34" charset="-122"/>
                <a:cs typeface="Aptos Display" pitchFamily="34" charset="-120"/>
              </a:rPr>
              <a:t>Stop deliberately</a:t>
            </a:r>
            <a:endParaRPr lang="en-US" sz="1800" dirty="0"/>
          </a:p>
        </p:txBody>
      </p:sp>
      <p:sp>
        <p:nvSpPr>
          <p:cNvPr id="33" name="Text 31"/>
          <p:cNvSpPr/>
          <p:nvPr/>
        </p:nvSpPr>
        <p:spPr>
          <a:xfrm>
            <a:off x="9278874" y="3566160"/>
            <a:ext cx="2032254" cy="2423160"/>
          </a:xfrm>
          <a:prstGeom prst="rect">
            <a:avLst/>
          </a:prstGeom>
          <a:noFill/>
          <a:ln/>
        </p:spPr>
        <p:txBody>
          <a:bodyPr wrap="square" lIns="0" tIns="0" rIns="0" bIns="0" rtlCol="0" anchor="t">
            <a:normAutofit/>
          </a:bodyPr>
          <a:lstStyle/>
          <a:p>
            <a:pPr marL="0" indent="0" algn="ctr">
              <a:buNone/>
            </a:pPr>
            <a:r>
              <a:rPr lang="en-US" sz="1430" dirty="0">
                <a:solidFill>
                  <a:srgbClr val="2A2C1D"/>
                </a:solidFill>
                <a:latin typeface="Aptos" pitchFamily="34" charset="0"/>
                <a:ea typeface="Aptos" pitchFamily="34" charset="-122"/>
                <a:cs typeface="Aptos" pitchFamily="34" charset="-120"/>
              </a:rPr>
              <a:t>Return partial evidence, defer, or escalate through application policy</a:t>
            </a:r>
            <a:endParaRPr lang="en-US" sz="1430" dirty="0"/>
          </a:p>
        </p:txBody>
      </p:sp>
      <p:sp>
        <p:nvSpPr>
          <p:cNvPr id="34" name="Text 32"/>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6D6A55"/>
                </a:solidFill>
                <a:latin typeface="Aptos" pitchFamily="34" charset="0"/>
                <a:ea typeface="Aptos" pitchFamily="34" charset="-122"/>
                <a:cs typeface="Aptos" pitchFamily="34" charset="-120"/>
              </a:rPr>
              <a:t>REFERENCE  learn.microsoft.com/azure/foundry/openai/how-to/evaluate-model-router  ·  +2 more in notes</a:t>
            </a:r>
            <a:endParaRPr lang="en-US" sz="940" dirty="0"/>
          </a:p>
        </p:txBody>
      </p:sp>
      <p:sp>
        <p:nvSpPr>
          <p:cNvPr id="35" name="Shape 33"/>
          <p:cNvSpPr/>
          <p:nvPr/>
        </p:nvSpPr>
        <p:spPr>
          <a:xfrm>
            <a:off x="0" y="6793992"/>
            <a:ext cx="12191695" cy="64008"/>
          </a:xfrm>
          <a:prstGeom prst="rect">
            <a:avLst/>
          </a:prstGeom>
          <a:solidFill>
            <a:srgbClr val="D8A846"/>
          </a:solid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2339</Words>
  <Application>Microsoft Macintosh PowerPoint</Application>
  <PresentationFormat>Widescreen</PresentationFormat>
  <Paragraphs>220</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Building AI Apps and Agents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 Latency, and Model Routing</dc:title>
  <dc:subject>Day 5 — Production Readiness and Capstone</dc:subject>
  <dc:creator>Building AI Apps and Agents Workshop</dc:creator>
  <cp:lastModifiedBy>Jim Welch</cp:lastModifiedBy>
  <cp:revision>2</cp:revision>
  <dcterms:created xsi:type="dcterms:W3CDTF">2026-09-18T21:01:13Z</dcterms:created>
  <dcterms:modified xsi:type="dcterms:W3CDTF">2026-09-19T20:21:42Z</dcterms:modified>
</cp:coreProperties>
</file>