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Outcome: Frame evaluation as the evidence layer between an agent change and a release decision. Microsoft Agent Framework can run fast local evaluators, Foundry evaluators, or both in one evaluation run. This module follows a decision path: identify the quality question, select evaluators and data, interpret each evaluator's scale, and place repeatable evaluation at the right lifecycle stage. Transition: First establish why conventional deterministic tests cannot provide enough evidence on their own.
• GROUNDING SOURCE: https://learn.microsoft.com/azure/foundry/concepts/observability
• GROUNDING SOURCE: https://learn.microsoft.com/agent-framework/agents/evaluation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Keep deterministic tests for code, schemas, permissions, and tool contracts; add evaluation for behavior that is variable or judged on a continuum. Foundry observability explicitly joins evaluation, monitoring, and tracing because no single signal explains quality. Avoid saying evaluation proves an application is safe or compliant. It supplies evidence for a human-owned release and governance process. Prompt: Ask which failure would be most expensive for the audience's current agent: a bad answer, a wrong action, or a harmful interaction.
• GROUNDING SOURCE: https://learn.microsoft.com/azure/foundry/concepts/observability
• GROUNDING SOURCE: https://learn.microsoft.com/agent-framework/agents/evaluation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These four questions keep teams from treating one aggregate score as "agent quality." Response quality, system outcomes, process behavior, and safety need different evidence. An application can be fluent but ungrounded, complete a task while violating policy, or resist ordinary prompts but fail under adversarial pressure. Boundary: Built-in evaluators measure selected behaviors. Red teaming explores attack paths. Neither replaces deterministic tests, threat modeling, monitoring, or human review.
• GROUNDING SOURCE: https://learn.microsoft.com/azure/foundry/concepts/built-in-evaluators
• GROUNDING SOURCE: https://learn.microsoft.com/azure/foundry/concepts/evaluation-evaluators/agent-evaluators
• GROUNDING SOURCE: https://learn.microsoft.com/azure/foundry/concepts/evaluation-evaluators/risk-safety-evaluators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The current Foundry catalog contains more evaluator categories than these five lanes, including textual-similarity, natural-language-processing, and OpenAI-based graders. The slide deliberately groups the evaluators needed for the module's story rather than claiming an official five-family taxonomy. Start from the release decision and failure modes, then choose evaluators; do not start by running the entire catalog. Transition: Begin with the smallest quality question: is the response well written?
• GROUNDING SOURCE: https://learn.microsoft.com/azure/foundry/concepts/built-in-evaluators
• GROUNDING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Coherence and fluency judge writing quality, not factual correctness. A hallucination can score well on both, so pair them with groundedness, relevance, domain checks, or human review when correctness matters. Explain that the evaluator model is another model dependency: pin it, record it, and treat a score as evidence with uncertainty rather than ground truth. Scale: Higher is better; the default threshold is documented, but teams can configure thresholds for their application.
• GROUNDING SOURCE: https://learn.microsoft.com/azure/foundry/concepts/evaluation-evaluators/general-purpose-evaluators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A grounded response can still be incomplete, and a relevant response can still rely on poor retrieval. Retrieval and Document Retrieval inspect the process. Groundedness, Groundedness Pro, Relevance, and Response Completeness inspect the end result. Boundary: Groundedness Pro is preview, produces a binary result, and does not require deployment_name; other RAG evaluators have their own model, input, score, and support requirements. Check the current evaluator reference before automating a gate.
• GROUNDING SOURCE: https://learn.microsoft.com/azure/foundry/concepts/evaluation-evaluators/rag-evaluators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System evaluators score the outcome or interaction, not just the final sentence. Their outputs are not uniform: some return a score with a thresholded pass result, some return binary results, and some also return diagnostic details. Do not normalize them blindly into one average. Data: Agent evaluations can require conversation history, tool definitions, tool calls, responses, and sometimes ground truth. Verify the evaluator's required inputs and supported evaluation level.
• GROUNDING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Process evaluators are the closest equivalent to behavioral unit tests inside an agent trajectory, but they are not ordinary code unit tests. They inspect structured trace or message evidence and may use model judgment. Use them to localize why a system evaluator failed: wrong tool selection, bad parameters, ignored output, or execution error. Caution: Not every evaluator supports every target, evaluation level, or input format; preserve the raw per-evaluator result and reason.
• GROUNDING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Do not apply one safety scale to this whole list. The four content-safety evaluators—hate and unfairness, sexual, violence, and self-harm—use a 0–7 severity scale with a documented default passing threshold of 3 or lower. Other evaluators can return direct pass/fail results and have target restrictions. Boundary: Prohibited Actions and Sensitive Data Leakage are preview and agent-only; Indirect Attack is model-only. Recheck preview status, region support, and evaluator availability before delivery.
• GROUNDING SOURCE: https://learn.microsoft.com/azure/foundry/concepts/evaluation-evaluators/risk-safety-evaluators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The supplied reference deck included example targets such as quality at least 4, safety at most 1, and 90% tool-call pass rate. Those are not documented Microsoft defaults, so they are intentionally removed here. Teams can adopt similar targets only as explicit, validated application policy. Practice: Record the evaluator version, judge deployment when applicable, threshold, dataset version, target version, and raw results. Compare like with like; avoid averaging incompatible scales into a misleading universal score.
• GROUNDING SOURCE: https://learn.microsoft.com/azure/foundry/concepts/evaluation-evaluators/general-purpose-evaluators
• GROUNDING SOURCE: https://learn.microsoft.com/azure/foundry/concepts/evaluation-evaluators/risk-safety-evaluators
• GROUNDING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A custom evaluator turns the application's own quality contract into repeatable evidence. Code-based evaluators run in a constrained sandbox: code is under 256 KB, each grading call has a two-minute limit, the runtime has no network access, and the documented resources are 2 GB memory, 1 GB disk, and two CPU cores. Exceptions and timeouts are recorded as an error with a 0.0 result. Use an endpoint-based evaluator when network access or a proprietary external dependency is required. Design: Make the reason as useful as the score so failures lead to action.
• GROUNDING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Build the bundle from the application architecture and failure modes. A RAG application needs both retrieval and response evidence. A tool-using agent needs both system and process evidence. A public-facing application usually warrants risk-based safety evaluation and pre-production adversarial testing. Boundary: Red teaming is complementary to evaluator runs; it generates and explores adversarial attacks rather than simply adding one more score column. Do not run every evaluator by default, and do not claim that a starter bundle establishes safety or compliance.
• GROUNDING SOURCE: https://learn.microsoft.com/azure/foundry/concepts/built-in-evaluators
• GROUNDING SOURCE: https://learn.microsoft.com/azure/foundry/concepts/ai-red-teaming-agent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The lifecycle is a feedback loop, not three disconnected environments. Agent Framework supports local and Foundry-backed evaluators. Foundry's GitHub Action can automate offline pre-production agent evaluation and reports confidence intervals and statistical comparison, but the feature is preview and Microsoft advises against running evaluation on every commit when cost is a concern. In production, continuous evaluation operates on sampled traffic; it does not inspect every interaction. The trace-to-dataset workflow is preview and requires deliberate curation before reuse.
• GROUNDING SOURCE: https://learn.microsoft.com/azure/foundry/concepts/observability
• GROUNDING SOURCE: https://learn.microsoft.com/agent-framework/agents/evaluation
• GROUNDING SOURCE: https://learn.microsoft.com/azure/foundry/how-to/evaluation-github-action
• GROUNDING SOURCE: https://learn.microsoft.com/azure/foundry/observability/how-to/traces-to-dataset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A reusable evaluation dataset lets teams rerun stable cases against prompt, model, or agent versions. Foundry can also evaluate existing responses or traces without first creating a dataset, so "golden dataset" is a useful practice, not a mandatory prerequisite for every evaluation. Correction from the supplied deck: The 50/100/500-row progression was a heuristic, not Microsoft guidance. Dataset size should follow scenario coverage, evaluator variance, cost, and the confidence needed for the release decision. Human-review generated and production-derived cases before promoting them into a trusted regression set.
• GROUNDING SOURCE: https://learn.microsoft.com/azure/foundry/observability/how-to/evaluation-datasets
• GROUNDING SOURCE: https://learn.microsoft.com/azure/foundry/observability/how-to/evaluation-dataset-synthetic
• GROUNDING SOURCE: https://learn.microsoft.com/azure/foundry/observability/how-to/traces-to-dataset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Teaching point: Adoption starts with one decision and one application, not an enterprise metric catalog. Each phase adds an operating capability: repeatable evidence, automated comparison, production feedback, and shared governance. The roadmap is workshop guidance rather than a Microsoft maturity model. Action: Ask participants to name the first application, the release decision evaluation will inform, and the owner who can accept or reject the resulting evidence.
• GROUNDING SOURCE: https://learn.microsoft.com/azure/foundry/concepts/observability
• GROUNDING SOURCE: https://learn.microsoft.com/azure/foundry/observability/how-to/evaluation-datasets
• GROUNDING SOURCE: https://learn.microsoft.com/azure/foundry/how-to/evaluation-github-action
• GROUNDING SOURCE: https://learn.microsoft.com/azure/foundry/concepts/ai-red-teaming-agent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Outcome: Leave participants with the official reference set used to ground this module. The product surfaces, evaluator names, outputs, preview status, and support boundaries can change; recheck these pages before delivery and pin any code samples or package versions used in a demonstration or lab. Close: Evaluation is useful when a team can connect a failure mode to an evaluator, a representative case, an explicit threshold or review rule, and an accountable release decision.
• GROUNDING SOURCE: https://learn.microsoft.com/azure/foundry/concepts/built-in-evaluators
• GROUNDING SOURCE: https://learn.microsoft.com/agent-framework/agents/evaluation
• GROUNDING SOURCE: https://learn.microsoft.com/azure/foundry/observability/how-to/evaluation-datasets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5 · MODULE 6 · 20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AI Evaluations for Agent Framework Developers</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Measuring quality, safety, and task completion in agentic systems</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 · Microsoft Foundry + Microsoft Agent Framework</a:t>
            </a:r>
            <a:endParaRPr lang="en-US" sz="1000" dirty="0"/>
          </a:p>
        </p:txBody>
      </p:sp>
      <p:sp>
        <p:nvSpPr>
          <p:cNvPr id="6" name="Text 4"/>
          <p:cNvSpPr/>
          <p:nvPr/>
        </p:nvSpPr>
        <p:spPr>
          <a:xfrm>
            <a:off x="384048" y="4187952"/>
            <a:ext cx="7543800" cy="164592"/>
          </a:xfrm>
          <a:prstGeom prst="rect">
            <a:avLst/>
          </a:prstGeom>
          <a:noFill/>
          <a:ln/>
        </p:spPr>
        <p:txBody>
          <a:bodyPr wrap="square" lIns="0" tIns="0" rIns="0" bIns="0" rtlCol="0" anchor="ctr">
            <a:normAutofit/>
          </a:bodyPr>
          <a:lstStyle/>
          <a:p>
            <a:pPr indent="0" marL="0">
              <a:buNone/>
            </a:pPr>
            <a:r>
              <a:rPr lang="en-US" sz="720" dirty="0">
                <a:solidFill>
                  <a:srgbClr val="CADCFC"/>
                </a:solidFill>
                <a:latin typeface="Calibri" pitchFamily="34" charset="0"/>
                <a:ea typeface="Calibri" pitchFamily="34" charset="-122"/>
                <a:cs typeface="Calibri" pitchFamily="34" charset="-120"/>
              </a:rPr>
              <a:t>Source: learn.microsoft.com/azure/foundry/concepts/observability</a:t>
            </a:r>
            <a:endParaRPr lang="en-US" sz="7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Traditional testing isn't enough</a:t>
            </a:r>
            <a:endParaRPr lang="en-US" sz="2800" dirty="0"/>
          </a:p>
        </p:txBody>
      </p:sp>
      <p:sp>
        <p:nvSpPr>
          <p:cNvPr id="5" name="Shape 3"/>
          <p:cNvSpPr/>
          <p:nvPr/>
        </p:nvSpPr>
        <p:spPr>
          <a:xfrm>
            <a:off x="365760" y="1051560"/>
            <a:ext cx="8412480" cy="566928"/>
          </a:xfrm>
          <a:prstGeom prst="roundRect">
            <a:avLst>
              <a:gd name="adj" fmla="val 12903"/>
            </a:avLst>
          </a:prstGeom>
          <a:solidFill>
            <a:srgbClr val="CADCFC">
              <a:alpha val="65000"/>
            </a:srgbClr>
          </a:solidFill>
          <a:ln w="6350">
            <a:solidFill>
              <a:srgbClr val="D1D5DB"/>
            </a:solidFill>
            <a:prstDash val="solid"/>
          </a:ln>
        </p:spPr>
      </p:sp>
      <p:sp>
        <p:nvSpPr>
          <p:cNvPr id="6" name="Text 4"/>
          <p:cNvSpPr/>
          <p:nvPr/>
        </p:nvSpPr>
        <p:spPr>
          <a:xfrm>
            <a:off x="512064" y="1133856"/>
            <a:ext cx="8119872" cy="402336"/>
          </a:xfrm>
          <a:prstGeom prst="rect">
            <a:avLst/>
          </a:prstGeom>
          <a:noFill/>
          <a:ln/>
        </p:spPr>
        <p:txBody>
          <a:bodyPr wrap="square" lIns="0" tIns="0" rIns="0" bIns="0" rtlCol="0" anchor="ctr">
            <a:normAutofit/>
          </a:bodyPr>
          <a:lstStyle/>
          <a:p>
            <a:pPr indent="0" marL="0">
              <a:buNone/>
            </a:pPr>
            <a:r>
              <a:rPr lang="en-US" sz="1220" dirty="0">
                <a:solidFill>
                  <a:srgbClr val="212121"/>
                </a:solidFill>
                <a:latin typeface="Calibri" pitchFamily="34" charset="0"/>
                <a:ea typeface="Calibri" pitchFamily="34" charset="-122"/>
                <a:cs typeface="Calibri" pitchFamily="34" charset="-120"/>
              </a:rPr>
              <a:t>AI behavior is probabilistic. A response can be polished but wrong, and an agent can reach a plausible answer through the wrong tools or sequence.</a:t>
            </a:r>
            <a:endParaRPr lang="en-US" sz="1220" dirty="0"/>
          </a:p>
        </p:txBody>
      </p:sp>
      <p:sp>
        <p:nvSpPr>
          <p:cNvPr id="7" name="Shape 5"/>
          <p:cNvSpPr/>
          <p:nvPr/>
        </p:nvSpPr>
        <p:spPr>
          <a:xfrm>
            <a:off x="365760" y="1764792"/>
            <a:ext cx="2694432" cy="2944368"/>
          </a:xfrm>
          <a:prstGeom prst="roundRect">
            <a:avLst>
              <a:gd name="adj" fmla="val 2715"/>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8" name="Shape 6"/>
          <p:cNvSpPr/>
          <p:nvPr/>
        </p:nvSpPr>
        <p:spPr>
          <a:xfrm>
            <a:off x="365760" y="1764792"/>
            <a:ext cx="64008" cy="2944368"/>
          </a:xfrm>
          <a:prstGeom prst="rect">
            <a:avLst/>
          </a:prstGeom>
          <a:solidFill>
            <a:srgbClr val="1E2761"/>
          </a:solidFill>
          <a:ln/>
        </p:spPr>
      </p:sp>
      <p:sp>
        <p:nvSpPr>
          <p:cNvPr id="9" name="Shape 7"/>
          <p:cNvSpPr/>
          <p:nvPr/>
        </p:nvSpPr>
        <p:spPr>
          <a:xfrm>
            <a:off x="512064" y="1892808"/>
            <a:ext cx="256032" cy="256032"/>
          </a:xfrm>
          <a:prstGeom prst="ellipse">
            <a:avLst/>
          </a:prstGeom>
          <a:solidFill>
            <a:srgbClr val="1E2761"/>
          </a:solidFill>
          <a:ln/>
        </p:spPr>
      </p:sp>
      <p:sp>
        <p:nvSpPr>
          <p:cNvPr id="10" name="Text 8"/>
          <p:cNvSpPr/>
          <p:nvPr/>
        </p:nvSpPr>
        <p:spPr>
          <a:xfrm>
            <a:off x="512064"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841248"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Reputational</a:t>
            </a:r>
            <a:endParaRPr lang="en-US" sz="1500" dirty="0"/>
          </a:p>
        </p:txBody>
      </p:sp>
      <p:sp>
        <p:nvSpPr>
          <p:cNvPr id="12" name="Text 10"/>
          <p:cNvSpPr/>
          <p:nvPr/>
        </p:nvSpPr>
        <p:spPr>
          <a:xfrm>
            <a:off x="512064"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Inaccurate, inconsistent, poorly grounded, or harmful responses erode user trust.</a:t>
            </a:r>
            <a:endParaRPr lang="en-US" sz="1210" dirty="0"/>
          </a:p>
        </p:txBody>
      </p:sp>
      <p:sp>
        <p:nvSpPr>
          <p:cNvPr id="13" name="Shape 11"/>
          <p:cNvSpPr/>
          <p:nvPr/>
        </p:nvSpPr>
        <p:spPr>
          <a:xfrm>
            <a:off x="3224784" y="1764792"/>
            <a:ext cx="2694432" cy="2944368"/>
          </a:xfrm>
          <a:prstGeom prst="roundRect">
            <a:avLst>
              <a:gd name="adj" fmla="val 2715"/>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4" name="Shape 12"/>
          <p:cNvSpPr/>
          <p:nvPr/>
        </p:nvSpPr>
        <p:spPr>
          <a:xfrm>
            <a:off x="3224784" y="1764792"/>
            <a:ext cx="64008" cy="2944368"/>
          </a:xfrm>
          <a:prstGeom prst="rect">
            <a:avLst/>
          </a:prstGeom>
          <a:solidFill>
            <a:srgbClr val="2B7A78"/>
          </a:solidFill>
          <a:ln/>
        </p:spPr>
      </p:sp>
      <p:sp>
        <p:nvSpPr>
          <p:cNvPr id="15" name="Shape 13"/>
          <p:cNvSpPr/>
          <p:nvPr/>
        </p:nvSpPr>
        <p:spPr>
          <a:xfrm>
            <a:off x="3371088" y="1892808"/>
            <a:ext cx="256032" cy="256032"/>
          </a:xfrm>
          <a:prstGeom prst="ellipse">
            <a:avLst/>
          </a:prstGeom>
          <a:solidFill>
            <a:srgbClr val="2B7A78"/>
          </a:solidFill>
          <a:ln/>
        </p:spPr>
      </p:sp>
      <p:sp>
        <p:nvSpPr>
          <p:cNvPr id="16" name="Text 14"/>
          <p:cNvSpPr/>
          <p:nvPr/>
        </p:nvSpPr>
        <p:spPr>
          <a:xfrm>
            <a:off x="3371088"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3700272"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Governance</a:t>
            </a:r>
            <a:endParaRPr lang="en-US" sz="1500" dirty="0"/>
          </a:p>
        </p:txBody>
      </p:sp>
      <p:sp>
        <p:nvSpPr>
          <p:cNvPr id="18" name="Text 16"/>
          <p:cNvSpPr/>
          <p:nvPr/>
        </p:nvSpPr>
        <p:spPr>
          <a:xfrm>
            <a:off x="3371088"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Teams need repeatable evidence that quality, safety, and behavior expectations were checked.</a:t>
            </a:r>
            <a:endParaRPr lang="en-US" sz="1210" dirty="0"/>
          </a:p>
        </p:txBody>
      </p:sp>
      <p:sp>
        <p:nvSpPr>
          <p:cNvPr id="19" name="Shape 17"/>
          <p:cNvSpPr/>
          <p:nvPr/>
        </p:nvSpPr>
        <p:spPr>
          <a:xfrm>
            <a:off x="6083808" y="1764792"/>
            <a:ext cx="2694432" cy="2944368"/>
          </a:xfrm>
          <a:prstGeom prst="roundRect">
            <a:avLst>
              <a:gd name="adj" fmla="val 2715"/>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0" name="Shape 18"/>
          <p:cNvSpPr/>
          <p:nvPr/>
        </p:nvSpPr>
        <p:spPr>
          <a:xfrm>
            <a:off x="6083808" y="1764792"/>
            <a:ext cx="64008" cy="2944368"/>
          </a:xfrm>
          <a:prstGeom prst="rect">
            <a:avLst/>
          </a:prstGeom>
          <a:solidFill>
            <a:srgbClr val="B86B3F"/>
          </a:solidFill>
          <a:ln/>
        </p:spPr>
      </p:sp>
      <p:sp>
        <p:nvSpPr>
          <p:cNvPr id="21" name="Shape 19"/>
          <p:cNvSpPr/>
          <p:nvPr/>
        </p:nvSpPr>
        <p:spPr>
          <a:xfrm>
            <a:off x="6230112" y="1892808"/>
            <a:ext cx="256032" cy="256032"/>
          </a:xfrm>
          <a:prstGeom prst="ellipse">
            <a:avLst/>
          </a:prstGeom>
          <a:solidFill>
            <a:srgbClr val="B86B3F"/>
          </a:solidFill>
          <a:ln/>
        </p:spPr>
      </p:sp>
      <p:sp>
        <p:nvSpPr>
          <p:cNvPr id="22" name="Text 20"/>
          <p:cNvSpPr/>
          <p:nvPr/>
        </p:nvSpPr>
        <p:spPr>
          <a:xfrm>
            <a:off x="6230112"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21"/>
          <p:cNvSpPr/>
          <p:nvPr/>
        </p:nvSpPr>
        <p:spPr>
          <a:xfrm>
            <a:off x="6559296"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Operational</a:t>
            </a:r>
            <a:endParaRPr lang="en-US" sz="1500" dirty="0"/>
          </a:p>
        </p:txBody>
      </p:sp>
      <p:sp>
        <p:nvSpPr>
          <p:cNvPr id="24" name="Text 22"/>
          <p:cNvSpPr/>
          <p:nvPr/>
        </p:nvSpPr>
        <p:spPr>
          <a:xfrm>
            <a:off x="6230112"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Without stable baselines, regressions and production drift are difficult to detect.</a:t>
            </a:r>
            <a:endParaRPr lang="en-US" sz="1210" dirty="0"/>
          </a:p>
        </p:txBody>
      </p:sp>
      <p:sp>
        <p:nvSpPr>
          <p:cNvPr id="25" name="Text 23"/>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learn.microsoft.com/azure/foundry/concepts/observability</a:t>
            </a:r>
            <a:endParaRPr lang="en-US" sz="720" dirty="0"/>
          </a:p>
        </p:txBody>
      </p:sp>
      <p:sp>
        <p:nvSpPr>
          <p:cNvPr id="26" name="Text 24"/>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 / 16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What we need to measure</a:t>
            </a:r>
            <a:endParaRPr lang="en-US" sz="2800" dirty="0"/>
          </a:p>
        </p:txBody>
      </p:sp>
      <p:sp>
        <p:nvSpPr>
          <p:cNvPr id="5" name="Shape 3"/>
          <p:cNvSpPr/>
          <p:nvPr/>
        </p:nvSpPr>
        <p:spPr>
          <a:xfrm>
            <a:off x="365760" y="1143000"/>
            <a:ext cx="4123944" cy="1691640"/>
          </a:xfrm>
          <a:prstGeom prst="roundRect">
            <a:avLst>
              <a:gd name="adj" fmla="val 4324"/>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6" name="Shape 4"/>
          <p:cNvSpPr/>
          <p:nvPr/>
        </p:nvSpPr>
        <p:spPr>
          <a:xfrm>
            <a:off x="365760" y="1143000"/>
            <a:ext cx="64008" cy="1691640"/>
          </a:xfrm>
          <a:prstGeom prst="rect">
            <a:avLst/>
          </a:prstGeom>
          <a:solidFill>
            <a:srgbClr val="1E2761"/>
          </a:solidFill>
          <a:ln/>
        </p:spPr>
      </p:sp>
      <p:sp>
        <p:nvSpPr>
          <p:cNvPr id="7" name="Shape 5"/>
          <p:cNvSpPr/>
          <p:nvPr/>
        </p:nvSpPr>
        <p:spPr>
          <a:xfrm>
            <a:off x="512064" y="1271016"/>
            <a:ext cx="256032" cy="256032"/>
          </a:xfrm>
          <a:prstGeom prst="ellipse">
            <a:avLst/>
          </a:prstGeom>
          <a:solidFill>
            <a:srgbClr val="1E2761"/>
          </a:solidFill>
          <a:ln/>
        </p:spPr>
      </p:sp>
      <p:sp>
        <p:nvSpPr>
          <p:cNvPr id="8" name="Text 6"/>
          <p:cNvSpPr/>
          <p:nvPr/>
        </p:nvSpPr>
        <p:spPr>
          <a:xfrm>
            <a:off x="512064" y="1312164"/>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841248" y="1243584"/>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Response quality</a:t>
            </a:r>
            <a:endParaRPr lang="en-US" sz="1500" dirty="0"/>
          </a:p>
        </p:txBody>
      </p:sp>
      <p:sp>
        <p:nvSpPr>
          <p:cNvPr id="10" name="Text 8"/>
          <p:cNvSpPr/>
          <p:nvPr/>
        </p:nvSpPr>
        <p:spPr>
          <a:xfrm>
            <a:off x="512064" y="1645920"/>
            <a:ext cx="3831336" cy="106984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Coherence, fluency, relevance, groundedness, and completeness of generated text.</a:t>
            </a:r>
            <a:endParaRPr lang="en-US" sz="1210" dirty="0"/>
          </a:p>
        </p:txBody>
      </p:sp>
      <p:sp>
        <p:nvSpPr>
          <p:cNvPr id="11" name="Shape 9"/>
          <p:cNvSpPr/>
          <p:nvPr/>
        </p:nvSpPr>
        <p:spPr>
          <a:xfrm>
            <a:off x="4654296" y="1143000"/>
            <a:ext cx="4123944" cy="1691640"/>
          </a:xfrm>
          <a:prstGeom prst="roundRect">
            <a:avLst>
              <a:gd name="adj" fmla="val 4324"/>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2" name="Shape 10"/>
          <p:cNvSpPr/>
          <p:nvPr/>
        </p:nvSpPr>
        <p:spPr>
          <a:xfrm>
            <a:off x="4654296" y="1143000"/>
            <a:ext cx="64008" cy="1691640"/>
          </a:xfrm>
          <a:prstGeom prst="rect">
            <a:avLst/>
          </a:prstGeom>
          <a:solidFill>
            <a:srgbClr val="2B7A78"/>
          </a:solidFill>
          <a:ln/>
        </p:spPr>
      </p:sp>
      <p:sp>
        <p:nvSpPr>
          <p:cNvPr id="13" name="Shape 11"/>
          <p:cNvSpPr/>
          <p:nvPr/>
        </p:nvSpPr>
        <p:spPr>
          <a:xfrm>
            <a:off x="4800600" y="1271016"/>
            <a:ext cx="256032" cy="256032"/>
          </a:xfrm>
          <a:prstGeom prst="ellipse">
            <a:avLst/>
          </a:prstGeom>
          <a:solidFill>
            <a:srgbClr val="2B7A78"/>
          </a:solidFill>
          <a:ln/>
        </p:spPr>
      </p:sp>
      <p:sp>
        <p:nvSpPr>
          <p:cNvPr id="14" name="Text 12"/>
          <p:cNvSpPr/>
          <p:nvPr/>
        </p:nvSpPr>
        <p:spPr>
          <a:xfrm>
            <a:off x="4800600" y="1312164"/>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5129784" y="1243584"/>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Task completion</a:t>
            </a:r>
            <a:endParaRPr lang="en-US" sz="1500" dirty="0"/>
          </a:p>
        </p:txBody>
      </p:sp>
      <p:sp>
        <p:nvSpPr>
          <p:cNvPr id="16" name="Text 14"/>
          <p:cNvSpPr/>
          <p:nvPr/>
        </p:nvSpPr>
        <p:spPr>
          <a:xfrm>
            <a:off x="4800600" y="1645920"/>
            <a:ext cx="3831336" cy="106984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Whether the agent followed instructions, resolved intent, and produced the required outcome.</a:t>
            </a:r>
            <a:endParaRPr lang="en-US" sz="1210" dirty="0"/>
          </a:p>
        </p:txBody>
      </p:sp>
      <p:sp>
        <p:nvSpPr>
          <p:cNvPr id="17" name="Shape 15"/>
          <p:cNvSpPr/>
          <p:nvPr/>
        </p:nvSpPr>
        <p:spPr>
          <a:xfrm>
            <a:off x="365760" y="2980944"/>
            <a:ext cx="4123944" cy="1691640"/>
          </a:xfrm>
          <a:prstGeom prst="roundRect">
            <a:avLst>
              <a:gd name="adj" fmla="val 4324"/>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8" name="Shape 16"/>
          <p:cNvSpPr/>
          <p:nvPr/>
        </p:nvSpPr>
        <p:spPr>
          <a:xfrm>
            <a:off x="365760" y="2980944"/>
            <a:ext cx="64008" cy="1691640"/>
          </a:xfrm>
          <a:prstGeom prst="rect">
            <a:avLst/>
          </a:prstGeom>
          <a:solidFill>
            <a:srgbClr val="B86B3F"/>
          </a:solidFill>
          <a:ln/>
        </p:spPr>
      </p:sp>
      <p:sp>
        <p:nvSpPr>
          <p:cNvPr id="19" name="Shape 17"/>
          <p:cNvSpPr/>
          <p:nvPr/>
        </p:nvSpPr>
        <p:spPr>
          <a:xfrm>
            <a:off x="512064" y="3108960"/>
            <a:ext cx="256032" cy="256032"/>
          </a:xfrm>
          <a:prstGeom prst="ellipse">
            <a:avLst/>
          </a:prstGeom>
          <a:solidFill>
            <a:srgbClr val="B86B3F"/>
          </a:solidFill>
          <a:ln/>
        </p:spPr>
      </p:sp>
      <p:sp>
        <p:nvSpPr>
          <p:cNvPr id="20" name="Text 18"/>
          <p:cNvSpPr/>
          <p:nvPr/>
        </p:nvSpPr>
        <p:spPr>
          <a:xfrm>
            <a:off x="512064" y="3150108"/>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Text 19"/>
          <p:cNvSpPr/>
          <p:nvPr/>
        </p:nvSpPr>
        <p:spPr>
          <a:xfrm>
            <a:off x="841248" y="3081528"/>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Safety and content risk</a:t>
            </a:r>
            <a:endParaRPr lang="en-US" sz="1500" dirty="0"/>
          </a:p>
        </p:txBody>
      </p:sp>
      <p:sp>
        <p:nvSpPr>
          <p:cNvPr id="22" name="Text 20"/>
          <p:cNvSpPr/>
          <p:nvPr/>
        </p:nvSpPr>
        <p:spPr>
          <a:xfrm>
            <a:off x="512064" y="3483864"/>
            <a:ext cx="3831336" cy="106984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Harmful content, protected material, sensitive data, or prohibited agent actions.</a:t>
            </a:r>
            <a:endParaRPr lang="en-US" sz="1210" dirty="0"/>
          </a:p>
        </p:txBody>
      </p:sp>
      <p:sp>
        <p:nvSpPr>
          <p:cNvPr id="23" name="Shape 21"/>
          <p:cNvSpPr/>
          <p:nvPr/>
        </p:nvSpPr>
        <p:spPr>
          <a:xfrm>
            <a:off x="4654296" y="2980944"/>
            <a:ext cx="4123944" cy="1691640"/>
          </a:xfrm>
          <a:prstGeom prst="roundRect">
            <a:avLst>
              <a:gd name="adj" fmla="val 4324"/>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4" name="Shape 22"/>
          <p:cNvSpPr/>
          <p:nvPr/>
        </p:nvSpPr>
        <p:spPr>
          <a:xfrm>
            <a:off x="4654296" y="2980944"/>
            <a:ext cx="64008" cy="1691640"/>
          </a:xfrm>
          <a:prstGeom prst="rect">
            <a:avLst/>
          </a:prstGeom>
          <a:solidFill>
            <a:srgbClr val="1E2761"/>
          </a:solidFill>
          <a:ln/>
        </p:spPr>
      </p:sp>
      <p:sp>
        <p:nvSpPr>
          <p:cNvPr id="25" name="Shape 23"/>
          <p:cNvSpPr/>
          <p:nvPr/>
        </p:nvSpPr>
        <p:spPr>
          <a:xfrm>
            <a:off x="4800600" y="3108960"/>
            <a:ext cx="256032" cy="256032"/>
          </a:xfrm>
          <a:prstGeom prst="ellipse">
            <a:avLst/>
          </a:prstGeom>
          <a:solidFill>
            <a:srgbClr val="1E2761"/>
          </a:solidFill>
          <a:ln/>
        </p:spPr>
      </p:sp>
      <p:sp>
        <p:nvSpPr>
          <p:cNvPr id="26" name="Text 24"/>
          <p:cNvSpPr/>
          <p:nvPr/>
        </p:nvSpPr>
        <p:spPr>
          <a:xfrm>
            <a:off x="4800600" y="3150108"/>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25"/>
          <p:cNvSpPr/>
          <p:nvPr/>
        </p:nvSpPr>
        <p:spPr>
          <a:xfrm>
            <a:off x="5129784" y="3081528"/>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Adversarial resilience</a:t>
            </a:r>
            <a:endParaRPr lang="en-US" sz="1500" dirty="0"/>
          </a:p>
        </p:txBody>
      </p:sp>
      <p:sp>
        <p:nvSpPr>
          <p:cNvPr id="28" name="Text 26"/>
          <p:cNvSpPr/>
          <p:nvPr/>
        </p:nvSpPr>
        <p:spPr>
          <a:xfrm>
            <a:off x="4800600" y="3483864"/>
            <a:ext cx="3831336" cy="106984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Behavior under prompt injection, jailbreak, manipulation, and other attack-oriented probes.</a:t>
            </a:r>
            <a:endParaRPr lang="en-US" sz="1210" dirty="0"/>
          </a:p>
        </p:txBody>
      </p:sp>
      <p:sp>
        <p:nvSpPr>
          <p:cNvPr id="29" name="Text 27"/>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learn.microsoft.com/azure/foundry/concepts/built-in-evaluators</a:t>
            </a:r>
            <a:endParaRPr lang="en-US" sz="720" dirty="0"/>
          </a:p>
        </p:txBody>
      </p:sp>
      <p:sp>
        <p:nvSpPr>
          <p:cNvPr id="30" name="Text 28"/>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 / 16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The evaluator landscape</a:t>
            </a:r>
            <a:endParaRPr lang="en-US" sz="2800" dirty="0"/>
          </a:p>
        </p:txBody>
      </p:sp>
      <p:sp>
        <p:nvSpPr>
          <p:cNvPr id="5" name="Shape 3"/>
          <p:cNvSpPr/>
          <p:nvPr/>
        </p:nvSpPr>
        <p:spPr>
          <a:xfrm>
            <a:off x="365760" y="1051560"/>
            <a:ext cx="8412480" cy="566928"/>
          </a:xfrm>
          <a:prstGeom prst="roundRect">
            <a:avLst>
              <a:gd name="adj" fmla="val 12903"/>
            </a:avLst>
          </a:prstGeom>
          <a:solidFill>
            <a:srgbClr val="CADCFC">
              <a:alpha val="65000"/>
            </a:srgbClr>
          </a:solidFill>
          <a:ln w="6350">
            <a:solidFill>
              <a:srgbClr val="D1D5DB"/>
            </a:solidFill>
            <a:prstDash val="solid"/>
          </a:ln>
        </p:spPr>
      </p:sp>
      <p:sp>
        <p:nvSpPr>
          <p:cNvPr id="6" name="Text 4"/>
          <p:cNvSpPr/>
          <p:nvPr/>
        </p:nvSpPr>
        <p:spPr>
          <a:xfrm>
            <a:off x="512064" y="1133856"/>
            <a:ext cx="8119872" cy="402336"/>
          </a:xfrm>
          <a:prstGeom prst="rect">
            <a:avLst/>
          </a:prstGeom>
          <a:noFill/>
          <a:ln/>
        </p:spPr>
        <p:txBody>
          <a:bodyPr wrap="square" lIns="0" tIns="0" rIns="0" bIns="0" rtlCol="0" anchor="ctr">
            <a:normAutofit/>
          </a:bodyPr>
          <a:lstStyle/>
          <a:p>
            <a:pPr indent="0" marL="0">
              <a:buNone/>
            </a:pPr>
            <a:r>
              <a:rPr lang="en-US" sz="1220" dirty="0">
                <a:solidFill>
                  <a:srgbClr val="212121"/>
                </a:solidFill>
                <a:latin typeface="Calibri" pitchFamily="34" charset="0"/>
                <a:ea typeface="Calibri" pitchFamily="34" charset="-122"/>
                <a:cs typeface="Calibri" pitchFamily="34" charset="-120"/>
              </a:rPr>
              <a:t>Use these five lanes as a workshop map, not as an exhaustive product taxonomy. Select several evaluators because each one answers a different question.</a:t>
            </a:r>
            <a:endParaRPr lang="en-US" sz="1220" dirty="0"/>
          </a:p>
        </p:txBody>
      </p:sp>
      <p:sp>
        <p:nvSpPr>
          <p:cNvPr id="7" name="Shape 5"/>
          <p:cNvSpPr/>
          <p:nvPr/>
        </p:nvSpPr>
        <p:spPr>
          <a:xfrm>
            <a:off x="365760" y="1764792"/>
            <a:ext cx="2694432" cy="1399032"/>
          </a:xfrm>
          <a:prstGeom prst="roundRect">
            <a:avLst>
              <a:gd name="adj" fmla="val 5229"/>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8" name="Shape 6"/>
          <p:cNvSpPr/>
          <p:nvPr/>
        </p:nvSpPr>
        <p:spPr>
          <a:xfrm>
            <a:off x="365760" y="1764792"/>
            <a:ext cx="64008" cy="1399032"/>
          </a:xfrm>
          <a:prstGeom prst="rect">
            <a:avLst/>
          </a:prstGeom>
          <a:solidFill>
            <a:srgbClr val="1E2761"/>
          </a:solidFill>
          <a:ln/>
        </p:spPr>
      </p:sp>
      <p:sp>
        <p:nvSpPr>
          <p:cNvPr id="9" name="Shape 7"/>
          <p:cNvSpPr/>
          <p:nvPr/>
        </p:nvSpPr>
        <p:spPr>
          <a:xfrm>
            <a:off x="512064" y="1892808"/>
            <a:ext cx="256032" cy="256032"/>
          </a:xfrm>
          <a:prstGeom prst="ellipse">
            <a:avLst/>
          </a:prstGeom>
          <a:solidFill>
            <a:srgbClr val="1E2761"/>
          </a:solidFill>
          <a:ln/>
        </p:spPr>
      </p:sp>
      <p:sp>
        <p:nvSpPr>
          <p:cNvPr id="10" name="Text 8"/>
          <p:cNvSpPr/>
          <p:nvPr/>
        </p:nvSpPr>
        <p:spPr>
          <a:xfrm>
            <a:off x="512064"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841248"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General purpose</a:t>
            </a:r>
            <a:endParaRPr lang="en-US" sz="1500" dirty="0"/>
          </a:p>
        </p:txBody>
      </p:sp>
      <p:sp>
        <p:nvSpPr>
          <p:cNvPr id="12" name="Text 10"/>
          <p:cNvSpPr/>
          <p:nvPr/>
        </p:nvSpPr>
        <p:spPr>
          <a:xfrm>
            <a:off x="512064" y="2267712"/>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Coherence and fluency measure writing quality.</a:t>
            </a:r>
            <a:endParaRPr lang="en-US" sz="1210" dirty="0"/>
          </a:p>
        </p:txBody>
      </p:sp>
      <p:sp>
        <p:nvSpPr>
          <p:cNvPr id="13" name="Shape 11"/>
          <p:cNvSpPr/>
          <p:nvPr/>
        </p:nvSpPr>
        <p:spPr>
          <a:xfrm>
            <a:off x="3224784" y="1764792"/>
            <a:ext cx="2694432" cy="1399032"/>
          </a:xfrm>
          <a:prstGeom prst="roundRect">
            <a:avLst>
              <a:gd name="adj" fmla="val 5229"/>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4" name="Shape 12"/>
          <p:cNvSpPr/>
          <p:nvPr/>
        </p:nvSpPr>
        <p:spPr>
          <a:xfrm>
            <a:off x="3224784" y="1764792"/>
            <a:ext cx="64008" cy="1399032"/>
          </a:xfrm>
          <a:prstGeom prst="rect">
            <a:avLst/>
          </a:prstGeom>
          <a:solidFill>
            <a:srgbClr val="2B7A78"/>
          </a:solidFill>
          <a:ln/>
        </p:spPr>
      </p:sp>
      <p:sp>
        <p:nvSpPr>
          <p:cNvPr id="15" name="Shape 13"/>
          <p:cNvSpPr/>
          <p:nvPr/>
        </p:nvSpPr>
        <p:spPr>
          <a:xfrm>
            <a:off x="3371088" y="1892808"/>
            <a:ext cx="256032" cy="256032"/>
          </a:xfrm>
          <a:prstGeom prst="ellipse">
            <a:avLst/>
          </a:prstGeom>
          <a:solidFill>
            <a:srgbClr val="2B7A78"/>
          </a:solidFill>
          <a:ln/>
        </p:spPr>
      </p:sp>
      <p:sp>
        <p:nvSpPr>
          <p:cNvPr id="16" name="Text 14"/>
          <p:cNvSpPr/>
          <p:nvPr/>
        </p:nvSpPr>
        <p:spPr>
          <a:xfrm>
            <a:off x="3371088"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3700272"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RAG</a:t>
            </a:r>
            <a:endParaRPr lang="en-US" sz="1500" dirty="0"/>
          </a:p>
        </p:txBody>
      </p:sp>
      <p:sp>
        <p:nvSpPr>
          <p:cNvPr id="18" name="Text 16"/>
          <p:cNvSpPr/>
          <p:nvPr/>
        </p:nvSpPr>
        <p:spPr>
          <a:xfrm>
            <a:off x="3371088" y="2267712"/>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Retrieval and response evaluators measure context selection and grounded answers.</a:t>
            </a:r>
            <a:endParaRPr lang="en-US" sz="1210" dirty="0"/>
          </a:p>
        </p:txBody>
      </p:sp>
      <p:sp>
        <p:nvSpPr>
          <p:cNvPr id="19" name="Shape 17"/>
          <p:cNvSpPr/>
          <p:nvPr/>
        </p:nvSpPr>
        <p:spPr>
          <a:xfrm>
            <a:off x="6083808" y="1764792"/>
            <a:ext cx="2694432" cy="1399032"/>
          </a:xfrm>
          <a:prstGeom prst="roundRect">
            <a:avLst>
              <a:gd name="adj" fmla="val 5229"/>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0" name="Shape 18"/>
          <p:cNvSpPr/>
          <p:nvPr/>
        </p:nvSpPr>
        <p:spPr>
          <a:xfrm>
            <a:off x="6083808" y="1764792"/>
            <a:ext cx="64008" cy="1399032"/>
          </a:xfrm>
          <a:prstGeom prst="rect">
            <a:avLst/>
          </a:prstGeom>
          <a:solidFill>
            <a:srgbClr val="B86B3F"/>
          </a:solidFill>
          <a:ln/>
        </p:spPr>
      </p:sp>
      <p:sp>
        <p:nvSpPr>
          <p:cNvPr id="21" name="Shape 19"/>
          <p:cNvSpPr/>
          <p:nvPr/>
        </p:nvSpPr>
        <p:spPr>
          <a:xfrm>
            <a:off x="6230112" y="1892808"/>
            <a:ext cx="256032" cy="256032"/>
          </a:xfrm>
          <a:prstGeom prst="ellipse">
            <a:avLst/>
          </a:prstGeom>
          <a:solidFill>
            <a:srgbClr val="B86B3F"/>
          </a:solidFill>
          <a:ln/>
        </p:spPr>
      </p:sp>
      <p:sp>
        <p:nvSpPr>
          <p:cNvPr id="22" name="Text 20"/>
          <p:cNvSpPr/>
          <p:nvPr/>
        </p:nvSpPr>
        <p:spPr>
          <a:xfrm>
            <a:off x="6230112"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21"/>
          <p:cNvSpPr/>
          <p:nvPr/>
        </p:nvSpPr>
        <p:spPr>
          <a:xfrm>
            <a:off x="6559296"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Agent</a:t>
            </a:r>
            <a:endParaRPr lang="en-US" sz="1500" dirty="0"/>
          </a:p>
        </p:txBody>
      </p:sp>
      <p:sp>
        <p:nvSpPr>
          <p:cNvPr id="24" name="Text 22"/>
          <p:cNvSpPr/>
          <p:nvPr/>
        </p:nvSpPr>
        <p:spPr>
          <a:xfrm>
            <a:off x="6230112" y="2267712"/>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System evaluators judge outcomes; process evaluators inspect tool-use steps.</a:t>
            </a:r>
            <a:endParaRPr lang="en-US" sz="1210" dirty="0"/>
          </a:p>
        </p:txBody>
      </p:sp>
      <p:sp>
        <p:nvSpPr>
          <p:cNvPr id="25" name="Shape 23"/>
          <p:cNvSpPr/>
          <p:nvPr/>
        </p:nvSpPr>
        <p:spPr>
          <a:xfrm>
            <a:off x="1795272" y="3310128"/>
            <a:ext cx="2694432" cy="1399032"/>
          </a:xfrm>
          <a:prstGeom prst="roundRect">
            <a:avLst>
              <a:gd name="adj" fmla="val 5229"/>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6" name="Shape 24"/>
          <p:cNvSpPr/>
          <p:nvPr/>
        </p:nvSpPr>
        <p:spPr>
          <a:xfrm>
            <a:off x="1795272" y="3310128"/>
            <a:ext cx="64008" cy="1399032"/>
          </a:xfrm>
          <a:prstGeom prst="rect">
            <a:avLst/>
          </a:prstGeom>
          <a:solidFill>
            <a:srgbClr val="1E2761"/>
          </a:solidFill>
          <a:ln/>
        </p:spPr>
      </p:sp>
      <p:sp>
        <p:nvSpPr>
          <p:cNvPr id="27" name="Shape 25"/>
          <p:cNvSpPr/>
          <p:nvPr/>
        </p:nvSpPr>
        <p:spPr>
          <a:xfrm>
            <a:off x="1941576" y="3438144"/>
            <a:ext cx="256032" cy="256032"/>
          </a:xfrm>
          <a:prstGeom prst="ellipse">
            <a:avLst/>
          </a:prstGeom>
          <a:solidFill>
            <a:srgbClr val="1E2761"/>
          </a:solidFill>
          <a:ln/>
        </p:spPr>
      </p:sp>
      <p:sp>
        <p:nvSpPr>
          <p:cNvPr id="28" name="Text 26"/>
          <p:cNvSpPr/>
          <p:nvPr/>
        </p:nvSpPr>
        <p:spPr>
          <a:xfrm>
            <a:off x="1941576" y="3479292"/>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9" name="Text 27"/>
          <p:cNvSpPr/>
          <p:nvPr/>
        </p:nvSpPr>
        <p:spPr>
          <a:xfrm>
            <a:off x="2270760" y="3410712"/>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Risk and safety</a:t>
            </a:r>
            <a:endParaRPr lang="en-US" sz="1500" dirty="0"/>
          </a:p>
        </p:txBody>
      </p:sp>
      <p:sp>
        <p:nvSpPr>
          <p:cNvPr id="30" name="Text 28"/>
          <p:cNvSpPr/>
          <p:nvPr/>
        </p:nvSpPr>
        <p:spPr>
          <a:xfrm>
            <a:off x="1941576" y="3813048"/>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Content, security, privacy, and agent-action evaluators expose selected risks.</a:t>
            </a:r>
            <a:endParaRPr lang="en-US" sz="1210" dirty="0"/>
          </a:p>
        </p:txBody>
      </p:sp>
      <p:sp>
        <p:nvSpPr>
          <p:cNvPr id="31" name="Shape 29"/>
          <p:cNvSpPr/>
          <p:nvPr/>
        </p:nvSpPr>
        <p:spPr>
          <a:xfrm>
            <a:off x="4654296" y="3310128"/>
            <a:ext cx="2694432" cy="1399032"/>
          </a:xfrm>
          <a:prstGeom prst="roundRect">
            <a:avLst>
              <a:gd name="adj" fmla="val 5229"/>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32" name="Shape 30"/>
          <p:cNvSpPr/>
          <p:nvPr/>
        </p:nvSpPr>
        <p:spPr>
          <a:xfrm>
            <a:off x="4654296" y="3310128"/>
            <a:ext cx="64008" cy="1399032"/>
          </a:xfrm>
          <a:prstGeom prst="rect">
            <a:avLst/>
          </a:prstGeom>
          <a:solidFill>
            <a:srgbClr val="2B7A78"/>
          </a:solidFill>
          <a:ln/>
        </p:spPr>
      </p:sp>
      <p:sp>
        <p:nvSpPr>
          <p:cNvPr id="33" name="Shape 31"/>
          <p:cNvSpPr/>
          <p:nvPr/>
        </p:nvSpPr>
        <p:spPr>
          <a:xfrm>
            <a:off x="4800600" y="3438144"/>
            <a:ext cx="256032" cy="256032"/>
          </a:xfrm>
          <a:prstGeom prst="ellipse">
            <a:avLst/>
          </a:prstGeom>
          <a:solidFill>
            <a:srgbClr val="2B7A78"/>
          </a:solidFill>
          <a:ln/>
        </p:spPr>
      </p:sp>
      <p:sp>
        <p:nvSpPr>
          <p:cNvPr id="34" name="Text 32"/>
          <p:cNvSpPr/>
          <p:nvPr/>
        </p:nvSpPr>
        <p:spPr>
          <a:xfrm>
            <a:off x="4800600" y="3479292"/>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129784" y="3410712"/>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Custom</a:t>
            </a:r>
            <a:endParaRPr lang="en-US" sz="1500" dirty="0"/>
          </a:p>
        </p:txBody>
      </p:sp>
      <p:sp>
        <p:nvSpPr>
          <p:cNvPr id="36" name="Text 34"/>
          <p:cNvSpPr/>
          <p:nvPr/>
        </p:nvSpPr>
        <p:spPr>
          <a:xfrm>
            <a:off x="4800600" y="3813048"/>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Code-, prompt-, or endpoint-based evaluators encode application-specific requirements.</a:t>
            </a:r>
            <a:endParaRPr lang="en-US" sz="1210" dirty="0"/>
          </a:p>
        </p:txBody>
      </p:sp>
      <p:sp>
        <p:nvSpPr>
          <p:cNvPr id="37" name="Text 35"/>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learn.microsoft.com/azure/foundry/concepts/built-in-evaluators</a:t>
            </a:r>
            <a:endParaRPr lang="en-US" sz="720" dirty="0"/>
          </a:p>
        </p:txBody>
      </p:sp>
      <p:sp>
        <p:nvSpPr>
          <p:cNvPr id="38" name="Text 36"/>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 / 16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General purpose evaluators</a:t>
            </a:r>
            <a:endParaRPr lang="en-US" sz="2800" dirty="0"/>
          </a:p>
        </p:txBody>
      </p:sp>
      <p:sp>
        <p:nvSpPr>
          <p:cNvPr id="5" name="Shape 3"/>
          <p:cNvSpPr/>
          <p:nvPr/>
        </p:nvSpPr>
        <p:spPr>
          <a:xfrm>
            <a:off x="365760" y="1143000"/>
            <a:ext cx="4123944" cy="2788920"/>
          </a:xfrm>
          <a:prstGeom prst="roundRect">
            <a:avLst>
              <a:gd name="adj" fmla="val 2623"/>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6" name="Shape 4"/>
          <p:cNvSpPr/>
          <p:nvPr/>
        </p:nvSpPr>
        <p:spPr>
          <a:xfrm>
            <a:off x="365760" y="1143000"/>
            <a:ext cx="64008" cy="2788920"/>
          </a:xfrm>
          <a:prstGeom prst="rect">
            <a:avLst/>
          </a:prstGeom>
          <a:solidFill>
            <a:srgbClr val="1E2761"/>
          </a:solidFill>
          <a:ln/>
        </p:spPr>
      </p:sp>
      <p:sp>
        <p:nvSpPr>
          <p:cNvPr id="7" name="Shape 5"/>
          <p:cNvSpPr/>
          <p:nvPr/>
        </p:nvSpPr>
        <p:spPr>
          <a:xfrm>
            <a:off x="512064" y="1271016"/>
            <a:ext cx="256032" cy="256032"/>
          </a:xfrm>
          <a:prstGeom prst="ellipse">
            <a:avLst/>
          </a:prstGeom>
          <a:solidFill>
            <a:srgbClr val="1E2761"/>
          </a:solidFill>
          <a:ln/>
        </p:spPr>
      </p:sp>
      <p:sp>
        <p:nvSpPr>
          <p:cNvPr id="8" name="Text 6"/>
          <p:cNvSpPr/>
          <p:nvPr/>
        </p:nvSpPr>
        <p:spPr>
          <a:xfrm>
            <a:off x="512064" y="1312164"/>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841248" y="1243584"/>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Coherence</a:t>
            </a:r>
            <a:endParaRPr lang="en-US" sz="1500" dirty="0"/>
          </a:p>
        </p:txBody>
      </p:sp>
      <p:sp>
        <p:nvSpPr>
          <p:cNvPr id="10" name="Text 8"/>
          <p:cNvSpPr/>
          <p:nvPr/>
        </p:nvSpPr>
        <p:spPr>
          <a:xfrm>
            <a:off x="512064" y="1645920"/>
            <a:ext cx="3831336" cy="216712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Logical flow and organization. Do ideas connect and transitions make sense? Inputs: query and response.</a:t>
            </a:r>
            <a:endParaRPr lang="en-US" sz="1210" dirty="0"/>
          </a:p>
        </p:txBody>
      </p:sp>
      <p:sp>
        <p:nvSpPr>
          <p:cNvPr id="11" name="Shape 9"/>
          <p:cNvSpPr/>
          <p:nvPr/>
        </p:nvSpPr>
        <p:spPr>
          <a:xfrm>
            <a:off x="4654296" y="1143000"/>
            <a:ext cx="4123944" cy="2788920"/>
          </a:xfrm>
          <a:prstGeom prst="roundRect">
            <a:avLst>
              <a:gd name="adj" fmla="val 2623"/>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2" name="Shape 10"/>
          <p:cNvSpPr/>
          <p:nvPr/>
        </p:nvSpPr>
        <p:spPr>
          <a:xfrm>
            <a:off x="4654296" y="1143000"/>
            <a:ext cx="64008" cy="2788920"/>
          </a:xfrm>
          <a:prstGeom prst="rect">
            <a:avLst/>
          </a:prstGeom>
          <a:solidFill>
            <a:srgbClr val="2B7A78"/>
          </a:solidFill>
          <a:ln/>
        </p:spPr>
      </p:sp>
      <p:sp>
        <p:nvSpPr>
          <p:cNvPr id="13" name="Shape 11"/>
          <p:cNvSpPr/>
          <p:nvPr/>
        </p:nvSpPr>
        <p:spPr>
          <a:xfrm>
            <a:off x="4800600" y="1271016"/>
            <a:ext cx="256032" cy="256032"/>
          </a:xfrm>
          <a:prstGeom prst="ellipse">
            <a:avLst/>
          </a:prstGeom>
          <a:solidFill>
            <a:srgbClr val="2B7A78"/>
          </a:solidFill>
          <a:ln/>
        </p:spPr>
      </p:sp>
      <p:sp>
        <p:nvSpPr>
          <p:cNvPr id="14" name="Text 12"/>
          <p:cNvSpPr/>
          <p:nvPr/>
        </p:nvSpPr>
        <p:spPr>
          <a:xfrm>
            <a:off x="4800600" y="1312164"/>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5129784" y="1243584"/>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Fluency</a:t>
            </a:r>
            <a:endParaRPr lang="en-US" sz="1500" dirty="0"/>
          </a:p>
        </p:txBody>
      </p:sp>
      <p:sp>
        <p:nvSpPr>
          <p:cNvPr id="16" name="Text 14"/>
          <p:cNvSpPr/>
          <p:nvPr/>
        </p:nvSpPr>
        <p:spPr>
          <a:xfrm>
            <a:off x="4800600" y="1645920"/>
            <a:ext cx="3831336" cy="216712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Grammar, vocabulary, and readability. How naturally does the response read? Input: response.</a:t>
            </a:r>
            <a:endParaRPr lang="en-US" sz="1210" dirty="0"/>
          </a:p>
        </p:txBody>
      </p:sp>
      <p:sp>
        <p:nvSpPr>
          <p:cNvPr id="17" name="Shape 15"/>
          <p:cNvSpPr/>
          <p:nvPr/>
        </p:nvSpPr>
        <p:spPr>
          <a:xfrm>
            <a:off x="365760" y="4096512"/>
            <a:ext cx="8412480" cy="502920"/>
          </a:xfrm>
          <a:prstGeom prst="roundRect">
            <a:avLst>
              <a:gd name="adj" fmla="val 14545"/>
            </a:avLst>
          </a:prstGeom>
          <a:solidFill>
            <a:srgbClr val="FBE8DD">
              <a:alpha val="65000"/>
            </a:srgbClr>
          </a:solidFill>
          <a:ln w="6350">
            <a:solidFill>
              <a:srgbClr val="D1D5DB"/>
            </a:solidFill>
            <a:prstDash val="solid"/>
          </a:ln>
        </p:spPr>
      </p:sp>
      <p:sp>
        <p:nvSpPr>
          <p:cNvPr id="18" name="Text 16"/>
          <p:cNvSpPr/>
          <p:nvPr/>
        </p:nvSpPr>
        <p:spPr>
          <a:xfrm>
            <a:off x="512064" y="4178808"/>
            <a:ext cx="8119872" cy="338328"/>
          </a:xfrm>
          <a:prstGeom prst="rect">
            <a:avLst/>
          </a:prstGeom>
          <a:noFill/>
          <a:ln/>
        </p:spPr>
        <p:txBody>
          <a:bodyPr wrap="square" lIns="0" tIns="0" rIns="0" bIns="0" rtlCol="0" anchor="ctr">
            <a:normAutofit/>
          </a:bodyPr>
          <a:lstStyle/>
          <a:p>
            <a:pPr indent="0" marL="0">
              <a:buNone/>
            </a:pPr>
            <a:r>
              <a:rPr lang="en-US" sz="1140" dirty="0">
                <a:solidFill>
                  <a:srgbClr val="212121"/>
                </a:solidFill>
                <a:latin typeface="Calibri" pitchFamily="34" charset="0"/>
                <a:ea typeface="Calibri" pitchFamily="34" charset="-122"/>
                <a:cs typeface="Calibri" pitchFamily="34" charset="-120"/>
              </a:rPr>
              <a:t>Both are LLM-as-a-judge evaluators on a 1–5 scale, with a documented default pass threshold of 3. They require deployment_name and currently support English responses.</a:t>
            </a:r>
            <a:endParaRPr lang="en-US" sz="1140" dirty="0"/>
          </a:p>
        </p:txBody>
      </p:sp>
      <p:sp>
        <p:nvSpPr>
          <p:cNvPr id="19" name="Text 17"/>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learn.microsoft.com/azure/foundry/concepts/evaluation-evaluators/general-purpose-evaluators</a:t>
            </a:r>
            <a:endParaRPr lang="en-US" sz="720" dirty="0"/>
          </a:p>
        </p:txBody>
      </p:sp>
      <p:sp>
        <p:nvSpPr>
          <p:cNvPr id="20" name="Text 18"/>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 / 16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RAG evaluators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8412480" cy="914400"/>
        </p:xfrm>
        <a:graphic>
          <a:graphicData uri="http://schemas.openxmlformats.org/drawingml/2006/table">
            <a:tbl>
              <a:tblPr/>
              <a:tblGrid>
                <a:gridCol w="1325880"/>
                <a:gridCol w="4800600"/>
                <a:gridCol w="2286000"/>
              </a:tblGrid>
              <a:tr h="42976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Evaluator</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measures</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Required inputs</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429768">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Relevance of retrieved context to the query</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query, context</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Document Retrieval</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Labeled search quality: fidelity, NDCG, XDCG, max relevance, and holes</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query, context, ground_truth</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29768">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Groundedness</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Whether claims in the response are supported by provided context</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response, context</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Groundedness Pro</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Strict binary grounding through Content Safety; preview</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query, response, context</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29768">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Relevance</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Whether the response directly addresses the query</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query, response</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Response Completeness</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Critical ground-truth coverage</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00" dirty="0">
                          <a:solidFill>
                            <a:srgbClr val="212121"/>
                          </a:solidFill>
                          <a:latin typeface="Calibri" pitchFamily="34" charset="0"/>
                          <a:ea typeface="Calibri" pitchFamily="34" charset="-122"/>
                          <a:cs typeface="Calibri" pitchFamily="34" charset="-120"/>
                        </a:rPr>
                        <a:t>response, ground_truth</a:t>
                      </a:r>
                      <a:endParaRPr lang="en-US" sz="1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6" name="Shape 3"/>
          <p:cNvSpPr/>
          <p:nvPr/>
        </p:nvSpPr>
        <p:spPr>
          <a:xfrm>
            <a:off x="365760" y="4224528"/>
            <a:ext cx="8412480" cy="384048"/>
          </a:xfrm>
          <a:prstGeom prst="roundRect">
            <a:avLst>
              <a:gd name="adj" fmla="val 19048"/>
            </a:avLst>
          </a:prstGeom>
          <a:solidFill>
            <a:srgbClr val="FBE8DD">
              <a:alpha val="65000"/>
            </a:srgbClr>
          </a:solidFill>
          <a:ln w="6350">
            <a:solidFill>
              <a:srgbClr val="D1D5DB"/>
            </a:solidFill>
            <a:prstDash val="solid"/>
          </a:ln>
        </p:spPr>
      </p:sp>
      <p:sp>
        <p:nvSpPr>
          <p:cNvPr id="7" name="Text 4"/>
          <p:cNvSpPr/>
          <p:nvPr/>
        </p:nvSpPr>
        <p:spPr>
          <a:xfrm>
            <a:off x="512064" y="4306824"/>
            <a:ext cx="8119872" cy="219456"/>
          </a:xfrm>
          <a:prstGeom prst="rect">
            <a:avLst/>
          </a:prstGeom>
          <a:noFill/>
          <a:ln/>
        </p:spPr>
        <p:txBody>
          <a:bodyPr wrap="square" lIns="0" tIns="0" rIns="0" bIns="0" rtlCol="0" anchor="ctr">
            <a:normAutofit/>
          </a:bodyPr>
          <a:lstStyle/>
          <a:p>
            <a:pPr indent="0" marL="0">
              <a:buNone/>
            </a:pPr>
            <a:r>
              <a:rPr lang="en-US" sz="1050" dirty="0">
                <a:solidFill>
                  <a:srgbClr val="212121"/>
                </a:solidFill>
                <a:latin typeface="Calibri" pitchFamily="34" charset="0"/>
                <a:ea typeface="Calibri" pitchFamily="34" charset="-122"/>
                <a:cs typeface="Calibri" pitchFamily="34" charset="-120"/>
              </a:rPr>
              <a:t>Process evaluation measures retrieval. System evaluation measures the response. Use both to distinguish a search failure from a generation failure.</a:t>
            </a:r>
            <a:endParaRPr lang="en-US" sz="1050" dirty="0"/>
          </a:p>
        </p:txBody>
      </p:sp>
      <p:sp>
        <p:nvSpPr>
          <p:cNvPr id="8" name="Text 5"/>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learn.microsoft.com/azure/foundry/concepts/evaluation-evaluators/rag-evaluators</a:t>
            </a:r>
            <a:endParaRPr lang="en-US" sz="720" dirty="0"/>
          </a:p>
        </p:txBody>
      </p:sp>
      <p:sp>
        <p:nvSpPr>
          <p:cNvPr id="9" name="Text 6"/>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 / 16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Agent evaluators — system evaluation</a:t>
            </a:r>
            <a:endParaRPr lang="en-US" sz="2800" dirty="0"/>
          </a:p>
        </p:txBody>
      </p:sp>
      <p:sp>
        <p:nvSpPr>
          <p:cNvPr id="5" name="Shape 3"/>
          <p:cNvSpPr/>
          <p:nvPr/>
        </p:nvSpPr>
        <p:spPr>
          <a:xfrm>
            <a:off x="365760" y="1051560"/>
            <a:ext cx="8412480" cy="566928"/>
          </a:xfrm>
          <a:prstGeom prst="roundRect">
            <a:avLst>
              <a:gd name="adj" fmla="val 12903"/>
            </a:avLst>
          </a:prstGeom>
          <a:solidFill>
            <a:srgbClr val="CADCFC">
              <a:alpha val="65000"/>
            </a:srgbClr>
          </a:solidFill>
          <a:ln w="6350">
            <a:solidFill>
              <a:srgbClr val="D1D5DB"/>
            </a:solidFill>
            <a:prstDash val="solid"/>
          </a:ln>
        </p:spPr>
      </p:sp>
      <p:sp>
        <p:nvSpPr>
          <p:cNvPr id="6" name="Text 4"/>
          <p:cNvSpPr/>
          <p:nvPr/>
        </p:nvSpPr>
        <p:spPr>
          <a:xfrm>
            <a:off x="512064" y="1133856"/>
            <a:ext cx="8119872" cy="402336"/>
          </a:xfrm>
          <a:prstGeom prst="rect">
            <a:avLst/>
          </a:prstGeom>
          <a:noFill/>
          <a:ln/>
        </p:spPr>
        <p:txBody>
          <a:bodyPr wrap="square" lIns="0" tIns="0" rIns="0" bIns="0" rtlCol="0" anchor="ctr">
            <a:normAutofit/>
          </a:bodyPr>
          <a:lstStyle/>
          <a:p>
            <a:pPr indent="0" marL="0">
              <a:buNone/>
            </a:pPr>
            <a:r>
              <a:rPr lang="en-US" sz="1220" dirty="0">
                <a:solidFill>
                  <a:srgbClr val="212121"/>
                </a:solidFill>
                <a:latin typeface="Calibri" pitchFamily="34" charset="0"/>
                <a:ea typeface="Calibri" pitchFamily="34" charset="-122"/>
                <a:cs typeface="Calibri" pitchFamily="34" charset="-120"/>
              </a:rPr>
              <a:t>System evaluation asks whether the agent did the right thing overall.</a:t>
            </a:r>
            <a:endParaRPr lang="en-US" sz="1220" dirty="0"/>
          </a:p>
        </p:txBody>
      </p:sp>
      <p:sp>
        <p:nvSpPr>
          <p:cNvPr id="7" name="Shape 5"/>
          <p:cNvSpPr/>
          <p:nvPr/>
        </p:nvSpPr>
        <p:spPr>
          <a:xfrm>
            <a:off x="365760" y="1764792"/>
            <a:ext cx="2694432" cy="1399032"/>
          </a:xfrm>
          <a:prstGeom prst="roundRect">
            <a:avLst>
              <a:gd name="adj" fmla="val 5229"/>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8" name="Shape 6"/>
          <p:cNvSpPr/>
          <p:nvPr/>
        </p:nvSpPr>
        <p:spPr>
          <a:xfrm>
            <a:off x="365760" y="1764792"/>
            <a:ext cx="64008" cy="1399032"/>
          </a:xfrm>
          <a:prstGeom prst="rect">
            <a:avLst/>
          </a:prstGeom>
          <a:solidFill>
            <a:srgbClr val="1E2761"/>
          </a:solidFill>
          <a:ln/>
        </p:spPr>
      </p:sp>
      <p:sp>
        <p:nvSpPr>
          <p:cNvPr id="9" name="Shape 7"/>
          <p:cNvSpPr/>
          <p:nvPr/>
        </p:nvSpPr>
        <p:spPr>
          <a:xfrm>
            <a:off x="512064" y="1892808"/>
            <a:ext cx="256032" cy="256032"/>
          </a:xfrm>
          <a:prstGeom prst="ellipse">
            <a:avLst/>
          </a:prstGeom>
          <a:solidFill>
            <a:srgbClr val="1E2761"/>
          </a:solidFill>
          <a:ln/>
        </p:spPr>
      </p:sp>
      <p:sp>
        <p:nvSpPr>
          <p:cNvPr id="10" name="Text 8"/>
          <p:cNvSpPr/>
          <p:nvPr/>
        </p:nvSpPr>
        <p:spPr>
          <a:xfrm>
            <a:off x="512064"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841248"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Task Completion</a:t>
            </a:r>
            <a:endParaRPr lang="en-US" sz="1500" dirty="0"/>
          </a:p>
        </p:txBody>
      </p:sp>
      <p:sp>
        <p:nvSpPr>
          <p:cNvPr id="12" name="Text 10"/>
          <p:cNvSpPr/>
          <p:nvPr/>
        </p:nvSpPr>
        <p:spPr>
          <a:xfrm>
            <a:off x="512064" y="2267712"/>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Did the agent produce a usable deliverable that satisfies the task requirements?</a:t>
            </a:r>
            <a:endParaRPr lang="en-US" sz="1210" dirty="0"/>
          </a:p>
        </p:txBody>
      </p:sp>
      <p:sp>
        <p:nvSpPr>
          <p:cNvPr id="13" name="Shape 11"/>
          <p:cNvSpPr/>
          <p:nvPr/>
        </p:nvSpPr>
        <p:spPr>
          <a:xfrm>
            <a:off x="3224784" y="1764792"/>
            <a:ext cx="2694432" cy="1399032"/>
          </a:xfrm>
          <a:prstGeom prst="roundRect">
            <a:avLst>
              <a:gd name="adj" fmla="val 5229"/>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4" name="Shape 12"/>
          <p:cNvSpPr/>
          <p:nvPr/>
        </p:nvSpPr>
        <p:spPr>
          <a:xfrm>
            <a:off x="3224784" y="1764792"/>
            <a:ext cx="64008" cy="1399032"/>
          </a:xfrm>
          <a:prstGeom prst="rect">
            <a:avLst/>
          </a:prstGeom>
          <a:solidFill>
            <a:srgbClr val="2B7A78"/>
          </a:solidFill>
          <a:ln/>
        </p:spPr>
      </p:sp>
      <p:sp>
        <p:nvSpPr>
          <p:cNvPr id="15" name="Shape 13"/>
          <p:cNvSpPr/>
          <p:nvPr/>
        </p:nvSpPr>
        <p:spPr>
          <a:xfrm>
            <a:off x="3371088" y="1892808"/>
            <a:ext cx="256032" cy="256032"/>
          </a:xfrm>
          <a:prstGeom prst="ellipse">
            <a:avLst/>
          </a:prstGeom>
          <a:solidFill>
            <a:srgbClr val="2B7A78"/>
          </a:solidFill>
          <a:ln/>
        </p:spPr>
      </p:sp>
      <p:sp>
        <p:nvSpPr>
          <p:cNvPr id="16" name="Text 14"/>
          <p:cNvSpPr/>
          <p:nvPr/>
        </p:nvSpPr>
        <p:spPr>
          <a:xfrm>
            <a:off x="3371088"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3700272"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Task Adherence</a:t>
            </a:r>
            <a:endParaRPr lang="en-US" sz="1500" dirty="0"/>
          </a:p>
        </p:txBody>
      </p:sp>
      <p:sp>
        <p:nvSpPr>
          <p:cNvPr id="18" name="Text 16"/>
          <p:cNvSpPr/>
          <p:nvPr/>
        </p:nvSpPr>
        <p:spPr>
          <a:xfrm>
            <a:off x="3371088" y="2267712"/>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Did the agent follow the task, instructions, and relevant constraints?</a:t>
            </a:r>
            <a:endParaRPr lang="en-US" sz="1210" dirty="0"/>
          </a:p>
        </p:txBody>
      </p:sp>
      <p:sp>
        <p:nvSpPr>
          <p:cNvPr id="19" name="Shape 17"/>
          <p:cNvSpPr/>
          <p:nvPr/>
        </p:nvSpPr>
        <p:spPr>
          <a:xfrm>
            <a:off x="6083808" y="1764792"/>
            <a:ext cx="2694432" cy="1399032"/>
          </a:xfrm>
          <a:prstGeom prst="roundRect">
            <a:avLst>
              <a:gd name="adj" fmla="val 5229"/>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0" name="Shape 18"/>
          <p:cNvSpPr/>
          <p:nvPr/>
        </p:nvSpPr>
        <p:spPr>
          <a:xfrm>
            <a:off x="6083808" y="1764792"/>
            <a:ext cx="64008" cy="1399032"/>
          </a:xfrm>
          <a:prstGeom prst="rect">
            <a:avLst/>
          </a:prstGeom>
          <a:solidFill>
            <a:srgbClr val="B86B3F"/>
          </a:solidFill>
          <a:ln/>
        </p:spPr>
      </p:sp>
      <p:sp>
        <p:nvSpPr>
          <p:cNvPr id="21" name="Shape 19"/>
          <p:cNvSpPr/>
          <p:nvPr/>
        </p:nvSpPr>
        <p:spPr>
          <a:xfrm>
            <a:off x="6230112" y="1892808"/>
            <a:ext cx="256032" cy="256032"/>
          </a:xfrm>
          <a:prstGeom prst="ellipse">
            <a:avLst/>
          </a:prstGeom>
          <a:solidFill>
            <a:srgbClr val="B86B3F"/>
          </a:solidFill>
          <a:ln/>
        </p:spPr>
      </p:sp>
      <p:sp>
        <p:nvSpPr>
          <p:cNvPr id="22" name="Text 20"/>
          <p:cNvSpPr/>
          <p:nvPr/>
        </p:nvSpPr>
        <p:spPr>
          <a:xfrm>
            <a:off x="6230112"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21"/>
          <p:cNvSpPr/>
          <p:nvPr/>
        </p:nvSpPr>
        <p:spPr>
          <a:xfrm>
            <a:off x="6559296"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Task Navigation Efficiency</a:t>
            </a:r>
            <a:endParaRPr lang="en-US" sz="1500" dirty="0"/>
          </a:p>
        </p:txBody>
      </p:sp>
      <p:sp>
        <p:nvSpPr>
          <p:cNvPr id="24" name="Text 22"/>
          <p:cNvSpPr/>
          <p:nvPr/>
        </p:nvSpPr>
        <p:spPr>
          <a:xfrm>
            <a:off x="6230112" y="2267712"/>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Did the agent complete the task without unnecessary steps or tool calls?</a:t>
            </a:r>
            <a:endParaRPr lang="en-US" sz="1210" dirty="0"/>
          </a:p>
        </p:txBody>
      </p:sp>
      <p:sp>
        <p:nvSpPr>
          <p:cNvPr id="25" name="Shape 23"/>
          <p:cNvSpPr/>
          <p:nvPr/>
        </p:nvSpPr>
        <p:spPr>
          <a:xfrm>
            <a:off x="1795272" y="3310128"/>
            <a:ext cx="2694432" cy="1399032"/>
          </a:xfrm>
          <a:prstGeom prst="roundRect">
            <a:avLst>
              <a:gd name="adj" fmla="val 5229"/>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6" name="Shape 24"/>
          <p:cNvSpPr/>
          <p:nvPr/>
        </p:nvSpPr>
        <p:spPr>
          <a:xfrm>
            <a:off x="1795272" y="3310128"/>
            <a:ext cx="64008" cy="1399032"/>
          </a:xfrm>
          <a:prstGeom prst="rect">
            <a:avLst/>
          </a:prstGeom>
          <a:solidFill>
            <a:srgbClr val="1E2761"/>
          </a:solidFill>
          <a:ln/>
        </p:spPr>
      </p:sp>
      <p:sp>
        <p:nvSpPr>
          <p:cNvPr id="27" name="Shape 25"/>
          <p:cNvSpPr/>
          <p:nvPr/>
        </p:nvSpPr>
        <p:spPr>
          <a:xfrm>
            <a:off x="1941576" y="3438144"/>
            <a:ext cx="256032" cy="256032"/>
          </a:xfrm>
          <a:prstGeom prst="ellipse">
            <a:avLst/>
          </a:prstGeom>
          <a:solidFill>
            <a:srgbClr val="1E2761"/>
          </a:solidFill>
          <a:ln/>
        </p:spPr>
      </p:sp>
      <p:sp>
        <p:nvSpPr>
          <p:cNvPr id="28" name="Text 26"/>
          <p:cNvSpPr/>
          <p:nvPr/>
        </p:nvSpPr>
        <p:spPr>
          <a:xfrm>
            <a:off x="1941576" y="3479292"/>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9" name="Text 27"/>
          <p:cNvSpPr/>
          <p:nvPr/>
        </p:nvSpPr>
        <p:spPr>
          <a:xfrm>
            <a:off x="2270760" y="3410712"/>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Intent Resolution</a:t>
            </a:r>
            <a:endParaRPr lang="en-US" sz="1500" dirty="0"/>
          </a:p>
        </p:txBody>
      </p:sp>
      <p:sp>
        <p:nvSpPr>
          <p:cNvPr id="30" name="Text 28"/>
          <p:cNvSpPr/>
          <p:nvPr/>
        </p:nvSpPr>
        <p:spPr>
          <a:xfrm>
            <a:off x="1941576" y="3813048"/>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Did the interaction identify and address the user's request?</a:t>
            </a:r>
            <a:endParaRPr lang="en-US" sz="1210" dirty="0"/>
          </a:p>
        </p:txBody>
      </p:sp>
      <p:sp>
        <p:nvSpPr>
          <p:cNvPr id="31" name="Shape 29"/>
          <p:cNvSpPr/>
          <p:nvPr/>
        </p:nvSpPr>
        <p:spPr>
          <a:xfrm>
            <a:off x="4654296" y="3310128"/>
            <a:ext cx="2694432" cy="1399032"/>
          </a:xfrm>
          <a:prstGeom prst="roundRect">
            <a:avLst>
              <a:gd name="adj" fmla="val 5229"/>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32" name="Shape 30"/>
          <p:cNvSpPr/>
          <p:nvPr/>
        </p:nvSpPr>
        <p:spPr>
          <a:xfrm>
            <a:off x="4654296" y="3310128"/>
            <a:ext cx="64008" cy="1399032"/>
          </a:xfrm>
          <a:prstGeom prst="rect">
            <a:avLst/>
          </a:prstGeom>
          <a:solidFill>
            <a:srgbClr val="2B7A78"/>
          </a:solidFill>
          <a:ln/>
        </p:spPr>
      </p:sp>
      <p:sp>
        <p:nvSpPr>
          <p:cNvPr id="33" name="Shape 31"/>
          <p:cNvSpPr/>
          <p:nvPr/>
        </p:nvSpPr>
        <p:spPr>
          <a:xfrm>
            <a:off x="4800600" y="3438144"/>
            <a:ext cx="256032" cy="256032"/>
          </a:xfrm>
          <a:prstGeom prst="ellipse">
            <a:avLst/>
          </a:prstGeom>
          <a:solidFill>
            <a:srgbClr val="2B7A78"/>
          </a:solidFill>
          <a:ln/>
        </p:spPr>
      </p:sp>
      <p:sp>
        <p:nvSpPr>
          <p:cNvPr id="34" name="Text 32"/>
          <p:cNvSpPr/>
          <p:nvPr/>
        </p:nvSpPr>
        <p:spPr>
          <a:xfrm>
            <a:off x="4800600" y="3479292"/>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129784" y="3410712"/>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Customer Satisfaction</a:t>
            </a:r>
            <a:endParaRPr lang="en-US" sz="1500" dirty="0"/>
          </a:p>
        </p:txBody>
      </p:sp>
      <p:sp>
        <p:nvSpPr>
          <p:cNvPr id="36" name="Text 34"/>
          <p:cNvSpPr/>
          <p:nvPr/>
        </p:nvSpPr>
        <p:spPr>
          <a:xfrm>
            <a:off x="4800600" y="3813048"/>
            <a:ext cx="2401824" cy="777240"/>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Did the conversation show signs of a satisfactory or unsatisfactory experience?</a:t>
            </a:r>
            <a:endParaRPr lang="en-US" sz="1210" dirty="0"/>
          </a:p>
        </p:txBody>
      </p:sp>
      <p:sp>
        <p:nvSpPr>
          <p:cNvPr id="37" name="Text 35"/>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learn.microsoft.com/azure/foundry/concepts/evaluation-evaluators/agent-evaluators</a:t>
            </a:r>
            <a:endParaRPr lang="en-US" sz="720" dirty="0"/>
          </a:p>
        </p:txBody>
      </p:sp>
      <p:sp>
        <p:nvSpPr>
          <p:cNvPr id="38" name="Text 36"/>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 / 16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Agent evaluators — process evaluation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8412480" cy="914400"/>
        </p:xfrm>
        <a:graphic>
          <a:graphicData uri="http://schemas.openxmlformats.org/drawingml/2006/table">
            <a:tbl>
              <a:tblPr/>
              <a:tblGrid>
                <a:gridCol w="1600200"/>
                <a:gridCol w="4663440"/>
                <a:gridCol w="2148840"/>
              </a:tblGrid>
              <a:tr h="502920">
                <a:tc>
                  <a:txBody>
                    <a:bodyPr/>
                    <a:lstStyle/>
                    <a:p>
                      <a:pPr indent="0" marL="0">
                        <a:buNone/>
                      </a:pPr>
                      <a:r>
                        <a:rPr lang="en-US" sz="1070" b="1" dirty="0">
                          <a:solidFill>
                            <a:srgbClr val="FFFFFF"/>
                          </a:solidFill>
                          <a:latin typeface="Calibri" pitchFamily="34" charset="0"/>
                          <a:ea typeface="Calibri" pitchFamily="34" charset="-122"/>
                          <a:cs typeface="Calibri" pitchFamily="34" charset="-120"/>
                        </a:rPr>
                        <a:t>Evaluator</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070" b="1" dirty="0">
                          <a:solidFill>
                            <a:srgbClr val="FFFFFF"/>
                          </a:solidFill>
                          <a:latin typeface="Calibri" pitchFamily="34" charset="0"/>
                          <a:ea typeface="Calibri" pitchFamily="34" charset="-122"/>
                          <a:cs typeface="Calibri" pitchFamily="34" charset="-120"/>
                        </a:rPr>
                        <a:t>Question answered</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070" b="1" dirty="0">
                          <a:solidFill>
                            <a:srgbClr val="FFFFFF"/>
                          </a:solidFill>
                          <a:latin typeface="Calibri" pitchFamily="34" charset="0"/>
                          <a:ea typeface="Calibri" pitchFamily="34" charset="-122"/>
                          <a:cs typeface="Calibri" pitchFamily="34" charset="-120"/>
                        </a:rPr>
                        <a:t>Evidence inspected</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02920">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Call Accuracy</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Were the right tools and arguments used without unnecessary calls?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definitions, calls, ground truth</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Selection</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Did the agent select the expected tool set?</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available and selected tools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Input Accuracy</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Were arguments grounded, typed, formatted, required, expected, and appropriate?</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definitions and call inputs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Output Utilization</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Were tool results used in later reasoning and responses?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outputs and following messages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Tool Call Success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Did execution complete without tool errors?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70" dirty="0">
                          <a:solidFill>
                            <a:srgbClr val="212121"/>
                          </a:solidFill>
                          <a:latin typeface="Calibri" pitchFamily="34" charset="0"/>
                          <a:ea typeface="Calibri" pitchFamily="34" charset="-122"/>
                          <a:cs typeface="Calibri" pitchFamily="34" charset="-120"/>
                        </a:rPr>
                        <a:t>call and result status</a:t>
                      </a:r>
                      <a:endParaRPr lang="en-US" sz="107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224528"/>
            <a:ext cx="8412480" cy="384048"/>
          </a:xfrm>
          <a:prstGeom prst="roundRect">
            <a:avLst>
              <a:gd name="adj" fmla="val 19048"/>
            </a:avLst>
          </a:prstGeom>
          <a:solidFill>
            <a:srgbClr val="FBE8DD">
              <a:alpha val="65000"/>
            </a:srgbClr>
          </a:solidFill>
          <a:ln w="6350">
            <a:solidFill>
              <a:srgbClr val="D1D5DB"/>
            </a:solidFill>
            <a:prstDash val="solid"/>
          </a:ln>
        </p:spPr>
      </p:sp>
      <p:sp>
        <p:nvSpPr>
          <p:cNvPr id="7" name="Text 4"/>
          <p:cNvSpPr/>
          <p:nvPr/>
        </p:nvSpPr>
        <p:spPr>
          <a:xfrm>
            <a:off x="512064" y="4306824"/>
            <a:ext cx="8119872" cy="219456"/>
          </a:xfrm>
          <a:prstGeom prst="rect">
            <a:avLst/>
          </a:prstGeom>
          <a:noFill/>
          <a:ln/>
        </p:spPr>
        <p:txBody>
          <a:bodyPr wrap="square" lIns="0" tIns="0" rIns="0" bIns="0" rtlCol="0" anchor="ctr">
            <a:normAutofit/>
          </a:bodyPr>
          <a:lstStyle/>
          <a:p>
            <a:pPr indent="0" marL="0">
              <a:buNone/>
            </a:pPr>
            <a:r>
              <a:rPr lang="en-US" sz="1050" dirty="0">
                <a:solidFill>
                  <a:srgbClr val="212121"/>
                </a:solidFill>
                <a:latin typeface="Calibri" pitchFamily="34" charset="0"/>
                <a:ea typeface="Calibri" pitchFamily="34" charset="-122"/>
                <a:cs typeface="Calibri" pitchFamily="34" charset="-120"/>
              </a:rPr>
              <a:t>Process evaluation asks whether each tool-use step went right.</a:t>
            </a:r>
            <a:endParaRPr lang="en-US" sz="1050" dirty="0"/>
          </a:p>
        </p:txBody>
      </p:sp>
      <p:sp>
        <p:nvSpPr>
          <p:cNvPr id="8" name="Text 5"/>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learn.microsoft.com/azure/foundry/concepts/evaluation-evaluators/agent-evaluators</a:t>
            </a:r>
            <a:endParaRPr lang="en-US" sz="720" dirty="0"/>
          </a:p>
        </p:txBody>
      </p:sp>
      <p:sp>
        <p:nvSpPr>
          <p:cNvPr id="9" name="Text 6"/>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8 / 16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Risk and safety evaluators</a:t>
            </a:r>
            <a:endParaRPr lang="en-US" sz="2800" dirty="0"/>
          </a:p>
        </p:txBody>
      </p:sp>
      <p:sp>
        <p:nvSpPr>
          <p:cNvPr id="5" name="Shape 3"/>
          <p:cNvSpPr/>
          <p:nvPr/>
        </p:nvSpPr>
        <p:spPr>
          <a:xfrm>
            <a:off x="365760" y="1051560"/>
            <a:ext cx="8412480" cy="530352"/>
          </a:xfrm>
          <a:prstGeom prst="roundRect">
            <a:avLst>
              <a:gd name="adj" fmla="val 13793"/>
            </a:avLst>
          </a:prstGeom>
          <a:solidFill>
            <a:srgbClr val="CADCFC">
              <a:alpha val="65000"/>
            </a:srgbClr>
          </a:solidFill>
          <a:ln w="6350">
            <a:solidFill>
              <a:srgbClr val="D1D5DB"/>
            </a:solidFill>
            <a:prstDash val="solid"/>
          </a:ln>
        </p:spPr>
      </p:sp>
      <p:sp>
        <p:nvSpPr>
          <p:cNvPr id="6" name="Text 4"/>
          <p:cNvSpPr/>
          <p:nvPr/>
        </p:nvSpPr>
        <p:spPr>
          <a:xfrm>
            <a:off x="512064" y="1133856"/>
            <a:ext cx="8119872" cy="365760"/>
          </a:xfrm>
          <a:prstGeom prst="rect">
            <a:avLst/>
          </a:prstGeom>
          <a:noFill/>
          <a:ln/>
        </p:spPr>
        <p:txBody>
          <a:bodyPr wrap="square" lIns="0" tIns="0" rIns="0" bIns="0" rtlCol="0" anchor="ctr">
            <a:normAutofit/>
          </a:bodyPr>
          <a:lstStyle/>
          <a:p>
            <a:pPr indent="0" marL="0">
              <a:buNone/>
            </a:pPr>
            <a:r>
              <a:rPr lang="en-US" sz="1140" dirty="0">
                <a:solidFill>
                  <a:srgbClr val="212121"/>
                </a:solidFill>
                <a:latin typeface="Calibri" pitchFamily="34" charset="0"/>
                <a:ea typeface="Calibri" pitchFamily="34" charset="-122"/>
                <a:cs typeface="Calibri" pitchFamily="34" charset="-120"/>
              </a:rPr>
              <a:t>Foundry hosts these evaluators, so they do not require deployment_name; they do require Foundry project configuration.</a:t>
            </a:r>
            <a:endParaRPr lang="en-US" sz="1140" dirty="0"/>
          </a:p>
        </p:txBody>
      </p:sp>
      <p:sp>
        <p:nvSpPr>
          <p:cNvPr id="7" name="Shape 5"/>
          <p:cNvSpPr/>
          <p:nvPr/>
        </p:nvSpPr>
        <p:spPr>
          <a:xfrm>
            <a:off x="365760" y="1737360"/>
            <a:ext cx="4160520" cy="2852928"/>
          </a:xfrm>
          <a:prstGeom prst="roundRect">
            <a:avLst>
              <a:gd name="adj" fmla="val 2564"/>
            </a:avLst>
          </a:prstGeom>
          <a:solidFill>
            <a:srgbClr val="F7F8FC"/>
          </a:solidFill>
          <a:ln w="7620">
            <a:solidFill>
              <a:srgbClr val="D1D5DB"/>
            </a:solidFill>
            <a:prstDash val="solid"/>
          </a:ln>
        </p:spPr>
      </p:sp>
      <p:sp>
        <p:nvSpPr>
          <p:cNvPr id="8" name="Text 6"/>
          <p:cNvSpPr/>
          <p:nvPr/>
        </p:nvSpPr>
        <p:spPr>
          <a:xfrm>
            <a:off x="530352" y="1892808"/>
            <a:ext cx="3831336" cy="292608"/>
          </a:xfrm>
          <a:prstGeom prst="rect">
            <a:avLst/>
          </a:prstGeom>
          <a:noFill/>
          <a:ln/>
        </p:spPr>
        <p:txBody>
          <a:bodyPr wrap="square" lIns="0" tIns="0" rIns="0" bIns="0" rtlCol="0" anchor="ctr">
            <a:normAutofit/>
          </a:bodyPr>
          <a:lstStyle/>
          <a:p>
            <a:pPr indent="0" marL="0">
              <a:buNone/>
            </a:pPr>
            <a:r>
              <a:rPr lang="en-US" sz="1400" b="1" dirty="0">
                <a:solidFill>
                  <a:srgbClr val="1E2761"/>
                </a:solidFill>
                <a:latin typeface="Calibri" pitchFamily="34" charset="0"/>
                <a:ea typeface="Calibri" pitchFamily="34" charset="-122"/>
                <a:cs typeface="Calibri" pitchFamily="34" charset="-120"/>
              </a:rPr>
              <a:t>Content and protected material</a:t>
            </a:r>
            <a:endParaRPr lang="en-US" sz="1400" dirty="0"/>
          </a:p>
        </p:txBody>
      </p:sp>
      <p:sp>
        <p:nvSpPr>
          <p:cNvPr id="9" name="Shape 7"/>
          <p:cNvSpPr/>
          <p:nvPr/>
        </p:nvSpPr>
        <p:spPr>
          <a:xfrm>
            <a:off x="530352" y="2313432"/>
            <a:ext cx="164592" cy="164592"/>
          </a:xfrm>
          <a:prstGeom prst="ellipse">
            <a:avLst/>
          </a:prstGeom>
          <a:solidFill>
            <a:srgbClr val="B86B3F"/>
          </a:solidFill>
          <a:ln/>
        </p:spPr>
      </p:sp>
      <p:sp>
        <p:nvSpPr>
          <p:cNvPr id="10" name="Text 8"/>
          <p:cNvSpPr/>
          <p:nvPr/>
        </p:nvSpPr>
        <p:spPr>
          <a:xfrm>
            <a:off x="786384" y="2286000"/>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Hate and unfairness</a:t>
            </a:r>
            <a:endParaRPr lang="en-US" sz="1050" dirty="0"/>
          </a:p>
        </p:txBody>
      </p:sp>
      <p:sp>
        <p:nvSpPr>
          <p:cNvPr id="11" name="Text 9"/>
          <p:cNvSpPr/>
          <p:nvPr/>
        </p:nvSpPr>
        <p:spPr>
          <a:xfrm>
            <a:off x="2148840" y="2286000"/>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Biased or discriminatory language toward social groups.</a:t>
            </a:r>
            <a:endParaRPr lang="en-US" sz="920" dirty="0"/>
          </a:p>
        </p:txBody>
      </p:sp>
      <p:sp>
        <p:nvSpPr>
          <p:cNvPr id="12" name="Shape 10"/>
          <p:cNvSpPr/>
          <p:nvPr/>
        </p:nvSpPr>
        <p:spPr>
          <a:xfrm>
            <a:off x="530352" y="2743200"/>
            <a:ext cx="164592" cy="164592"/>
          </a:xfrm>
          <a:prstGeom prst="ellipse">
            <a:avLst/>
          </a:prstGeom>
          <a:solidFill>
            <a:srgbClr val="B86B3F"/>
          </a:solidFill>
          <a:ln/>
        </p:spPr>
      </p:sp>
      <p:sp>
        <p:nvSpPr>
          <p:cNvPr id="13" name="Text 11"/>
          <p:cNvSpPr/>
          <p:nvPr/>
        </p:nvSpPr>
        <p:spPr>
          <a:xfrm>
            <a:off x="786384" y="2715768"/>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Sexual</a:t>
            </a:r>
            <a:endParaRPr lang="en-US" sz="1050" dirty="0"/>
          </a:p>
        </p:txBody>
      </p:sp>
      <p:sp>
        <p:nvSpPr>
          <p:cNvPr id="14" name="Text 12"/>
          <p:cNvSpPr/>
          <p:nvPr/>
        </p:nvSpPr>
        <p:spPr>
          <a:xfrm>
            <a:off x="2148840" y="2715768"/>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Sexual or explicit content.</a:t>
            </a:r>
            <a:endParaRPr lang="en-US" sz="920" dirty="0"/>
          </a:p>
        </p:txBody>
      </p:sp>
      <p:sp>
        <p:nvSpPr>
          <p:cNvPr id="15" name="Shape 13"/>
          <p:cNvSpPr/>
          <p:nvPr/>
        </p:nvSpPr>
        <p:spPr>
          <a:xfrm>
            <a:off x="530352" y="3172968"/>
            <a:ext cx="164592" cy="164592"/>
          </a:xfrm>
          <a:prstGeom prst="ellipse">
            <a:avLst/>
          </a:prstGeom>
          <a:solidFill>
            <a:srgbClr val="B86B3F"/>
          </a:solidFill>
          <a:ln/>
        </p:spPr>
      </p:sp>
      <p:sp>
        <p:nvSpPr>
          <p:cNvPr id="16" name="Text 14"/>
          <p:cNvSpPr/>
          <p:nvPr/>
        </p:nvSpPr>
        <p:spPr>
          <a:xfrm>
            <a:off x="786384" y="3145536"/>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Violence</a:t>
            </a:r>
            <a:endParaRPr lang="en-US" sz="1050" dirty="0"/>
          </a:p>
        </p:txBody>
      </p:sp>
      <p:sp>
        <p:nvSpPr>
          <p:cNvPr id="17" name="Text 15"/>
          <p:cNvSpPr/>
          <p:nvPr/>
        </p:nvSpPr>
        <p:spPr>
          <a:xfrm>
            <a:off x="2148840" y="3145536"/>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Physical harm, weapons, or incitement.</a:t>
            </a:r>
            <a:endParaRPr lang="en-US" sz="920" dirty="0"/>
          </a:p>
        </p:txBody>
      </p:sp>
      <p:sp>
        <p:nvSpPr>
          <p:cNvPr id="18" name="Shape 16"/>
          <p:cNvSpPr/>
          <p:nvPr/>
        </p:nvSpPr>
        <p:spPr>
          <a:xfrm>
            <a:off x="530352" y="3602736"/>
            <a:ext cx="164592" cy="164592"/>
          </a:xfrm>
          <a:prstGeom prst="ellipse">
            <a:avLst/>
          </a:prstGeom>
          <a:solidFill>
            <a:srgbClr val="B86B3F"/>
          </a:solidFill>
          <a:ln/>
        </p:spPr>
      </p:sp>
      <p:sp>
        <p:nvSpPr>
          <p:cNvPr id="19" name="Text 17"/>
          <p:cNvSpPr/>
          <p:nvPr/>
        </p:nvSpPr>
        <p:spPr>
          <a:xfrm>
            <a:off x="786384" y="3575304"/>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Self-harm</a:t>
            </a:r>
            <a:endParaRPr lang="en-US" sz="1050" dirty="0"/>
          </a:p>
        </p:txBody>
      </p:sp>
      <p:sp>
        <p:nvSpPr>
          <p:cNvPr id="20" name="Text 18"/>
          <p:cNvSpPr/>
          <p:nvPr/>
        </p:nvSpPr>
        <p:spPr>
          <a:xfrm>
            <a:off x="2148840" y="3575304"/>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Content describing or promoting self-harm.</a:t>
            </a:r>
            <a:endParaRPr lang="en-US" sz="920" dirty="0"/>
          </a:p>
        </p:txBody>
      </p:sp>
      <p:sp>
        <p:nvSpPr>
          <p:cNvPr id="21" name="Shape 19"/>
          <p:cNvSpPr/>
          <p:nvPr/>
        </p:nvSpPr>
        <p:spPr>
          <a:xfrm>
            <a:off x="530352" y="4032504"/>
            <a:ext cx="164592" cy="164592"/>
          </a:xfrm>
          <a:prstGeom prst="ellipse">
            <a:avLst/>
          </a:prstGeom>
          <a:solidFill>
            <a:srgbClr val="B86B3F"/>
          </a:solidFill>
          <a:ln/>
        </p:spPr>
      </p:sp>
      <p:sp>
        <p:nvSpPr>
          <p:cNvPr id="22" name="Text 20"/>
          <p:cNvSpPr/>
          <p:nvPr/>
        </p:nvSpPr>
        <p:spPr>
          <a:xfrm>
            <a:off x="786384" y="4005072"/>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Protected material</a:t>
            </a:r>
            <a:endParaRPr lang="en-US" sz="1050" dirty="0"/>
          </a:p>
        </p:txBody>
      </p:sp>
      <p:sp>
        <p:nvSpPr>
          <p:cNvPr id="23" name="Text 21"/>
          <p:cNvSpPr/>
          <p:nvPr/>
        </p:nvSpPr>
        <p:spPr>
          <a:xfrm>
            <a:off x="2148840" y="4005072"/>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Identifiable protected text or code.</a:t>
            </a:r>
            <a:endParaRPr lang="en-US" sz="920" dirty="0"/>
          </a:p>
        </p:txBody>
      </p:sp>
      <p:sp>
        <p:nvSpPr>
          <p:cNvPr id="24" name="Shape 22"/>
          <p:cNvSpPr/>
          <p:nvPr/>
        </p:nvSpPr>
        <p:spPr>
          <a:xfrm>
            <a:off x="4617720" y="1737360"/>
            <a:ext cx="4160520" cy="2852928"/>
          </a:xfrm>
          <a:prstGeom prst="roundRect">
            <a:avLst>
              <a:gd name="adj" fmla="val 2564"/>
            </a:avLst>
          </a:prstGeom>
          <a:solidFill>
            <a:srgbClr val="F7FAF9"/>
          </a:solidFill>
          <a:ln w="7620">
            <a:solidFill>
              <a:srgbClr val="D1D5DB"/>
            </a:solidFill>
            <a:prstDash val="solid"/>
          </a:ln>
        </p:spPr>
      </p:sp>
      <p:sp>
        <p:nvSpPr>
          <p:cNvPr id="25" name="Text 23"/>
          <p:cNvSpPr/>
          <p:nvPr/>
        </p:nvSpPr>
        <p:spPr>
          <a:xfrm>
            <a:off x="4782312" y="1892808"/>
            <a:ext cx="3831336" cy="292608"/>
          </a:xfrm>
          <a:prstGeom prst="rect">
            <a:avLst/>
          </a:prstGeom>
          <a:noFill/>
          <a:ln/>
        </p:spPr>
        <p:txBody>
          <a:bodyPr wrap="square" lIns="0" tIns="0" rIns="0" bIns="0" rtlCol="0" anchor="ctr">
            <a:normAutofit/>
          </a:bodyPr>
          <a:lstStyle/>
          <a:p>
            <a:pPr indent="0" marL="0">
              <a:buNone/>
            </a:pPr>
            <a:r>
              <a:rPr lang="en-US" sz="1400" b="1" dirty="0">
                <a:solidFill>
                  <a:srgbClr val="1E2761"/>
                </a:solidFill>
                <a:latin typeface="Calibri" pitchFamily="34" charset="0"/>
                <a:ea typeface="Calibri" pitchFamily="34" charset="-122"/>
                <a:cs typeface="Calibri" pitchFamily="34" charset="-120"/>
              </a:rPr>
              <a:t>Security, privacy, and agent behavior</a:t>
            </a:r>
            <a:endParaRPr lang="en-US" sz="1400" dirty="0"/>
          </a:p>
        </p:txBody>
      </p:sp>
      <p:sp>
        <p:nvSpPr>
          <p:cNvPr id="26" name="Shape 24"/>
          <p:cNvSpPr/>
          <p:nvPr/>
        </p:nvSpPr>
        <p:spPr>
          <a:xfrm>
            <a:off x="4782312" y="2313432"/>
            <a:ext cx="164592" cy="164592"/>
          </a:xfrm>
          <a:prstGeom prst="ellipse">
            <a:avLst/>
          </a:prstGeom>
          <a:solidFill>
            <a:srgbClr val="2B7A78"/>
          </a:solidFill>
          <a:ln/>
        </p:spPr>
      </p:sp>
      <p:sp>
        <p:nvSpPr>
          <p:cNvPr id="27" name="Text 25"/>
          <p:cNvSpPr/>
          <p:nvPr/>
        </p:nvSpPr>
        <p:spPr>
          <a:xfrm>
            <a:off x="5038344" y="2286000"/>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Indirect attack</a:t>
            </a:r>
            <a:endParaRPr lang="en-US" sz="1050" dirty="0"/>
          </a:p>
        </p:txBody>
      </p:sp>
      <p:sp>
        <p:nvSpPr>
          <p:cNvPr id="28" name="Text 26"/>
          <p:cNvSpPr/>
          <p:nvPr/>
        </p:nvSpPr>
        <p:spPr>
          <a:xfrm>
            <a:off x="6400800" y="2286000"/>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Prompt injection embedded in retrieved context; model-only.</a:t>
            </a:r>
            <a:endParaRPr lang="en-US" sz="920" dirty="0"/>
          </a:p>
        </p:txBody>
      </p:sp>
      <p:sp>
        <p:nvSpPr>
          <p:cNvPr id="29" name="Shape 27"/>
          <p:cNvSpPr/>
          <p:nvPr/>
        </p:nvSpPr>
        <p:spPr>
          <a:xfrm>
            <a:off x="4782312" y="2743200"/>
            <a:ext cx="164592" cy="164592"/>
          </a:xfrm>
          <a:prstGeom prst="ellipse">
            <a:avLst/>
          </a:prstGeom>
          <a:solidFill>
            <a:srgbClr val="2B7A78"/>
          </a:solidFill>
          <a:ln/>
        </p:spPr>
      </p:sp>
      <p:sp>
        <p:nvSpPr>
          <p:cNvPr id="30" name="Text 28"/>
          <p:cNvSpPr/>
          <p:nvPr/>
        </p:nvSpPr>
        <p:spPr>
          <a:xfrm>
            <a:off x="5038344" y="2715768"/>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Code vulnerability</a:t>
            </a:r>
            <a:endParaRPr lang="en-US" sz="1050" dirty="0"/>
          </a:p>
        </p:txBody>
      </p:sp>
      <p:sp>
        <p:nvSpPr>
          <p:cNvPr id="31" name="Text 29"/>
          <p:cNvSpPr/>
          <p:nvPr/>
        </p:nvSpPr>
        <p:spPr>
          <a:xfrm>
            <a:off x="6400800" y="2715768"/>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Security weaknesses in generated code.</a:t>
            </a:r>
            <a:endParaRPr lang="en-US" sz="920" dirty="0"/>
          </a:p>
        </p:txBody>
      </p:sp>
      <p:sp>
        <p:nvSpPr>
          <p:cNvPr id="32" name="Shape 30"/>
          <p:cNvSpPr/>
          <p:nvPr/>
        </p:nvSpPr>
        <p:spPr>
          <a:xfrm>
            <a:off x="4782312" y="3172968"/>
            <a:ext cx="164592" cy="164592"/>
          </a:xfrm>
          <a:prstGeom prst="ellipse">
            <a:avLst/>
          </a:prstGeom>
          <a:solidFill>
            <a:srgbClr val="2B7A78"/>
          </a:solidFill>
          <a:ln/>
        </p:spPr>
      </p:sp>
      <p:sp>
        <p:nvSpPr>
          <p:cNvPr id="33" name="Text 31"/>
          <p:cNvSpPr/>
          <p:nvPr/>
        </p:nvSpPr>
        <p:spPr>
          <a:xfrm>
            <a:off x="5038344" y="3145536"/>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Ungrounded attributes</a:t>
            </a:r>
            <a:endParaRPr lang="en-US" sz="1050" dirty="0"/>
          </a:p>
        </p:txBody>
      </p:sp>
      <p:sp>
        <p:nvSpPr>
          <p:cNvPr id="34" name="Text 32"/>
          <p:cNvSpPr/>
          <p:nvPr/>
        </p:nvSpPr>
        <p:spPr>
          <a:xfrm>
            <a:off x="6400800" y="3145536"/>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Unsupported personal traits, emotions, or protected-class inferences.</a:t>
            </a:r>
            <a:endParaRPr lang="en-US" sz="920" dirty="0"/>
          </a:p>
        </p:txBody>
      </p:sp>
      <p:sp>
        <p:nvSpPr>
          <p:cNvPr id="35" name="Shape 33"/>
          <p:cNvSpPr/>
          <p:nvPr/>
        </p:nvSpPr>
        <p:spPr>
          <a:xfrm>
            <a:off x="4782312" y="3602736"/>
            <a:ext cx="164592" cy="164592"/>
          </a:xfrm>
          <a:prstGeom prst="ellipse">
            <a:avLst/>
          </a:prstGeom>
          <a:solidFill>
            <a:srgbClr val="2B7A78"/>
          </a:solidFill>
          <a:ln/>
        </p:spPr>
      </p:sp>
      <p:sp>
        <p:nvSpPr>
          <p:cNvPr id="36" name="Text 34"/>
          <p:cNvSpPr/>
          <p:nvPr/>
        </p:nvSpPr>
        <p:spPr>
          <a:xfrm>
            <a:off x="5038344" y="3575304"/>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Prohibited actions</a:t>
            </a:r>
            <a:endParaRPr lang="en-US" sz="1050" dirty="0"/>
          </a:p>
        </p:txBody>
      </p:sp>
      <p:sp>
        <p:nvSpPr>
          <p:cNvPr id="37" name="Text 35"/>
          <p:cNvSpPr/>
          <p:nvPr/>
        </p:nvSpPr>
        <p:spPr>
          <a:xfrm>
            <a:off x="6400800" y="3575304"/>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Disallowed agent behavior; preview and agent-only.</a:t>
            </a:r>
            <a:endParaRPr lang="en-US" sz="920" dirty="0"/>
          </a:p>
        </p:txBody>
      </p:sp>
      <p:sp>
        <p:nvSpPr>
          <p:cNvPr id="38" name="Shape 36"/>
          <p:cNvSpPr/>
          <p:nvPr/>
        </p:nvSpPr>
        <p:spPr>
          <a:xfrm>
            <a:off x="4782312" y="4032504"/>
            <a:ext cx="164592" cy="164592"/>
          </a:xfrm>
          <a:prstGeom prst="ellipse">
            <a:avLst/>
          </a:prstGeom>
          <a:solidFill>
            <a:srgbClr val="2B7A78"/>
          </a:solidFill>
          <a:ln/>
        </p:spPr>
      </p:sp>
      <p:sp>
        <p:nvSpPr>
          <p:cNvPr id="39" name="Text 37"/>
          <p:cNvSpPr/>
          <p:nvPr/>
        </p:nvSpPr>
        <p:spPr>
          <a:xfrm>
            <a:off x="5038344" y="4005072"/>
            <a:ext cx="1325880" cy="182880"/>
          </a:xfrm>
          <a:prstGeom prst="rect">
            <a:avLst/>
          </a:prstGeom>
          <a:noFill/>
          <a:ln/>
        </p:spPr>
        <p:txBody>
          <a:bodyPr wrap="square" lIns="0" tIns="0" rIns="0" bIns="0" rtlCol="0" anchor="ctr">
            <a:normAutofit/>
          </a:bodyPr>
          <a:lstStyle/>
          <a:p>
            <a:pPr indent="0" marL="0">
              <a:buNone/>
            </a:pPr>
            <a:r>
              <a:rPr lang="en-US" sz="1050" b="1" dirty="0">
                <a:solidFill>
                  <a:srgbClr val="1E2761"/>
                </a:solidFill>
                <a:latin typeface="Calibri" pitchFamily="34" charset="0"/>
                <a:ea typeface="Calibri" pitchFamily="34" charset="-122"/>
                <a:cs typeface="Calibri" pitchFamily="34" charset="-120"/>
              </a:rPr>
              <a:t>Sensitive data leakage</a:t>
            </a:r>
            <a:endParaRPr lang="en-US" sz="1050" dirty="0"/>
          </a:p>
        </p:txBody>
      </p:sp>
      <p:sp>
        <p:nvSpPr>
          <p:cNvPr id="40" name="Text 38"/>
          <p:cNvSpPr/>
          <p:nvPr/>
        </p:nvSpPr>
        <p:spPr>
          <a:xfrm>
            <a:off x="6400800" y="4005072"/>
            <a:ext cx="2194560" cy="256032"/>
          </a:xfrm>
          <a:prstGeom prst="rect">
            <a:avLst/>
          </a:prstGeom>
          <a:noFill/>
          <a:ln/>
        </p:spPr>
        <p:txBody>
          <a:bodyPr wrap="square" lIns="0" tIns="0" rIns="0" bIns="0" rtlCol="0" anchor="ctr">
            <a:normAutofit/>
          </a:bodyPr>
          <a:lstStyle/>
          <a:p>
            <a:pPr indent="0" marL="0">
              <a:buNone/>
            </a:pPr>
            <a:r>
              <a:rPr lang="en-US" sz="920" dirty="0">
                <a:solidFill>
                  <a:srgbClr val="212121"/>
                </a:solidFill>
                <a:latin typeface="Calibri" pitchFamily="34" charset="0"/>
                <a:ea typeface="Calibri" pitchFamily="34" charset="-122"/>
                <a:cs typeface="Calibri" pitchFamily="34" charset="-120"/>
              </a:rPr>
              <a:t>Exposed personal or secret data; preview and agent-only.</a:t>
            </a:r>
            <a:endParaRPr lang="en-US" sz="920" dirty="0"/>
          </a:p>
        </p:txBody>
      </p:sp>
      <p:sp>
        <p:nvSpPr>
          <p:cNvPr id="41" name="Text 39"/>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learn.microsoft.com/azure/foundry/concepts/evaluation-evaluators/risk-safety-evaluators</a:t>
            </a:r>
            <a:endParaRPr lang="en-US" sz="720" dirty="0"/>
          </a:p>
        </p:txBody>
      </p:sp>
      <p:sp>
        <p:nvSpPr>
          <p:cNvPr id="42" name="Text 40"/>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 / 16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Score scales and thresholds</a:t>
            </a:r>
            <a:endParaRPr lang="en-US" sz="2800" dirty="0"/>
          </a:p>
        </p:txBody>
      </p:sp>
      <p:sp>
        <p:nvSpPr>
          <p:cNvPr id="5" name="Shape 3"/>
          <p:cNvSpPr/>
          <p:nvPr/>
        </p:nvSpPr>
        <p:spPr>
          <a:xfrm>
            <a:off x="365760" y="1051560"/>
            <a:ext cx="8412480" cy="566928"/>
          </a:xfrm>
          <a:prstGeom prst="roundRect">
            <a:avLst>
              <a:gd name="adj" fmla="val 12903"/>
            </a:avLst>
          </a:prstGeom>
          <a:solidFill>
            <a:srgbClr val="CADCFC">
              <a:alpha val="65000"/>
            </a:srgbClr>
          </a:solidFill>
          <a:ln w="6350">
            <a:solidFill>
              <a:srgbClr val="D1D5DB"/>
            </a:solidFill>
            <a:prstDash val="solid"/>
          </a:ln>
        </p:spPr>
      </p:sp>
      <p:sp>
        <p:nvSpPr>
          <p:cNvPr id="6" name="Text 4"/>
          <p:cNvSpPr/>
          <p:nvPr/>
        </p:nvSpPr>
        <p:spPr>
          <a:xfrm>
            <a:off x="512064" y="1133856"/>
            <a:ext cx="8119872" cy="402336"/>
          </a:xfrm>
          <a:prstGeom prst="rect">
            <a:avLst/>
          </a:prstGeom>
          <a:noFill/>
          <a:ln/>
        </p:spPr>
        <p:txBody>
          <a:bodyPr wrap="square" lIns="0" tIns="0" rIns="0" bIns="0" rtlCol="0" anchor="ctr">
            <a:normAutofit/>
          </a:bodyPr>
          <a:lstStyle/>
          <a:p>
            <a:pPr indent="0" marL="0">
              <a:buNone/>
            </a:pPr>
            <a:r>
              <a:rPr lang="en-US" sz="1220" dirty="0">
                <a:solidFill>
                  <a:srgbClr val="212121"/>
                </a:solidFill>
                <a:latin typeface="Calibri" pitchFamily="34" charset="0"/>
                <a:ea typeface="Calibri" pitchFamily="34" charset="-122"/>
                <a:cs typeface="Calibri" pitchFamily="34" charset="-120"/>
              </a:rPr>
              <a:t>Thresholds are application decisions. Define them from the consequence of failure, validate them on representative data, and preserve each evaluator's native scale.</a:t>
            </a:r>
            <a:endParaRPr lang="en-US" sz="1220" dirty="0"/>
          </a:p>
        </p:txBody>
      </p:sp>
      <p:sp>
        <p:nvSpPr>
          <p:cNvPr id="7" name="Shape 5"/>
          <p:cNvSpPr/>
          <p:nvPr/>
        </p:nvSpPr>
        <p:spPr>
          <a:xfrm>
            <a:off x="365760" y="1764792"/>
            <a:ext cx="2694432" cy="2944368"/>
          </a:xfrm>
          <a:prstGeom prst="roundRect">
            <a:avLst>
              <a:gd name="adj" fmla="val 2715"/>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8" name="Shape 6"/>
          <p:cNvSpPr/>
          <p:nvPr/>
        </p:nvSpPr>
        <p:spPr>
          <a:xfrm>
            <a:off x="365760" y="1764792"/>
            <a:ext cx="64008" cy="2944368"/>
          </a:xfrm>
          <a:prstGeom prst="rect">
            <a:avLst/>
          </a:prstGeom>
          <a:solidFill>
            <a:srgbClr val="1E2761"/>
          </a:solidFill>
          <a:ln/>
        </p:spPr>
      </p:sp>
      <p:sp>
        <p:nvSpPr>
          <p:cNvPr id="9" name="Shape 7"/>
          <p:cNvSpPr/>
          <p:nvPr/>
        </p:nvSpPr>
        <p:spPr>
          <a:xfrm>
            <a:off x="512064" y="1892808"/>
            <a:ext cx="256032" cy="256032"/>
          </a:xfrm>
          <a:prstGeom prst="ellipse">
            <a:avLst/>
          </a:prstGeom>
          <a:solidFill>
            <a:srgbClr val="1E2761"/>
          </a:solidFill>
          <a:ln/>
        </p:spPr>
      </p:sp>
      <p:sp>
        <p:nvSpPr>
          <p:cNvPr id="10" name="Text 8"/>
          <p:cNvSpPr/>
          <p:nvPr/>
        </p:nvSpPr>
        <p:spPr>
          <a:xfrm>
            <a:off x="512064"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841248"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Quality and selected RAG metrics</a:t>
            </a:r>
            <a:endParaRPr lang="en-US" sz="1500" dirty="0"/>
          </a:p>
        </p:txBody>
      </p:sp>
      <p:sp>
        <p:nvSpPr>
          <p:cNvPr id="12" name="Text 10"/>
          <p:cNvSpPr/>
          <p:nvPr/>
        </p:nvSpPr>
        <p:spPr>
          <a:xfrm>
            <a:off x="512064"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Often 1–5, where higher is better. Coherence and fluency document a default pass threshold of 3.</a:t>
            </a:r>
            <a:endParaRPr lang="en-US" sz="1210" dirty="0"/>
          </a:p>
        </p:txBody>
      </p:sp>
      <p:sp>
        <p:nvSpPr>
          <p:cNvPr id="13" name="Shape 11"/>
          <p:cNvSpPr/>
          <p:nvPr/>
        </p:nvSpPr>
        <p:spPr>
          <a:xfrm>
            <a:off x="3224784" y="1764792"/>
            <a:ext cx="2694432" cy="2944368"/>
          </a:xfrm>
          <a:prstGeom prst="roundRect">
            <a:avLst>
              <a:gd name="adj" fmla="val 2715"/>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4" name="Shape 12"/>
          <p:cNvSpPr/>
          <p:nvPr/>
        </p:nvSpPr>
        <p:spPr>
          <a:xfrm>
            <a:off x="3224784" y="1764792"/>
            <a:ext cx="64008" cy="2944368"/>
          </a:xfrm>
          <a:prstGeom prst="rect">
            <a:avLst/>
          </a:prstGeom>
          <a:solidFill>
            <a:srgbClr val="2B7A78"/>
          </a:solidFill>
          <a:ln/>
        </p:spPr>
      </p:sp>
      <p:sp>
        <p:nvSpPr>
          <p:cNvPr id="15" name="Shape 13"/>
          <p:cNvSpPr/>
          <p:nvPr/>
        </p:nvSpPr>
        <p:spPr>
          <a:xfrm>
            <a:off x="3371088" y="1892808"/>
            <a:ext cx="256032" cy="256032"/>
          </a:xfrm>
          <a:prstGeom prst="ellipse">
            <a:avLst/>
          </a:prstGeom>
          <a:solidFill>
            <a:srgbClr val="2B7A78"/>
          </a:solidFill>
          <a:ln/>
        </p:spPr>
      </p:sp>
      <p:sp>
        <p:nvSpPr>
          <p:cNvPr id="16" name="Text 14"/>
          <p:cNvSpPr/>
          <p:nvPr/>
        </p:nvSpPr>
        <p:spPr>
          <a:xfrm>
            <a:off x="3371088"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3700272"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Four content-safety metrics</a:t>
            </a:r>
            <a:endParaRPr lang="en-US" sz="1500" dirty="0"/>
          </a:p>
        </p:txBody>
      </p:sp>
      <p:sp>
        <p:nvSpPr>
          <p:cNvPr id="18" name="Text 16"/>
          <p:cNvSpPr/>
          <p:nvPr/>
        </p:nvSpPr>
        <p:spPr>
          <a:xfrm>
            <a:off x="3371088"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Severity 0–7, where lower is better. The documented default passing threshold is 3 or lower.</a:t>
            </a:r>
            <a:endParaRPr lang="en-US" sz="1210" dirty="0"/>
          </a:p>
        </p:txBody>
      </p:sp>
      <p:sp>
        <p:nvSpPr>
          <p:cNvPr id="19" name="Shape 17"/>
          <p:cNvSpPr/>
          <p:nvPr/>
        </p:nvSpPr>
        <p:spPr>
          <a:xfrm>
            <a:off x="6083808" y="1764792"/>
            <a:ext cx="2694432" cy="2944368"/>
          </a:xfrm>
          <a:prstGeom prst="roundRect">
            <a:avLst>
              <a:gd name="adj" fmla="val 2715"/>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0" name="Shape 18"/>
          <p:cNvSpPr/>
          <p:nvPr/>
        </p:nvSpPr>
        <p:spPr>
          <a:xfrm>
            <a:off x="6083808" y="1764792"/>
            <a:ext cx="64008" cy="2944368"/>
          </a:xfrm>
          <a:prstGeom prst="rect">
            <a:avLst/>
          </a:prstGeom>
          <a:solidFill>
            <a:srgbClr val="B86B3F"/>
          </a:solidFill>
          <a:ln/>
        </p:spPr>
      </p:sp>
      <p:sp>
        <p:nvSpPr>
          <p:cNvPr id="21" name="Shape 19"/>
          <p:cNvSpPr/>
          <p:nvPr/>
        </p:nvSpPr>
        <p:spPr>
          <a:xfrm>
            <a:off x="6230112" y="1892808"/>
            <a:ext cx="256032" cy="256032"/>
          </a:xfrm>
          <a:prstGeom prst="ellipse">
            <a:avLst/>
          </a:prstGeom>
          <a:solidFill>
            <a:srgbClr val="B86B3F"/>
          </a:solidFill>
          <a:ln/>
        </p:spPr>
      </p:sp>
      <p:sp>
        <p:nvSpPr>
          <p:cNvPr id="22" name="Text 20"/>
          <p:cNvSpPr/>
          <p:nvPr/>
        </p:nvSpPr>
        <p:spPr>
          <a:xfrm>
            <a:off x="6230112"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21"/>
          <p:cNvSpPr/>
          <p:nvPr/>
        </p:nvSpPr>
        <p:spPr>
          <a:xfrm>
            <a:off x="6559296"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Agent metrics</a:t>
            </a:r>
            <a:endParaRPr lang="en-US" sz="1500" dirty="0"/>
          </a:p>
        </p:txBody>
      </p:sp>
      <p:sp>
        <p:nvSpPr>
          <p:cNvPr id="24" name="Text 22"/>
          <p:cNvSpPr/>
          <p:nvPr/>
        </p:nvSpPr>
        <p:spPr>
          <a:xfrm>
            <a:off x="6230112"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Binary or evaluator-specific scored output. Read the per-evaluator result, threshold, and diagnostics.</a:t>
            </a:r>
            <a:endParaRPr lang="en-US" sz="1210" dirty="0"/>
          </a:p>
        </p:txBody>
      </p:sp>
      <p:sp>
        <p:nvSpPr>
          <p:cNvPr id="25" name="Text 23"/>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learn.microsoft.com/azure/foundry/concepts/evaluation-evaluators/general-purpose-evaluators</a:t>
            </a:r>
            <a:endParaRPr lang="en-US" sz="720" dirty="0"/>
          </a:p>
        </p:txBody>
      </p:sp>
      <p:sp>
        <p:nvSpPr>
          <p:cNvPr id="26" name="Text 24"/>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 / 16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Custom evaluators</a:t>
            </a:r>
            <a:endParaRPr lang="en-US" sz="2800" dirty="0"/>
          </a:p>
        </p:txBody>
      </p:sp>
      <p:sp>
        <p:nvSpPr>
          <p:cNvPr id="5" name="Shape 3"/>
          <p:cNvSpPr/>
          <p:nvPr/>
        </p:nvSpPr>
        <p:spPr>
          <a:xfrm>
            <a:off x="365760" y="1051560"/>
            <a:ext cx="8412480" cy="566928"/>
          </a:xfrm>
          <a:prstGeom prst="roundRect">
            <a:avLst>
              <a:gd name="adj" fmla="val 12903"/>
            </a:avLst>
          </a:prstGeom>
          <a:solidFill>
            <a:srgbClr val="CADCFC">
              <a:alpha val="65000"/>
            </a:srgbClr>
          </a:solidFill>
          <a:ln w="6350">
            <a:solidFill>
              <a:srgbClr val="D1D5DB"/>
            </a:solidFill>
            <a:prstDash val="solid"/>
          </a:ln>
        </p:spPr>
      </p:sp>
      <p:sp>
        <p:nvSpPr>
          <p:cNvPr id="6" name="Text 4"/>
          <p:cNvSpPr/>
          <p:nvPr/>
        </p:nvSpPr>
        <p:spPr>
          <a:xfrm>
            <a:off x="512064" y="1133856"/>
            <a:ext cx="8119872" cy="402336"/>
          </a:xfrm>
          <a:prstGeom prst="rect">
            <a:avLst/>
          </a:prstGeom>
          <a:noFill/>
          <a:ln/>
        </p:spPr>
        <p:txBody>
          <a:bodyPr wrap="square" lIns="0" tIns="0" rIns="0" bIns="0" rtlCol="0" anchor="ctr">
            <a:normAutofit/>
          </a:bodyPr>
          <a:lstStyle/>
          <a:p>
            <a:pPr indent="0" marL="0">
              <a:buNone/>
            </a:pPr>
            <a:r>
              <a:rPr lang="en-US" sz="1220" dirty="0">
                <a:solidFill>
                  <a:srgbClr val="212121"/>
                </a:solidFill>
                <a:latin typeface="Calibri" pitchFamily="34" charset="0"/>
                <a:ea typeface="Calibri" pitchFamily="34" charset="-122"/>
                <a:cs typeface="Calibri" pitchFamily="34" charset="-120"/>
              </a:rPr>
              <a:t>Custom evaluators are preview. Add them to the Foundry evaluator catalog and run them with built-ins.</a:t>
            </a:r>
            <a:endParaRPr lang="en-US" sz="1220" dirty="0"/>
          </a:p>
        </p:txBody>
      </p:sp>
      <p:sp>
        <p:nvSpPr>
          <p:cNvPr id="7" name="Shape 5"/>
          <p:cNvSpPr/>
          <p:nvPr/>
        </p:nvSpPr>
        <p:spPr>
          <a:xfrm>
            <a:off x="365760" y="1764792"/>
            <a:ext cx="2694432" cy="2944368"/>
          </a:xfrm>
          <a:prstGeom prst="roundRect">
            <a:avLst>
              <a:gd name="adj" fmla="val 2715"/>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8" name="Shape 6"/>
          <p:cNvSpPr/>
          <p:nvPr/>
        </p:nvSpPr>
        <p:spPr>
          <a:xfrm>
            <a:off x="365760" y="1764792"/>
            <a:ext cx="64008" cy="2944368"/>
          </a:xfrm>
          <a:prstGeom prst="rect">
            <a:avLst/>
          </a:prstGeom>
          <a:solidFill>
            <a:srgbClr val="1E2761"/>
          </a:solidFill>
          <a:ln/>
        </p:spPr>
      </p:sp>
      <p:sp>
        <p:nvSpPr>
          <p:cNvPr id="9" name="Shape 7"/>
          <p:cNvSpPr/>
          <p:nvPr/>
        </p:nvSpPr>
        <p:spPr>
          <a:xfrm>
            <a:off x="512064" y="1892808"/>
            <a:ext cx="256032" cy="256032"/>
          </a:xfrm>
          <a:prstGeom prst="ellipse">
            <a:avLst/>
          </a:prstGeom>
          <a:solidFill>
            <a:srgbClr val="1E2761"/>
          </a:solidFill>
          <a:ln/>
        </p:spPr>
      </p:sp>
      <p:sp>
        <p:nvSpPr>
          <p:cNvPr id="10" name="Text 8"/>
          <p:cNvSpPr/>
          <p:nvPr/>
        </p:nvSpPr>
        <p:spPr>
          <a:xfrm>
            <a:off x="512064"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841248"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Code-based</a:t>
            </a:r>
            <a:endParaRPr lang="en-US" sz="1500" dirty="0"/>
          </a:p>
        </p:txBody>
      </p:sp>
      <p:sp>
        <p:nvSpPr>
          <p:cNvPr id="12" name="Text 10"/>
          <p:cNvSpPr/>
          <p:nvPr/>
        </p:nvSpPr>
        <p:spPr>
          <a:xfrm>
            <a:off x="512064"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Python grade(sample, item) returns 0.0–1.0; use for deterministic rules, formats, keywords, or length checks.</a:t>
            </a:r>
            <a:endParaRPr lang="en-US" sz="1210" dirty="0"/>
          </a:p>
        </p:txBody>
      </p:sp>
      <p:sp>
        <p:nvSpPr>
          <p:cNvPr id="13" name="Shape 11"/>
          <p:cNvSpPr/>
          <p:nvPr/>
        </p:nvSpPr>
        <p:spPr>
          <a:xfrm>
            <a:off x="3224784" y="1764792"/>
            <a:ext cx="2694432" cy="2944368"/>
          </a:xfrm>
          <a:prstGeom prst="roundRect">
            <a:avLst>
              <a:gd name="adj" fmla="val 2715"/>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4" name="Shape 12"/>
          <p:cNvSpPr/>
          <p:nvPr/>
        </p:nvSpPr>
        <p:spPr>
          <a:xfrm>
            <a:off x="3224784" y="1764792"/>
            <a:ext cx="64008" cy="2944368"/>
          </a:xfrm>
          <a:prstGeom prst="rect">
            <a:avLst/>
          </a:prstGeom>
          <a:solidFill>
            <a:srgbClr val="2B7A78"/>
          </a:solidFill>
          <a:ln/>
        </p:spPr>
      </p:sp>
      <p:sp>
        <p:nvSpPr>
          <p:cNvPr id="15" name="Shape 13"/>
          <p:cNvSpPr/>
          <p:nvPr/>
        </p:nvSpPr>
        <p:spPr>
          <a:xfrm>
            <a:off x="3371088" y="1892808"/>
            <a:ext cx="256032" cy="256032"/>
          </a:xfrm>
          <a:prstGeom prst="ellipse">
            <a:avLst/>
          </a:prstGeom>
          <a:solidFill>
            <a:srgbClr val="2B7A78"/>
          </a:solidFill>
          <a:ln/>
        </p:spPr>
      </p:sp>
      <p:sp>
        <p:nvSpPr>
          <p:cNvPr id="16" name="Text 14"/>
          <p:cNvSpPr/>
          <p:nvPr/>
        </p:nvSpPr>
        <p:spPr>
          <a:xfrm>
            <a:off x="3371088"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3700272"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Prompt-based</a:t>
            </a:r>
            <a:endParaRPr lang="en-US" sz="1500" dirty="0"/>
          </a:p>
        </p:txBody>
      </p:sp>
      <p:sp>
        <p:nvSpPr>
          <p:cNvPr id="18" name="Text 16"/>
          <p:cNvSpPr/>
          <p:nvPr/>
        </p:nvSpPr>
        <p:spPr>
          <a:xfrm>
            <a:off x="3371088"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An LLM judge returns JSON with result and reason; use ordinal, continuous, or binary scoring for subjective criteria.</a:t>
            </a:r>
            <a:endParaRPr lang="en-US" sz="1210" dirty="0"/>
          </a:p>
        </p:txBody>
      </p:sp>
      <p:sp>
        <p:nvSpPr>
          <p:cNvPr id="19" name="Shape 17"/>
          <p:cNvSpPr/>
          <p:nvPr/>
        </p:nvSpPr>
        <p:spPr>
          <a:xfrm>
            <a:off x="6083808" y="1764792"/>
            <a:ext cx="2694432" cy="2944368"/>
          </a:xfrm>
          <a:prstGeom prst="roundRect">
            <a:avLst>
              <a:gd name="adj" fmla="val 2715"/>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20" name="Shape 18"/>
          <p:cNvSpPr/>
          <p:nvPr/>
        </p:nvSpPr>
        <p:spPr>
          <a:xfrm>
            <a:off x="6083808" y="1764792"/>
            <a:ext cx="64008" cy="2944368"/>
          </a:xfrm>
          <a:prstGeom prst="rect">
            <a:avLst/>
          </a:prstGeom>
          <a:solidFill>
            <a:srgbClr val="B86B3F"/>
          </a:solidFill>
          <a:ln/>
        </p:spPr>
      </p:sp>
      <p:sp>
        <p:nvSpPr>
          <p:cNvPr id="21" name="Shape 19"/>
          <p:cNvSpPr/>
          <p:nvPr/>
        </p:nvSpPr>
        <p:spPr>
          <a:xfrm>
            <a:off x="6230112" y="1892808"/>
            <a:ext cx="256032" cy="256032"/>
          </a:xfrm>
          <a:prstGeom prst="ellipse">
            <a:avLst/>
          </a:prstGeom>
          <a:solidFill>
            <a:srgbClr val="B86B3F"/>
          </a:solidFill>
          <a:ln/>
        </p:spPr>
      </p:sp>
      <p:sp>
        <p:nvSpPr>
          <p:cNvPr id="22" name="Text 20"/>
          <p:cNvSpPr/>
          <p:nvPr/>
        </p:nvSpPr>
        <p:spPr>
          <a:xfrm>
            <a:off x="6230112" y="1933956"/>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3" name="Text 21"/>
          <p:cNvSpPr/>
          <p:nvPr/>
        </p:nvSpPr>
        <p:spPr>
          <a:xfrm>
            <a:off x="6559296" y="1865376"/>
            <a:ext cx="208178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Endpoint-based</a:t>
            </a:r>
            <a:endParaRPr lang="en-US" sz="1500" dirty="0"/>
          </a:p>
        </p:txBody>
      </p:sp>
      <p:sp>
        <p:nvSpPr>
          <p:cNvPr id="24" name="Text 22"/>
          <p:cNvSpPr/>
          <p:nvPr/>
        </p:nvSpPr>
        <p:spPr>
          <a:xfrm>
            <a:off x="6230112" y="2267712"/>
            <a:ext cx="2401824" cy="232257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Call an external scoring endpoint when evaluation needs network access, proprietary logic, or another platform.</a:t>
            </a:r>
            <a:endParaRPr lang="en-US" sz="1210" dirty="0"/>
          </a:p>
        </p:txBody>
      </p:sp>
      <p:sp>
        <p:nvSpPr>
          <p:cNvPr id="25" name="Text 23"/>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learn.microsoft.com/azure/foundry/concepts/evaluation-evaluators/custom-evaluators</a:t>
            </a:r>
            <a:endParaRPr lang="en-US" sz="720" dirty="0"/>
          </a:p>
        </p:txBody>
      </p:sp>
      <p:sp>
        <p:nvSpPr>
          <p:cNvPr id="26" name="Text 24"/>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 / 16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Which evaluators for which app</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8412480" cy="914400"/>
        </p:xfrm>
        <a:graphic>
          <a:graphicData uri="http://schemas.openxmlformats.org/drawingml/2006/table">
            <a:tbl>
              <a:tblPr/>
              <a:tblGrid>
                <a:gridCol w="1600200"/>
                <a:gridCol w="4663440"/>
                <a:gridCol w="214884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Scenario</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Workshop starting bundle</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 or adapt when</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475488">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RAG app, external users</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Groundedness + Relevance + Response Completeness + applicable content-safety evaluators</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Add retrieval metrics with labeled ground truth and red teaming before customer exposure</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Agent with tool use</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Task Adherence + Task Completion + Tool Call Accuracy + Tool Selection + applicable safety evaluators</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Add Prohibited Actions or Sensitive Data Leakage when the preview evaluator and target are supported</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75488">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Internal assistant</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Coherence + Fluency + task-specific evaluator + risk-based safety selection</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Expand as audience, data sensitivity, or action authority grows</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Model endpoint or API</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Coherence + task-specific correctness + applicable safety evaluators</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Add groundedness only when a real context boundary exists</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475488">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Translation</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BLEU + GLEU + METEOR + Fluency</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12121"/>
                          </a:solidFill>
                          <a:latin typeface="Calibri" pitchFamily="34" charset="0"/>
                          <a:ea typeface="Calibri" pitchFamily="34" charset="-122"/>
                          <a:cs typeface="Calibri" pitchFamily="34" charset="-120"/>
                        </a:rPr>
                        <a:t>Add terminology, locale, and brand rules through custom evaluation</a:t>
                      </a:r>
                      <a:endParaRPr lang="en-US" sz="105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224528"/>
            <a:ext cx="8412480" cy="384048"/>
          </a:xfrm>
          <a:prstGeom prst="roundRect">
            <a:avLst>
              <a:gd name="adj" fmla="val 19048"/>
            </a:avLst>
          </a:prstGeom>
          <a:solidFill>
            <a:srgbClr val="FBE8DD">
              <a:alpha val="65000"/>
            </a:srgbClr>
          </a:solidFill>
          <a:ln w="6350">
            <a:solidFill>
              <a:srgbClr val="D1D5DB"/>
            </a:solidFill>
            <a:prstDash val="solid"/>
          </a:ln>
        </p:spPr>
      </p:sp>
      <p:sp>
        <p:nvSpPr>
          <p:cNvPr id="7" name="Text 4"/>
          <p:cNvSpPr/>
          <p:nvPr/>
        </p:nvSpPr>
        <p:spPr>
          <a:xfrm>
            <a:off x="512064" y="4306824"/>
            <a:ext cx="8119872" cy="219456"/>
          </a:xfrm>
          <a:prstGeom prst="rect">
            <a:avLst/>
          </a:prstGeom>
          <a:noFill/>
          <a:ln/>
        </p:spPr>
        <p:txBody>
          <a:bodyPr wrap="square" lIns="0" tIns="0" rIns="0" bIns="0" rtlCol="0" anchor="ctr">
            <a:normAutofit/>
          </a:bodyPr>
          <a:lstStyle/>
          <a:p>
            <a:pPr indent="0" marL="0">
              <a:buNone/>
            </a:pPr>
            <a:r>
              <a:rPr lang="en-US" sz="1050" dirty="0">
                <a:solidFill>
                  <a:srgbClr val="212121"/>
                </a:solidFill>
                <a:latin typeface="Calibri" pitchFamily="34" charset="0"/>
                <a:ea typeface="Calibri" pitchFamily="34" charset="-122"/>
                <a:cs typeface="Calibri" pitchFamily="34" charset="-120"/>
              </a:rPr>
              <a:t>This is a workshop starting point, not a Microsoft-prescribed bundle. Verify evaluator inputs, targets, regions, preview status, and risk coverage.</a:t>
            </a:r>
            <a:endParaRPr lang="en-US" sz="1050" dirty="0"/>
          </a:p>
        </p:txBody>
      </p:sp>
      <p:sp>
        <p:nvSpPr>
          <p:cNvPr id="8" name="Text 5"/>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learn.microsoft.com/azure/foundry/concepts/built-in-evaluators</a:t>
            </a:r>
            <a:endParaRPr lang="en-US" sz="720" dirty="0"/>
          </a:p>
        </p:txBody>
      </p:sp>
      <p:sp>
        <p:nvSpPr>
          <p:cNvPr id="9" name="Text 6"/>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 / 16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Evaluation across the delivery lifecycle</a:t>
            </a:r>
            <a:endParaRPr lang="en-US" sz="2800" dirty="0"/>
          </a:p>
        </p:txBody>
      </p:sp>
      <p:sp>
        <p:nvSpPr>
          <p:cNvPr id="5" name="Shape 3"/>
          <p:cNvSpPr/>
          <p:nvPr/>
        </p:nvSpPr>
        <p:spPr>
          <a:xfrm>
            <a:off x="3023616" y="2350008"/>
            <a:ext cx="182880" cy="384048"/>
          </a:xfrm>
          <a:prstGeom prst="chevron">
            <a:avLst/>
          </a:prstGeom>
          <a:solidFill>
            <a:srgbClr val="E8A87C"/>
          </a:solidFill>
          <a:ln/>
        </p:spPr>
      </p:sp>
      <p:sp>
        <p:nvSpPr>
          <p:cNvPr id="6" name="Shape 4"/>
          <p:cNvSpPr/>
          <p:nvPr/>
        </p:nvSpPr>
        <p:spPr>
          <a:xfrm>
            <a:off x="365760" y="1234440"/>
            <a:ext cx="2584704" cy="2697480"/>
          </a:xfrm>
          <a:prstGeom prst="roundRect">
            <a:avLst>
              <a:gd name="adj" fmla="val 2830"/>
            </a:avLst>
          </a:prstGeom>
          <a:solidFill>
            <a:srgbClr val="EEF2FF"/>
          </a:solidFill>
          <a:ln w="8890">
            <a:solidFill>
              <a:srgbClr val="D1D5DB"/>
            </a:solidFill>
            <a:prstDash val="solid"/>
          </a:ln>
        </p:spPr>
      </p:sp>
      <p:sp>
        <p:nvSpPr>
          <p:cNvPr id="7" name="Shape 5"/>
          <p:cNvSpPr/>
          <p:nvPr/>
        </p:nvSpPr>
        <p:spPr>
          <a:xfrm>
            <a:off x="530352" y="1399032"/>
            <a:ext cx="457200" cy="457200"/>
          </a:xfrm>
          <a:prstGeom prst="ellipse">
            <a:avLst/>
          </a:prstGeom>
          <a:solidFill>
            <a:srgbClr val="1E2761"/>
          </a:solidFill>
          <a:ln/>
        </p:spPr>
      </p:sp>
      <p:sp>
        <p:nvSpPr>
          <p:cNvPr id="8" name="Text 6"/>
          <p:cNvSpPr/>
          <p:nvPr/>
        </p:nvSpPr>
        <p:spPr>
          <a:xfrm>
            <a:off x="530352" y="1499616"/>
            <a:ext cx="457200" cy="16459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530352" y="2039112"/>
            <a:ext cx="2255520" cy="411480"/>
          </a:xfrm>
          <a:prstGeom prst="rect">
            <a:avLst/>
          </a:prstGeom>
          <a:noFill/>
          <a:ln/>
        </p:spPr>
        <p:txBody>
          <a:bodyPr wrap="square" lIns="0" tIns="0" rIns="0" bIns="0" rtlCol="0" anchor="ctr">
            <a:normAutofit/>
          </a:bodyPr>
          <a:lstStyle/>
          <a:p>
            <a:pPr algn="ctr" indent="0" marL="0">
              <a:buNone/>
            </a:pPr>
            <a:r>
              <a:rPr lang="en-US" sz="1800" b="1" dirty="0">
                <a:solidFill>
                  <a:srgbClr val="1E2761"/>
                </a:solidFill>
                <a:latin typeface="Calibri" pitchFamily="34" charset="0"/>
                <a:ea typeface="Calibri" pitchFamily="34" charset="-122"/>
                <a:cs typeface="Calibri" pitchFamily="34" charset="-120"/>
              </a:rPr>
              <a:t>Development</a:t>
            </a:r>
            <a:endParaRPr lang="en-US" sz="1800" dirty="0"/>
          </a:p>
        </p:txBody>
      </p:sp>
      <p:sp>
        <p:nvSpPr>
          <p:cNvPr id="10" name="Text 8"/>
          <p:cNvSpPr/>
          <p:nvPr/>
        </p:nvSpPr>
        <p:spPr>
          <a:xfrm>
            <a:off x="566928" y="2606040"/>
            <a:ext cx="2182368" cy="104241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Run fast local checks and a small reviewed dataset after meaningful prompt, model, tool, or orchestration changes.</a:t>
            </a:r>
            <a:endParaRPr lang="en-US" sz="1210" dirty="0"/>
          </a:p>
        </p:txBody>
      </p:sp>
      <p:sp>
        <p:nvSpPr>
          <p:cNvPr id="11" name="Shape 9"/>
          <p:cNvSpPr/>
          <p:nvPr/>
        </p:nvSpPr>
        <p:spPr>
          <a:xfrm>
            <a:off x="5937504" y="2350008"/>
            <a:ext cx="182880" cy="384048"/>
          </a:xfrm>
          <a:prstGeom prst="chevron">
            <a:avLst/>
          </a:prstGeom>
          <a:solidFill>
            <a:srgbClr val="E8A87C"/>
          </a:solidFill>
          <a:ln/>
        </p:spPr>
      </p:sp>
      <p:sp>
        <p:nvSpPr>
          <p:cNvPr id="12" name="Shape 10"/>
          <p:cNvSpPr/>
          <p:nvPr/>
        </p:nvSpPr>
        <p:spPr>
          <a:xfrm>
            <a:off x="3279648" y="1234440"/>
            <a:ext cx="2584704" cy="2697480"/>
          </a:xfrm>
          <a:prstGeom prst="roundRect">
            <a:avLst>
              <a:gd name="adj" fmla="val 2830"/>
            </a:avLst>
          </a:prstGeom>
          <a:solidFill>
            <a:srgbClr val="F3F4F6"/>
          </a:solidFill>
          <a:ln w="8890">
            <a:solidFill>
              <a:srgbClr val="D1D5DB"/>
            </a:solidFill>
            <a:prstDash val="solid"/>
          </a:ln>
        </p:spPr>
      </p:sp>
      <p:sp>
        <p:nvSpPr>
          <p:cNvPr id="13" name="Shape 11"/>
          <p:cNvSpPr/>
          <p:nvPr/>
        </p:nvSpPr>
        <p:spPr>
          <a:xfrm>
            <a:off x="3444240" y="1399032"/>
            <a:ext cx="457200" cy="457200"/>
          </a:xfrm>
          <a:prstGeom prst="ellipse">
            <a:avLst/>
          </a:prstGeom>
          <a:solidFill>
            <a:srgbClr val="1E2761"/>
          </a:solidFill>
          <a:ln/>
        </p:spPr>
      </p:sp>
      <p:sp>
        <p:nvSpPr>
          <p:cNvPr id="14" name="Text 12"/>
          <p:cNvSpPr/>
          <p:nvPr/>
        </p:nvSpPr>
        <p:spPr>
          <a:xfrm>
            <a:off x="3444240" y="1499616"/>
            <a:ext cx="457200" cy="16459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3444240" y="2039112"/>
            <a:ext cx="2255520" cy="411480"/>
          </a:xfrm>
          <a:prstGeom prst="rect">
            <a:avLst/>
          </a:prstGeom>
          <a:noFill/>
          <a:ln/>
        </p:spPr>
        <p:txBody>
          <a:bodyPr wrap="square" lIns="0" tIns="0" rIns="0" bIns="0" rtlCol="0" anchor="ctr">
            <a:normAutofit/>
          </a:bodyPr>
          <a:lstStyle/>
          <a:p>
            <a:pPr algn="ctr" indent="0" marL="0">
              <a:buNone/>
            </a:pPr>
            <a:r>
              <a:rPr lang="en-US" sz="1800" b="1" dirty="0">
                <a:solidFill>
                  <a:srgbClr val="1E2761"/>
                </a:solidFill>
                <a:latin typeface="Calibri" pitchFamily="34" charset="0"/>
                <a:ea typeface="Calibri" pitchFamily="34" charset="-122"/>
                <a:cs typeface="Calibri" pitchFamily="34" charset="-120"/>
              </a:rPr>
              <a:t>Test and staging</a:t>
            </a:r>
            <a:endParaRPr lang="en-US" sz="1800" dirty="0"/>
          </a:p>
        </p:txBody>
      </p:sp>
      <p:sp>
        <p:nvSpPr>
          <p:cNvPr id="16" name="Text 14"/>
          <p:cNvSpPr/>
          <p:nvPr/>
        </p:nvSpPr>
        <p:spPr>
          <a:xfrm>
            <a:off x="3480816" y="2606040"/>
            <a:ext cx="2182368" cy="104241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Run the selected suite on a versioned dataset; compare a candidate with its baseline and apply application-owned release policy.</a:t>
            </a:r>
            <a:endParaRPr lang="en-US" sz="1210" dirty="0"/>
          </a:p>
        </p:txBody>
      </p:sp>
      <p:sp>
        <p:nvSpPr>
          <p:cNvPr id="17" name="Shape 15"/>
          <p:cNvSpPr/>
          <p:nvPr/>
        </p:nvSpPr>
        <p:spPr>
          <a:xfrm>
            <a:off x="6193536" y="1234440"/>
            <a:ext cx="2584704" cy="2697480"/>
          </a:xfrm>
          <a:prstGeom prst="roundRect">
            <a:avLst>
              <a:gd name="adj" fmla="val 2830"/>
            </a:avLst>
          </a:prstGeom>
          <a:solidFill>
            <a:srgbClr val="EEF7F4"/>
          </a:solidFill>
          <a:ln w="8890">
            <a:solidFill>
              <a:srgbClr val="D1D5DB"/>
            </a:solidFill>
            <a:prstDash val="solid"/>
          </a:ln>
        </p:spPr>
      </p:sp>
      <p:sp>
        <p:nvSpPr>
          <p:cNvPr id="18" name="Shape 16"/>
          <p:cNvSpPr/>
          <p:nvPr/>
        </p:nvSpPr>
        <p:spPr>
          <a:xfrm>
            <a:off x="6358128" y="1399032"/>
            <a:ext cx="457200" cy="457200"/>
          </a:xfrm>
          <a:prstGeom prst="ellipse">
            <a:avLst/>
          </a:prstGeom>
          <a:solidFill>
            <a:srgbClr val="1E2761"/>
          </a:solidFill>
          <a:ln/>
        </p:spPr>
      </p:sp>
      <p:sp>
        <p:nvSpPr>
          <p:cNvPr id="19" name="Text 17"/>
          <p:cNvSpPr/>
          <p:nvPr/>
        </p:nvSpPr>
        <p:spPr>
          <a:xfrm>
            <a:off x="6358128" y="1499616"/>
            <a:ext cx="457200" cy="16459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6358128" y="2039112"/>
            <a:ext cx="2255520" cy="411480"/>
          </a:xfrm>
          <a:prstGeom prst="rect">
            <a:avLst/>
          </a:prstGeom>
          <a:noFill/>
          <a:ln/>
        </p:spPr>
        <p:txBody>
          <a:bodyPr wrap="square" lIns="0" tIns="0" rIns="0" bIns="0" rtlCol="0" anchor="ctr">
            <a:normAutofit/>
          </a:bodyPr>
          <a:lstStyle/>
          <a:p>
            <a:pPr algn="ctr" indent="0" marL="0">
              <a:buNone/>
            </a:pPr>
            <a:r>
              <a:rPr lang="en-US" sz="1800" b="1" dirty="0">
                <a:solidFill>
                  <a:srgbClr val="1E2761"/>
                </a:solidFill>
                <a:latin typeface="Calibri" pitchFamily="34" charset="0"/>
                <a:ea typeface="Calibri" pitchFamily="34" charset="-122"/>
                <a:cs typeface="Calibri" pitchFamily="34" charset="-120"/>
              </a:rPr>
              <a:t>Production</a:t>
            </a:r>
            <a:endParaRPr lang="en-US" sz="1800" dirty="0"/>
          </a:p>
        </p:txBody>
      </p:sp>
      <p:sp>
        <p:nvSpPr>
          <p:cNvPr id="21" name="Text 19"/>
          <p:cNvSpPr/>
          <p:nvPr/>
        </p:nvSpPr>
        <p:spPr>
          <a:xfrm>
            <a:off x="6394704" y="2606040"/>
            <a:ext cx="2182368" cy="1042416"/>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Sample or schedule quality and safety evaluation, monitor drift, and curate useful traces or incidents back into reusable datasets.</a:t>
            </a:r>
            <a:endParaRPr lang="en-US" sz="1210" dirty="0"/>
          </a:p>
        </p:txBody>
      </p:sp>
      <p:sp>
        <p:nvSpPr>
          <p:cNvPr id="22" name="Shape 20"/>
          <p:cNvSpPr/>
          <p:nvPr/>
        </p:nvSpPr>
        <p:spPr>
          <a:xfrm>
            <a:off x="365760" y="4096512"/>
            <a:ext cx="8412480" cy="493776"/>
          </a:xfrm>
          <a:prstGeom prst="roundRect">
            <a:avLst>
              <a:gd name="adj" fmla="val 14815"/>
            </a:avLst>
          </a:prstGeom>
          <a:solidFill>
            <a:srgbClr val="FBE8DD">
              <a:alpha val="65000"/>
            </a:srgbClr>
          </a:solidFill>
          <a:ln w="6350">
            <a:solidFill>
              <a:srgbClr val="D1D5DB"/>
            </a:solidFill>
            <a:prstDash val="solid"/>
          </a:ln>
        </p:spPr>
      </p:sp>
      <p:sp>
        <p:nvSpPr>
          <p:cNvPr id="23" name="Text 21"/>
          <p:cNvSpPr/>
          <p:nvPr/>
        </p:nvSpPr>
        <p:spPr>
          <a:xfrm>
            <a:off x="512064" y="4178808"/>
            <a:ext cx="8119872" cy="329184"/>
          </a:xfrm>
          <a:prstGeom prst="rect">
            <a:avLst/>
          </a:prstGeom>
          <a:noFill/>
          <a:ln/>
        </p:spPr>
        <p:txBody>
          <a:bodyPr wrap="square" lIns="0" tIns="0" rIns="0" bIns="0" rtlCol="0" anchor="ctr">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Production findings become tomorrow's regression cases.</a:t>
            </a:r>
            <a:endParaRPr lang="en-US" sz="1150" dirty="0"/>
          </a:p>
        </p:txBody>
      </p:sp>
      <p:sp>
        <p:nvSpPr>
          <p:cNvPr id="24" name="Text 22"/>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learn.microsoft.com/azure/foundry/concepts/observability</a:t>
            </a:r>
            <a:endParaRPr lang="en-US" sz="720" dirty="0"/>
          </a:p>
        </p:txBody>
      </p:sp>
      <p:sp>
        <p:nvSpPr>
          <p:cNvPr id="25" name="Text 23"/>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 / 16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Golden datasets</a:t>
            </a:r>
            <a:endParaRPr lang="en-US" sz="2800" dirty="0"/>
          </a:p>
        </p:txBody>
      </p:sp>
      <p:sp>
        <p:nvSpPr>
          <p:cNvPr id="5" name="Shape 3"/>
          <p:cNvSpPr/>
          <p:nvPr/>
        </p:nvSpPr>
        <p:spPr>
          <a:xfrm>
            <a:off x="365760" y="1143000"/>
            <a:ext cx="4123944" cy="2788920"/>
          </a:xfrm>
          <a:prstGeom prst="roundRect">
            <a:avLst>
              <a:gd name="adj" fmla="val 2623"/>
            </a:avLst>
          </a:prstGeom>
          <a:solidFill>
            <a:srgbClr val="F3F4F6"/>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6" name="Shape 4"/>
          <p:cNvSpPr/>
          <p:nvPr/>
        </p:nvSpPr>
        <p:spPr>
          <a:xfrm>
            <a:off x="365760" y="1143000"/>
            <a:ext cx="64008" cy="2788920"/>
          </a:xfrm>
          <a:prstGeom prst="rect">
            <a:avLst/>
          </a:prstGeom>
          <a:solidFill>
            <a:srgbClr val="1E2761"/>
          </a:solidFill>
          <a:ln/>
        </p:spPr>
      </p:sp>
      <p:sp>
        <p:nvSpPr>
          <p:cNvPr id="7" name="Shape 5"/>
          <p:cNvSpPr/>
          <p:nvPr/>
        </p:nvSpPr>
        <p:spPr>
          <a:xfrm>
            <a:off x="512064" y="1271016"/>
            <a:ext cx="256032" cy="256032"/>
          </a:xfrm>
          <a:prstGeom prst="ellipse">
            <a:avLst/>
          </a:prstGeom>
          <a:solidFill>
            <a:srgbClr val="1E2761"/>
          </a:solidFill>
          <a:ln/>
        </p:spPr>
      </p:sp>
      <p:sp>
        <p:nvSpPr>
          <p:cNvPr id="8" name="Text 6"/>
          <p:cNvSpPr/>
          <p:nvPr/>
        </p:nvSpPr>
        <p:spPr>
          <a:xfrm>
            <a:off x="512064" y="1312164"/>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841248" y="1243584"/>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Representative and reusable</a:t>
            </a:r>
            <a:endParaRPr lang="en-US" sz="1500" dirty="0"/>
          </a:p>
        </p:txBody>
      </p:sp>
      <p:sp>
        <p:nvSpPr>
          <p:cNvPr id="10" name="Text 8"/>
          <p:cNvSpPr/>
          <p:nvPr/>
        </p:nvSpPr>
        <p:spPr>
          <a:xfrm>
            <a:off x="512064" y="1645920"/>
            <a:ext cx="3831336" cy="216712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Cover real users, task types, domains, languages, edge cases, and important failure modes. Include expected outputs or ground truth only where the evaluator needs them.</a:t>
            </a:r>
            <a:endParaRPr lang="en-US" sz="1210" dirty="0"/>
          </a:p>
        </p:txBody>
      </p:sp>
      <p:sp>
        <p:nvSpPr>
          <p:cNvPr id="11" name="Shape 9"/>
          <p:cNvSpPr/>
          <p:nvPr/>
        </p:nvSpPr>
        <p:spPr>
          <a:xfrm>
            <a:off x="4654296" y="1143000"/>
            <a:ext cx="4123944" cy="2788920"/>
          </a:xfrm>
          <a:prstGeom prst="roundRect">
            <a:avLst>
              <a:gd name="adj" fmla="val 2623"/>
            </a:avLst>
          </a:prstGeom>
          <a:solidFill>
            <a:srgbClr val="FFFFFF"/>
          </a:solidFill>
          <a:ln w="7620">
            <a:solidFill>
              <a:srgbClr val="D1D5DB"/>
            </a:solidFill>
            <a:prstDash val="solid"/>
          </a:ln>
          <a:effectLst>
            <a:outerShdw sx="100000" sy="100000" kx="0" ky="0" algn="bl" rotWithShape="0" blurRad="12700" dist="50800" dir="2700000">
              <a:srgbClr val="B7BDC9">
                <a:alpha val="12000"/>
              </a:srgbClr>
            </a:outerShdw>
          </a:effectLst>
        </p:spPr>
      </p:sp>
      <p:sp>
        <p:nvSpPr>
          <p:cNvPr id="12" name="Shape 10"/>
          <p:cNvSpPr/>
          <p:nvPr/>
        </p:nvSpPr>
        <p:spPr>
          <a:xfrm>
            <a:off x="4654296" y="1143000"/>
            <a:ext cx="64008" cy="2788920"/>
          </a:xfrm>
          <a:prstGeom prst="rect">
            <a:avLst/>
          </a:prstGeom>
          <a:solidFill>
            <a:srgbClr val="2B7A78"/>
          </a:solidFill>
          <a:ln/>
        </p:spPr>
      </p:sp>
      <p:sp>
        <p:nvSpPr>
          <p:cNvPr id="13" name="Shape 11"/>
          <p:cNvSpPr/>
          <p:nvPr/>
        </p:nvSpPr>
        <p:spPr>
          <a:xfrm>
            <a:off x="4800600" y="1271016"/>
            <a:ext cx="256032" cy="256032"/>
          </a:xfrm>
          <a:prstGeom prst="ellipse">
            <a:avLst/>
          </a:prstGeom>
          <a:solidFill>
            <a:srgbClr val="2B7A78"/>
          </a:solidFill>
          <a:ln/>
        </p:spPr>
      </p:sp>
      <p:sp>
        <p:nvSpPr>
          <p:cNvPr id="14" name="Text 12"/>
          <p:cNvSpPr/>
          <p:nvPr/>
        </p:nvSpPr>
        <p:spPr>
          <a:xfrm>
            <a:off x="4800600" y="1312164"/>
            <a:ext cx="256032" cy="1097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5129784" y="1243584"/>
            <a:ext cx="3511296"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Reviewed and versioned</a:t>
            </a:r>
            <a:endParaRPr lang="en-US" sz="1500" dirty="0"/>
          </a:p>
        </p:txBody>
      </p:sp>
      <p:sp>
        <p:nvSpPr>
          <p:cNvPr id="16" name="Text 14"/>
          <p:cNvSpPr/>
          <p:nvPr/>
        </p:nvSpPr>
        <p:spPr>
          <a:xfrm>
            <a:off x="4800600" y="1645920"/>
            <a:ext cx="3831336" cy="2167128"/>
          </a:xfrm>
          <a:prstGeom prst="rect">
            <a:avLst/>
          </a:prstGeom>
          <a:noFill/>
          <a:ln/>
        </p:spPr>
        <p:txBody>
          <a:bodyPr wrap="square" lIns="0" tIns="0" rIns="0" bIns="0" rtlCol="0" anchor="t">
            <a:normAutofit/>
          </a:bodyPr>
          <a:lstStyle/>
          <a:p>
            <a:pPr indent="0" marL="0">
              <a:buNone/>
            </a:pPr>
            <a:r>
              <a:rPr lang="en-US" sz="1210" dirty="0">
                <a:solidFill>
                  <a:srgbClr val="212121"/>
                </a:solidFill>
                <a:latin typeface="Calibri" pitchFamily="34" charset="0"/>
                <a:ea typeface="Calibri" pitchFamily="34" charset="-122"/>
                <a:cs typeface="Calibri" pitchFamily="34" charset="-120"/>
              </a:rPr>
              <a:t>Review synthetic and trace-derived cases, protect sensitive data, track dataset changes with the application, and add useful production failures over time.</a:t>
            </a:r>
            <a:endParaRPr lang="en-US" sz="1210" dirty="0"/>
          </a:p>
        </p:txBody>
      </p:sp>
      <p:sp>
        <p:nvSpPr>
          <p:cNvPr id="17" name="Shape 15"/>
          <p:cNvSpPr/>
          <p:nvPr/>
        </p:nvSpPr>
        <p:spPr>
          <a:xfrm>
            <a:off x="365760" y="4096512"/>
            <a:ext cx="8412480" cy="502920"/>
          </a:xfrm>
          <a:prstGeom prst="roundRect">
            <a:avLst>
              <a:gd name="adj" fmla="val 14545"/>
            </a:avLst>
          </a:prstGeom>
          <a:solidFill>
            <a:srgbClr val="FBE8DD">
              <a:alpha val="65000"/>
            </a:srgbClr>
          </a:solidFill>
          <a:ln w="6350">
            <a:solidFill>
              <a:srgbClr val="D1D5DB"/>
            </a:solidFill>
            <a:prstDash val="solid"/>
          </a:ln>
        </p:spPr>
      </p:sp>
      <p:sp>
        <p:nvSpPr>
          <p:cNvPr id="18" name="Text 16"/>
          <p:cNvSpPr/>
          <p:nvPr/>
        </p:nvSpPr>
        <p:spPr>
          <a:xfrm>
            <a:off x="512064" y="4178808"/>
            <a:ext cx="8119872" cy="338328"/>
          </a:xfrm>
          <a:prstGeom prst="rect">
            <a:avLst/>
          </a:prstGeom>
          <a:noFill/>
          <a:ln/>
        </p:spPr>
        <p:txBody>
          <a:bodyPr wrap="square" lIns="0" tIns="0" rIns="0" bIns="0" rtlCol="0" anchor="ctr">
            <a:normAutofit/>
          </a:bodyPr>
          <a:lstStyle/>
          <a:p>
            <a:pPr indent="0" marL="0">
              <a:buNone/>
            </a:pPr>
            <a:r>
              <a:rPr lang="en-US" sz="1140" dirty="0">
                <a:solidFill>
                  <a:srgbClr val="212121"/>
                </a:solidFill>
                <a:latin typeface="Calibri" pitchFamily="34" charset="0"/>
                <a:ea typeface="Calibri" pitchFamily="34" charset="-122"/>
                <a:cs typeface="Calibri" pitchFamily="34" charset="-120"/>
              </a:rPr>
              <a:t>Prefer coverage and statistical usefulness over an arbitrary row count. Foundry's synthetic generation workflow documents a minimum batch size of 15; that service minimum is not a quality or sufficiency target.</a:t>
            </a:r>
            <a:endParaRPr lang="en-US" sz="1140" dirty="0"/>
          </a:p>
        </p:txBody>
      </p:sp>
      <p:sp>
        <p:nvSpPr>
          <p:cNvPr id="19" name="Text 17"/>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learn.microsoft.com/azure/foundry/observability/how-to/evaluation-datasets</a:t>
            </a:r>
            <a:endParaRPr lang="en-US" sz="720" dirty="0"/>
          </a:p>
        </p:txBody>
      </p:sp>
      <p:sp>
        <p:nvSpPr>
          <p:cNvPr id="20" name="Text 18"/>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14 / 16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A phased adoption roadmap</a:t>
            </a:r>
            <a:endParaRPr lang="en-US" sz="2800" dirty="0"/>
          </a:p>
        </p:txBody>
      </p:sp>
      <p:sp>
        <p:nvSpPr>
          <p:cNvPr id="5" name="Shape 3"/>
          <p:cNvSpPr/>
          <p:nvPr/>
        </p:nvSpPr>
        <p:spPr>
          <a:xfrm>
            <a:off x="502920" y="1170432"/>
            <a:ext cx="8138160" cy="749808"/>
          </a:xfrm>
          <a:prstGeom prst="roundRect">
            <a:avLst>
              <a:gd name="adj" fmla="val 9756"/>
            </a:avLst>
          </a:prstGeom>
          <a:solidFill>
            <a:srgbClr val="EEF2FF"/>
          </a:solidFill>
          <a:ln w="7620">
            <a:solidFill>
              <a:srgbClr val="D1D5DB"/>
            </a:solidFill>
            <a:prstDash val="solid"/>
          </a:ln>
        </p:spPr>
      </p:sp>
      <p:sp>
        <p:nvSpPr>
          <p:cNvPr id="6" name="Shape 4"/>
          <p:cNvSpPr/>
          <p:nvPr/>
        </p:nvSpPr>
        <p:spPr>
          <a:xfrm>
            <a:off x="649224" y="1316736"/>
            <a:ext cx="457200" cy="457200"/>
          </a:xfrm>
          <a:prstGeom prst="ellipse">
            <a:avLst/>
          </a:prstGeom>
          <a:solidFill>
            <a:srgbClr val="1E2761"/>
          </a:solidFill>
          <a:ln/>
        </p:spPr>
      </p:sp>
      <p:sp>
        <p:nvSpPr>
          <p:cNvPr id="7" name="Text 5"/>
          <p:cNvSpPr/>
          <p:nvPr/>
        </p:nvSpPr>
        <p:spPr>
          <a:xfrm>
            <a:off x="649224" y="1412748"/>
            <a:ext cx="45720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52728" y="1280160"/>
            <a:ext cx="1325880" cy="256032"/>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Foundation</a:t>
            </a:r>
            <a:endParaRPr lang="en-US" sz="1500" dirty="0"/>
          </a:p>
        </p:txBody>
      </p:sp>
      <p:sp>
        <p:nvSpPr>
          <p:cNvPr id="9" name="Text 7"/>
          <p:cNvSpPr/>
          <p:nvPr/>
        </p:nvSpPr>
        <p:spPr>
          <a:xfrm>
            <a:off x="1252728" y="1563624"/>
            <a:ext cx="7178040" cy="237744"/>
          </a:xfrm>
          <a:prstGeom prst="rect">
            <a:avLst/>
          </a:prstGeom>
          <a:noFill/>
          <a:ln/>
        </p:spPr>
        <p:txBody>
          <a:bodyPr wrap="square" lIns="0" tIns="0" rIns="0" bIns="0" rtlCol="0" anchor="ctr">
            <a:normAutofit/>
          </a:bodyPr>
          <a:lstStyle/>
          <a:p>
            <a:pPr indent="0" marL="0">
              <a:buNone/>
            </a:pPr>
            <a:r>
              <a:rPr lang="en-US" sz="1080" dirty="0">
                <a:solidFill>
                  <a:srgbClr val="212121"/>
                </a:solidFill>
                <a:latin typeface="Calibri" pitchFamily="34" charset="0"/>
                <a:ea typeface="Calibri" pitchFamily="34" charset="-122"/>
                <a:cs typeface="Calibri" pitchFamily="34" charset="-120"/>
              </a:rPr>
              <a:t>Pick one application, name its costly failure modes, choose a small evaluator bundle, and build a reviewed representative seed set.</a:t>
            </a:r>
            <a:endParaRPr lang="en-US" sz="1080" dirty="0"/>
          </a:p>
        </p:txBody>
      </p:sp>
      <p:sp>
        <p:nvSpPr>
          <p:cNvPr id="10" name="Shape 8"/>
          <p:cNvSpPr/>
          <p:nvPr/>
        </p:nvSpPr>
        <p:spPr>
          <a:xfrm>
            <a:off x="667512" y="2048256"/>
            <a:ext cx="7808976" cy="749808"/>
          </a:xfrm>
          <a:prstGeom prst="roundRect">
            <a:avLst>
              <a:gd name="adj" fmla="val 9756"/>
            </a:avLst>
          </a:prstGeom>
          <a:solidFill>
            <a:srgbClr val="F3F4F6"/>
          </a:solidFill>
          <a:ln w="7620">
            <a:solidFill>
              <a:srgbClr val="D1D5DB"/>
            </a:solidFill>
            <a:prstDash val="solid"/>
          </a:ln>
        </p:spPr>
      </p:sp>
      <p:sp>
        <p:nvSpPr>
          <p:cNvPr id="11" name="Shape 9"/>
          <p:cNvSpPr/>
          <p:nvPr/>
        </p:nvSpPr>
        <p:spPr>
          <a:xfrm>
            <a:off x="813816" y="2194560"/>
            <a:ext cx="457200" cy="457200"/>
          </a:xfrm>
          <a:prstGeom prst="ellipse">
            <a:avLst/>
          </a:prstGeom>
          <a:solidFill>
            <a:srgbClr val="1E2761"/>
          </a:solidFill>
          <a:ln/>
        </p:spPr>
      </p:sp>
      <p:sp>
        <p:nvSpPr>
          <p:cNvPr id="12" name="Text 10"/>
          <p:cNvSpPr/>
          <p:nvPr/>
        </p:nvSpPr>
        <p:spPr>
          <a:xfrm>
            <a:off x="813816" y="2290572"/>
            <a:ext cx="45720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17320" y="2157984"/>
            <a:ext cx="1325880" cy="256032"/>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Automation</a:t>
            </a:r>
            <a:endParaRPr lang="en-US" sz="1500" dirty="0"/>
          </a:p>
        </p:txBody>
      </p:sp>
      <p:sp>
        <p:nvSpPr>
          <p:cNvPr id="14" name="Text 12"/>
          <p:cNvSpPr/>
          <p:nvPr/>
        </p:nvSpPr>
        <p:spPr>
          <a:xfrm>
            <a:off x="1417320" y="2441448"/>
            <a:ext cx="6848856" cy="237744"/>
          </a:xfrm>
          <a:prstGeom prst="rect">
            <a:avLst/>
          </a:prstGeom>
          <a:noFill/>
          <a:ln/>
        </p:spPr>
        <p:txBody>
          <a:bodyPr wrap="square" lIns="0" tIns="0" rIns="0" bIns="0" rtlCol="0" anchor="ctr">
            <a:normAutofit/>
          </a:bodyPr>
          <a:lstStyle/>
          <a:p>
            <a:pPr indent="0" marL="0">
              <a:buNone/>
            </a:pPr>
            <a:r>
              <a:rPr lang="en-US" sz="1080" dirty="0">
                <a:solidFill>
                  <a:srgbClr val="212121"/>
                </a:solidFill>
                <a:latin typeface="Calibri" pitchFamily="34" charset="0"/>
                <a:ea typeface="Calibri" pitchFamily="34" charset="-122"/>
                <a:cs typeface="Calibri" pitchFamily="34" charset="-120"/>
              </a:rPr>
              <a:t>Version the dataset and thresholds, compare baseline with candidate, and automate the agreed pre-production policy at meaningful change points.</a:t>
            </a:r>
            <a:endParaRPr lang="en-US" sz="1080" dirty="0"/>
          </a:p>
        </p:txBody>
      </p:sp>
      <p:sp>
        <p:nvSpPr>
          <p:cNvPr id="15" name="Shape 13"/>
          <p:cNvSpPr/>
          <p:nvPr/>
        </p:nvSpPr>
        <p:spPr>
          <a:xfrm>
            <a:off x="832104" y="2926080"/>
            <a:ext cx="7479792" cy="749808"/>
          </a:xfrm>
          <a:prstGeom prst="roundRect">
            <a:avLst>
              <a:gd name="adj" fmla="val 9756"/>
            </a:avLst>
          </a:prstGeom>
          <a:solidFill>
            <a:srgbClr val="EEF7F4"/>
          </a:solidFill>
          <a:ln w="7620">
            <a:solidFill>
              <a:srgbClr val="D1D5DB"/>
            </a:solidFill>
            <a:prstDash val="solid"/>
          </a:ln>
        </p:spPr>
      </p:sp>
      <p:sp>
        <p:nvSpPr>
          <p:cNvPr id="16" name="Shape 14"/>
          <p:cNvSpPr/>
          <p:nvPr/>
        </p:nvSpPr>
        <p:spPr>
          <a:xfrm>
            <a:off x="978408" y="3072384"/>
            <a:ext cx="457200" cy="457200"/>
          </a:xfrm>
          <a:prstGeom prst="ellipse">
            <a:avLst/>
          </a:prstGeom>
          <a:solidFill>
            <a:srgbClr val="1E2761"/>
          </a:solidFill>
          <a:ln/>
        </p:spPr>
      </p:sp>
      <p:sp>
        <p:nvSpPr>
          <p:cNvPr id="17" name="Text 15"/>
          <p:cNvSpPr/>
          <p:nvPr/>
        </p:nvSpPr>
        <p:spPr>
          <a:xfrm>
            <a:off x="978408" y="3168396"/>
            <a:ext cx="45720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581912" y="3035808"/>
            <a:ext cx="1325880" cy="256032"/>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Scale</a:t>
            </a:r>
            <a:endParaRPr lang="en-US" sz="1500" dirty="0"/>
          </a:p>
        </p:txBody>
      </p:sp>
      <p:sp>
        <p:nvSpPr>
          <p:cNvPr id="19" name="Text 17"/>
          <p:cNvSpPr/>
          <p:nvPr/>
        </p:nvSpPr>
        <p:spPr>
          <a:xfrm>
            <a:off x="1581912" y="3319272"/>
            <a:ext cx="6519672" cy="237744"/>
          </a:xfrm>
          <a:prstGeom prst="rect">
            <a:avLst/>
          </a:prstGeom>
          <a:noFill/>
          <a:ln/>
        </p:spPr>
        <p:txBody>
          <a:bodyPr wrap="square" lIns="0" tIns="0" rIns="0" bIns="0" rtlCol="0" anchor="ctr">
            <a:normAutofit/>
          </a:bodyPr>
          <a:lstStyle/>
          <a:p>
            <a:pPr indent="0" marL="0">
              <a:buNone/>
            </a:pPr>
            <a:r>
              <a:rPr lang="en-US" sz="1080" dirty="0">
                <a:solidFill>
                  <a:srgbClr val="212121"/>
                </a:solidFill>
                <a:latin typeface="Calibri" pitchFamily="34" charset="0"/>
                <a:ea typeface="Calibri" pitchFamily="34" charset="-122"/>
                <a:cs typeface="Calibri" pitchFamily="34" charset="-120"/>
              </a:rPr>
              <a:t>Add sampled or scheduled production evaluation, curate failures into regression data, and schedule risk-based red teaming.</a:t>
            </a:r>
            <a:endParaRPr lang="en-US" sz="1080" dirty="0"/>
          </a:p>
        </p:txBody>
      </p:sp>
      <p:sp>
        <p:nvSpPr>
          <p:cNvPr id="20" name="Shape 18"/>
          <p:cNvSpPr/>
          <p:nvPr/>
        </p:nvSpPr>
        <p:spPr>
          <a:xfrm>
            <a:off x="996696" y="3803904"/>
            <a:ext cx="7150608" cy="749808"/>
          </a:xfrm>
          <a:prstGeom prst="roundRect">
            <a:avLst>
              <a:gd name="adj" fmla="val 9756"/>
            </a:avLst>
          </a:prstGeom>
          <a:solidFill>
            <a:srgbClr val="FBE8DD"/>
          </a:solidFill>
          <a:ln w="7620">
            <a:solidFill>
              <a:srgbClr val="D1D5DB"/>
            </a:solidFill>
            <a:prstDash val="solid"/>
          </a:ln>
        </p:spPr>
      </p:sp>
      <p:sp>
        <p:nvSpPr>
          <p:cNvPr id="21" name="Shape 19"/>
          <p:cNvSpPr/>
          <p:nvPr/>
        </p:nvSpPr>
        <p:spPr>
          <a:xfrm>
            <a:off x="1143000" y="3950208"/>
            <a:ext cx="457200" cy="457200"/>
          </a:xfrm>
          <a:prstGeom prst="ellipse">
            <a:avLst/>
          </a:prstGeom>
          <a:solidFill>
            <a:srgbClr val="1E2761"/>
          </a:solidFill>
          <a:ln/>
        </p:spPr>
      </p:sp>
      <p:sp>
        <p:nvSpPr>
          <p:cNvPr id="22" name="Text 20"/>
          <p:cNvSpPr/>
          <p:nvPr/>
        </p:nvSpPr>
        <p:spPr>
          <a:xfrm>
            <a:off x="1143000" y="4046220"/>
            <a:ext cx="457200" cy="1645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746504" y="3913632"/>
            <a:ext cx="1325880" cy="256032"/>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Maturity</a:t>
            </a:r>
            <a:endParaRPr lang="en-US" sz="1500" dirty="0"/>
          </a:p>
        </p:txBody>
      </p:sp>
      <p:sp>
        <p:nvSpPr>
          <p:cNvPr id="24" name="Text 22"/>
          <p:cNvSpPr/>
          <p:nvPr/>
        </p:nvSpPr>
        <p:spPr>
          <a:xfrm>
            <a:off x="1746504" y="4197096"/>
            <a:ext cx="6190488" cy="237744"/>
          </a:xfrm>
          <a:prstGeom prst="rect">
            <a:avLst/>
          </a:prstGeom>
          <a:noFill/>
          <a:ln/>
        </p:spPr>
        <p:txBody>
          <a:bodyPr wrap="square" lIns="0" tIns="0" rIns="0" bIns="0" rtlCol="0" anchor="ctr">
            <a:normAutofit/>
          </a:bodyPr>
          <a:lstStyle/>
          <a:p>
            <a:pPr indent="0" marL="0">
              <a:buNone/>
            </a:pPr>
            <a:r>
              <a:rPr lang="en-US" sz="1080" dirty="0">
                <a:solidFill>
                  <a:srgbClr val="212121"/>
                </a:solidFill>
                <a:latin typeface="Calibri" pitchFamily="34" charset="0"/>
                <a:ea typeface="Calibri" pitchFamily="34" charset="-122"/>
                <a:cs typeface="Calibri" pitchFamily="34" charset="-120"/>
              </a:rPr>
              <a:t>Standardize evidence metadata, ownership, exception handling, reusable custom evaluators, and governance reporting across the portfolio.</a:t>
            </a:r>
            <a:endParaRPr lang="en-US" sz="1080" dirty="0"/>
          </a:p>
        </p:txBody>
      </p:sp>
      <p:sp>
        <p:nvSpPr>
          <p:cNvPr id="25" name="Text 23"/>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learn.microsoft.com/azure/foundry/concepts/observability</a:t>
            </a:r>
            <a:endParaRPr lang="en-US" sz="720" dirty="0"/>
          </a:p>
        </p:txBody>
      </p:sp>
      <p:sp>
        <p:nvSpPr>
          <p:cNvPr id="26" name="Text 24"/>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 / 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669280" y="274320"/>
            <a:ext cx="32918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D5 · M6</a:t>
            </a:r>
            <a:endParaRPr lang="en-US" sz="1000" dirty="0"/>
          </a:p>
        </p:txBody>
      </p:sp>
      <p:sp>
        <p:nvSpPr>
          <p:cNvPr id="4" name="Text 2"/>
          <p:cNvSpPr/>
          <p:nvPr/>
        </p:nvSpPr>
        <p:spPr>
          <a:xfrm>
            <a:off x="365760" y="320040"/>
            <a:ext cx="6217920" cy="640080"/>
          </a:xfrm>
          <a:prstGeom prst="rect">
            <a:avLst/>
          </a:prstGeom>
          <a:noFill/>
          <a:ln/>
        </p:spPr>
        <p:txBody>
          <a:bodyPr wrap="square" lIns="0" tIns="0" rIns="0" bIns="0"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References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8412480" cy="914400"/>
        </p:xfrm>
        <a:graphic>
          <a:graphicData uri="http://schemas.openxmlformats.org/drawingml/2006/table">
            <a:tbl>
              <a:tblPr/>
              <a:tblGrid>
                <a:gridCol w="2240280"/>
                <a:gridCol w="6172200"/>
              </a:tblGrid>
              <a:tr h="393192">
                <a:tc>
                  <a:txBody>
                    <a:bodyPr/>
                    <a:lstStyle/>
                    <a:p>
                      <a:pPr indent="0" marL="0">
                        <a:buNone/>
                      </a:pPr>
                      <a:r>
                        <a:rPr lang="en-US" sz="940" b="1" dirty="0">
                          <a:solidFill>
                            <a:srgbClr val="FFFFFF"/>
                          </a:solidFill>
                          <a:latin typeface="Calibri" pitchFamily="34" charset="0"/>
                          <a:ea typeface="Calibri" pitchFamily="34" charset="-122"/>
                          <a:cs typeface="Calibri" pitchFamily="34" charset="-120"/>
                        </a:rPr>
                        <a:t>Topic</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940" b="1" dirty="0">
                          <a:solidFill>
                            <a:srgbClr val="FFFFFF"/>
                          </a:solidFill>
                          <a:latin typeface="Calibri" pitchFamily="34" charset="0"/>
                          <a:ea typeface="Calibri" pitchFamily="34" charset="-122"/>
                          <a:cs typeface="Calibri" pitchFamily="34" charset="-120"/>
                        </a:rPr>
                        <a:t>Official Microsoft source</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Microsoft Agent Framework evaluation</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learn.microsoft.com/agent-framework/agents/evaluation</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Built-in evaluators reference</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learn.microsoft.com/.../built-in-evaluators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General purpose 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learn.microsoft.com/.../general-purpose-evaluators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RAG 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learn.microsoft.com/.../rag-evaluators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Agent 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learn.microsoft.com/.../agent-evaluators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Risk and safety 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learn.microsoft.com/.../risk-safety-evaluators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Custom 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learn.microsoft.com/.../custom-evaluators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Evaluation datasets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940" dirty="0">
                          <a:solidFill>
                            <a:srgbClr val="212121"/>
                          </a:solidFill>
                          <a:latin typeface="Calibri" pitchFamily="34" charset="0"/>
                          <a:ea typeface="Calibri" pitchFamily="34" charset="-122"/>
                          <a:cs typeface="Calibri" pitchFamily="34" charset="-120"/>
                        </a:rPr>
                        <a:t>learn.microsoft.com/.../evaluation-datasets</a:t>
                      </a:r>
                      <a:endParaRPr lang="en-US" sz="94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6" name="Text 3"/>
          <p:cNvSpPr/>
          <p:nvPr/>
        </p:nvSpPr>
        <p:spPr>
          <a:xfrm>
            <a:off x="384048" y="4864608"/>
            <a:ext cx="7543800" cy="164592"/>
          </a:xfrm>
          <a:prstGeom prst="rect">
            <a:avLst/>
          </a:prstGeom>
          <a:noFill/>
          <a:ln/>
        </p:spPr>
        <p:txBody>
          <a:bodyPr wrap="square" lIns="0" tIns="0" rIns="0" bIns="0" rtlCol="0" anchor="ctr">
            <a:normAutofit/>
          </a:bodyPr>
          <a:lstStyle/>
          <a:p>
            <a:pPr indent="0" marL="0">
              <a:buNone/>
            </a:pPr>
            <a:r>
              <a:rPr lang="en-US" sz="720" dirty="0">
                <a:solidFill>
                  <a:srgbClr val="6B7280"/>
                </a:solidFill>
                <a:latin typeface="Calibri" pitchFamily="34" charset="0"/>
                <a:ea typeface="Calibri" pitchFamily="34" charset="-122"/>
                <a:cs typeface="Calibri" pitchFamily="34" charset="-120"/>
              </a:rPr>
              <a:t>Source: learn.microsoft.com/azure/foundry/concepts/built-in-evaluators</a:t>
            </a:r>
            <a:endParaRPr lang="en-US" sz="720" dirty="0"/>
          </a:p>
        </p:txBody>
      </p:sp>
      <p:sp>
        <p:nvSpPr>
          <p:cNvPr id="7" name="Text 4"/>
          <p:cNvSpPr/>
          <p:nvPr/>
        </p:nvSpPr>
        <p:spPr>
          <a:xfrm>
            <a:off x="8092440" y="4846320"/>
            <a:ext cx="658368" cy="182880"/>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16 / 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Evaluations for Agent Framework Developers</dc:title>
  <dc:subject>Day 5 — AI evaluations for agentic systems</dc:subject>
  <dc:creator>Building AI Apps and Agents Workshop</dc:creator>
  <cp:lastModifiedBy>Building AI Apps and Agents Workshop</cp:lastModifiedBy>
  <cp:revision>1</cp:revision>
  <dcterms:created xsi:type="dcterms:W3CDTF">2026-09-20T15:40:55Z</dcterms:created>
  <dcterms:modified xsi:type="dcterms:W3CDTF">2026-09-20T15:40:55Z</dcterms:modified>
</cp:coreProperties>
</file>