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Open with the outcome, not a product tour: we will follow the identity actually presented at each connection, then ask what that principal may do at that resource. No prior lab completion is assumed; all checkpoints use the presenter-prepared reference agent and evidence in the demo runbook.
• GROUNDING SOURCE: https://learn.microsoft.com/azure/foundry/concepts/authentication-authorization-foundry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Spend about three minutes here. Authentication establishes a principal; authorization evaluates that principal's permissions. Repeat the distinction on both Azure surfaces: control-plane RBAC actions govern resource management, while data-plane RBAC dataActions govern runtime use. Success on one surface says nothing about the other.
• GROUNDING SOURCE: https://learn.microsoft.com/azure/foundry/concepts/authentication-authorization-foundry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Walk left to right and ask “which principal is in this request?” Attended access can carry the user's delegated permissions through an on-behalf-of flow; unattended access uses the agent's application-only authority. The person named in the chat UI is context, not proof that downstream received that person's identity.
• GROUNDING SOURCE: https://learn.microsoft.com/azure/foundry/agents/concepts/agent-identity
• GROUNDING SOURCE: https://learn.microsoft.com/azure/foundry/concepts/authentication-authorization-foundry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Teach the migration page as the current behavior. Newly created agents get a unique Entra Agent Blueprint and Agent Identity at creation. Older agent-identity and MCP pages can still describe the legacy “shared project identity until publish” model; use agent.identity/instance_identity and the migration guide to identify what is actually running. A unique agent identity improves least privilege and auditability but does not automatically preserve end-user context.
• GROUNDING SOURCE: https://learn.microsoft.com/azure/foundry/agents/how-to/migrate-agent-applications
• GROUNDING SOURCE: https://learn.microsoft.com/azure/foundry/agents/concepts/agent-identity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role is the allowed action set; scope is where that assignment applies. This table is a workshop decision aid synthesized from the cited role and permission pages, not one universal role recipe. Point out that a single request can pass endpoint RBAC, index RBAC, and still fail document authorization. Use Foundry Agent Consumer—not a developer role—for invocation-only callers.
• GROUNDING SOURCE: https://learn.microsoft.com/azure/foundry/concepts/rbac-foundry
• GROUNDING SOURCE: https://learn.microsoft.com/azure/search/search-document-level-access-overview
• GROUNDING SOURCE: https://learn.microsoft.com/azure/foundry/observability/how-to/trace-agent-setup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Approval answers whether this proposed tool call may proceed. OAuth consent grants the application's requested delegated scopes for this user. The downstream service still authenticates and authorizes the token it receives. Shared key, agent-identity, or project-managed-identity connections do not preserve user context; OAuth identity passthrough is the documented individual-authentication option, with tenant and audience constraints. Never place a personal credential in a shared project connection.
• GROUNDING SOURCE: https://learn.microsoft.com/azure/foundry/agents/how-to/mcp-authentication
• GROUNDING SOURCE: https://learn.microsoft.com/azure/foundry/agents/concepts/agent-identity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continuation ID is an opaque lookup key, not an ownership credential. Authenticate the caller, authorize access to the referenced state, and partition persisted state by tenant, user, or workspace before loading it. Likewise, project or index access is not document access. Foundry IQ and native Search ACL/RBAC enforcement have preview API and SDK requirements; security filters are a separate, API-agnostic custom-RAG pattern. Permission metadata must survive chunking and stay refreshed.
• GROUNDING SOURCE: https://learn.microsoft.com/agent-framework/hosting/self-hosting/#secure-session-continuation
• GROUNDING SOURCE: https://learn.microsoft.com/azure/foundry/agents/how-to/foundry-iq-connect
• GROUNDING SOURCE: https://learn.microsoft.com/azure/search/search-document-level-access-overview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Use only the runbook's presenter-prepared, synthetic access map and explicitly labeled expected outcomes. Alice and Bob may both invoke and approve a lookup, but only Alice's user permission allows the restricted document; Bob also cannot reuse Alice's continuation ID. Do not make live RBAC or consent changes, display tokens, or imply the expected table is a captured cloud result. Close with the phrase “the reference agent we examined.”
• GROUNDING SOURCE: https://learn.microsoft.com/azure/foundry/agents/how-to/mcp-authentication
• GROUNDING SOURCE: https://learn.microsoft.com/agent-framework/hosting/self-hosting/#secure-session-continuation
• GROUNDING SOURCE: https://learn.microsoft.com/azure/foundry/agents/how-to/foundry-iq-connect
• GROUNDING SOURCE: https://learn.microsoft.com/azure/search/search-document-level-access-overview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Run the closing checkpoint: “OAuth consent and tool approval succeeded, but Bob's retrieval was denied. What do we inspect?” Expected answer: the principal actually presented downstream, its role and scope, and Bob's document permission. Reinforce that this conclusion comes from the reference agent we examined; attendees need no previous lab result.
• GROUNDING SOURCE: https://learn.microsoft.com/azure/foundry/concepts/authentication-authorization-foundry
• GROUNDING SOURCE: https://learn.microsoft.com/azure/foundry/concepts/rbac-foundry
• GROUNDING SOURCE: https://learn.microsoft.com/azure/foundry/agents/how-to/migrate-agent-applications
• GROUNDING SOURCE: https://learn.microsoft.com/agent-framework/hosting/self-hosting/#secure-session-continuation
• GROUNDING SOURCE: https://learn.microsoft.com/azure/search/search-document-level-access-overview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457200"/>
            <a:ext cx="8046720" cy="365760"/>
          </a:xfrm>
          <a:prstGeom prst="rect">
            <a:avLst/>
          </a:prstGeom>
          <a:noFill/>
          <a:ln/>
        </p:spPr>
        <p:txBody>
          <a:bodyPr wrap="square" rtlCol="0" anchor="ctr"/>
          <a:lstStyle/>
          <a:p>
            <a:pPr indent="0" marL="0">
              <a:buNone/>
            </a:pPr>
            <a:r>
              <a:rPr lang="en-US" sz="1000" spc="400" kern="0" dirty="0">
                <a:solidFill>
                  <a:srgbClr val="CADCFC"/>
                </a:solidFill>
                <a:latin typeface="Calibri" pitchFamily="34" charset="0"/>
                <a:ea typeface="Calibri" pitchFamily="34" charset="-122"/>
                <a:cs typeface="Calibri" pitchFamily="34" charset="-120"/>
              </a:rPr>
              <a:t>DAY 5 · MODULE 3 · 30 MIN</a:t>
            </a:r>
            <a:endParaRPr lang="en-US" sz="1000" dirty="0"/>
          </a:p>
        </p:txBody>
      </p:sp>
      <p:sp>
        <p:nvSpPr>
          <p:cNvPr id="3" name="Text 1"/>
          <p:cNvSpPr/>
          <p:nvPr/>
        </p:nvSpPr>
        <p:spPr>
          <a:xfrm>
            <a:off x="548640" y="1737360"/>
            <a:ext cx="8046720" cy="128016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Identity and Security</a:t>
            </a:r>
            <a:endParaRPr lang="en-US" sz="4000" dirty="0"/>
          </a:p>
        </p:txBody>
      </p:sp>
      <p:sp>
        <p:nvSpPr>
          <p:cNvPr id="4" name="Text 2"/>
          <p:cNvSpPr/>
          <p:nvPr/>
        </p:nvSpPr>
        <p:spPr>
          <a:xfrm>
            <a:off x="548640" y="3017520"/>
            <a:ext cx="8046720" cy="640080"/>
          </a:xfrm>
          <a:prstGeom prst="rect">
            <a:avLst/>
          </a:prstGeom>
          <a:noFill/>
          <a:ln/>
        </p:spPr>
        <p:txBody>
          <a:bodyPr wrap="square" rtlCol="0" anchor="ctr"/>
          <a:lstStyle/>
          <a:p>
            <a:pPr indent="0" marL="0">
              <a:buNone/>
            </a:pPr>
            <a:r>
              <a:rPr lang="en-US" sz="1800" dirty="0">
                <a:solidFill>
                  <a:srgbClr val="CADCFC"/>
                </a:solidFill>
                <a:latin typeface="Calibri" pitchFamily="34" charset="0"/>
                <a:ea typeface="Calibri" pitchFamily="34" charset="-122"/>
                <a:cs typeface="Calibri" pitchFamily="34" charset="-120"/>
              </a:rPr>
              <a:t>Follow the caller, then enforce least privilege at every boundary</a:t>
            </a:r>
            <a:endParaRPr lang="en-US" sz="1800" dirty="0"/>
          </a:p>
        </p:txBody>
      </p:sp>
      <p:sp>
        <p:nvSpPr>
          <p:cNvPr id="5" name="Text 3"/>
          <p:cNvSpPr/>
          <p:nvPr/>
        </p:nvSpPr>
        <p:spPr>
          <a:xfrm>
            <a:off x="548640" y="4572000"/>
            <a:ext cx="8046720" cy="365760"/>
          </a:xfrm>
          <a:prstGeom prst="rect">
            <a:avLst/>
          </a:prstGeom>
          <a:noFill/>
          <a:ln/>
        </p:spPr>
        <p:txBody>
          <a:bodyPr wrap="square" rtlCol="0" anchor="ctr"/>
          <a:lstStyle/>
          <a:p>
            <a:pPr indent="0" marL="0">
              <a:buNone/>
            </a:pPr>
            <a:r>
              <a:rPr lang="en-US" sz="1000" dirty="0">
                <a:solidFill>
                  <a:srgbClr val="CADCFC"/>
                </a:solidFill>
                <a:latin typeface="Calibri" pitchFamily="34" charset="0"/>
                <a:ea typeface="Calibri" pitchFamily="34" charset="-122"/>
                <a:cs typeface="Calibri" pitchFamily="34" charset="-120"/>
              </a:rPr>
              <a:t>Building AI Apps and Agents</a:t>
            </a:r>
            <a:endParaRPr lang="en-US" sz="1000" dirty="0"/>
          </a:p>
        </p:txBody>
      </p:sp>
      <p:sp>
        <p:nvSpPr>
          <p:cNvPr id="6" name="Shape 4"/>
          <p:cNvSpPr/>
          <p:nvPr/>
        </p:nvSpPr>
        <p:spPr>
          <a:xfrm>
            <a:off x="365760" y="4224528"/>
            <a:ext cx="8412480" cy="0"/>
          </a:xfrm>
          <a:prstGeom prst="line">
            <a:avLst/>
          </a:prstGeom>
          <a:noFill/>
          <a:ln w="6350">
            <a:solidFill>
              <a:srgbClr val="CADCFC"/>
            </a:solidFill>
            <a:prstDash val="solid"/>
          </a:ln>
        </p:spPr>
      </p:sp>
      <p:sp>
        <p:nvSpPr>
          <p:cNvPr id="7" name="Text 5"/>
          <p:cNvSpPr/>
          <p:nvPr/>
        </p:nvSpPr>
        <p:spPr>
          <a:xfrm>
            <a:off x="384048" y="4270248"/>
            <a:ext cx="8275320" cy="182880"/>
          </a:xfrm>
          <a:prstGeom prst="rect">
            <a:avLst/>
          </a:prstGeom>
          <a:noFill/>
          <a:ln/>
        </p:spPr>
        <p:txBody>
          <a:bodyPr wrap="square" lIns="0" tIns="0" rIns="0" bIns="0" rtlCol="0" anchor="ctr">
            <a:normAutofit/>
          </a:bodyPr>
          <a:lstStyle/>
          <a:p>
            <a:pPr indent="0" marL="0">
              <a:buNone/>
            </a:pPr>
            <a:r>
              <a:rPr lang="en-US" sz="820" dirty="0">
                <a:solidFill>
                  <a:srgbClr val="CADCFC"/>
                </a:solidFill>
                <a:latin typeface="Calibri" pitchFamily="34" charset="0"/>
                <a:ea typeface="Calibri" pitchFamily="34" charset="-122"/>
                <a:cs typeface="Calibri" pitchFamily="34" charset="-120"/>
              </a:rPr>
              <a:t>Source: https://learn.microsoft.com/azure/foundry/concepts/authentication-authorization-foundry</a:t>
            </a:r>
            <a:endParaRPr lang="en-US" sz="8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5 · Module 3</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500" b="1" dirty="0">
                <a:solidFill>
                  <a:srgbClr val="1E2761"/>
                </a:solidFill>
                <a:latin typeface="Calibri" pitchFamily="34" charset="0"/>
                <a:ea typeface="Calibri" pitchFamily="34" charset="-122"/>
                <a:cs typeface="Calibri" pitchFamily="34" charset="-120"/>
              </a:rPr>
              <a:t>Authenticate first; authorize at each plane</a:t>
            </a:r>
            <a:endParaRPr lang="en-US" sz="2500" dirty="0"/>
          </a:p>
        </p:txBody>
      </p:sp>
      <p:sp>
        <p:nvSpPr>
          <p:cNvPr id="5" name="Shape 3"/>
          <p:cNvSpPr/>
          <p:nvPr/>
        </p:nvSpPr>
        <p:spPr>
          <a:xfrm>
            <a:off x="365760" y="1078992"/>
            <a:ext cx="4114800" cy="3493008"/>
          </a:xfrm>
          <a:prstGeom prst="roundRect">
            <a:avLst/>
          </a:prstGeom>
          <a:solidFill>
            <a:srgbClr val="F3F4F6"/>
          </a:solidFill>
          <a:ln w="11430">
            <a:solidFill>
              <a:srgbClr val="D1D5DB"/>
            </a:solidFill>
            <a:prstDash val="solid"/>
          </a:ln>
        </p:spPr>
      </p:sp>
      <p:sp>
        <p:nvSpPr>
          <p:cNvPr id="6" name="Text 4"/>
          <p:cNvSpPr/>
          <p:nvPr/>
        </p:nvSpPr>
        <p:spPr>
          <a:xfrm>
            <a:off x="566928" y="1298448"/>
            <a:ext cx="3712464" cy="411480"/>
          </a:xfrm>
          <a:prstGeom prst="rect">
            <a:avLst/>
          </a:prstGeom>
          <a:noFill/>
          <a:ln/>
        </p:spPr>
        <p:txBody>
          <a:bodyPr wrap="square" lIns="0" tIns="0" rIns="0" bIns="0" rtlCol="0" anchor="ctr">
            <a:normAutofit/>
          </a:bodyPr>
          <a:lstStyle/>
          <a:p>
            <a:pPr indent="0" marL="0">
              <a:buNone/>
            </a:pPr>
            <a:r>
              <a:rPr lang="en-US" sz="2000" b="1" dirty="0">
                <a:solidFill>
                  <a:srgbClr val="1E2761"/>
                </a:solidFill>
                <a:latin typeface="Calibri" pitchFamily="34" charset="0"/>
                <a:ea typeface="Calibri" pitchFamily="34" charset="-122"/>
                <a:cs typeface="Calibri" pitchFamily="34" charset="-120"/>
              </a:rPr>
              <a:t>Authentication — who is calling?</a:t>
            </a:r>
            <a:endParaRPr lang="en-US" sz="2000" dirty="0"/>
          </a:p>
        </p:txBody>
      </p:sp>
      <p:sp>
        <p:nvSpPr>
          <p:cNvPr id="7" name="Text 5"/>
          <p:cNvSpPr/>
          <p:nvPr/>
        </p:nvSpPr>
        <p:spPr>
          <a:xfrm>
            <a:off x="594360" y="1828800"/>
            <a:ext cx="3639312" cy="2395728"/>
          </a:xfrm>
          <a:prstGeom prst="rect">
            <a:avLst/>
          </a:prstGeom>
          <a:noFill/>
          <a:ln/>
        </p:spPr>
        <p:txBody>
          <a:bodyPr wrap="square" lIns="381" tIns="381" rIns="381" bIns="381" rtlCol="0" anchor="ctr">
            <a:normAutofit/>
          </a:bodyPr>
          <a:lstStyle/>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A user, application/service principal, managed identity, or agent identity presents a credential</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A signed-in chat user is not automatically the caller at every later hop</a:t>
            </a:r>
            <a:endParaRPr lang="en-US" sz="1300" dirty="0"/>
          </a:p>
        </p:txBody>
      </p:sp>
      <p:sp>
        <p:nvSpPr>
          <p:cNvPr id="8" name="Shape 6"/>
          <p:cNvSpPr/>
          <p:nvPr/>
        </p:nvSpPr>
        <p:spPr>
          <a:xfrm>
            <a:off x="4663440" y="1078992"/>
            <a:ext cx="4114800" cy="3493008"/>
          </a:xfrm>
          <a:prstGeom prst="roundRect">
            <a:avLst/>
          </a:prstGeom>
          <a:solidFill>
            <a:srgbClr val="CADCFC"/>
          </a:solidFill>
          <a:ln w="11430">
            <a:solidFill>
              <a:srgbClr val="1E2761"/>
            </a:solidFill>
            <a:prstDash val="solid"/>
          </a:ln>
        </p:spPr>
      </p:sp>
      <p:sp>
        <p:nvSpPr>
          <p:cNvPr id="9" name="Text 7"/>
          <p:cNvSpPr/>
          <p:nvPr/>
        </p:nvSpPr>
        <p:spPr>
          <a:xfrm>
            <a:off x="4864608" y="1298448"/>
            <a:ext cx="3712464" cy="411480"/>
          </a:xfrm>
          <a:prstGeom prst="rect">
            <a:avLst/>
          </a:prstGeom>
          <a:noFill/>
          <a:ln/>
        </p:spPr>
        <p:txBody>
          <a:bodyPr wrap="square" lIns="0" tIns="0" rIns="0" bIns="0" rtlCol="0" anchor="ctr">
            <a:normAutofit/>
          </a:bodyPr>
          <a:lstStyle/>
          <a:p>
            <a:pPr indent="0" marL="0">
              <a:buNone/>
            </a:pPr>
            <a:r>
              <a:rPr lang="en-US" sz="2000" b="1" dirty="0">
                <a:solidFill>
                  <a:srgbClr val="1E2761"/>
                </a:solidFill>
                <a:latin typeface="Calibri" pitchFamily="34" charset="0"/>
                <a:ea typeface="Calibri" pitchFamily="34" charset="-122"/>
                <a:cs typeface="Calibri" pitchFamily="34" charset="-120"/>
              </a:rPr>
              <a:t>Authorization — what may it do here?</a:t>
            </a:r>
            <a:endParaRPr lang="en-US" sz="2000" dirty="0"/>
          </a:p>
        </p:txBody>
      </p:sp>
      <p:sp>
        <p:nvSpPr>
          <p:cNvPr id="10" name="Text 8"/>
          <p:cNvSpPr/>
          <p:nvPr/>
        </p:nvSpPr>
        <p:spPr>
          <a:xfrm>
            <a:off x="4892040" y="1828800"/>
            <a:ext cx="3639312" cy="2395728"/>
          </a:xfrm>
          <a:prstGeom prst="rect">
            <a:avLst/>
          </a:prstGeom>
          <a:noFill/>
          <a:ln/>
        </p:spPr>
        <p:txBody>
          <a:bodyPr wrap="square" lIns="381" tIns="381" rIns="381" bIns="381" rtlCol="0" anchor="ctr">
            <a:normAutofit/>
          </a:bodyPr>
          <a:lstStyle/>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Control plane: RBAC actions manage resources, projects, and role assignments</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Data plane: RBAC dataActions invoke models, agents, evaluations, and runtime capabilities</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A valid identity can still receive a correct denial</a:t>
            </a:r>
            <a:endParaRPr lang="en-US" sz="1300" dirty="0"/>
          </a:p>
        </p:txBody>
      </p:sp>
      <p:sp>
        <p:nvSpPr>
          <p:cNvPr id="11" name="Shape 9"/>
          <p:cNvSpPr/>
          <p:nvPr/>
        </p:nvSpPr>
        <p:spPr>
          <a:xfrm>
            <a:off x="365760" y="4773168"/>
            <a:ext cx="8412480" cy="0"/>
          </a:xfrm>
          <a:prstGeom prst="line">
            <a:avLst/>
          </a:prstGeom>
          <a:noFill/>
          <a:ln w="6350">
            <a:solidFill>
              <a:srgbClr val="D1D5DB"/>
            </a:solidFill>
            <a:prstDash val="solid"/>
          </a:ln>
        </p:spPr>
      </p:sp>
      <p:sp>
        <p:nvSpPr>
          <p:cNvPr id="12" name="Text 10"/>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https://learn.microsoft.com/azure/foundry/concepts/authentication-authorization-foundry</a:t>
            </a:r>
            <a:endParaRPr lang="en-US" sz="8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5 · Module 3</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500" b="1" dirty="0">
                <a:solidFill>
                  <a:srgbClr val="1E2761"/>
                </a:solidFill>
                <a:latin typeface="Calibri" pitchFamily="34" charset="0"/>
                <a:ea typeface="Calibri" pitchFamily="34" charset="-122"/>
                <a:cs typeface="Calibri" pitchFamily="34" charset="-120"/>
              </a:rPr>
              <a:t>Follow the identity at every connection</a:t>
            </a:r>
            <a:endParaRPr lang="en-US" sz="2500" dirty="0"/>
          </a:p>
        </p:txBody>
      </p:sp>
      <p:sp>
        <p:nvSpPr>
          <p:cNvPr id="5" name="Shape 3"/>
          <p:cNvSpPr/>
          <p:nvPr/>
        </p:nvSpPr>
        <p:spPr>
          <a:xfrm>
            <a:off x="365760" y="1216152"/>
            <a:ext cx="1911096" cy="2148840"/>
          </a:xfrm>
          <a:prstGeom prst="roundRect">
            <a:avLst>
              <a:gd name="adj" fmla="val 2871"/>
            </a:avLst>
          </a:prstGeom>
          <a:solidFill>
            <a:srgbClr val="CADCFC"/>
          </a:solidFill>
          <a:ln w="10160">
            <a:solidFill>
              <a:srgbClr val="1E2761"/>
            </a:solidFill>
            <a:prstDash val="solid"/>
          </a:ln>
        </p:spPr>
      </p:sp>
      <p:sp>
        <p:nvSpPr>
          <p:cNvPr id="6" name="Shape 4"/>
          <p:cNvSpPr/>
          <p:nvPr/>
        </p:nvSpPr>
        <p:spPr>
          <a:xfrm>
            <a:off x="475488" y="1335024"/>
            <a:ext cx="320040" cy="320040"/>
          </a:xfrm>
          <a:prstGeom prst="ellipse">
            <a:avLst/>
          </a:prstGeom>
          <a:solidFill>
            <a:srgbClr val="1E2761"/>
          </a:solidFill>
          <a:ln/>
        </p:spPr>
      </p:sp>
      <p:sp>
        <p:nvSpPr>
          <p:cNvPr id="7" name="Text 5"/>
          <p:cNvSpPr/>
          <p:nvPr/>
        </p:nvSpPr>
        <p:spPr>
          <a:xfrm>
            <a:off x="475488" y="1385316"/>
            <a:ext cx="32004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8" name="Text 6"/>
          <p:cNvSpPr/>
          <p:nvPr/>
        </p:nvSpPr>
        <p:spPr>
          <a:xfrm>
            <a:off x="896112" y="1335024"/>
            <a:ext cx="1252728" cy="311277"/>
          </a:xfrm>
          <a:prstGeom prst="rect">
            <a:avLst/>
          </a:prstGeom>
          <a:noFill/>
          <a:ln/>
        </p:spPr>
        <p:txBody>
          <a:bodyPr wrap="square" lIns="0" tIns="0" rIns="0" bIns="0" rtlCol="0" anchor="t">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End user</a:t>
            </a:r>
            <a:endParaRPr lang="en-US" sz="1500" dirty="0"/>
          </a:p>
        </p:txBody>
      </p:sp>
      <p:sp>
        <p:nvSpPr>
          <p:cNvPr id="9" name="Text 7"/>
          <p:cNvSpPr/>
          <p:nvPr/>
        </p:nvSpPr>
        <p:spPr>
          <a:xfrm>
            <a:off x="512064" y="1701165"/>
            <a:ext cx="1618488" cy="1572387"/>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authenticates to the client; only delegated permissions can travel onward</a:t>
            </a:r>
            <a:endParaRPr lang="en-US" sz="1150" dirty="0"/>
          </a:p>
        </p:txBody>
      </p:sp>
      <p:sp>
        <p:nvSpPr>
          <p:cNvPr id="10" name="Shape 8"/>
          <p:cNvSpPr/>
          <p:nvPr/>
        </p:nvSpPr>
        <p:spPr>
          <a:xfrm>
            <a:off x="2313432" y="2180844"/>
            <a:ext cx="164592" cy="219456"/>
          </a:xfrm>
          <a:prstGeom prst="chevron">
            <a:avLst/>
          </a:prstGeom>
          <a:solidFill>
            <a:srgbClr val="E8A87C"/>
          </a:solidFill>
          <a:ln/>
        </p:spPr>
      </p:sp>
      <p:sp>
        <p:nvSpPr>
          <p:cNvPr id="11" name="Shape 9"/>
          <p:cNvSpPr/>
          <p:nvPr/>
        </p:nvSpPr>
        <p:spPr>
          <a:xfrm>
            <a:off x="2532888" y="1216152"/>
            <a:ext cx="1911096" cy="2148840"/>
          </a:xfrm>
          <a:prstGeom prst="roundRect">
            <a:avLst>
              <a:gd name="adj" fmla="val 2871"/>
            </a:avLst>
          </a:prstGeom>
          <a:solidFill>
            <a:srgbClr val="F3F4F6"/>
          </a:solidFill>
          <a:ln w="10160">
            <a:solidFill>
              <a:srgbClr val="D1D5DB"/>
            </a:solidFill>
            <a:prstDash val="solid"/>
          </a:ln>
        </p:spPr>
      </p:sp>
      <p:sp>
        <p:nvSpPr>
          <p:cNvPr id="12" name="Shape 10"/>
          <p:cNvSpPr/>
          <p:nvPr/>
        </p:nvSpPr>
        <p:spPr>
          <a:xfrm>
            <a:off x="2642616" y="1335024"/>
            <a:ext cx="320040" cy="320040"/>
          </a:xfrm>
          <a:prstGeom prst="ellipse">
            <a:avLst/>
          </a:prstGeom>
          <a:solidFill>
            <a:srgbClr val="1E2761"/>
          </a:solidFill>
          <a:ln/>
        </p:spPr>
      </p:sp>
      <p:sp>
        <p:nvSpPr>
          <p:cNvPr id="13" name="Text 11"/>
          <p:cNvSpPr/>
          <p:nvPr/>
        </p:nvSpPr>
        <p:spPr>
          <a:xfrm>
            <a:off x="2642616" y="1385316"/>
            <a:ext cx="32004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Text 12"/>
          <p:cNvSpPr/>
          <p:nvPr/>
        </p:nvSpPr>
        <p:spPr>
          <a:xfrm>
            <a:off x="3063240" y="1335024"/>
            <a:ext cx="1252728" cy="549402"/>
          </a:xfrm>
          <a:prstGeom prst="rect">
            <a:avLst/>
          </a:prstGeom>
          <a:noFill/>
          <a:ln/>
        </p:spPr>
        <p:txBody>
          <a:bodyPr wrap="square" lIns="0" tIns="0" rIns="0" bIns="0" rtlCol="0" anchor="t">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Application caller</a:t>
            </a:r>
            <a:endParaRPr lang="en-US" sz="1500" dirty="0"/>
          </a:p>
        </p:txBody>
      </p:sp>
      <p:sp>
        <p:nvSpPr>
          <p:cNvPr id="15" name="Text 13"/>
          <p:cNvSpPr/>
          <p:nvPr/>
        </p:nvSpPr>
        <p:spPr>
          <a:xfrm>
            <a:off x="2679192" y="1939290"/>
            <a:ext cx="1618488" cy="133426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invokes with delegated user access or its own workload identity</a:t>
            </a:r>
            <a:endParaRPr lang="en-US" sz="1150" dirty="0"/>
          </a:p>
        </p:txBody>
      </p:sp>
      <p:sp>
        <p:nvSpPr>
          <p:cNvPr id="16" name="Shape 14"/>
          <p:cNvSpPr/>
          <p:nvPr/>
        </p:nvSpPr>
        <p:spPr>
          <a:xfrm>
            <a:off x="4480560" y="2180844"/>
            <a:ext cx="164592" cy="219456"/>
          </a:xfrm>
          <a:prstGeom prst="chevron">
            <a:avLst/>
          </a:prstGeom>
          <a:solidFill>
            <a:srgbClr val="E8A87C"/>
          </a:solidFill>
          <a:ln/>
        </p:spPr>
      </p:sp>
      <p:sp>
        <p:nvSpPr>
          <p:cNvPr id="17" name="Shape 15"/>
          <p:cNvSpPr/>
          <p:nvPr/>
        </p:nvSpPr>
        <p:spPr>
          <a:xfrm>
            <a:off x="4700016" y="1216152"/>
            <a:ext cx="1911096" cy="2148840"/>
          </a:xfrm>
          <a:prstGeom prst="roundRect">
            <a:avLst>
              <a:gd name="adj" fmla="val 2871"/>
            </a:avLst>
          </a:prstGeom>
          <a:solidFill>
            <a:srgbClr val="F3F4F6"/>
          </a:solidFill>
          <a:ln w="10160">
            <a:solidFill>
              <a:srgbClr val="D1D5DB"/>
            </a:solidFill>
            <a:prstDash val="solid"/>
          </a:ln>
        </p:spPr>
      </p:sp>
      <p:sp>
        <p:nvSpPr>
          <p:cNvPr id="18" name="Shape 16"/>
          <p:cNvSpPr/>
          <p:nvPr/>
        </p:nvSpPr>
        <p:spPr>
          <a:xfrm>
            <a:off x="4809744" y="1335024"/>
            <a:ext cx="320040" cy="320040"/>
          </a:xfrm>
          <a:prstGeom prst="ellipse">
            <a:avLst/>
          </a:prstGeom>
          <a:solidFill>
            <a:srgbClr val="1E2761"/>
          </a:solidFill>
          <a:ln/>
        </p:spPr>
      </p:sp>
      <p:sp>
        <p:nvSpPr>
          <p:cNvPr id="19" name="Text 17"/>
          <p:cNvSpPr/>
          <p:nvPr/>
        </p:nvSpPr>
        <p:spPr>
          <a:xfrm>
            <a:off x="4809744" y="1385316"/>
            <a:ext cx="32004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0" name="Text 18"/>
          <p:cNvSpPr/>
          <p:nvPr/>
        </p:nvSpPr>
        <p:spPr>
          <a:xfrm>
            <a:off x="5230368" y="1335024"/>
            <a:ext cx="1252728" cy="549402"/>
          </a:xfrm>
          <a:prstGeom prst="rect">
            <a:avLst/>
          </a:prstGeom>
          <a:noFill/>
          <a:ln/>
        </p:spPr>
        <p:txBody>
          <a:bodyPr wrap="square" lIns="0" tIns="0" rIns="0" bIns="0" rtlCol="0" anchor="t">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Agent or tool principal</a:t>
            </a:r>
            <a:endParaRPr lang="en-US" sz="1500" dirty="0"/>
          </a:p>
        </p:txBody>
      </p:sp>
      <p:sp>
        <p:nvSpPr>
          <p:cNvPr id="21" name="Text 19"/>
          <p:cNvSpPr/>
          <p:nvPr/>
        </p:nvSpPr>
        <p:spPr>
          <a:xfrm>
            <a:off x="4846320" y="1939290"/>
            <a:ext cx="1618488" cy="133426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authenticates on the tool connection; inspect, do not infer</a:t>
            </a:r>
            <a:endParaRPr lang="en-US" sz="1150" dirty="0"/>
          </a:p>
        </p:txBody>
      </p:sp>
      <p:sp>
        <p:nvSpPr>
          <p:cNvPr id="22" name="Shape 20"/>
          <p:cNvSpPr/>
          <p:nvPr/>
        </p:nvSpPr>
        <p:spPr>
          <a:xfrm>
            <a:off x="6647688" y="2180844"/>
            <a:ext cx="164592" cy="219456"/>
          </a:xfrm>
          <a:prstGeom prst="chevron">
            <a:avLst/>
          </a:prstGeom>
          <a:solidFill>
            <a:srgbClr val="E8A87C"/>
          </a:solidFill>
          <a:ln/>
        </p:spPr>
      </p:sp>
      <p:sp>
        <p:nvSpPr>
          <p:cNvPr id="23" name="Shape 21"/>
          <p:cNvSpPr/>
          <p:nvPr/>
        </p:nvSpPr>
        <p:spPr>
          <a:xfrm>
            <a:off x="6867144" y="1216152"/>
            <a:ext cx="1911096" cy="2148840"/>
          </a:xfrm>
          <a:prstGeom prst="roundRect">
            <a:avLst>
              <a:gd name="adj" fmla="val 2871"/>
            </a:avLst>
          </a:prstGeom>
          <a:solidFill>
            <a:srgbClr val="CADCFC"/>
          </a:solidFill>
          <a:ln w="10160">
            <a:solidFill>
              <a:srgbClr val="1E2761"/>
            </a:solidFill>
            <a:prstDash val="solid"/>
          </a:ln>
        </p:spPr>
      </p:sp>
      <p:sp>
        <p:nvSpPr>
          <p:cNvPr id="24" name="Shape 22"/>
          <p:cNvSpPr/>
          <p:nvPr/>
        </p:nvSpPr>
        <p:spPr>
          <a:xfrm>
            <a:off x="6976872" y="1335024"/>
            <a:ext cx="320040" cy="320040"/>
          </a:xfrm>
          <a:prstGeom prst="ellipse">
            <a:avLst/>
          </a:prstGeom>
          <a:solidFill>
            <a:srgbClr val="1E2761"/>
          </a:solidFill>
          <a:ln/>
        </p:spPr>
      </p:sp>
      <p:sp>
        <p:nvSpPr>
          <p:cNvPr id="25" name="Text 23"/>
          <p:cNvSpPr/>
          <p:nvPr/>
        </p:nvSpPr>
        <p:spPr>
          <a:xfrm>
            <a:off x="6976872" y="1385316"/>
            <a:ext cx="32004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6" name="Text 24"/>
          <p:cNvSpPr/>
          <p:nvPr/>
        </p:nvSpPr>
        <p:spPr>
          <a:xfrm>
            <a:off x="7397496" y="1335024"/>
            <a:ext cx="1252728" cy="549402"/>
          </a:xfrm>
          <a:prstGeom prst="rect">
            <a:avLst/>
          </a:prstGeom>
          <a:noFill/>
          <a:ln/>
        </p:spPr>
        <p:txBody>
          <a:bodyPr wrap="square" lIns="0" tIns="0" rIns="0" bIns="0" rtlCol="0" anchor="t">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Downstream service</a:t>
            </a:r>
            <a:endParaRPr lang="en-US" sz="1500" dirty="0"/>
          </a:p>
        </p:txBody>
      </p:sp>
      <p:sp>
        <p:nvSpPr>
          <p:cNvPr id="27" name="Text 25"/>
          <p:cNvSpPr/>
          <p:nvPr/>
        </p:nvSpPr>
        <p:spPr>
          <a:xfrm>
            <a:off x="7013448" y="1939290"/>
            <a:ext cx="1618488" cy="133426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checks principal, audience, role, scope, and data permission</a:t>
            </a:r>
            <a:endParaRPr lang="en-US" sz="1150" dirty="0"/>
          </a:p>
        </p:txBody>
      </p:sp>
      <p:sp>
        <p:nvSpPr>
          <p:cNvPr id="28" name="Text 26"/>
          <p:cNvSpPr/>
          <p:nvPr/>
        </p:nvSpPr>
        <p:spPr>
          <a:xfrm>
            <a:off x="365760" y="4338193"/>
            <a:ext cx="8412480" cy="370967"/>
          </a:xfrm>
          <a:prstGeom prst="rect">
            <a:avLst/>
          </a:prstGeom>
          <a:noFill/>
          <a:ln/>
        </p:spPr>
        <p:txBody>
          <a:bodyPr wrap="square" lIns="0" tIns="0" rIns="0" bIns="0" rtlCol="0" anchor="t">
            <a:normAutofit/>
          </a:bodyPr>
          <a:lstStyle/>
          <a:p>
            <a:pPr indent="0" marL="0">
              <a:spcAft>
                <a:spcPts val="800"/>
              </a:spcAft>
              <a:buNone/>
            </a:pPr>
            <a:r>
              <a:rPr lang="en-US" sz="1300" dirty="0">
                <a:solidFill>
                  <a:srgbClr val="6B7280"/>
                </a:solidFill>
                <a:latin typeface="Calibri" pitchFamily="34" charset="0"/>
                <a:ea typeface="Calibri" pitchFamily="34" charset="-122"/>
                <a:cs typeface="Calibri" pitchFamily="34" charset="-120"/>
              </a:rPr>
              <a:t>The caller is the identity on that connection, not necessarily the person in the chat window.</a:t>
            </a:r>
            <a:endParaRPr lang="en-US" sz="1300" dirty="0"/>
          </a:p>
        </p:txBody>
      </p:sp>
      <p:sp>
        <p:nvSpPr>
          <p:cNvPr id="29" name="Shape 27"/>
          <p:cNvSpPr/>
          <p:nvPr/>
        </p:nvSpPr>
        <p:spPr>
          <a:xfrm>
            <a:off x="365760" y="4773168"/>
            <a:ext cx="8412480" cy="0"/>
          </a:xfrm>
          <a:prstGeom prst="line">
            <a:avLst/>
          </a:prstGeom>
          <a:noFill/>
          <a:ln w="6350">
            <a:solidFill>
              <a:srgbClr val="D1D5DB"/>
            </a:solidFill>
            <a:prstDash val="solid"/>
          </a:ln>
        </p:spPr>
      </p:sp>
      <p:sp>
        <p:nvSpPr>
          <p:cNvPr id="30" name="Text 28"/>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https://learn.microsoft.com/azure/foundry/agents/concepts/agent-identity  ·  +1 in notes</a:t>
            </a:r>
            <a:endParaRPr lang="en-US" sz="8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5 · Module 3</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300" b="1" dirty="0">
                <a:solidFill>
                  <a:srgbClr val="1E2761"/>
                </a:solidFill>
                <a:latin typeface="Calibri" pitchFamily="34" charset="0"/>
                <a:ea typeface="Calibri" pitchFamily="34" charset="-122"/>
                <a:cs typeface="Calibri" pitchFamily="34" charset="-120"/>
              </a:rPr>
              <a:t>Current agent identity model—and the legacy wording</a:t>
            </a:r>
            <a:endParaRPr lang="en-US" sz="2300" dirty="0"/>
          </a:p>
        </p:txBody>
      </p:sp>
      <p:sp>
        <p:nvSpPr>
          <p:cNvPr id="5" name="Shape 3"/>
          <p:cNvSpPr/>
          <p:nvPr/>
        </p:nvSpPr>
        <p:spPr>
          <a:xfrm>
            <a:off x="365760" y="1078992"/>
            <a:ext cx="4114800" cy="3493008"/>
          </a:xfrm>
          <a:prstGeom prst="roundRect">
            <a:avLst/>
          </a:prstGeom>
          <a:solidFill>
            <a:srgbClr val="F3F4F6"/>
          </a:solidFill>
          <a:ln w="11430">
            <a:solidFill>
              <a:srgbClr val="D1D5DB"/>
            </a:solidFill>
            <a:prstDash val="solid"/>
          </a:ln>
        </p:spPr>
      </p:sp>
      <p:sp>
        <p:nvSpPr>
          <p:cNvPr id="6" name="Text 4"/>
          <p:cNvSpPr/>
          <p:nvPr/>
        </p:nvSpPr>
        <p:spPr>
          <a:xfrm>
            <a:off x="566928" y="1298448"/>
            <a:ext cx="3712464" cy="411480"/>
          </a:xfrm>
          <a:prstGeom prst="rect">
            <a:avLst/>
          </a:prstGeom>
          <a:noFill/>
          <a:ln/>
        </p:spPr>
        <p:txBody>
          <a:bodyPr wrap="square" lIns="0" tIns="0" rIns="0" bIns="0" rtlCol="0" anchor="ctr">
            <a:normAutofit/>
          </a:bodyPr>
          <a:lstStyle/>
          <a:p>
            <a:pPr indent="0" marL="0">
              <a:buNone/>
            </a:pPr>
            <a:r>
              <a:rPr lang="en-US" sz="2000" b="1" dirty="0">
                <a:solidFill>
                  <a:srgbClr val="1E2761"/>
                </a:solidFill>
                <a:latin typeface="Calibri" pitchFamily="34" charset="0"/>
                <a:ea typeface="Calibri" pitchFamily="34" charset="-122"/>
                <a:cs typeface="Calibri" pitchFamily="34" charset="-120"/>
              </a:rPr>
              <a:t>New agent object model</a:t>
            </a:r>
            <a:endParaRPr lang="en-US" sz="2000" dirty="0"/>
          </a:p>
        </p:txBody>
      </p:sp>
      <p:sp>
        <p:nvSpPr>
          <p:cNvPr id="7" name="Text 5"/>
          <p:cNvSpPr/>
          <p:nvPr/>
        </p:nvSpPr>
        <p:spPr>
          <a:xfrm>
            <a:off x="594360" y="1828800"/>
            <a:ext cx="3639312" cy="2395728"/>
          </a:xfrm>
          <a:prstGeom prst="rect">
            <a:avLst/>
          </a:prstGeom>
          <a:noFill/>
          <a:ln/>
        </p:spPr>
        <p:txBody>
          <a:bodyPr wrap="square" lIns="381" tIns="381" rIns="381" bIns="381" rtlCol="0" anchor="ctr">
            <a:normAutofit/>
          </a:bodyPr>
          <a:lstStyle/>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A newly created agent receives a unique Entra Agent Blueprint and Agent Identity by default</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Its stable endpoint and identity exist from creation; publishing no longer creates the runtime identity</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Assign downstream permissions to this actual agent identity</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Unique identity isolates the agent—not its end users</a:t>
            </a:r>
            <a:endParaRPr lang="en-US" sz="1300" dirty="0"/>
          </a:p>
        </p:txBody>
      </p:sp>
      <p:sp>
        <p:nvSpPr>
          <p:cNvPr id="8" name="Shape 6"/>
          <p:cNvSpPr/>
          <p:nvPr/>
        </p:nvSpPr>
        <p:spPr>
          <a:xfrm>
            <a:off x="4663440" y="1078992"/>
            <a:ext cx="4114800" cy="3493008"/>
          </a:xfrm>
          <a:prstGeom prst="roundRect">
            <a:avLst/>
          </a:prstGeom>
          <a:solidFill>
            <a:srgbClr val="CADCFC"/>
          </a:solidFill>
          <a:ln w="11430">
            <a:solidFill>
              <a:srgbClr val="1E2761"/>
            </a:solidFill>
            <a:prstDash val="solid"/>
          </a:ln>
        </p:spPr>
      </p:sp>
      <p:sp>
        <p:nvSpPr>
          <p:cNvPr id="9" name="Text 7"/>
          <p:cNvSpPr/>
          <p:nvPr/>
        </p:nvSpPr>
        <p:spPr>
          <a:xfrm>
            <a:off x="4864608" y="1298448"/>
            <a:ext cx="3712464" cy="411480"/>
          </a:xfrm>
          <a:prstGeom prst="rect">
            <a:avLst/>
          </a:prstGeom>
          <a:noFill/>
          <a:ln/>
        </p:spPr>
        <p:txBody>
          <a:bodyPr wrap="square" lIns="0" tIns="0" rIns="0" bIns="0" rtlCol="0" anchor="ctr">
            <a:normAutofit/>
          </a:bodyPr>
          <a:lstStyle/>
          <a:p>
            <a:pPr indent="0" marL="0">
              <a:buNone/>
            </a:pPr>
            <a:r>
              <a:rPr lang="en-US" sz="2000" b="1" dirty="0">
                <a:solidFill>
                  <a:srgbClr val="1E2761"/>
                </a:solidFill>
                <a:latin typeface="Calibri" pitchFamily="34" charset="0"/>
                <a:ea typeface="Calibri" pitchFamily="34" charset="-122"/>
                <a:cs typeface="Calibri" pitchFamily="34" charset="-120"/>
              </a:rPr>
              <a:t>Legacy agents and guidance</a:t>
            </a:r>
            <a:endParaRPr lang="en-US" sz="2000" dirty="0"/>
          </a:p>
        </p:txBody>
      </p:sp>
      <p:sp>
        <p:nvSpPr>
          <p:cNvPr id="10" name="Text 8"/>
          <p:cNvSpPr/>
          <p:nvPr/>
        </p:nvSpPr>
        <p:spPr>
          <a:xfrm>
            <a:off x="4892040" y="1828800"/>
            <a:ext cx="3639312" cy="2395728"/>
          </a:xfrm>
          <a:prstGeom prst="rect">
            <a:avLst/>
          </a:prstGeom>
          <a:noFill/>
          <a:ln/>
        </p:spPr>
        <p:txBody>
          <a:bodyPr wrap="square" lIns="381" tIns="381" rIns="381" bIns="381" rtlCol="0" anchor="ctr">
            <a:normAutofit/>
          </a:bodyPr>
          <a:lstStyle/>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A legacy agent has a null identity and uses the shared project identity</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“Shared until published” describes the legacy Agent Application model</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Re-create a legacy agent to obtain a unique identity; role assignments do not transfer</a:t>
            </a:r>
            <a:endParaRPr lang="en-US" sz="1300" dirty="0"/>
          </a:p>
        </p:txBody>
      </p:sp>
      <p:sp>
        <p:nvSpPr>
          <p:cNvPr id="11" name="Shape 9"/>
          <p:cNvSpPr/>
          <p:nvPr/>
        </p:nvSpPr>
        <p:spPr>
          <a:xfrm>
            <a:off x="365760" y="4773168"/>
            <a:ext cx="8412480" cy="0"/>
          </a:xfrm>
          <a:prstGeom prst="line">
            <a:avLst/>
          </a:prstGeom>
          <a:noFill/>
          <a:ln w="6350">
            <a:solidFill>
              <a:srgbClr val="D1D5DB"/>
            </a:solidFill>
            <a:prstDash val="solid"/>
          </a:ln>
        </p:spPr>
      </p:sp>
      <p:sp>
        <p:nvSpPr>
          <p:cNvPr id="12" name="Text 10"/>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https://learn.microsoft.com/azure/foundry/agents/how-to/migrate-agent-applications  ·  +1 in notes</a:t>
            </a:r>
            <a:endParaRPr lang="en-US" sz="8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5 · Module 3</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500" b="1" dirty="0">
                <a:solidFill>
                  <a:srgbClr val="1E2761"/>
                </a:solidFill>
                <a:latin typeface="Calibri" pitchFamily="34" charset="0"/>
                <a:ea typeface="Calibri" pitchFamily="34" charset="-122"/>
                <a:cs typeface="Calibri" pitchFamily="34" charset="-120"/>
              </a:rPr>
              <a:t>Least privilege is role × scope × data rule</a:t>
            </a:r>
            <a:endParaRPr lang="en-US" sz="2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1078992"/>
          <a:ext cx="8412480" cy="914400"/>
        </p:xfrm>
        <a:graphic>
          <a:graphicData uri="http://schemas.openxmlformats.org/drawingml/2006/table">
            <a:tbl>
              <a:tblPr/>
              <a:tblGrid>
                <a:gridCol w="1276050"/>
                <a:gridCol w="1654139"/>
                <a:gridCol w="5482290"/>
              </a:tblGrid>
              <a:tr h="65836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Need</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Principal</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Boundary to check</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r>
              <a:tr h="658368">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Invoke the reference agent</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End user or calling app</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Foundry Agent Consumer at project or agent endpoint</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658368">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Build and test agents</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Developer</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Foundry User at project scope</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658368">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Retrieve restricted content</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Agent/application plus user context</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Index access and query-time document permission</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658368">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Read traces</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Operator</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Log Analytics Reader at connected Application Insights; protected tables also need Privileged Monitoring Data Reader</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bl>
          </a:graphicData>
        </a:graphic>
      </p:graphicFrame>
      <p:sp>
        <p:nvSpPr>
          <p:cNvPr id="6" name="Shape 3"/>
          <p:cNvSpPr/>
          <p:nvPr/>
        </p:nvSpPr>
        <p:spPr>
          <a:xfrm>
            <a:off x="365760" y="4773168"/>
            <a:ext cx="8412480" cy="0"/>
          </a:xfrm>
          <a:prstGeom prst="line">
            <a:avLst/>
          </a:prstGeom>
          <a:noFill/>
          <a:ln w="6350">
            <a:solidFill>
              <a:srgbClr val="D1D5DB"/>
            </a:solidFill>
            <a:prstDash val="solid"/>
          </a:ln>
        </p:spPr>
      </p:sp>
      <p:sp>
        <p:nvSpPr>
          <p:cNvPr id="7" name="Text 4"/>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https://learn.microsoft.com/azure/foundry/concepts/rbac-foundry  ·  +2 in notes</a:t>
            </a:r>
            <a:endParaRPr lang="en-US" sz="8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5 · Module 3</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300" b="1" dirty="0">
                <a:solidFill>
                  <a:srgbClr val="1E2761"/>
                </a:solidFill>
                <a:latin typeface="Calibri" pitchFamily="34" charset="0"/>
                <a:ea typeface="Calibri" pitchFamily="34" charset="-122"/>
                <a:cs typeface="Calibri" pitchFamily="34" charset="-120"/>
              </a:rPr>
              <a:t>Approval, OAuth consent, and permission are three checks</a:t>
            </a:r>
            <a:endParaRPr lang="en-US" sz="2300" dirty="0"/>
          </a:p>
        </p:txBody>
      </p:sp>
      <p:sp>
        <p:nvSpPr>
          <p:cNvPr id="5" name="Shape 3"/>
          <p:cNvSpPr/>
          <p:nvPr/>
        </p:nvSpPr>
        <p:spPr>
          <a:xfrm>
            <a:off x="365760" y="1216152"/>
            <a:ext cx="1911096" cy="2148840"/>
          </a:xfrm>
          <a:prstGeom prst="roundRect">
            <a:avLst>
              <a:gd name="adj" fmla="val 2871"/>
            </a:avLst>
          </a:prstGeom>
          <a:solidFill>
            <a:srgbClr val="CADCFC"/>
          </a:solidFill>
          <a:ln w="10160">
            <a:solidFill>
              <a:srgbClr val="1E2761"/>
            </a:solidFill>
            <a:prstDash val="solid"/>
          </a:ln>
        </p:spPr>
      </p:sp>
      <p:sp>
        <p:nvSpPr>
          <p:cNvPr id="6" name="Shape 4"/>
          <p:cNvSpPr/>
          <p:nvPr/>
        </p:nvSpPr>
        <p:spPr>
          <a:xfrm>
            <a:off x="475488" y="1335024"/>
            <a:ext cx="320040" cy="320040"/>
          </a:xfrm>
          <a:prstGeom prst="ellipse">
            <a:avLst/>
          </a:prstGeom>
          <a:solidFill>
            <a:srgbClr val="1E2761"/>
          </a:solidFill>
          <a:ln/>
        </p:spPr>
      </p:sp>
      <p:sp>
        <p:nvSpPr>
          <p:cNvPr id="7" name="Text 5"/>
          <p:cNvSpPr/>
          <p:nvPr/>
        </p:nvSpPr>
        <p:spPr>
          <a:xfrm>
            <a:off x="475488" y="1385316"/>
            <a:ext cx="32004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8" name="Text 6"/>
          <p:cNvSpPr/>
          <p:nvPr/>
        </p:nvSpPr>
        <p:spPr>
          <a:xfrm>
            <a:off x="896112" y="1335024"/>
            <a:ext cx="1252728" cy="549402"/>
          </a:xfrm>
          <a:prstGeom prst="rect">
            <a:avLst/>
          </a:prstGeom>
          <a:noFill/>
          <a:ln/>
        </p:spPr>
        <p:txBody>
          <a:bodyPr wrap="square" lIns="0" tIns="0" rIns="0" bIns="0" rtlCol="0" anchor="t">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Tool approval</a:t>
            </a:r>
            <a:endParaRPr lang="en-US" sz="1500" dirty="0"/>
          </a:p>
        </p:txBody>
      </p:sp>
      <p:sp>
        <p:nvSpPr>
          <p:cNvPr id="9" name="Text 7"/>
          <p:cNvSpPr/>
          <p:nvPr/>
        </p:nvSpPr>
        <p:spPr>
          <a:xfrm>
            <a:off x="512064" y="1939290"/>
            <a:ext cx="1618488" cy="133426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allow the proposed call; no resource permission is created</a:t>
            </a:r>
            <a:endParaRPr lang="en-US" sz="1150" dirty="0"/>
          </a:p>
        </p:txBody>
      </p:sp>
      <p:sp>
        <p:nvSpPr>
          <p:cNvPr id="10" name="Shape 8"/>
          <p:cNvSpPr/>
          <p:nvPr/>
        </p:nvSpPr>
        <p:spPr>
          <a:xfrm>
            <a:off x="2313432" y="2180844"/>
            <a:ext cx="164592" cy="219456"/>
          </a:xfrm>
          <a:prstGeom prst="chevron">
            <a:avLst/>
          </a:prstGeom>
          <a:solidFill>
            <a:srgbClr val="E8A87C"/>
          </a:solidFill>
          <a:ln/>
        </p:spPr>
      </p:sp>
      <p:sp>
        <p:nvSpPr>
          <p:cNvPr id="11" name="Shape 9"/>
          <p:cNvSpPr/>
          <p:nvPr/>
        </p:nvSpPr>
        <p:spPr>
          <a:xfrm>
            <a:off x="2532888" y="1216152"/>
            <a:ext cx="1911096" cy="2148840"/>
          </a:xfrm>
          <a:prstGeom prst="roundRect">
            <a:avLst>
              <a:gd name="adj" fmla="val 2871"/>
            </a:avLst>
          </a:prstGeom>
          <a:solidFill>
            <a:srgbClr val="F3F4F6"/>
          </a:solidFill>
          <a:ln w="10160">
            <a:solidFill>
              <a:srgbClr val="D1D5DB"/>
            </a:solidFill>
            <a:prstDash val="solid"/>
          </a:ln>
        </p:spPr>
      </p:sp>
      <p:sp>
        <p:nvSpPr>
          <p:cNvPr id="12" name="Shape 10"/>
          <p:cNvSpPr/>
          <p:nvPr/>
        </p:nvSpPr>
        <p:spPr>
          <a:xfrm>
            <a:off x="2642616" y="1335024"/>
            <a:ext cx="320040" cy="320040"/>
          </a:xfrm>
          <a:prstGeom prst="ellipse">
            <a:avLst/>
          </a:prstGeom>
          <a:solidFill>
            <a:srgbClr val="1E2761"/>
          </a:solidFill>
          <a:ln/>
        </p:spPr>
      </p:sp>
      <p:sp>
        <p:nvSpPr>
          <p:cNvPr id="13" name="Text 11"/>
          <p:cNvSpPr/>
          <p:nvPr/>
        </p:nvSpPr>
        <p:spPr>
          <a:xfrm>
            <a:off x="2642616" y="1385316"/>
            <a:ext cx="32004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Text 12"/>
          <p:cNvSpPr/>
          <p:nvPr/>
        </p:nvSpPr>
        <p:spPr>
          <a:xfrm>
            <a:off x="3063240" y="1335024"/>
            <a:ext cx="1252728" cy="549402"/>
          </a:xfrm>
          <a:prstGeom prst="rect">
            <a:avLst/>
          </a:prstGeom>
          <a:noFill/>
          <a:ln/>
        </p:spPr>
        <p:txBody>
          <a:bodyPr wrap="square" lIns="0" tIns="0" rIns="0" bIns="0" rtlCol="0" anchor="t">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OAuth consent</a:t>
            </a:r>
            <a:endParaRPr lang="en-US" sz="1500" dirty="0"/>
          </a:p>
        </p:txBody>
      </p:sp>
      <p:sp>
        <p:nvSpPr>
          <p:cNvPr id="15" name="Text 13"/>
          <p:cNvSpPr/>
          <p:nvPr/>
        </p:nvSpPr>
        <p:spPr>
          <a:xfrm>
            <a:off x="2679192" y="1939290"/>
            <a:ext cx="1618488" cy="133426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grant requested delegated scopes to the application</a:t>
            </a:r>
            <a:endParaRPr lang="en-US" sz="1150" dirty="0"/>
          </a:p>
        </p:txBody>
      </p:sp>
      <p:sp>
        <p:nvSpPr>
          <p:cNvPr id="16" name="Shape 14"/>
          <p:cNvSpPr/>
          <p:nvPr/>
        </p:nvSpPr>
        <p:spPr>
          <a:xfrm>
            <a:off x="4480560" y="2180844"/>
            <a:ext cx="164592" cy="219456"/>
          </a:xfrm>
          <a:prstGeom prst="chevron">
            <a:avLst/>
          </a:prstGeom>
          <a:solidFill>
            <a:srgbClr val="E8A87C"/>
          </a:solidFill>
          <a:ln/>
        </p:spPr>
      </p:sp>
      <p:sp>
        <p:nvSpPr>
          <p:cNvPr id="17" name="Shape 15"/>
          <p:cNvSpPr/>
          <p:nvPr/>
        </p:nvSpPr>
        <p:spPr>
          <a:xfrm>
            <a:off x="4700016" y="1216152"/>
            <a:ext cx="1911096" cy="2148840"/>
          </a:xfrm>
          <a:prstGeom prst="roundRect">
            <a:avLst>
              <a:gd name="adj" fmla="val 2871"/>
            </a:avLst>
          </a:prstGeom>
          <a:solidFill>
            <a:srgbClr val="F3F4F6"/>
          </a:solidFill>
          <a:ln w="10160">
            <a:solidFill>
              <a:srgbClr val="D1D5DB"/>
            </a:solidFill>
            <a:prstDash val="solid"/>
          </a:ln>
        </p:spPr>
      </p:sp>
      <p:sp>
        <p:nvSpPr>
          <p:cNvPr id="18" name="Shape 16"/>
          <p:cNvSpPr/>
          <p:nvPr/>
        </p:nvSpPr>
        <p:spPr>
          <a:xfrm>
            <a:off x="4809744" y="1335024"/>
            <a:ext cx="320040" cy="320040"/>
          </a:xfrm>
          <a:prstGeom prst="ellipse">
            <a:avLst/>
          </a:prstGeom>
          <a:solidFill>
            <a:srgbClr val="1E2761"/>
          </a:solidFill>
          <a:ln/>
        </p:spPr>
      </p:sp>
      <p:sp>
        <p:nvSpPr>
          <p:cNvPr id="19" name="Text 17"/>
          <p:cNvSpPr/>
          <p:nvPr/>
        </p:nvSpPr>
        <p:spPr>
          <a:xfrm>
            <a:off x="4809744" y="1385316"/>
            <a:ext cx="32004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0" name="Text 18"/>
          <p:cNvSpPr/>
          <p:nvPr/>
        </p:nvSpPr>
        <p:spPr>
          <a:xfrm>
            <a:off x="5230368" y="1335024"/>
            <a:ext cx="1252728" cy="549402"/>
          </a:xfrm>
          <a:prstGeom prst="rect">
            <a:avLst/>
          </a:prstGeom>
          <a:noFill/>
          <a:ln/>
        </p:spPr>
        <p:txBody>
          <a:bodyPr wrap="square" lIns="0" tIns="0" rIns="0" bIns="0" rtlCol="0" anchor="t">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Token presentation</a:t>
            </a:r>
            <a:endParaRPr lang="en-US" sz="1500" dirty="0"/>
          </a:p>
        </p:txBody>
      </p:sp>
      <p:sp>
        <p:nvSpPr>
          <p:cNvPr id="21" name="Text 19"/>
          <p:cNvSpPr/>
          <p:nvPr/>
        </p:nvSpPr>
        <p:spPr>
          <a:xfrm>
            <a:off x="4846320" y="1939290"/>
            <a:ext cx="1618488" cy="133426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send a token for the downstream service's audience</a:t>
            </a:r>
            <a:endParaRPr lang="en-US" sz="1150" dirty="0"/>
          </a:p>
        </p:txBody>
      </p:sp>
      <p:sp>
        <p:nvSpPr>
          <p:cNvPr id="22" name="Shape 20"/>
          <p:cNvSpPr/>
          <p:nvPr/>
        </p:nvSpPr>
        <p:spPr>
          <a:xfrm>
            <a:off x="6647688" y="2180844"/>
            <a:ext cx="164592" cy="219456"/>
          </a:xfrm>
          <a:prstGeom prst="chevron">
            <a:avLst/>
          </a:prstGeom>
          <a:solidFill>
            <a:srgbClr val="E8A87C"/>
          </a:solidFill>
          <a:ln/>
        </p:spPr>
      </p:sp>
      <p:sp>
        <p:nvSpPr>
          <p:cNvPr id="23" name="Shape 21"/>
          <p:cNvSpPr/>
          <p:nvPr/>
        </p:nvSpPr>
        <p:spPr>
          <a:xfrm>
            <a:off x="6867144" y="1216152"/>
            <a:ext cx="1911096" cy="2148840"/>
          </a:xfrm>
          <a:prstGeom prst="roundRect">
            <a:avLst>
              <a:gd name="adj" fmla="val 2871"/>
            </a:avLst>
          </a:prstGeom>
          <a:solidFill>
            <a:srgbClr val="CADCFC"/>
          </a:solidFill>
          <a:ln w="10160">
            <a:solidFill>
              <a:srgbClr val="1E2761"/>
            </a:solidFill>
            <a:prstDash val="solid"/>
          </a:ln>
        </p:spPr>
      </p:sp>
      <p:sp>
        <p:nvSpPr>
          <p:cNvPr id="24" name="Shape 22"/>
          <p:cNvSpPr/>
          <p:nvPr/>
        </p:nvSpPr>
        <p:spPr>
          <a:xfrm>
            <a:off x="6976872" y="1335024"/>
            <a:ext cx="320040" cy="320040"/>
          </a:xfrm>
          <a:prstGeom prst="ellipse">
            <a:avLst/>
          </a:prstGeom>
          <a:solidFill>
            <a:srgbClr val="1E2761"/>
          </a:solidFill>
          <a:ln/>
        </p:spPr>
      </p:sp>
      <p:sp>
        <p:nvSpPr>
          <p:cNvPr id="25" name="Text 23"/>
          <p:cNvSpPr/>
          <p:nvPr/>
        </p:nvSpPr>
        <p:spPr>
          <a:xfrm>
            <a:off x="6976872" y="1385316"/>
            <a:ext cx="32004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6" name="Text 24"/>
          <p:cNvSpPr/>
          <p:nvPr/>
        </p:nvSpPr>
        <p:spPr>
          <a:xfrm>
            <a:off x="7397496" y="1335024"/>
            <a:ext cx="1252728" cy="549402"/>
          </a:xfrm>
          <a:prstGeom prst="rect">
            <a:avLst/>
          </a:prstGeom>
          <a:noFill/>
          <a:ln/>
        </p:spPr>
        <p:txBody>
          <a:bodyPr wrap="square" lIns="0" tIns="0" rIns="0" bIns="0" rtlCol="0" anchor="t">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Authorization</a:t>
            </a:r>
            <a:endParaRPr lang="en-US" sz="1500" dirty="0"/>
          </a:p>
        </p:txBody>
      </p:sp>
      <p:sp>
        <p:nvSpPr>
          <p:cNvPr id="27" name="Text 25"/>
          <p:cNvSpPr/>
          <p:nvPr/>
        </p:nvSpPr>
        <p:spPr>
          <a:xfrm>
            <a:off x="7013448" y="1939290"/>
            <a:ext cx="1618488" cy="133426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check principal, role/scope, and document permission</a:t>
            </a:r>
            <a:endParaRPr lang="en-US" sz="1150" dirty="0"/>
          </a:p>
        </p:txBody>
      </p:sp>
      <p:sp>
        <p:nvSpPr>
          <p:cNvPr id="28" name="Text 26"/>
          <p:cNvSpPr/>
          <p:nvPr/>
        </p:nvSpPr>
        <p:spPr>
          <a:xfrm>
            <a:off x="365760" y="4338193"/>
            <a:ext cx="8412480" cy="370967"/>
          </a:xfrm>
          <a:prstGeom prst="rect">
            <a:avLst/>
          </a:prstGeom>
          <a:noFill/>
          <a:ln/>
        </p:spPr>
        <p:txBody>
          <a:bodyPr wrap="square" lIns="0" tIns="0" rIns="0" bIns="0" rtlCol="0" anchor="t">
            <a:normAutofit/>
          </a:bodyPr>
          <a:lstStyle/>
          <a:p>
            <a:pPr indent="0" marL="0">
              <a:spcAft>
                <a:spcPts val="800"/>
              </a:spcAft>
              <a:buNone/>
            </a:pPr>
            <a:r>
              <a:rPr lang="en-US" sz="1300" dirty="0">
                <a:solidFill>
                  <a:srgbClr val="6B7280"/>
                </a:solidFill>
                <a:latin typeface="Calibri" pitchFamily="34" charset="0"/>
                <a:ea typeface="Calibri" pitchFamily="34" charset="-122"/>
                <a:cs typeface="Calibri" pitchFamily="34" charset="-120"/>
              </a:rPr>
              <a:t>An approved, consented call can still be correctly denied.</a:t>
            </a:r>
            <a:endParaRPr lang="en-US" sz="1300" dirty="0"/>
          </a:p>
        </p:txBody>
      </p:sp>
      <p:sp>
        <p:nvSpPr>
          <p:cNvPr id="29" name="Shape 27"/>
          <p:cNvSpPr/>
          <p:nvPr/>
        </p:nvSpPr>
        <p:spPr>
          <a:xfrm>
            <a:off x="365760" y="4773168"/>
            <a:ext cx="8412480" cy="0"/>
          </a:xfrm>
          <a:prstGeom prst="line">
            <a:avLst/>
          </a:prstGeom>
          <a:noFill/>
          <a:ln w="6350">
            <a:solidFill>
              <a:srgbClr val="D1D5DB"/>
            </a:solidFill>
            <a:prstDash val="solid"/>
          </a:ln>
        </p:spPr>
      </p:sp>
      <p:sp>
        <p:nvSpPr>
          <p:cNvPr id="30" name="Text 28"/>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https://learn.microsoft.com/azure/foundry/agents/how-to/mcp-authentication  ·  +1 in notes</a:t>
            </a:r>
            <a:endParaRPr lang="en-US" sz="8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5 · Module 3</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300" b="1" dirty="0">
                <a:solidFill>
                  <a:srgbClr val="1E2761"/>
                </a:solidFill>
                <a:latin typeface="Calibri" pitchFamily="34" charset="0"/>
                <a:ea typeface="Calibri" pitchFamily="34" charset="-122"/>
                <a:cs typeface="Calibri" pitchFamily="34" charset="-120"/>
              </a:rPr>
              <a:t>Session state and documents need their own boundaries</a:t>
            </a:r>
            <a:endParaRPr lang="en-US" sz="2300" dirty="0"/>
          </a:p>
        </p:txBody>
      </p:sp>
      <p:sp>
        <p:nvSpPr>
          <p:cNvPr id="5" name="Text 3"/>
          <p:cNvSpPr/>
          <p:nvPr/>
        </p:nvSpPr>
        <p:spPr>
          <a:xfrm>
            <a:off x="502920" y="1170432"/>
            <a:ext cx="7955280" cy="352044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600" b="1" dirty="0">
                <a:solidFill>
                  <a:srgbClr val="1E2761"/>
                </a:solidFill>
                <a:latin typeface="Calibri" pitchFamily="34" charset="0"/>
                <a:ea typeface="Calibri" pitchFamily="34" charset="-122"/>
                <a:cs typeface="Calibri" pitchFamily="34" charset="-120"/>
              </a:rPr>
              <a:t>Session continuation</a:t>
            </a:r>
            <a:endParaRPr lang="en-US" sz="1600" dirty="0"/>
          </a:p>
          <a:p>
            <a:pPr lvl="1" marL="457200" indent="-228600">
              <a:spcAft>
                <a:spcPts val="1000"/>
              </a:spcAft>
              <a:buSzPct val="100000"/>
              <a:buChar char="•"/>
            </a:pPr>
            <a:r>
              <a:rPr lang="en-US" sz="1600" dirty="0">
                <a:solidFill>
                  <a:srgbClr val="212121"/>
                </a:solidFill>
                <a:latin typeface="Calibri" pitchFamily="34" charset="0"/>
                <a:ea typeface="Calibri" pitchFamily="34" charset="-122"/>
                <a:cs typeface="Calibri" pitchFamily="34" charset="-120"/>
              </a:rPr>
              <a:t>An ID locates state; it does not prove ownership</a:t>
            </a:r>
            <a:endParaRPr lang="en-US" sz="1600" dirty="0"/>
          </a:p>
          <a:p>
            <a:pPr lvl="1" marL="457200" indent="-228600">
              <a:spcAft>
                <a:spcPts val="1000"/>
              </a:spcAft>
              <a:buSzPct val="100000"/>
              <a:buChar char="•"/>
            </a:pPr>
            <a:r>
              <a:rPr lang="en-US" sz="1600" dirty="0">
                <a:solidFill>
                  <a:srgbClr val="212121"/>
                </a:solidFill>
                <a:latin typeface="Calibri" pitchFamily="34" charset="0"/>
                <a:ea typeface="Calibri" pitchFamily="34" charset="-122"/>
                <a:cs typeface="Calibri" pitchFamily="34" charset="-120"/>
              </a:rPr>
              <a:t>Authenticate the caller, authorize the reference, then load tenant/user/workspace state</a:t>
            </a:r>
            <a:endParaRPr lang="en-US" sz="1600" dirty="0"/>
          </a:p>
          <a:p>
            <a:pPr marL="342900" indent="-342900">
              <a:spcAft>
                <a:spcPts val="1000"/>
              </a:spcAft>
              <a:buSzPct val="100000"/>
              <a:buChar char="•"/>
            </a:pPr>
            <a:r>
              <a:rPr lang="en-US" sz="1600" b="1" dirty="0">
                <a:solidFill>
                  <a:srgbClr val="1E2761"/>
                </a:solidFill>
                <a:latin typeface="Calibri" pitchFamily="34" charset="0"/>
                <a:ea typeface="Calibri" pitchFamily="34" charset="-122"/>
                <a:cs typeface="Calibri" pitchFamily="34" charset="-120"/>
              </a:rPr>
              <a:t>Document retrieval</a:t>
            </a:r>
            <a:endParaRPr lang="en-US" sz="1600" dirty="0"/>
          </a:p>
          <a:p>
            <a:pPr lvl="1" marL="457200" indent="-228600">
              <a:spcAft>
                <a:spcPts val="1000"/>
              </a:spcAft>
              <a:buSzPct val="100000"/>
              <a:buChar char="•"/>
            </a:pPr>
            <a:r>
              <a:rPr lang="en-US" sz="1600" dirty="0">
                <a:solidFill>
                  <a:srgbClr val="212121"/>
                </a:solidFill>
                <a:latin typeface="Calibri" pitchFamily="34" charset="0"/>
                <a:ea typeface="Calibri" pitchFamily="34" charset="-122"/>
                <a:cs typeface="Calibri" pitchFamily="34" charset="-120"/>
              </a:rPr>
              <a:t>Project or index access does not authorize every document</a:t>
            </a:r>
            <a:endParaRPr lang="en-US" sz="1600" dirty="0"/>
          </a:p>
          <a:p>
            <a:pPr lvl="1" marL="457200" indent="-228600">
              <a:spcAft>
                <a:spcPts val="1000"/>
              </a:spcAft>
              <a:buSzPct val="100000"/>
              <a:buChar char="•"/>
            </a:pPr>
            <a:r>
              <a:rPr lang="en-US" sz="1600" dirty="0">
                <a:solidFill>
                  <a:srgbClr val="212121"/>
                </a:solidFill>
                <a:latin typeface="Calibri" pitchFamily="34" charset="0"/>
                <a:ea typeface="Calibri" pitchFamily="34" charset="-122"/>
                <a:cs typeface="Calibri" pitchFamily="34" charset="-120"/>
              </a:rPr>
              <a:t>Carry user/group permissions into query-time filtering and projected chunks</a:t>
            </a:r>
            <a:endParaRPr lang="en-US" sz="1600" dirty="0"/>
          </a:p>
          <a:p>
            <a:pPr lvl="1" marL="457200" indent="-228600">
              <a:spcAft>
                <a:spcPts val="1000"/>
              </a:spcAft>
              <a:buSzPct val="100000"/>
              <a:buChar char="•"/>
            </a:pPr>
            <a:r>
              <a:rPr lang="en-US" sz="1600" dirty="0">
                <a:solidFill>
                  <a:srgbClr val="212121"/>
                </a:solidFill>
                <a:latin typeface="Calibri" pitchFamily="34" charset="0"/>
                <a:ea typeface="Calibri" pitchFamily="34" charset="-122"/>
                <a:cs typeface="Calibri" pitchFamily="34" charset="-120"/>
              </a:rPr>
              <a:t>Choose security filters or supported native ACL/RBAC enforcement (preview)</a:t>
            </a:r>
            <a:endParaRPr lang="en-US" sz="1600" dirty="0"/>
          </a:p>
        </p:txBody>
      </p:sp>
      <p:sp>
        <p:nvSpPr>
          <p:cNvPr id="6" name="Shape 4"/>
          <p:cNvSpPr/>
          <p:nvPr/>
        </p:nvSpPr>
        <p:spPr>
          <a:xfrm>
            <a:off x="365760" y="4773168"/>
            <a:ext cx="8412480" cy="0"/>
          </a:xfrm>
          <a:prstGeom prst="line">
            <a:avLst/>
          </a:prstGeom>
          <a:noFill/>
          <a:ln w="6350">
            <a:solidFill>
              <a:srgbClr val="D1D5DB"/>
            </a:solidFill>
            <a:prstDash val="solid"/>
          </a:ln>
        </p:spPr>
      </p:sp>
      <p:sp>
        <p:nvSpPr>
          <p:cNvPr id="7" name="Text 5"/>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https://learn.microsoft.com/agent-framework/hosting/self-hosting/#secure-session-continuation  ·  +2 in notes</a:t>
            </a:r>
            <a:endParaRPr lang="en-US" sz="8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CADCFC"/>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1E2761"/>
          </a:solidFill>
          <a:ln/>
        </p:spPr>
      </p:sp>
      <p:sp>
        <p:nvSpPr>
          <p:cNvPr id="3" name="Text 1"/>
          <p:cNvSpPr/>
          <p:nvPr/>
        </p:nvSpPr>
        <p:spPr>
          <a:xfrm>
            <a:off x="5669280" y="274320"/>
            <a:ext cx="32918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Day 5 · Module 3 · Demo</a:t>
            </a:r>
            <a:endParaRPr lang="en-US" sz="1000" dirty="0"/>
          </a:p>
        </p:txBody>
      </p:sp>
      <p:sp>
        <p:nvSpPr>
          <p:cNvPr id="4" name="Text 2"/>
          <p:cNvSpPr/>
          <p:nvPr/>
        </p:nvSpPr>
        <p:spPr>
          <a:xfrm>
            <a:off x="548640" y="1051560"/>
            <a:ext cx="5486400" cy="502920"/>
          </a:xfrm>
          <a:prstGeom prst="rect">
            <a:avLst/>
          </a:prstGeom>
          <a:noFill/>
          <a:ln/>
        </p:spPr>
        <p:txBody>
          <a:bodyPr wrap="square" lIns="0" tIns="0" rIns="0" bIns="0" rtlCol="0" anchor="ctr"/>
          <a:lstStyle/>
          <a:p>
            <a:pPr indent="0" marL="0">
              <a:buNone/>
            </a:pPr>
            <a:r>
              <a:rPr lang="en-US" sz="3200" b="1" spc="800" kern="0" dirty="0">
                <a:solidFill>
                  <a:srgbClr val="1E2761"/>
                </a:solidFill>
                <a:latin typeface="Calibri" pitchFamily="34" charset="0"/>
                <a:ea typeface="Calibri" pitchFamily="34" charset="-122"/>
                <a:cs typeface="Calibri" pitchFamily="34" charset="-120"/>
              </a:rPr>
              <a:t>DEMO</a:t>
            </a:r>
            <a:endParaRPr lang="en-US" sz="3200" dirty="0"/>
          </a:p>
        </p:txBody>
      </p:sp>
      <p:sp>
        <p:nvSpPr>
          <p:cNvPr id="5" name="Text 3"/>
          <p:cNvSpPr/>
          <p:nvPr/>
        </p:nvSpPr>
        <p:spPr>
          <a:xfrm>
            <a:off x="548640" y="1691640"/>
            <a:ext cx="8046720" cy="91440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An approved action can still be denied</a:t>
            </a:r>
            <a:endParaRPr lang="en-US" sz="3000" dirty="0"/>
          </a:p>
        </p:txBody>
      </p:sp>
      <p:sp>
        <p:nvSpPr>
          <p:cNvPr id="6" name="Text 4"/>
          <p:cNvSpPr/>
          <p:nvPr/>
        </p:nvSpPr>
        <p:spPr>
          <a:xfrm>
            <a:off x="6583680" y="1051560"/>
            <a:ext cx="2194560" cy="502920"/>
          </a:xfrm>
          <a:prstGeom prst="rect">
            <a:avLst/>
          </a:prstGeom>
          <a:noFill/>
          <a:ln/>
        </p:spPr>
        <p:txBody>
          <a:bodyPr wrap="square" lIns="0" tIns="0" rIns="0" bIns="0" rtlCol="0" anchor="ctr"/>
          <a:lstStyle/>
          <a:p>
            <a:pPr algn="r" indent="0" marL="0">
              <a:buNone/>
            </a:pPr>
            <a:r>
              <a:rPr lang="en-US" sz="1800" i="1" dirty="0">
                <a:solidFill>
                  <a:srgbClr val="6B7280"/>
                </a:solidFill>
                <a:latin typeface="Calibri" pitchFamily="34" charset="0"/>
                <a:ea typeface="Calibri" pitchFamily="34" charset="-122"/>
                <a:cs typeface="Calibri" pitchFamily="34" charset="-120"/>
              </a:rPr>
              <a:t>~7 min</a:t>
            </a:r>
            <a:endParaRPr lang="en-US" sz="1800" dirty="0"/>
          </a:p>
        </p:txBody>
      </p:sp>
      <p:sp>
        <p:nvSpPr>
          <p:cNvPr id="7" name="Text 5"/>
          <p:cNvSpPr/>
          <p:nvPr/>
        </p:nvSpPr>
        <p:spPr>
          <a:xfrm>
            <a:off x="548640" y="2788920"/>
            <a:ext cx="8046720" cy="1371600"/>
          </a:xfrm>
          <a:prstGeom prst="rect">
            <a:avLst/>
          </a:prstGeom>
          <a:noFill/>
          <a:ln/>
        </p:spPr>
        <p:txBody>
          <a:bodyPr wrap="square" lIns="0" tIns="0" rIns="0" bIns="0" rtlCol="0" anchor="ctr"/>
          <a:lstStyle/>
          <a:p>
            <a:pPr indent="0" marL="0">
              <a:spcAft>
                <a:spcPts val="600"/>
              </a:spcAft>
              <a:buNone/>
            </a:pPr>
            <a:r>
              <a:rPr lang="en-US" sz="1600" dirty="0">
                <a:solidFill>
                  <a:srgbClr val="212121"/>
                </a:solidFill>
                <a:latin typeface="Calibri" pitchFamily="34" charset="0"/>
                <a:ea typeface="Calibri" pitchFamily="34" charset="-122"/>
                <a:cs typeface="Calibri" pitchFamily="34" charset="-120"/>
              </a:rPr>
              <a:t>Trace Alice and Bob through the same reference documentation agent. Both can invoke it, approve the lookup, and have a valid connection; only Alice is authorized for the restricted document. Then show why Bob cannot turn Alice's session ID into ownership. Identify the principal and enforcement point—not merely the denial text.</a:t>
            </a:r>
            <a:endParaRPr lang="en-US" sz="1600" dirty="0"/>
          </a:p>
        </p:txBody>
      </p:sp>
      <p:sp>
        <p:nvSpPr>
          <p:cNvPr id="8" name="Text 6"/>
          <p:cNvSpPr/>
          <p:nvPr/>
        </p:nvSpPr>
        <p:spPr>
          <a:xfrm>
            <a:off x="548640" y="4434840"/>
            <a:ext cx="8046720" cy="32004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Runbook: demos/day5/module-3-demo-1-identity-boundary.md</a:t>
            </a:r>
            <a:endParaRPr lang="en-US" sz="1100" dirty="0"/>
          </a:p>
        </p:txBody>
      </p:sp>
      <p:sp>
        <p:nvSpPr>
          <p:cNvPr id="9" name="Shape 7"/>
          <p:cNvSpPr/>
          <p:nvPr/>
        </p:nvSpPr>
        <p:spPr>
          <a:xfrm>
            <a:off x="365760" y="4773168"/>
            <a:ext cx="8412480" cy="0"/>
          </a:xfrm>
          <a:prstGeom prst="line">
            <a:avLst/>
          </a:prstGeom>
          <a:noFill/>
          <a:ln w="6350">
            <a:solidFill>
              <a:srgbClr val="D1D5DB"/>
            </a:solidFill>
            <a:prstDash val="solid"/>
          </a:ln>
        </p:spPr>
      </p:sp>
      <p:sp>
        <p:nvSpPr>
          <p:cNvPr id="10" name="Text 8"/>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https://learn.microsoft.com/azure/foundry/agents/how-to/mcp-authentication  ·  +3 in notes</a:t>
            </a:r>
            <a:endParaRPr lang="en-US" sz="8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5 · Module 3</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800" b="1" dirty="0">
                <a:solidFill>
                  <a:srgbClr val="1E2761"/>
                </a:solidFill>
                <a:latin typeface="Calibri" pitchFamily="34" charset="0"/>
                <a:ea typeface="Calibri" pitchFamily="34" charset="-122"/>
                <a:cs typeface="Calibri" pitchFamily="34" charset="-120"/>
              </a:rPr>
              <a:t>Takeaways</a:t>
            </a:r>
            <a:endParaRPr lang="en-US" sz="2800" dirty="0"/>
          </a:p>
        </p:txBody>
      </p:sp>
      <p:sp>
        <p:nvSpPr>
          <p:cNvPr id="5" name="Shape 3"/>
          <p:cNvSpPr/>
          <p:nvPr/>
        </p:nvSpPr>
        <p:spPr>
          <a:xfrm>
            <a:off x="502920" y="1097280"/>
            <a:ext cx="8138160" cy="585216"/>
          </a:xfrm>
          <a:prstGeom prst="roundRect">
            <a:avLst/>
          </a:prstGeom>
          <a:solidFill>
            <a:srgbClr val="F3F4F6"/>
          </a:solidFill>
          <a:ln w="6350">
            <a:solidFill>
              <a:srgbClr val="D1D5DB"/>
            </a:solidFill>
            <a:prstDash val="solid"/>
          </a:ln>
        </p:spPr>
      </p:sp>
      <p:sp>
        <p:nvSpPr>
          <p:cNvPr id="6" name="Shape 4"/>
          <p:cNvSpPr/>
          <p:nvPr/>
        </p:nvSpPr>
        <p:spPr>
          <a:xfrm>
            <a:off x="667512" y="1225296"/>
            <a:ext cx="256032" cy="256032"/>
          </a:xfrm>
          <a:prstGeom prst="ellipse">
            <a:avLst/>
          </a:prstGeom>
          <a:solidFill>
            <a:srgbClr val="1E2761"/>
          </a:solidFill>
          <a:ln/>
        </p:spPr>
      </p:sp>
      <p:sp>
        <p:nvSpPr>
          <p:cNvPr id="7" name="Text 5"/>
          <p:cNvSpPr/>
          <p:nvPr/>
        </p:nvSpPr>
        <p:spPr>
          <a:xfrm>
            <a:off x="667512" y="1252728"/>
            <a:ext cx="256032"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8" name="Text 6"/>
          <p:cNvSpPr/>
          <p:nvPr/>
        </p:nvSpPr>
        <p:spPr>
          <a:xfrm>
            <a:off x="1042416" y="1207008"/>
            <a:ext cx="7315200" cy="402336"/>
          </a:xfrm>
          <a:prstGeom prst="rect">
            <a:avLst/>
          </a:prstGeom>
          <a:noFill/>
          <a:ln/>
        </p:spPr>
        <p:txBody>
          <a:bodyPr wrap="square" lIns="0" tIns="0" rIns="0" bIns="0" rtlCol="0" anchor="ctr">
            <a:normAutofit/>
          </a:bodyPr>
          <a:lstStyle/>
          <a:p>
            <a:pPr indent="0" marL="0">
              <a:buNone/>
            </a:pPr>
            <a:r>
              <a:rPr lang="en-US" sz="1300" dirty="0">
                <a:solidFill>
                  <a:srgbClr val="212121"/>
                </a:solidFill>
                <a:latin typeface="Calibri" pitchFamily="34" charset="0"/>
                <a:ea typeface="Calibri" pitchFamily="34" charset="-122"/>
                <a:cs typeface="Calibri" pitchFamily="34" charset="-120"/>
              </a:rPr>
              <a:t>Follow the actual principal at every connection; authenticate and authorize again at each resource.</a:t>
            </a:r>
            <a:endParaRPr lang="en-US" sz="1300" dirty="0"/>
          </a:p>
        </p:txBody>
      </p:sp>
      <p:sp>
        <p:nvSpPr>
          <p:cNvPr id="9" name="Shape 7"/>
          <p:cNvSpPr/>
          <p:nvPr/>
        </p:nvSpPr>
        <p:spPr>
          <a:xfrm>
            <a:off x="502920" y="1755648"/>
            <a:ext cx="8138160" cy="585216"/>
          </a:xfrm>
          <a:prstGeom prst="roundRect">
            <a:avLst/>
          </a:prstGeom>
          <a:solidFill>
            <a:srgbClr val="F3F4F6"/>
          </a:solidFill>
          <a:ln w="6350">
            <a:solidFill>
              <a:srgbClr val="D1D5DB"/>
            </a:solidFill>
            <a:prstDash val="solid"/>
          </a:ln>
        </p:spPr>
      </p:sp>
      <p:sp>
        <p:nvSpPr>
          <p:cNvPr id="10" name="Shape 8"/>
          <p:cNvSpPr/>
          <p:nvPr/>
        </p:nvSpPr>
        <p:spPr>
          <a:xfrm>
            <a:off x="667512" y="1883664"/>
            <a:ext cx="256032" cy="256032"/>
          </a:xfrm>
          <a:prstGeom prst="ellipse">
            <a:avLst/>
          </a:prstGeom>
          <a:solidFill>
            <a:srgbClr val="1E2761"/>
          </a:solidFill>
          <a:ln/>
        </p:spPr>
      </p:sp>
      <p:sp>
        <p:nvSpPr>
          <p:cNvPr id="11" name="Text 9"/>
          <p:cNvSpPr/>
          <p:nvPr/>
        </p:nvSpPr>
        <p:spPr>
          <a:xfrm>
            <a:off x="667512" y="1911096"/>
            <a:ext cx="256032"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12" name="Text 10"/>
          <p:cNvSpPr/>
          <p:nvPr/>
        </p:nvSpPr>
        <p:spPr>
          <a:xfrm>
            <a:off x="1042416" y="1865376"/>
            <a:ext cx="7315200" cy="402336"/>
          </a:xfrm>
          <a:prstGeom prst="rect">
            <a:avLst/>
          </a:prstGeom>
          <a:noFill/>
          <a:ln/>
        </p:spPr>
        <p:txBody>
          <a:bodyPr wrap="square" lIns="0" tIns="0" rIns="0" bIns="0" rtlCol="0" anchor="ctr">
            <a:normAutofit/>
          </a:bodyPr>
          <a:lstStyle/>
          <a:p>
            <a:pPr indent="0" marL="0">
              <a:buNone/>
            </a:pPr>
            <a:r>
              <a:rPr lang="en-US" sz="1300" dirty="0">
                <a:solidFill>
                  <a:srgbClr val="212121"/>
                </a:solidFill>
                <a:latin typeface="Calibri" pitchFamily="34" charset="0"/>
                <a:ea typeface="Calibri" pitchFamily="34" charset="-122"/>
                <a:cs typeface="Calibri" pitchFamily="34" charset="-120"/>
              </a:rPr>
              <a:t>Least privilege combines role, scope, and data rules. Invocation-only callers usually need Foundry Agent Consumer—not a developer role.</a:t>
            </a:r>
            <a:endParaRPr lang="en-US" sz="1300" dirty="0"/>
          </a:p>
        </p:txBody>
      </p:sp>
      <p:sp>
        <p:nvSpPr>
          <p:cNvPr id="13" name="Shape 11"/>
          <p:cNvSpPr/>
          <p:nvPr/>
        </p:nvSpPr>
        <p:spPr>
          <a:xfrm>
            <a:off x="502920" y="2414016"/>
            <a:ext cx="8138160" cy="585216"/>
          </a:xfrm>
          <a:prstGeom prst="roundRect">
            <a:avLst/>
          </a:prstGeom>
          <a:solidFill>
            <a:srgbClr val="F3F4F6"/>
          </a:solidFill>
          <a:ln w="6350">
            <a:solidFill>
              <a:srgbClr val="D1D5DB"/>
            </a:solidFill>
            <a:prstDash val="solid"/>
          </a:ln>
        </p:spPr>
      </p:sp>
      <p:sp>
        <p:nvSpPr>
          <p:cNvPr id="14" name="Shape 12"/>
          <p:cNvSpPr/>
          <p:nvPr/>
        </p:nvSpPr>
        <p:spPr>
          <a:xfrm>
            <a:off x="667512" y="2542032"/>
            <a:ext cx="256032" cy="256032"/>
          </a:xfrm>
          <a:prstGeom prst="ellipse">
            <a:avLst/>
          </a:prstGeom>
          <a:solidFill>
            <a:srgbClr val="1E2761"/>
          </a:solidFill>
          <a:ln/>
        </p:spPr>
      </p:sp>
      <p:sp>
        <p:nvSpPr>
          <p:cNvPr id="15" name="Text 13"/>
          <p:cNvSpPr/>
          <p:nvPr/>
        </p:nvSpPr>
        <p:spPr>
          <a:xfrm>
            <a:off x="667512" y="2569464"/>
            <a:ext cx="256032"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16" name="Text 14"/>
          <p:cNvSpPr/>
          <p:nvPr/>
        </p:nvSpPr>
        <p:spPr>
          <a:xfrm>
            <a:off x="1042416" y="2523744"/>
            <a:ext cx="7315200" cy="402336"/>
          </a:xfrm>
          <a:prstGeom prst="rect">
            <a:avLst/>
          </a:prstGeom>
          <a:noFill/>
          <a:ln/>
        </p:spPr>
        <p:txBody>
          <a:bodyPr wrap="square" lIns="0" tIns="0" rIns="0" bIns="0" rtlCol="0" anchor="ctr">
            <a:normAutofit/>
          </a:bodyPr>
          <a:lstStyle/>
          <a:p>
            <a:pPr indent="0" marL="0">
              <a:buNone/>
            </a:pPr>
            <a:r>
              <a:rPr lang="en-US" sz="1300" dirty="0">
                <a:solidFill>
                  <a:srgbClr val="212121"/>
                </a:solidFill>
                <a:latin typeface="Calibri" pitchFamily="34" charset="0"/>
                <a:ea typeface="Calibri" pitchFamily="34" charset="-122"/>
                <a:cs typeface="Calibri" pitchFamily="34" charset="-120"/>
              </a:rPr>
              <a:t>Tool approval, OAuth consent, and downstream authorization are independent decisions.</a:t>
            </a:r>
            <a:endParaRPr lang="en-US" sz="1300" dirty="0"/>
          </a:p>
        </p:txBody>
      </p:sp>
      <p:sp>
        <p:nvSpPr>
          <p:cNvPr id="17" name="Shape 15"/>
          <p:cNvSpPr/>
          <p:nvPr/>
        </p:nvSpPr>
        <p:spPr>
          <a:xfrm>
            <a:off x="502920" y="3072384"/>
            <a:ext cx="8138160" cy="585216"/>
          </a:xfrm>
          <a:prstGeom prst="roundRect">
            <a:avLst/>
          </a:prstGeom>
          <a:solidFill>
            <a:srgbClr val="F3F4F6"/>
          </a:solidFill>
          <a:ln w="6350">
            <a:solidFill>
              <a:srgbClr val="D1D5DB"/>
            </a:solidFill>
            <a:prstDash val="solid"/>
          </a:ln>
        </p:spPr>
      </p:sp>
      <p:sp>
        <p:nvSpPr>
          <p:cNvPr id="18" name="Shape 16"/>
          <p:cNvSpPr/>
          <p:nvPr/>
        </p:nvSpPr>
        <p:spPr>
          <a:xfrm>
            <a:off x="667512" y="3200400"/>
            <a:ext cx="256032" cy="256032"/>
          </a:xfrm>
          <a:prstGeom prst="ellipse">
            <a:avLst/>
          </a:prstGeom>
          <a:solidFill>
            <a:srgbClr val="1E2761"/>
          </a:solidFill>
          <a:ln/>
        </p:spPr>
      </p:sp>
      <p:sp>
        <p:nvSpPr>
          <p:cNvPr id="19" name="Text 17"/>
          <p:cNvSpPr/>
          <p:nvPr/>
        </p:nvSpPr>
        <p:spPr>
          <a:xfrm>
            <a:off x="667512" y="3227832"/>
            <a:ext cx="256032"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20" name="Text 18"/>
          <p:cNvSpPr/>
          <p:nvPr/>
        </p:nvSpPr>
        <p:spPr>
          <a:xfrm>
            <a:off x="1042416" y="3182112"/>
            <a:ext cx="7315200" cy="402336"/>
          </a:xfrm>
          <a:prstGeom prst="rect">
            <a:avLst/>
          </a:prstGeom>
          <a:noFill/>
          <a:ln/>
        </p:spPr>
        <p:txBody>
          <a:bodyPr wrap="square" lIns="0" tIns="0" rIns="0" bIns="0" rtlCol="0" anchor="ctr">
            <a:normAutofit/>
          </a:bodyPr>
          <a:lstStyle/>
          <a:p>
            <a:pPr indent="0" marL="0">
              <a:buNone/>
            </a:pPr>
            <a:r>
              <a:rPr lang="en-US" sz="1300" dirty="0">
                <a:solidFill>
                  <a:srgbClr val="212121"/>
                </a:solidFill>
                <a:latin typeface="Calibri" pitchFamily="34" charset="0"/>
                <a:ea typeface="Calibri" pitchFamily="34" charset="-122"/>
                <a:cs typeface="Calibri" pitchFamily="34" charset="-120"/>
              </a:rPr>
              <a:t>A unique agent identity does not isolate end users; session IDs and index access do not prove ownership or document permission.</a:t>
            </a:r>
            <a:endParaRPr lang="en-US" sz="1300" dirty="0"/>
          </a:p>
        </p:txBody>
      </p:sp>
      <p:sp>
        <p:nvSpPr>
          <p:cNvPr id="21" name="Shape 19"/>
          <p:cNvSpPr/>
          <p:nvPr/>
        </p:nvSpPr>
        <p:spPr>
          <a:xfrm>
            <a:off x="365760" y="4773168"/>
            <a:ext cx="8412480" cy="0"/>
          </a:xfrm>
          <a:prstGeom prst="line">
            <a:avLst/>
          </a:prstGeom>
          <a:noFill/>
          <a:ln w="6350">
            <a:solidFill>
              <a:srgbClr val="D1D5DB"/>
            </a:solidFill>
            <a:prstDash val="solid"/>
          </a:ln>
        </p:spPr>
      </p:sp>
      <p:sp>
        <p:nvSpPr>
          <p:cNvPr id="22" name="Text 20"/>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https://learn.microsoft.com/azure/foundry/concepts/authentication-authorization-foundry  ·  +4 in notes</a:t>
            </a:r>
            <a:endParaRPr lang="en-US" sz="8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Building AI Apps and Agents Workshop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Identity and Security</dc:title>
  <dc:subject>Day 5 — Production Readiness + Capstone Kickoff</dc:subject>
  <dc:creator>Building AI Apps and Agents Workshop</dc:creator>
  <cp:lastModifiedBy>Building AI Apps and Agents Workshop</cp:lastModifiedBy>
  <cp:revision>1</cp:revision>
  <dcterms:created xsi:type="dcterms:W3CDTF">2026-09-18T15:07:00Z</dcterms:created>
  <dcterms:modified xsi:type="dcterms:W3CDTF">2026-09-18T15:07:00Z</dcterms:modified>
</cp:coreProperties>
</file>