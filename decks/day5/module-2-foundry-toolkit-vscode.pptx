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1 minute. Position Toolkit as a VS Code development extension that brings local and Foundry resources into one workspace. The goal is surface selection, not a feature tour or deployment exercise. Continue with the presenter-prepared reference workflow; no attendee project, agent, or prior lab output is required.
• GROUNDING SOURCE: https://learn.microsoft.com/azure/foundry/how-to/develop/get-started-projects-visual-studio-code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2 minutes. Toolkit is the VS Code extension. Toolbox is a managed, reusable collection exposed through an MCP-compatible endpoint; browsing a tool or toolbox neither attaches it nor grants downstream authorization. A Foundry coding skill guides Copilot or another coding agent through development work; it is not automatically a tool or skill available to the customer-facing agent. Prompt-agent Toolbox attachment is preview and off by default.
• GROUNDING SOURCE: https://learn.microsoft.com/azure/foundry/how-to/develop/get-started-projects-visual-studio-code
• GROUNDING SOURCE: https://learn.microsoft.com/azure/foundry/agents/concepts/toolbox-overview
• GROUNDING SOURCE: https://learn.microsoft.com/azure/foundry/how-to/develop/use-microsoft-foundry-skill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2 minutes. A model performs inference. An agent adds reusable instructions and tools around a model. A conversation persists history across turns. The storage badge describes where a prompt configuration is kept, not where inference runs. Model Playground is for model interactions; agent investigation must also account for instructions, tools, conversations, and runtime activity.
• GROUNDING SOURCE: https://learn.microsoft.com/azure/foundry/agents/concepts/runtime-components
• GROUNDING SOURCE: https://learn.microsoft.com/azure/foundry/how-to/develop/get-started-projects-visual-studio-code
• GROUNDING SOURCE: https://learn.microsoft.com/azure/foundry/how-to/develop/create-prompt-agent-visual-studio-code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2 minutes. Read the columns as capability boundaries, not a maturity ranking. A Local badge can sit beside a cloud model. Local prompts have their own local-tool, structured-output, and dataset-evaluation paths. A saved Foundry agent creates immutable versions and enables version-linked conversations, tracing, generated client code, and service evaluation paths. Unsaved edits are drafts; save before relying on version evidence, and verify which version generated evaluation code actually targets.
• GROUNDING SOURCE: https://learn.microsoft.com/azure/foundry/how-to/develop/create-prompt-agent-visual-studio-code
• GROUNDING SOURCE: https://learn.microsoft.com/azure/foundry/agents/concepts/development-lifecycle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6 minutes. Agent Inspector is a preview, browser-based view of a presenter-prepared local HTTP/SSE agent. Show streaming response and tool activity, and show workflow visualization only if the rehearsed language and installed Toolkit version support it. The localhost target is not a deployed endpoint, and opening Inspector does not automatically export the cloud trace seen in Module 1.
• GROUNDING SOURCE: https://learn.microsoft.com/azure/foundry/agents/how-to/agent-inspector
• GROUNDING SOURCE: https://learn.microsoft.com/azure/foundry/agents/how-to/vs-code-agents-workflow-pro-code
• GROUNDING SOURCE: https://learn.microsoft.com/azure/foundry/how-to/develop/get-started-projects-visual-studio-code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2 minutes. Run the checkpoint: point to a Local badge beside an existing cloud model and ask whether data necessarily stays on the laptop and whether its evaluation view matches a saved Foundry agent. Both answers are no; inspect the model endpoint and configuration type. Exact Toolkit features vary by installed version, so use the extension view as the inventory and do not promise unsupported workflow visualization.
• GROUNDING SOURCE: https://learn.microsoft.com/azure/foundry/how-to/develop/get-started-projects-visual-studio-code
• GROUNDING SOURCE: https://learn.microsoft.com/azure/foundry/agents/how-to/agent-inspector
• GROUNDING SOURCE: https://learn.microsoft.com/azure/foundry/how-to/develop/create-prompt-agent-visual-studio-code
• GROUNDING SOURCE: https://learn.microsoft.com/azure/foundry/how-to/develop/use-microsoft-foundry-skill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37160"/>
            <a:ext cx="3886200" cy="3886200"/>
          </a:xfrm>
          <a:prstGeom prst="ellipse">
            <a:avLst/>
          </a:prstGeom>
          <a:solidFill>
            <a:srgbClr val="FFF1D9"/>
          </a:solidFill>
          <a:ln/>
        </p:spPr>
      </p:sp>
      <p:sp>
        <p:nvSpPr>
          <p:cNvPr id="3" name="Shape 1"/>
          <p:cNvSpPr/>
          <p:nvPr/>
        </p:nvSpPr>
        <p:spPr>
          <a:xfrm>
            <a:off x="8394192" y="557784"/>
            <a:ext cx="3044952" cy="3044952"/>
          </a:xfrm>
          <a:prstGeom prst="ellipse">
            <a:avLst/>
          </a:prstGeom>
          <a:solidFill>
            <a:srgbClr val="28143F"/>
          </a:solidFill>
          <a:ln/>
        </p:spPr>
      </p:sp>
      <p:sp>
        <p:nvSpPr>
          <p:cNvPr id="4" name="Shape 2"/>
          <p:cNvSpPr/>
          <p:nvPr/>
        </p:nvSpPr>
        <p:spPr>
          <a:xfrm>
            <a:off x="9077706" y="680314"/>
            <a:ext cx="2921508" cy="2467051"/>
          </a:xfrm>
          <a:prstGeom prst="roundRect">
            <a:avLst>
              <a:gd name="adj" fmla="val 2965"/>
            </a:avLst>
          </a:prstGeom>
          <a:solidFill>
            <a:srgbClr val="34234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7706" y="680314"/>
            <a:ext cx="2921508" cy="519379"/>
          </a:xfrm>
          <a:prstGeom prst="rect">
            <a:avLst/>
          </a:prstGeom>
          <a:solidFill>
            <a:srgbClr val="B88AF7"/>
          </a:solidFill>
          <a:ln/>
        </p:spPr>
      </p:sp>
      <p:sp>
        <p:nvSpPr>
          <p:cNvPr id="6" name="Shape 4"/>
          <p:cNvSpPr/>
          <p:nvPr/>
        </p:nvSpPr>
        <p:spPr>
          <a:xfrm>
            <a:off x="9564624" y="1686611"/>
            <a:ext cx="155813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89236" y="2205990"/>
            <a:ext cx="1460754" cy="0"/>
          </a:xfrm>
          <a:prstGeom prst="line">
            <a:avLst/>
          </a:prstGeom>
          <a:noFill/>
          <a:ln w="25400">
            <a:solidFill>
              <a:srgbClr val="B88A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99702" y="2692908"/>
            <a:ext cx="1006297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530352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B88AF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65836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·  MODULE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1298448"/>
            <a:ext cx="7150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 Toolkit for VS Code</a:t>
            </a:r>
            <a:endParaRPr lang="en-US" sz="4700" dirty="0"/>
          </a:p>
        </p:txBody>
      </p:sp>
      <p:sp>
        <p:nvSpPr>
          <p:cNvPr id="12" name="Text 10"/>
          <p:cNvSpPr/>
          <p:nvPr/>
        </p:nvSpPr>
        <p:spPr>
          <a:xfrm>
            <a:off x="749808" y="2615184"/>
            <a:ext cx="69311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E4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right development surface without confusing storage, inference, or runtime capabilities</a:t>
            </a:r>
            <a:endParaRPr lang="en-US" sz="1830" dirty="0"/>
          </a:p>
        </p:txBody>
      </p:sp>
      <p:sp>
        <p:nvSpPr>
          <p:cNvPr id="13" name="Shape 11"/>
          <p:cNvSpPr/>
          <p:nvPr/>
        </p:nvSpPr>
        <p:spPr>
          <a:xfrm>
            <a:off x="713232" y="4160520"/>
            <a:ext cx="67939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4160520"/>
            <a:ext cx="146304" cy="1097280"/>
          </a:xfrm>
          <a:prstGeom prst="rect">
            <a:avLst/>
          </a:prstGeom>
          <a:solidFill>
            <a:srgbClr val="B88A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4407408"/>
            <a:ext cx="6080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right surface for one development question — and know what that surface does not prove.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546336" y="426110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B88A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8732520" y="52395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SURFACES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learn.microsoft.com/azure/foundry/how-to/develop/get-started-projects-visual-studio-code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8AF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28143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2  /  DEVELOPER SURFACES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Toolkit, Toolbox, and coding skills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04550" y="436717"/>
            <a:ext cx="592531" cy="500360"/>
          </a:xfrm>
          <a:prstGeom prst="roundRect">
            <a:avLst>
              <a:gd name="adj" fmla="val 14620"/>
            </a:avLst>
          </a:prstGeom>
          <a:solidFill>
            <a:srgbClr val="FFFFFF"/>
          </a:solidFill>
          <a:ln w="10160">
            <a:solidFill>
              <a:srgbClr val="2814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04550" y="436717"/>
            <a:ext cx="592531" cy="105339"/>
          </a:xfrm>
          <a:prstGeom prst="rect">
            <a:avLst/>
          </a:prstGeom>
          <a:solidFill>
            <a:srgbClr val="B88AF7"/>
          </a:solidFill>
          <a:ln/>
        </p:spPr>
      </p:sp>
      <p:sp>
        <p:nvSpPr>
          <p:cNvPr id="7" name="Shape 5"/>
          <p:cNvSpPr/>
          <p:nvPr/>
        </p:nvSpPr>
        <p:spPr>
          <a:xfrm>
            <a:off x="10903306" y="640812"/>
            <a:ext cx="316017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69142" y="746150"/>
            <a:ext cx="296266" cy="0"/>
          </a:xfrm>
          <a:prstGeom prst="line">
            <a:avLst/>
          </a:prstGeom>
          <a:noFill/>
          <a:ln w="25400">
            <a:solidFill>
              <a:srgbClr val="B88A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90138" y="844906"/>
            <a:ext cx="204094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1E8F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417320"/>
            <a:ext cx="3453384" cy="3730752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719072"/>
            <a:ext cx="475488" cy="475488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1865376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1728216"/>
            <a:ext cx="2246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Toolkit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2688" y="2523744"/>
            <a:ext cx="28681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extension with My Resources and Developer Tools for the development workflow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4367784" y="1417320"/>
            <a:ext cx="3453384" cy="3730752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2104" y="1719072"/>
            <a:ext cx="475488" cy="47548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4642104" y="1865376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0472" y="1728216"/>
            <a:ext cx="2246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Toolbox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60392" y="2523744"/>
            <a:ext cx="28681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managed reusable tool collection behind one MCP‑compatible endpoint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8095488" y="1417320"/>
            <a:ext cx="3453384" cy="3730752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9808" y="1719072"/>
            <a:ext cx="475488" cy="475488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25" name="Text 23"/>
          <p:cNvSpPr/>
          <p:nvPr/>
        </p:nvSpPr>
        <p:spPr>
          <a:xfrm>
            <a:off x="8369808" y="1865376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28176" y="1728216"/>
            <a:ext cx="2246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 coding skill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88096" y="2523744"/>
            <a:ext cx="28681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guidance used by Copilot or another coding agent during development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1024128" y="5376672"/>
            <a:ext cx="10104120" cy="621792"/>
          </a:xfrm>
          <a:prstGeom prst="roundRect">
            <a:avLst>
              <a:gd name="adj" fmla="val 11765"/>
            </a:avLst>
          </a:prstGeom>
          <a:solidFill>
            <a:srgbClr val="28143F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55869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5541264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is not attachment, approval, authorization, or a runtime capability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5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learn.microsoft.com/azure/foundry/how-to/develop/get-started-projects-visual-studio-code  ·  +2 more in notes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8AF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28143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2  /  DEVELOPER SURFACES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the object before choosing the view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04550" y="436717"/>
            <a:ext cx="592531" cy="500360"/>
          </a:xfrm>
          <a:prstGeom prst="roundRect">
            <a:avLst>
              <a:gd name="adj" fmla="val 14620"/>
            </a:avLst>
          </a:prstGeom>
          <a:solidFill>
            <a:srgbClr val="FFFFFF"/>
          </a:solidFill>
          <a:ln w="10160">
            <a:solidFill>
              <a:srgbClr val="2814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04550" y="436717"/>
            <a:ext cx="592531" cy="105339"/>
          </a:xfrm>
          <a:prstGeom prst="rect">
            <a:avLst/>
          </a:prstGeom>
          <a:solidFill>
            <a:srgbClr val="B88AF7"/>
          </a:solidFill>
          <a:ln/>
        </p:spPr>
      </p:sp>
      <p:sp>
        <p:nvSpPr>
          <p:cNvPr id="7" name="Shape 5"/>
          <p:cNvSpPr/>
          <p:nvPr/>
        </p:nvSpPr>
        <p:spPr>
          <a:xfrm>
            <a:off x="10903306" y="640812"/>
            <a:ext cx="316017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69142" y="746150"/>
            <a:ext cx="296266" cy="0"/>
          </a:xfrm>
          <a:prstGeom prst="line">
            <a:avLst/>
          </a:prstGeom>
          <a:noFill/>
          <a:ln w="25400">
            <a:solidFill>
              <a:srgbClr val="B88A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90138" y="844906"/>
            <a:ext cx="204094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1E8F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417320"/>
            <a:ext cx="6400800" cy="4645152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1737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OBJECTS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24128" y="2121408"/>
            <a:ext cx="5596128" cy="2578608"/>
          </a:xfrm>
          <a:prstGeom prst="roundRect">
            <a:avLst>
              <a:gd name="adj" fmla="val 2837"/>
            </a:avLst>
          </a:prstGeom>
          <a:solidFill>
            <a:srgbClr val="F1E8FD"/>
          </a:solidFill>
          <a:ln w="10160">
            <a:solidFill>
              <a:srgbClr val="B88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70" kern="0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834640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model-driven behavior with instructions and tools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3886200" y="246888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7432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70" kern="0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87952" y="3182112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Performs inference for a prompt and selected parameters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3730752" y="4700016"/>
            <a:ext cx="0" cy="310896"/>
          </a:xfrm>
          <a:prstGeom prst="line">
            <a:avLst/>
          </a:prstGeom>
          <a:noFill/>
          <a:ln w="25400">
            <a:solidFill>
              <a:srgbClr val="B88A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5010912"/>
            <a:ext cx="5596128" cy="749808"/>
          </a:xfrm>
          <a:prstGeom prst="roundRect">
            <a:avLst>
              <a:gd name="adj" fmla="val 9756"/>
            </a:avLst>
          </a:prstGeom>
          <a:solidFill>
            <a:srgbClr val="FFF1D9"/>
          </a:solidFill>
          <a:ln w="10160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526694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16352" y="521208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Persists dialogue history across turns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69480" y="1417320"/>
            <a:ext cx="4279392" cy="4645152"/>
          </a:xfrm>
          <a:prstGeom prst="roundRect">
            <a:avLst>
              <a:gd name="adj" fmla="val 1709"/>
            </a:avLst>
          </a:prstGeom>
          <a:solidFill>
            <a:srgbClr val="F1E8FD"/>
          </a:solidFill>
          <a:ln w="10160">
            <a:solidFill>
              <a:srgbClr val="B88A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62088" y="1755648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120" kern="0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BADGE · CONFIGURATION LOCATION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589520" y="2286000"/>
            <a:ext cx="3639312" cy="676656"/>
          </a:xfrm>
          <a:prstGeom prst="roundRect">
            <a:avLst>
              <a:gd name="adj" fmla="val 10811"/>
            </a:avLst>
          </a:prstGeom>
          <a:solidFill>
            <a:srgbClr val="B88AF7"/>
          </a:solidFill>
          <a:ln/>
        </p:spPr>
      </p:sp>
      <p:sp>
        <p:nvSpPr>
          <p:cNvPr id="28" name="Text 26"/>
          <p:cNvSpPr/>
          <p:nvPr/>
        </p:nvSpPr>
        <p:spPr>
          <a:xfrm>
            <a:off x="7900416" y="251460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635240" y="3310128"/>
            <a:ext cx="3547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Says where the prompt configuration is stored, not where the model computes</a:t>
            </a:r>
            <a:endParaRPr lang="en-US" sz="1530" dirty="0"/>
          </a:p>
        </p:txBody>
      </p:sp>
      <p:sp>
        <p:nvSpPr>
          <p:cNvPr id="30" name="Shape 28"/>
          <p:cNvSpPr/>
          <p:nvPr/>
        </p:nvSpPr>
        <p:spPr>
          <a:xfrm>
            <a:off x="7699248" y="448056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28143F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475488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 ≠  INFERENCE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5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learn.microsoft.com/azure/foundry/agents/concepts/runtime-components  ·  +2 more in notes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8AF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28143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2  /  DEVELOPER SURFACES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prompt versus saved Foundry agent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04550" y="436717"/>
            <a:ext cx="592531" cy="500360"/>
          </a:xfrm>
          <a:prstGeom prst="roundRect">
            <a:avLst>
              <a:gd name="adj" fmla="val 14620"/>
            </a:avLst>
          </a:prstGeom>
          <a:solidFill>
            <a:srgbClr val="FFFFFF"/>
          </a:solidFill>
          <a:ln w="10160">
            <a:solidFill>
              <a:srgbClr val="2814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04550" y="436717"/>
            <a:ext cx="592531" cy="105339"/>
          </a:xfrm>
          <a:prstGeom prst="rect">
            <a:avLst/>
          </a:prstGeom>
          <a:solidFill>
            <a:srgbClr val="B88AF7"/>
          </a:solidFill>
          <a:ln/>
        </p:spPr>
      </p:sp>
      <p:sp>
        <p:nvSpPr>
          <p:cNvPr id="7" name="Shape 5"/>
          <p:cNvSpPr/>
          <p:nvPr/>
        </p:nvSpPr>
        <p:spPr>
          <a:xfrm>
            <a:off x="10903306" y="640812"/>
            <a:ext cx="316017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69142" y="746150"/>
            <a:ext cx="296266" cy="0"/>
          </a:xfrm>
          <a:prstGeom prst="line">
            <a:avLst/>
          </a:prstGeom>
          <a:noFill/>
          <a:ln w="25400">
            <a:solidFill>
              <a:srgbClr val="B88A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90138" y="844906"/>
            <a:ext cx="204094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1E8F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417320"/>
            <a:ext cx="5248656" cy="4626864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5240">
            <a:solidFill>
              <a:srgbClr val="F1E8FD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16733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28143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77393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PROMPT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932688" y="21488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Locally stored prompt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552" y="2944368"/>
            <a:ext cx="45537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still call a cloud model; local storage is not local inference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tools, structured output, and dataset evaluation follow local-prompt paths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Foundry agent version or Foundry conversation-history record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0056" y="1609344"/>
            <a:ext cx="493776" cy="493776"/>
          </a:xfrm>
          <a:prstGeom prst="ellipse">
            <a:avLst/>
          </a:prstGeom>
          <a:solidFill>
            <a:srgbClr val="F1E8F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0056" y="1755648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0216" y="1417320"/>
            <a:ext cx="5248656" cy="4626864"/>
          </a:xfrm>
          <a:prstGeom prst="roundRect">
            <a:avLst>
              <a:gd name="adj" fmla="val 1779"/>
            </a:avLst>
          </a:prstGeom>
          <a:solidFill>
            <a:srgbClr val="F1E8FD"/>
          </a:solidFill>
          <a:ln w="15240">
            <a:solidFill>
              <a:srgbClr val="B88AF7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16733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B88AF7"/>
          </a:solidFill>
          <a:ln/>
        </p:spPr>
      </p:sp>
      <p:sp>
        <p:nvSpPr>
          <p:cNvPr id="22" name="Text 20"/>
          <p:cNvSpPr/>
          <p:nvPr/>
        </p:nvSpPr>
        <p:spPr>
          <a:xfrm>
            <a:off x="6665976" y="177393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spc="110" kern="0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AGENT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592824" y="21488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Saved Foundry agent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47688" y="2944368"/>
            <a:ext cx="45537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creates an immutable version; unsaved edits remain a draft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and evaluation options follow Foundry-agent capabilities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before version-linked conversations, tracing, evaluation, or generated client code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80192" y="1609344"/>
            <a:ext cx="493776" cy="493776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6" name="Text 24"/>
          <p:cNvSpPr/>
          <p:nvPr/>
        </p:nvSpPr>
        <p:spPr>
          <a:xfrm>
            <a:off x="10680192" y="1755648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16168" y="3236976"/>
            <a:ext cx="365760" cy="365760"/>
          </a:xfrm>
          <a:prstGeom prst="ellipse">
            <a:avLst/>
          </a:prstGeom>
          <a:solidFill>
            <a:srgbClr val="28143F"/>
          </a:solidFill>
          <a:ln/>
        </p:spPr>
      </p:sp>
      <p:sp>
        <p:nvSpPr>
          <p:cNvPr id="28" name="Text 26"/>
          <p:cNvSpPr/>
          <p:nvPr/>
        </p:nvSpPr>
        <p:spPr>
          <a:xfrm>
            <a:off x="5916168" y="33284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5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learn.microsoft.com/azure/foundry/how-to/develop/create-prompt-agent-visual-studio-code  ·  +1 more in notes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8AF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407408"/>
            <a:ext cx="1572768" cy="1572768"/>
          </a:xfrm>
          <a:prstGeom prst="ellipse">
            <a:avLst/>
          </a:prstGeom>
          <a:solidFill>
            <a:srgbClr val="FFF1D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681728"/>
            <a:ext cx="1024128" cy="1024128"/>
          </a:xfrm>
          <a:prstGeom prst="ellipse">
            <a:avLst/>
          </a:prstGeom>
          <a:solidFill>
            <a:srgbClr val="28143F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530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B88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143000"/>
            <a:ext cx="6199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the reference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locally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64739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E5EB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preview Agent Inspector against the prepared agent on localhost.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5EB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the same synthetic scenario, inspect streaming and tool activity, and show workflow visualization only where rehearsed support exists.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5EB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boundary explicit: local HTTP/SSE inspection is not a deployed Foundry endpoint or automatic cloud trace export.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7452360" y="749808"/>
            <a:ext cx="4041648" cy="5074920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26680" y="1060704"/>
            <a:ext cx="1225296" cy="347472"/>
          </a:xfrm>
          <a:prstGeom prst="roundRect">
            <a:avLst>
              <a:gd name="adj" fmla="val 21053"/>
            </a:avLst>
          </a:prstGeom>
          <a:solidFill>
            <a:srgbClr val="B88AF7"/>
          </a:solidFill>
          <a:ln/>
        </p:spPr>
      </p:sp>
      <p:sp>
        <p:nvSpPr>
          <p:cNvPr id="9" name="Text 7"/>
          <p:cNvSpPr/>
          <p:nvPr/>
        </p:nvSpPr>
        <p:spPr>
          <a:xfrm>
            <a:off x="7836408" y="11704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~6 min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26680" y="17190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FOR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0" y="2340864"/>
            <a:ext cx="384048" cy="384048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459736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39328" y="2286000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storage ≠ local inference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7772400" y="3127248"/>
            <a:ext cx="384048" cy="384048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246120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9328" y="3072384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the selected target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7772400" y="3913632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032504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9328" y="3858768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boundaries stay visible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7726680" y="4882896"/>
            <a:ext cx="3401568" cy="566928"/>
          </a:xfrm>
          <a:prstGeom prst="roundRect">
            <a:avLst>
              <a:gd name="adj" fmla="val 12903"/>
            </a:avLst>
          </a:prstGeom>
          <a:solidFill>
            <a:srgbClr val="F1E8FD"/>
          </a:solidFill>
          <a:ln/>
        </p:spPr>
      </p:sp>
      <p:sp>
        <p:nvSpPr>
          <p:cNvPr id="21" name="Text 19"/>
          <p:cNvSpPr/>
          <p:nvPr/>
        </p:nvSpPr>
        <p:spPr>
          <a:xfrm>
            <a:off x="7882128" y="50292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81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demos/day5/module-2-demo-1-inspect-locally.md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learn.microsoft.com/azure/foundry/agents/how-to/agent-inspector  ·  +2 more in notes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8AF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28143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2  /  DEVELOPER SURFACES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81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surface — then verify the target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04550" y="436717"/>
            <a:ext cx="592531" cy="500360"/>
          </a:xfrm>
          <a:prstGeom prst="roundRect">
            <a:avLst>
              <a:gd name="adj" fmla="val 14620"/>
            </a:avLst>
          </a:prstGeom>
          <a:solidFill>
            <a:srgbClr val="FFFFFF"/>
          </a:solidFill>
          <a:ln w="10160">
            <a:solidFill>
              <a:srgbClr val="2814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04550" y="436717"/>
            <a:ext cx="592531" cy="105339"/>
          </a:xfrm>
          <a:prstGeom prst="rect">
            <a:avLst/>
          </a:prstGeom>
          <a:solidFill>
            <a:srgbClr val="B88AF7"/>
          </a:solidFill>
          <a:ln/>
        </p:spPr>
      </p:sp>
      <p:sp>
        <p:nvSpPr>
          <p:cNvPr id="7" name="Shape 5"/>
          <p:cNvSpPr/>
          <p:nvPr/>
        </p:nvSpPr>
        <p:spPr>
          <a:xfrm>
            <a:off x="10903306" y="640812"/>
            <a:ext cx="316017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69142" y="746150"/>
            <a:ext cx="296266" cy="0"/>
          </a:xfrm>
          <a:prstGeom prst="line">
            <a:avLst/>
          </a:prstGeom>
          <a:noFill/>
          <a:ln w="25400">
            <a:solidFill>
              <a:srgbClr val="B88A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90138" y="844906"/>
            <a:ext cx="204094" cy="0"/>
          </a:xfrm>
          <a:prstGeom prst="line">
            <a:avLst/>
          </a:prstGeom>
          <a:noFill/>
          <a:ln w="25400">
            <a:solidFill>
              <a:srgbClr val="2814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1E8F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371600"/>
            <a:ext cx="2788920" cy="4736592"/>
          </a:xfrm>
          <a:prstGeom prst="roundRect">
            <a:avLst>
              <a:gd name="adj" fmla="val 2623"/>
            </a:avLst>
          </a:prstGeom>
          <a:solidFill>
            <a:srgbClr val="28143F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18288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CARRY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</a:t>
            </a:r>
            <a:endParaRPr lang="en-US" sz="2900" dirty="0"/>
          </a:p>
        </p:txBody>
      </p:sp>
      <p:sp>
        <p:nvSpPr>
          <p:cNvPr id="15" name="Shape 13"/>
          <p:cNvSpPr/>
          <p:nvPr/>
        </p:nvSpPr>
        <p:spPr>
          <a:xfrm>
            <a:off x="1337310" y="4281221"/>
            <a:ext cx="1357884" cy="1146658"/>
          </a:xfrm>
          <a:prstGeom prst="roundRect">
            <a:avLst>
              <a:gd name="adj" fmla="val 6380"/>
            </a:avLst>
          </a:prstGeom>
          <a:solidFill>
            <a:srgbClr val="34234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7310" y="4281221"/>
            <a:ext cx="1357884" cy="241402"/>
          </a:xfrm>
          <a:prstGeom prst="rect">
            <a:avLst/>
          </a:prstGeom>
          <a:solidFill>
            <a:srgbClr val="B88AF7"/>
          </a:solidFill>
          <a:ln/>
        </p:spPr>
      </p:sp>
      <p:sp>
        <p:nvSpPr>
          <p:cNvPr id="17" name="Shape 15"/>
          <p:cNvSpPr/>
          <p:nvPr/>
        </p:nvSpPr>
        <p:spPr>
          <a:xfrm>
            <a:off x="1563624" y="4748936"/>
            <a:ext cx="724205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4500" y="4990338"/>
            <a:ext cx="678942" cy="0"/>
          </a:xfrm>
          <a:prstGeom prst="line">
            <a:avLst/>
          </a:prstGeom>
          <a:noFill/>
          <a:ln w="25400">
            <a:solidFill>
              <a:srgbClr val="B88A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3449" y="5216652"/>
            <a:ext cx="467716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1371600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5344" y="1880616"/>
            <a:ext cx="402336" cy="402336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22" name="Text 20"/>
          <p:cNvSpPr/>
          <p:nvPr/>
        </p:nvSpPr>
        <p:spPr>
          <a:xfrm>
            <a:off x="3895344" y="2017776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62272" y="1517904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models in Model Catalog and compare prompts and parameters in Model Playground; do not deploy one here.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7749540" y="1371600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2420" y="1880616"/>
            <a:ext cx="402336" cy="402336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26" name="Text 24"/>
          <p:cNvSpPr/>
          <p:nvPr/>
        </p:nvSpPr>
        <p:spPr>
          <a:xfrm>
            <a:off x="7932420" y="2017776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99348" y="1517904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instructions and attached tools in Agent Builder; save before depending on a Foundry version.</a:t>
            </a:r>
            <a:endParaRPr lang="en-US" sz="1530" dirty="0"/>
          </a:p>
        </p:txBody>
      </p:sp>
      <p:sp>
        <p:nvSpPr>
          <p:cNvPr id="28" name="Shape 26"/>
          <p:cNvSpPr/>
          <p:nvPr/>
        </p:nvSpPr>
        <p:spPr>
          <a:xfrm>
            <a:off x="3712464" y="3029712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5344" y="3538728"/>
            <a:ext cx="402336" cy="402336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30" name="Text 28"/>
          <p:cNvSpPr/>
          <p:nvPr/>
        </p:nvSpPr>
        <p:spPr>
          <a:xfrm>
            <a:off x="3895344" y="3675888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62272" y="3176016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a prepared local HTTP/SSE runtime with Agent Inspector; it is not the deployed-agent endpoint.</a:t>
            </a:r>
            <a:endParaRPr lang="en-US" sz="1530" dirty="0"/>
          </a:p>
        </p:txBody>
      </p:sp>
      <p:sp>
        <p:nvSpPr>
          <p:cNvPr id="32" name="Shape 30"/>
          <p:cNvSpPr/>
          <p:nvPr/>
        </p:nvSpPr>
        <p:spPr>
          <a:xfrm>
            <a:off x="7749540" y="3029712"/>
            <a:ext cx="3799332" cy="1420368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0160">
            <a:solidFill>
              <a:srgbClr val="F1E8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32420" y="3538728"/>
            <a:ext cx="402336" cy="402336"/>
          </a:xfrm>
          <a:prstGeom prst="ellipse">
            <a:avLst/>
          </a:prstGeom>
          <a:solidFill>
            <a:srgbClr val="B88AF7"/>
          </a:solidFill>
          <a:ln/>
        </p:spPr>
      </p:sp>
      <p:sp>
        <p:nvSpPr>
          <p:cNvPr id="34" name="Text 32"/>
          <p:cNvSpPr/>
          <p:nvPr/>
        </p:nvSpPr>
        <p:spPr>
          <a:xfrm>
            <a:off x="7932420" y="3675888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99348" y="3176016"/>
            <a:ext cx="285750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existing evaluations, conversations, logs, and traces under project resources; cloud traces remain Foundry/Application Insights evidence.</a:t>
            </a:r>
            <a:endParaRPr lang="en-US" sz="1420" dirty="0"/>
          </a:p>
        </p:txBody>
      </p:sp>
      <p:sp>
        <p:nvSpPr>
          <p:cNvPr id="36" name="Shape 34"/>
          <p:cNvSpPr/>
          <p:nvPr/>
        </p:nvSpPr>
        <p:spPr>
          <a:xfrm>
            <a:off x="3712464" y="4687824"/>
            <a:ext cx="7836408" cy="1420368"/>
          </a:xfrm>
          <a:prstGeom prst="roundRect">
            <a:avLst>
              <a:gd name="adj" fmla="val 5150"/>
            </a:avLst>
          </a:prstGeom>
          <a:solidFill>
            <a:srgbClr val="FFF1D9"/>
          </a:solidFill>
          <a:ln w="10160">
            <a:solidFill>
              <a:srgbClr val="FFB4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5344" y="5196840"/>
            <a:ext cx="402336" cy="402336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8" name="Text 36"/>
          <p:cNvSpPr/>
          <p:nvPr/>
        </p:nvSpPr>
        <p:spPr>
          <a:xfrm>
            <a:off x="3895344" y="5334000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14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62272" y="4834128"/>
            <a:ext cx="689457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25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Copilot coding skills as development guidance and agent tools as runtime capabilities — never interchange them.</a:t>
            </a:r>
            <a:endParaRPr lang="en-US" sz="1530" dirty="0"/>
          </a:p>
        </p:txBody>
      </p:sp>
      <p:sp>
        <p:nvSpPr>
          <p:cNvPr id="40" name="Text 38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5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learn.microsoft.com/azure/foundry/how-to/develop/get-started-projects-visual-studio-code  ·  +3 more in notes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8AF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Foundry Toolkit for VS Code</dc:title>
  <dc:subject>Day 5 — Production Readiness and Capstone</dc:subject>
  <dc:creator>Building AI Apps and Agents Workshop</dc:creator>
  <cp:lastModifiedBy>Building AI Apps and Agents Workshop</cp:lastModifiedBy>
  <cp:revision>1</cp:revision>
  <dcterms:created xsi:type="dcterms:W3CDTF">2026-09-18T20:55:30Z</dcterms:created>
  <dcterms:modified xsi:type="dcterms:W3CDTF">2026-09-18T20:55:30Z</dcterms:modified>
</cp:coreProperties>
</file>