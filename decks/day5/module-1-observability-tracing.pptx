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16"/>
    <p:sldId id="257" r:id="rId3"/>
    <p:sldId id="258" r:id="rId4"/>
    <p:sldId id="259" r:id="rId5"/>
    <p:sldId id="266" r:id="rId17"/>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1 minute. Introduce the two prepared paths used later in the demo. The official Agent Framework WeatherAgent sample creates client-side automatic spans for agent, model, and tool operations and adds one custom parent span around the chat session. The presenter-controlled Prompt agent demonstrates the server-side trace Foundry records after Application Insights is connected. No prior lab completion, attendee-owned agent, or attendee-owned Azure resource is assumed. The module asks what evidence lets an operator explain one run without mistaking operational health for answer quality.
• GROUNDING SOURCE: https://learn.microsoft.com/azure/foundry/concepts/observability
• GROUNDING SOURCE: https://learn.microsoft.com/azure/foundry/observability/concepts/trace-agent-concept
• GROUNDING SOURCE: https://learn.microsoft.com/agent-framework/agents/observability?pivots=programming-language-python
• GROUNDING SOURCE: https://learn.microsoft.com/azure/foundry/observability/how-to/trace-agent-setup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2 minutes. Observability is the umbrella ability to understand and troubleshoot behavior. Monitoring watches operational and quality signals over time; evaluation judges an output or action against explicit criteria. Stress that a request can have no exception and still produce a poor answer, while a good answer can still be too slow or costly.
• GROUNDING SOURCE: https://learn.microsoft.com/azure/foundry/concepts/observability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2 minutes. Point to the WeatherAgent sample while defining the terms. A trace is one correlated execution journey; a span is one timed operation within it; attributes are key-value context on that operation. Agent Framework emits automatic spans for agent invocation, model chat, and function-tool execution. Application code can add custom spans with get_tracer().start_as_current_span(). Because the custom span is current while the agent runs, the automatic spans join the same trace beneath it.
• GROUNDING SOURCE: https://learn.microsoft.com/azure/foundry/observability/concepts/trace-agent-concept
• GROUNDING SOURCE: https://learn.microsoft.com/agent-framework/agents/observability?pivots=programming-language-python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4 minutes. Instrumentation creates signals, semantic conventions give fields shared meanings, and an exporter sends the signals to a backend. Matching attribute names do not connect two processes; trace context must propagate. Separate Foundry-managed server-side traces from client-side MAF instrumentation around application code. Maturity is surface-specific, not a blanket label.
• GROUNDING SOURCE: https://learn.microsoft.com/agent-framework/agents/observability
• GROUNDING SOURCE: https://learn.microsoft.com/azure/foundry/observability/how-to/trace-agent-setup
• GROUNDING SOURCE: https://learn.microsoft.com/azure/foundry/observability/how-to/trace-agent-framework
• GROUNDING SOURCE: https://learn.microsoft.com/azure/foundry/observability/concepts/trace-agent-concept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2 minutes. In MAF workflows, a message-send span can be a child of the sending executor, while the receiving executor is linked to that send because the work is causally related but not nested. A conversation persists dialogue across turns; a response records processing output; neither identifier should be substituted for a trace ID. Streaming exposes partial output before completion, but the documentation does not promise one span per token.
• GROUNDING SOURCE: https://learn.microsoft.com/agent-framework/workflows/observability
• GROUNDING SOURCE: https://learn.microsoft.com/azure/foundry/agents/concepts/runtime-components
• GROUNDING SOURCE: https://learn.microsoft.com/azure/foundry/observability/concepts/trace-agent-concept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8 minutes. Follow demos/day5/module-1-demo-1-standard-custom-traces.md. Step 1: run the provided copy of Microsoft's WeatherAgent sample and use its printed trace ID to compare the custom Weather Agent Chat parent with the automatic invoke_agent, chat, and any execute_tool spans that were actually emitted. Step 2: run a synthetic prompt against the prepared docs-assistant Prompt agent in the Foundry playground, then open Agents &gt; Traces and inspect the matching server-side trace. If ingestion is delayed, switch to the labeled capture from the rehearsed Prompt-agent run. Compare the recorded boundaries: Foundry records the hosted Prompt-agent path without client-side tracing code, while the WeatherAgent path adds application-owned context. Keep the two trace IDs separate, use synthetic prompts, and do not improvise missing spans or identifiers.
• GROUNDING SOURCE: https://github.com/microsoft/agent-framework/blob/main/python/samples/02-agents/observability/foundry_tracing.py
• GROUNDING SOURCE: https://learn.microsoft.com/agent-framework/agents/observability?pivots=programming-language-python
• GROUNDING SOURCE: https://learn.microsoft.com/azure/foundry/observability/how-to/trace-agent-setup
• GROUNDING SOURCE: https://learn.microsoft.com/azure/foundry/agents/quickstarts/prompt-agent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3 minutes. Treat prompts, outputs, tool arguments, and results as sensitive unless proven otherwise. Prefer durations, status, stable identifiers, and bounded categorical metadata. Capture payloads only for a justified case with synthetic content, then apply telemetry access controls, retention, and sampling. More data also means more ingestion and retention cost.
• GROUNDING SOURCE: https://learn.microsoft.com/agent-framework/agents/observability
• GROUNDING SOURCE: https://learn.microsoft.com/agent-framework/workflows/observability
• GROUNDING SOURCE: https://learn.microsoft.com/azure/foundry/observability/how-to/trace-agent-setup
• GROUNDING SOURCE: https://learn.microsoft.com/azure/foundry/observability/concepts/trace-agent-concept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3 minutes. Use only the values actually visible in the WeatherAgent trace. Ask where the delay occurred: the answer comes from the relevant automatic or custom span durations and their relationships, not from an assumed tool or model bottleneck. Ask whether the final answer was good: the trace alone cannot establish that; use an appropriate evaluator or reviewed answer. Also remind the room that traces expose recorded operations, not guaranteed access to a model's private reasoning.
• GROUNDING SOURCE: https://learn.microsoft.com/azure/foundry/observability/concepts/trace-agent-concept
• GROUNDING SOURCE: https://learn.microsoft.com/azure/foundry/concepts/observability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2 minutes. Ask for the four-part operational story: instrument, propagate context, export, inspect. Then ask which evidence answers latency versus quality. Close by handing off to Module 2: the telemetry contract stays the same, but the next question is which identity crosses each resource boundary.
• GROUNDING SOURCE: https://learn.microsoft.com/azure/foundry/concepts/observability
• GROUNDING SOURCE: https://learn.microsoft.com/azure/foundry/observability/concepts/trace-agent-concept
• GROUNDING SOURCE: https://learn.microsoft.com/agent-framework/agents/observability?pivots=programming-language-python
• GROUNDING SOURCE: https://learn.microsoft.com/agent-framework/workflows/observability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Allow about 3 minutes within the existing opening discussion. Complex agent behavior can be difficult to debug because a response can involve many input-dependent and nested operations, each with substantial inputs and outputs. Tracing places the recorded primitives for one run in invocation order and exposes their recorded inputs and outputs for inspection. Emphasize "recorded": a trace shows instrumented and exported operations, not unrecorded work or private model reasoning. Foundry tracing is generally available for prompt and hosted agents; workflow and external-agent tracing are preview.
• GROUNDING SOURCE: https://learn.microsoft.com/en-us/azure/foundry/observability/concepts/trace-agent-concept</a:t>
            </a:r>
            <a:endParaRPr lang="en-US" dirty="0"/>
          </a:p>
        </p:txBody>
      </p:sp>
      <p:sp>
        <p:nvSpPr>
          <p:cNvPr id="4" name="Slide Number Placeholder 3"/>
          <p:cNvSpPr>
            <a:spLocks noGrp="1"/>
          </p:cNvSpPr>
          <p:nvPr>
            <p:ph type="sldNum" sz="quarter" idx="10"/>
          </p:nvPr>
        </p:nvSpPr>
        <p:spPr/>
        <p:txBody>
          <a:bodyPr/>
          <a:lstStyle/>
          <a:p>
            <a:fld id="{B33434C4-5F3D-4F86-8A13-78E4FA2D3AD2}" type="slidenum">
              <a:rPr lang="en-US"/>
              <a:t>2</a:t>
            </a:fld>
            <a:endParaRPr lang="en-US"/>
          </a:p>
        </p:txBody>
      </p:sp>
    </p:spTree>
    <p:extLst>
      <p:ext uri="{BB962C8B-B14F-4D97-AF65-F5344CB8AC3E}">
        <p14:creationId xmlns:p14="http://schemas.microsoft.com/office/powerpoint/2010/main" val="1435487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this as the second half of the existing instrumentation discussion rather than adding time to the 30-minute module. Microsoft recommends starting with server-side tracing: after Application Insights is connected to the Foundry project, Foundry records supported hosted-agent and workflow activity without application code changes. Add client-side instrumentation when the team also needs visibility into application-owned logic surrounding an agent call. The Microsoft Foundry SDK and OpenTelemetry tracing packages provide that instrumentation, which must be configured and exported. Treat the two trace sources as complementary, and never imply that either source exposes uninstrumented work. Tracing is generally available for prompt and hosted agents; workflow and external-agent tracing are preview.
• GROUNDING SOURCE: https://learn.microsoft.com/en-us/azure/foundry/observability/how-to/trace-agent-setup?tabs=python#instrument-ai-agents</a:t>
            </a:r>
            <a:endParaRPr lang="en-US" dirty="0"/>
          </a:p>
        </p:txBody>
      </p:sp>
      <p:sp>
        <p:nvSpPr>
          <p:cNvPr id="4" name="Slide Number Placeholder 3"/>
          <p:cNvSpPr>
            <a:spLocks noGrp="1"/>
          </p:cNvSpPr>
          <p:nvPr>
            <p:ph type="sldNum" sz="quarter" idx="10"/>
          </p:nvPr>
        </p:nvSpPr>
        <p:spPr/>
        <p:txBody>
          <a:bodyPr/>
          <a:lstStyle/>
          <a:p>
            <a:fld id="{6D3EA55B-BF00-42D0-BAD3-3C0758F5364B}" type="slidenum">
              <a:rPr lang="en-US"/>
              <a:t>6</a:t>
            </a:fld>
            <a:endParaRPr lang="en-US"/>
          </a:p>
        </p:txBody>
      </p:sp>
    </p:spTree>
    <p:extLst>
      <p:ext uri="{BB962C8B-B14F-4D97-AF65-F5344CB8AC3E}">
        <p14:creationId xmlns:p14="http://schemas.microsoft.com/office/powerpoint/2010/main" val="927504188"/>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62B"/>
        </a:solidFill>
      </p:bgPr>
    </p:bg>
    <p:spTree>
      <p:nvGrpSpPr>
        <p:cNvPr id="1" name=""/>
        <p:cNvGrpSpPr/>
        <p:nvPr/>
      </p:nvGrpSpPr>
      <p:grpSpPr>
        <a:xfrm>
          <a:off x="0" y="0"/>
          <a:ext cx="0" cy="0"/>
          <a:chOff x="0" y="0"/>
          <a:chExt cx="0" cy="0"/>
        </a:xfrm>
      </p:grpSpPr>
      <p:sp>
        <p:nvSpPr>
          <p:cNvPr id="2" name="Shape 0"/>
          <p:cNvSpPr/>
          <p:nvPr/>
        </p:nvSpPr>
        <p:spPr>
          <a:xfrm>
            <a:off x="7973568" y="137160"/>
            <a:ext cx="3886200" cy="3886200"/>
          </a:xfrm>
          <a:prstGeom prst="ellipse">
            <a:avLst/>
          </a:prstGeom>
          <a:solidFill>
            <a:srgbClr val="EEE9FF"/>
          </a:solidFill>
          <a:ln/>
        </p:spPr>
      </p:sp>
      <p:sp>
        <p:nvSpPr>
          <p:cNvPr id="3" name="Shape 1"/>
          <p:cNvSpPr/>
          <p:nvPr/>
        </p:nvSpPr>
        <p:spPr>
          <a:xfrm>
            <a:off x="8394192" y="557784"/>
            <a:ext cx="3044952" cy="3044952"/>
          </a:xfrm>
          <a:prstGeom prst="ellipse">
            <a:avLst/>
          </a:prstGeom>
          <a:solidFill>
            <a:srgbClr val="11162B"/>
          </a:solidFill>
          <a:ln/>
        </p:spPr>
      </p:sp>
      <p:sp>
        <p:nvSpPr>
          <p:cNvPr id="4" name="Shape 2"/>
          <p:cNvSpPr/>
          <p:nvPr/>
        </p:nvSpPr>
        <p:spPr>
          <a:xfrm>
            <a:off x="9337396" y="1232154"/>
            <a:ext cx="811530" cy="973836"/>
          </a:xfrm>
          <a:prstGeom prst="line">
            <a:avLst/>
          </a:prstGeom>
          <a:noFill/>
          <a:ln w="25400">
            <a:solidFill>
              <a:srgbClr val="FFFFFF"/>
            </a:solidFill>
            <a:prstDash val="solid"/>
          </a:ln>
        </p:spPr>
      </p:sp>
      <p:sp>
        <p:nvSpPr>
          <p:cNvPr id="5" name="Shape 3"/>
          <p:cNvSpPr/>
          <p:nvPr/>
        </p:nvSpPr>
        <p:spPr>
          <a:xfrm>
            <a:off x="10213848" y="1199693"/>
            <a:ext cx="779069" cy="811530"/>
          </a:xfrm>
          <a:prstGeom prst="line">
            <a:avLst/>
          </a:prstGeom>
          <a:noFill/>
          <a:ln w="25400">
            <a:solidFill>
              <a:srgbClr val="FFFFFF"/>
            </a:solidFill>
            <a:prstDash val="solid"/>
          </a:ln>
        </p:spPr>
      </p:sp>
      <p:sp>
        <p:nvSpPr>
          <p:cNvPr id="6" name="Shape 4"/>
          <p:cNvSpPr/>
          <p:nvPr/>
        </p:nvSpPr>
        <p:spPr>
          <a:xfrm>
            <a:off x="11025378" y="1004926"/>
            <a:ext cx="779069" cy="973836"/>
          </a:xfrm>
          <a:prstGeom prst="line">
            <a:avLst/>
          </a:prstGeom>
          <a:noFill/>
          <a:ln w="25400">
            <a:solidFill>
              <a:srgbClr val="FFFFFF"/>
            </a:solidFill>
            <a:prstDash val="solid"/>
          </a:ln>
        </p:spPr>
      </p:sp>
      <p:sp>
        <p:nvSpPr>
          <p:cNvPr id="7" name="Shape 5"/>
          <p:cNvSpPr/>
          <p:nvPr/>
        </p:nvSpPr>
        <p:spPr>
          <a:xfrm>
            <a:off x="11025378" y="2043684"/>
            <a:ext cx="779069" cy="908914"/>
          </a:xfrm>
          <a:prstGeom prst="line">
            <a:avLst/>
          </a:prstGeom>
          <a:noFill/>
          <a:ln w="25400">
            <a:solidFill>
              <a:srgbClr val="FFFFFF"/>
            </a:solidFill>
            <a:prstDash val="dash"/>
          </a:ln>
        </p:spPr>
      </p:sp>
      <p:sp>
        <p:nvSpPr>
          <p:cNvPr id="8" name="Shape 6"/>
          <p:cNvSpPr/>
          <p:nvPr/>
        </p:nvSpPr>
        <p:spPr>
          <a:xfrm>
            <a:off x="9175090" y="2108606"/>
            <a:ext cx="486918" cy="486918"/>
          </a:xfrm>
          <a:prstGeom prst="ellipse">
            <a:avLst/>
          </a:prstGeom>
          <a:solidFill>
            <a:srgbClr val="8B5CF6"/>
          </a:solidFill>
          <a:ln w="10160">
            <a:solidFill>
              <a:srgbClr val="FFFFFF"/>
            </a:solidFill>
            <a:prstDash val="solid"/>
          </a:ln>
        </p:spPr>
      </p:sp>
      <p:sp>
        <p:nvSpPr>
          <p:cNvPr id="9" name="Shape 7"/>
          <p:cNvSpPr/>
          <p:nvPr/>
        </p:nvSpPr>
        <p:spPr>
          <a:xfrm>
            <a:off x="10084003" y="1004926"/>
            <a:ext cx="486918" cy="486918"/>
          </a:xfrm>
          <a:prstGeom prst="ellipse">
            <a:avLst/>
          </a:prstGeom>
          <a:solidFill>
            <a:srgbClr val="8B5CF6"/>
          </a:solidFill>
          <a:ln w="10160">
            <a:solidFill>
              <a:srgbClr val="FFFFFF"/>
            </a:solidFill>
            <a:prstDash val="solid"/>
          </a:ln>
        </p:spPr>
      </p:sp>
      <p:sp>
        <p:nvSpPr>
          <p:cNvPr id="10" name="Shape 8"/>
          <p:cNvSpPr/>
          <p:nvPr/>
        </p:nvSpPr>
        <p:spPr>
          <a:xfrm>
            <a:off x="10927994" y="1978762"/>
            <a:ext cx="486918" cy="486918"/>
          </a:xfrm>
          <a:prstGeom prst="ellipse">
            <a:avLst/>
          </a:prstGeom>
          <a:solidFill>
            <a:srgbClr val="16C7E8"/>
          </a:solidFill>
          <a:ln w="10160">
            <a:solidFill>
              <a:srgbClr val="FFFFFF"/>
            </a:solidFill>
            <a:prstDash val="solid"/>
          </a:ln>
        </p:spPr>
      </p:sp>
      <p:sp>
        <p:nvSpPr>
          <p:cNvPr id="11" name="Shape 9"/>
          <p:cNvSpPr/>
          <p:nvPr/>
        </p:nvSpPr>
        <p:spPr>
          <a:xfrm>
            <a:off x="11771986" y="810158"/>
            <a:ext cx="486918" cy="486918"/>
          </a:xfrm>
          <a:prstGeom prst="ellipse">
            <a:avLst/>
          </a:prstGeom>
          <a:solidFill>
            <a:srgbClr val="8B5CF6"/>
          </a:solidFill>
          <a:ln w="10160">
            <a:solidFill>
              <a:srgbClr val="FFFFFF"/>
            </a:solidFill>
            <a:prstDash val="solid"/>
          </a:ln>
        </p:spPr>
      </p:sp>
      <p:sp>
        <p:nvSpPr>
          <p:cNvPr id="12" name="Shape 10"/>
          <p:cNvSpPr/>
          <p:nvPr/>
        </p:nvSpPr>
        <p:spPr>
          <a:xfrm>
            <a:off x="11901830" y="3082442"/>
            <a:ext cx="486918" cy="486918"/>
          </a:xfrm>
          <a:prstGeom prst="ellipse">
            <a:avLst/>
          </a:prstGeom>
          <a:solidFill>
            <a:srgbClr val="8B5CF6"/>
          </a:solidFill>
          <a:ln w="10160">
            <a:solidFill>
              <a:srgbClr val="FFFFFF"/>
            </a:solidFill>
            <a:prstDash val="solid"/>
          </a:ln>
        </p:spPr>
      </p:sp>
      <p:sp>
        <p:nvSpPr>
          <p:cNvPr id="13" name="Shape 11"/>
          <p:cNvSpPr/>
          <p:nvPr/>
        </p:nvSpPr>
        <p:spPr>
          <a:xfrm>
            <a:off x="713232" y="530352"/>
            <a:ext cx="2148840" cy="365760"/>
          </a:xfrm>
          <a:prstGeom prst="roundRect">
            <a:avLst>
              <a:gd name="adj" fmla="val 20000"/>
            </a:avLst>
          </a:prstGeom>
          <a:solidFill>
            <a:srgbClr val="16C7E8"/>
          </a:solidFill>
          <a:ln/>
        </p:spPr>
      </p:sp>
      <p:sp>
        <p:nvSpPr>
          <p:cNvPr id="14" name="Text 12"/>
          <p:cNvSpPr/>
          <p:nvPr/>
        </p:nvSpPr>
        <p:spPr>
          <a:xfrm>
            <a:off x="868680" y="658368"/>
            <a:ext cx="1828800" cy="109728"/>
          </a:xfrm>
          <a:prstGeom prst="rect">
            <a:avLst/>
          </a:prstGeom>
          <a:noFill/>
          <a:ln/>
        </p:spPr>
        <p:txBody>
          <a:bodyPr wrap="square" lIns="0" tIns="0" rIns="0" bIns="0" rtlCol="0" anchor="ctr"/>
          <a:lstStyle/>
          <a:p>
            <a:pPr algn="ctr" indent="0" marL="0">
              <a:buNone/>
            </a:pPr>
            <a:r>
              <a:rPr lang="en-US" sz="900" b="1" spc="160" kern="0" dirty="0">
                <a:solidFill>
                  <a:srgbClr val="11162B"/>
                </a:solidFill>
                <a:latin typeface="Aptos" pitchFamily="34" charset="0"/>
                <a:ea typeface="Aptos" pitchFamily="34" charset="-122"/>
                <a:cs typeface="Aptos" pitchFamily="34" charset="-120"/>
              </a:rPr>
              <a:t>DAY 5  ·  MODULE 1</a:t>
            </a:r>
            <a:endParaRPr lang="en-US" sz="900" dirty="0"/>
          </a:p>
        </p:txBody>
      </p:sp>
      <p:sp>
        <p:nvSpPr>
          <p:cNvPr id="15" name="Text 13"/>
          <p:cNvSpPr/>
          <p:nvPr/>
        </p:nvSpPr>
        <p:spPr>
          <a:xfrm>
            <a:off x="713232" y="1097280"/>
            <a:ext cx="7150608" cy="1371600"/>
          </a:xfrm>
          <a:prstGeom prst="rect">
            <a:avLst/>
          </a:prstGeom>
          <a:noFill/>
          <a:ln/>
        </p:spPr>
        <p:txBody>
          <a:bodyPr wrap="square" lIns="0" tIns="0" rIns="0" bIns="0" rtlCol="0" anchor="ctr">
            <a:normAutofit/>
          </a:bodyPr>
          <a:lstStyle/>
          <a:p>
            <a:pPr indent="0" marL="0">
              <a:buNone/>
            </a:pPr>
            <a:r>
              <a:rPr lang="en-US" sz="4500" b="1" dirty="0">
                <a:solidFill>
                  <a:srgbClr val="FFFFFF"/>
                </a:solidFill>
                <a:latin typeface="Aptos Display" pitchFamily="34" charset="0"/>
                <a:ea typeface="Aptos Display" pitchFamily="34" charset="-122"/>
                <a:cs typeface="Aptos Display" pitchFamily="34" charset="-120"/>
              </a:rPr>
              <a:t>Observability</a:t>
            </a:r>
            <a:br/>
            <a:r>
              <a:rPr lang="en-US" sz="4500" b="1" dirty="0">
                <a:solidFill>
                  <a:srgbClr val="FFFFFF"/>
                </a:solidFill>
                <a:latin typeface="Aptos Display" pitchFamily="34" charset="0"/>
                <a:ea typeface="Aptos Display" pitchFamily="34" charset="-122"/>
                <a:cs typeface="Aptos Display" pitchFamily="34" charset="-120"/>
              </a:rPr>
              <a:t>in Generative AI</a:t>
            </a:r>
            <a:endParaRPr lang="en-US" sz="4500" dirty="0"/>
          </a:p>
        </p:txBody>
      </p:sp>
      <p:sp>
        <p:nvSpPr>
          <p:cNvPr id="16" name="Text 14"/>
          <p:cNvSpPr/>
          <p:nvPr/>
        </p:nvSpPr>
        <p:spPr>
          <a:xfrm>
            <a:off x="749808" y="2615184"/>
            <a:ext cx="6931152" cy="786384"/>
          </a:xfrm>
          <a:prstGeom prst="rect">
            <a:avLst/>
          </a:prstGeom>
          <a:noFill/>
          <a:ln/>
        </p:spPr>
        <p:txBody>
          <a:bodyPr wrap="square" lIns="0" tIns="0" rIns="0" bIns="0" rtlCol="0" anchor="ctr">
            <a:normAutofit/>
          </a:bodyPr>
          <a:lstStyle/>
          <a:p>
            <a:pPr indent="0" marL="0">
              <a:buNone/>
            </a:pPr>
            <a:r>
              <a:rPr lang="en-US" sz="1830" dirty="0">
                <a:solidFill>
                  <a:srgbClr val="E4EAF0"/>
                </a:solidFill>
                <a:latin typeface="Aptos" pitchFamily="34" charset="0"/>
                <a:ea typeface="Aptos" pitchFamily="34" charset="-122"/>
                <a:cs typeface="Aptos" pitchFamily="34" charset="-120"/>
              </a:rPr>
              <a:t>Compare client-side and server-side traces,</a:t>
            </a:r>
            <a:endParaRPr lang="en-US" sz="1830" dirty="0"/>
          </a:p>
          <a:p>
            <a:pPr indent="0" marL="0">
              <a:buNone/>
            </a:pPr>
            <a:r>
              <a:rPr lang="en-US" sz="1830" dirty="0">
                <a:solidFill>
                  <a:srgbClr val="E4EAF0"/>
                </a:solidFill>
                <a:latin typeface="Aptos" pitchFamily="34" charset="0"/>
                <a:ea typeface="Aptos" pitchFamily="34" charset="-122"/>
                <a:cs typeface="Aptos" pitchFamily="34" charset="-120"/>
              </a:rPr>
              <a:t>explain latency, and govern telemetry</a:t>
            </a:r>
            <a:endParaRPr lang="en-US" sz="1830" dirty="0"/>
          </a:p>
        </p:txBody>
      </p:sp>
      <p:sp>
        <p:nvSpPr>
          <p:cNvPr id="17" name="Shape 15"/>
          <p:cNvSpPr/>
          <p:nvPr/>
        </p:nvSpPr>
        <p:spPr>
          <a:xfrm>
            <a:off x="713232" y="4160520"/>
            <a:ext cx="6793992" cy="1097280"/>
          </a:xfrm>
          <a:prstGeom prst="roundRect">
            <a:avLst>
              <a:gd name="adj" fmla="val 6667"/>
            </a:avLst>
          </a:prstGeom>
          <a:solidFill>
            <a:srgbClr val="FFFFFF"/>
          </a:solidFill>
          <a:ln/>
        </p:spPr>
      </p:sp>
      <p:sp>
        <p:nvSpPr>
          <p:cNvPr id="18" name="Shape 16"/>
          <p:cNvSpPr/>
          <p:nvPr/>
        </p:nvSpPr>
        <p:spPr>
          <a:xfrm>
            <a:off x="713232" y="4160520"/>
            <a:ext cx="146304" cy="1097280"/>
          </a:xfrm>
          <a:prstGeom prst="rect">
            <a:avLst/>
          </a:prstGeom>
          <a:solidFill>
            <a:srgbClr val="16C7E8"/>
          </a:solidFill>
          <a:ln/>
        </p:spPr>
      </p:sp>
      <p:sp>
        <p:nvSpPr>
          <p:cNvPr id="19" name="Text 17"/>
          <p:cNvSpPr/>
          <p:nvPr/>
        </p:nvSpPr>
        <p:spPr>
          <a:xfrm>
            <a:off x="1078992" y="4407408"/>
            <a:ext cx="6080760" cy="603504"/>
          </a:xfrm>
          <a:prstGeom prst="rect">
            <a:avLst/>
          </a:prstGeom>
          <a:noFill/>
          <a:ln/>
        </p:spPr>
        <p:txBody>
          <a:bodyPr wrap="square" lIns="0" tIns="0" rIns="0" bIns="0" rtlCol="0" anchor="ctr">
            <a:normAutofit/>
          </a:bodyPr>
          <a:lstStyle/>
          <a:p>
            <a:pPr indent="0" marL="0">
              <a:buNone/>
            </a:pPr>
            <a:r>
              <a:rPr lang="en-US" sz="1700" b="1" dirty="0">
                <a:solidFill>
                  <a:srgbClr val="11162B"/>
                </a:solidFill>
                <a:latin typeface="Aptos" pitchFamily="34" charset="0"/>
                <a:ea typeface="Aptos" pitchFamily="34" charset="-122"/>
                <a:cs typeface="Aptos" pitchFamily="34" charset="-120"/>
              </a:rPr>
              <a:t>Compare a client-instrumented trace with a Foundry-managed server-side trace — then ask what neither can prove.</a:t>
            </a:r>
            <a:endParaRPr lang="en-US" sz="1700" dirty="0"/>
          </a:p>
        </p:txBody>
      </p:sp>
      <p:sp>
        <p:nvSpPr>
          <p:cNvPr id="20" name="Text 18"/>
          <p:cNvSpPr/>
          <p:nvPr/>
        </p:nvSpPr>
        <p:spPr>
          <a:xfrm>
            <a:off x="9546336" y="4261104"/>
            <a:ext cx="2011680" cy="914400"/>
          </a:xfrm>
          <a:prstGeom prst="rect">
            <a:avLst/>
          </a:prstGeom>
          <a:noFill/>
          <a:ln/>
        </p:spPr>
        <p:txBody>
          <a:bodyPr wrap="square" lIns="0" tIns="0" rIns="0" bIns="0" rtlCol="0" anchor="ctr"/>
          <a:lstStyle/>
          <a:p>
            <a:pPr algn="ctr" indent="0" marL="0">
              <a:buNone/>
            </a:pPr>
            <a:r>
              <a:rPr lang="en-US" sz="6800" b="1" dirty="0">
                <a:solidFill>
                  <a:srgbClr val="16C7E8"/>
                </a:solidFill>
                <a:latin typeface="Aptos Display" pitchFamily="34" charset="0"/>
                <a:ea typeface="Aptos Display" pitchFamily="34" charset="-122"/>
                <a:cs typeface="Aptos Display" pitchFamily="34" charset="-120"/>
              </a:rPr>
              <a:t>01</a:t>
            </a:r>
            <a:endParaRPr lang="en-US" sz="6800" dirty="0"/>
          </a:p>
        </p:txBody>
      </p:sp>
      <p:sp>
        <p:nvSpPr>
          <p:cNvPr id="21" name="Text 19"/>
          <p:cNvSpPr/>
          <p:nvPr/>
        </p:nvSpPr>
        <p:spPr>
          <a:xfrm>
            <a:off x="8732520" y="5239512"/>
            <a:ext cx="3611880" cy="182880"/>
          </a:xfrm>
          <a:prstGeom prst="rect">
            <a:avLst/>
          </a:prstGeom>
          <a:noFill/>
          <a:ln/>
        </p:spPr>
        <p:txBody>
          <a:bodyPr wrap="square" lIns="0" tIns="0" rIns="0" bIns="0" rtlCol="0" anchor="ctr"/>
          <a:lstStyle/>
          <a:p>
            <a:pPr algn="ctr" indent="0" marL="0">
              <a:buNone/>
            </a:pPr>
            <a:r>
              <a:rPr lang="en-US" sz="950" b="1" spc="240" kern="0" dirty="0">
                <a:solidFill>
                  <a:srgbClr val="FFFFFF"/>
                </a:solidFill>
                <a:latin typeface="Aptos" pitchFamily="34" charset="0"/>
                <a:ea typeface="Aptos" pitchFamily="34" charset="-122"/>
                <a:cs typeface="Aptos" pitchFamily="34" charset="-120"/>
              </a:rPr>
              <a:t>SIGNAL PATH</a:t>
            </a:r>
            <a:endParaRPr lang="en-US" sz="950" dirty="0"/>
          </a:p>
        </p:txBody>
      </p:sp>
      <p:sp>
        <p:nvSpPr>
          <p:cNvPr id="22" name="Text 20"/>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DDE7EF"/>
                </a:solidFill>
                <a:latin typeface="Aptos" pitchFamily="34" charset="0"/>
                <a:ea typeface="Aptos" pitchFamily="34" charset="-122"/>
                <a:cs typeface="Aptos" pitchFamily="34" charset="-120"/>
              </a:rPr>
              <a:t>REFERENCE  learn.microsoft.com/azure/foundry/concepts/observability  ·  +3 more in notes</a:t>
            </a:r>
            <a:endParaRPr lang="en-US" sz="940" dirty="0"/>
          </a:p>
        </p:txBody>
      </p:sp>
      <p:sp>
        <p:nvSpPr>
          <p:cNvPr id="23" name="Shape 21"/>
          <p:cNvSpPr/>
          <p:nvPr/>
        </p:nvSpPr>
        <p:spPr>
          <a:xfrm>
            <a:off x="0" y="6793992"/>
            <a:ext cx="12191695" cy="64008"/>
          </a:xfrm>
          <a:prstGeom prst="rect">
            <a:avLst/>
          </a:prstGeom>
          <a:solidFill>
            <a:srgbClr val="16C7E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Three questions, three practices</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03</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417320"/>
            <a:ext cx="3438144" cy="4187952"/>
          </a:xfrm>
          <a:prstGeom prst="roundRect">
            <a:avLst>
              <a:gd name="adj" fmla="val 2128"/>
            </a:avLst>
          </a:prstGeom>
          <a:solidFill>
            <a:srgbClr val="E4F7FB"/>
          </a:solidFill>
          <a:ln w="10160">
            <a:solidFill>
              <a:srgbClr val="16C7E8"/>
            </a:solidFill>
            <a:prstDash val="solid"/>
          </a:ln>
        </p:spPr>
      </p:sp>
      <p:sp>
        <p:nvSpPr>
          <p:cNvPr id="18" name="Text 16"/>
          <p:cNvSpPr/>
          <p:nvPr/>
        </p:nvSpPr>
        <p:spPr>
          <a:xfrm>
            <a:off x="896112" y="1755648"/>
            <a:ext cx="2926080" cy="173736"/>
          </a:xfrm>
          <a:prstGeom prst="rect">
            <a:avLst/>
          </a:prstGeom>
          <a:noFill/>
          <a:ln/>
        </p:spPr>
        <p:txBody>
          <a:bodyPr wrap="square" lIns="0" tIns="0" rIns="0" bIns="0" rtlCol="0" anchor="ctr"/>
          <a:lstStyle/>
          <a:p>
            <a:pPr algn="ctr" indent="0" marL="0">
              <a:buNone/>
            </a:pPr>
            <a:r>
              <a:rPr lang="en-US" sz="1000" b="1" spc="280" kern="0" dirty="0">
                <a:solidFill>
                  <a:srgbClr val="16C7E8"/>
                </a:solidFill>
                <a:latin typeface="Aptos" pitchFamily="34" charset="0"/>
                <a:ea typeface="Aptos" pitchFamily="34" charset="-122"/>
                <a:cs typeface="Aptos" pitchFamily="34" charset="-120"/>
              </a:rPr>
              <a:t>EXPLAIN</a:t>
            </a:r>
            <a:endParaRPr lang="en-US" sz="1000" dirty="0"/>
          </a:p>
        </p:txBody>
      </p:sp>
      <p:sp>
        <p:nvSpPr>
          <p:cNvPr id="19" name="Shape 17"/>
          <p:cNvSpPr/>
          <p:nvPr/>
        </p:nvSpPr>
        <p:spPr>
          <a:xfrm>
            <a:off x="1865376" y="2139696"/>
            <a:ext cx="987552" cy="987552"/>
          </a:xfrm>
          <a:prstGeom prst="ellipse">
            <a:avLst/>
          </a:prstGeom>
          <a:solidFill>
            <a:srgbClr val="16C7E8"/>
          </a:solidFill>
          <a:ln/>
        </p:spPr>
      </p:sp>
      <p:sp>
        <p:nvSpPr>
          <p:cNvPr id="20" name="Text 18"/>
          <p:cNvSpPr/>
          <p:nvPr/>
        </p:nvSpPr>
        <p:spPr>
          <a:xfrm>
            <a:off x="1865376" y="2386584"/>
            <a:ext cx="987552" cy="310896"/>
          </a:xfrm>
          <a:prstGeom prst="rect">
            <a:avLst/>
          </a:prstGeom>
          <a:noFill/>
          <a:ln/>
        </p:spPr>
        <p:txBody>
          <a:bodyPr wrap="square" lIns="0" tIns="0" rIns="0" bIns="0" rtlCol="0" anchor="ctr"/>
          <a:lstStyle/>
          <a:p>
            <a:pPr algn="ctr" indent="0" marL="0">
              <a:buNone/>
            </a:pPr>
            <a:r>
              <a:rPr lang="en-US" sz="2400" b="1" dirty="0">
                <a:solidFill>
                  <a:srgbClr val="11162B"/>
                </a:solidFill>
                <a:latin typeface="Aptos" pitchFamily="34" charset="0"/>
                <a:ea typeface="Aptos" pitchFamily="34" charset="-122"/>
                <a:cs typeface="Aptos" pitchFamily="34" charset="-120"/>
              </a:rPr>
              <a:t>?</a:t>
            </a:r>
            <a:endParaRPr lang="en-US" sz="2400" dirty="0"/>
          </a:p>
        </p:txBody>
      </p:sp>
      <p:sp>
        <p:nvSpPr>
          <p:cNvPr id="21" name="Text 19"/>
          <p:cNvSpPr/>
          <p:nvPr/>
        </p:nvSpPr>
        <p:spPr>
          <a:xfrm>
            <a:off x="914400" y="3364992"/>
            <a:ext cx="2889504" cy="393192"/>
          </a:xfrm>
          <a:prstGeom prst="rect">
            <a:avLst/>
          </a:prstGeom>
          <a:noFill/>
          <a:ln/>
        </p:spPr>
        <p:txBody>
          <a:bodyPr wrap="square" lIns="0" tIns="0" rIns="0" bIns="0" rtlCol="0" anchor="ctr"/>
          <a:lstStyle/>
          <a:p>
            <a:pPr algn="ctr" indent="0" marL="0">
              <a:buNone/>
            </a:pPr>
            <a:r>
              <a:rPr lang="en-US" sz="2200" b="1" dirty="0">
                <a:solidFill>
                  <a:srgbClr val="11162B"/>
                </a:solidFill>
                <a:latin typeface="Aptos Display" pitchFamily="34" charset="0"/>
                <a:ea typeface="Aptos Display" pitchFamily="34" charset="-122"/>
                <a:cs typeface="Aptos Display" pitchFamily="34" charset="-120"/>
              </a:rPr>
              <a:t>Observability</a:t>
            </a:r>
            <a:endParaRPr lang="en-US" sz="2200" dirty="0"/>
          </a:p>
        </p:txBody>
      </p:sp>
      <p:sp>
        <p:nvSpPr>
          <p:cNvPr id="22" name="Text 20"/>
          <p:cNvSpPr/>
          <p:nvPr/>
        </p:nvSpPr>
        <p:spPr>
          <a:xfrm>
            <a:off x="987552" y="3931920"/>
            <a:ext cx="2743200" cy="1298448"/>
          </a:xfrm>
          <a:prstGeom prst="rect">
            <a:avLst/>
          </a:prstGeom>
          <a:noFill/>
          <a:ln/>
        </p:spPr>
        <p:txBody>
          <a:bodyPr wrap="square" lIns="0" tIns="0" rIns="0" bIns="0" rtlCol="0" anchor="t">
            <a:normAutofit/>
          </a:bodyPr>
          <a:lstStyle/>
          <a:p>
            <a:pPr algn="ctr" indent="0" marL="0">
              <a:buNone/>
            </a:pPr>
            <a:r>
              <a:rPr lang="en-US" sz="1520" dirty="0">
                <a:solidFill>
                  <a:srgbClr val="151B31"/>
                </a:solidFill>
                <a:latin typeface="Aptos" pitchFamily="34" charset="0"/>
                <a:ea typeface="Aptos" pitchFamily="34" charset="-122"/>
                <a:cs typeface="Aptos" pitchFamily="34" charset="-120"/>
              </a:rPr>
              <a:t>Combine logs, metrics, traces, and evaluation signals to understand the system</a:t>
            </a:r>
            <a:endParaRPr lang="en-US" sz="1520" dirty="0"/>
          </a:p>
          <a:p>
            <a:pPr algn="ctr" indent="0" marL="0">
              <a:buNone/>
            </a:pPr>
            <a:r>
              <a:rPr lang="en-US" sz="1520" dirty="0">
                <a:solidFill>
                  <a:srgbClr val="151B31"/>
                </a:solidFill>
                <a:latin typeface="Aptos" pitchFamily="34" charset="0"/>
                <a:ea typeface="Aptos" pitchFamily="34" charset="-122"/>
                <a:cs typeface="Aptos" pitchFamily="34" charset="-120"/>
              </a:rPr>
              <a:t>Use a trace to investigate one execution path and its dependencies</a:t>
            </a:r>
            <a:endParaRPr lang="en-US" sz="1520" dirty="0"/>
          </a:p>
        </p:txBody>
      </p:sp>
      <p:sp>
        <p:nvSpPr>
          <p:cNvPr id="23" name="Shape 21"/>
          <p:cNvSpPr/>
          <p:nvPr/>
        </p:nvSpPr>
        <p:spPr>
          <a:xfrm>
            <a:off x="4352544" y="1417320"/>
            <a:ext cx="3438144" cy="4187952"/>
          </a:xfrm>
          <a:prstGeom prst="roundRect">
            <a:avLst>
              <a:gd name="adj" fmla="val 2128"/>
            </a:avLst>
          </a:prstGeom>
          <a:solidFill>
            <a:srgbClr val="FFFFFF"/>
          </a:solidFill>
          <a:ln w="10160">
            <a:solidFill>
              <a:srgbClr val="E4F7FB"/>
            </a:solidFill>
            <a:prstDash val="solid"/>
          </a:ln>
        </p:spPr>
      </p:sp>
      <p:sp>
        <p:nvSpPr>
          <p:cNvPr id="24" name="Text 22"/>
          <p:cNvSpPr/>
          <p:nvPr/>
        </p:nvSpPr>
        <p:spPr>
          <a:xfrm>
            <a:off x="4608576" y="1755648"/>
            <a:ext cx="2926080" cy="173736"/>
          </a:xfrm>
          <a:prstGeom prst="rect">
            <a:avLst/>
          </a:prstGeom>
          <a:noFill/>
          <a:ln/>
        </p:spPr>
        <p:txBody>
          <a:bodyPr wrap="square" lIns="0" tIns="0" rIns="0" bIns="0" rtlCol="0" anchor="ctr"/>
          <a:lstStyle/>
          <a:p>
            <a:pPr algn="ctr" indent="0" marL="0">
              <a:buNone/>
            </a:pPr>
            <a:r>
              <a:rPr lang="en-US" sz="1000" b="1" spc="280" kern="0" dirty="0">
                <a:solidFill>
                  <a:srgbClr val="8B5CF6"/>
                </a:solidFill>
                <a:latin typeface="Aptos" pitchFamily="34" charset="0"/>
                <a:ea typeface="Aptos" pitchFamily="34" charset="-122"/>
                <a:cs typeface="Aptos" pitchFamily="34" charset="-120"/>
              </a:rPr>
              <a:t>WATCH</a:t>
            </a:r>
            <a:endParaRPr lang="en-US" sz="1000" dirty="0"/>
          </a:p>
        </p:txBody>
      </p:sp>
      <p:sp>
        <p:nvSpPr>
          <p:cNvPr id="25" name="Shape 23"/>
          <p:cNvSpPr/>
          <p:nvPr/>
        </p:nvSpPr>
        <p:spPr>
          <a:xfrm>
            <a:off x="5577840" y="2139696"/>
            <a:ext cx="987552" cy="987552"/>
          </a:xfrm>
          <a:prstGeom prst="ellipse">
            <a:avLst/>
          </a:prstGeom>
          <a:solidFill>
            <a:srgbClr val="8B5CF6"/>
          </a:solidFill>
          <a:ln/>
        </p:spPr>
      </p:sp>
      <p:sp>
        <p:nvSpPr>
          <p:cNvPr id="26" name="Text 24"/>
          <p:cNvSpPr/>
          <p:nvPr/>
        </p:nvSpPr>
        <p:spPr>
          <a:xfrm>
            <a:off x="5577840" y="2386584"/>
            <a:ext cx="987552" cy="310896"/>
          </a:xfrm>
          <a:prstGeom prst="rect">
            <a:avLst/>
          </a:prstGeom>
          <a:noFill/>
          <a:ln/>
        </p:spPr>
        <p:txBody>
          <a:bodyPr wrap="square" lIns="0" tIns="0" rIns="0" bIns="0" rtlCol="0" anchor="ctr"/>
          <a:lstStyle/>
          <a:p>
            <a:pPr algn="ctr" indent="0" marL="0">
              <a:buNone/>
            </a:pPr>
            <a:r>
              <a:rPr lang="en-US" sz="2400" b="1" dirty="0">
                <a:solidFill>
                  <a:srgbClr val="11162B"/>
                </a:solidFill>
                <a:latin typeface="Aptos" pitchFamily="34" charset="0"/>
                <a:ea typeface="Aptos" pitchFamily="34" charset="-122"/>
                <a:cs typeface="Aptos" pitchFamily="34" charset="-120"/>
              </a:rPr>
              <a:t>↗</a:t>
            </a:r>
            <a:endParaRPr lang="en-US" sz="2400" dirty="0"/>
          </a:p>
        </p:txBody>
      </p:sp>
      <p:sp>
        <p:nvSpPr>
          <p:cNvPr id="27" name="Text 25"/>
          <p:cNvSpPr/>
          <p:nvPr/>
        </p:nvSpPr>
        <p:spPr>
          <a:xfrm>
            <a:off x="4626864" y="3364992"/>
            <a:ext cx="2889504" cy="393192"/>
          </a:xfrm>
          <a:prstGeom prst="rect">
            <a:avLst/>
          </a:prstGeom>
          <a:noFill/>
          <a:ln/>
        </p:spPr>
        <p:txBody>
          <a:bodyPr wrap="square" lIns="0" tIns="0" rIns="0" bIns="0" rtlCol="0" anchor="ctr"/>
          <a:lstStyle/>
          <a:p>
            <a:pPr algn="ctr" indent="0" marL="0">
              <a:buNone/>
            </a:pPr>
            <a:r>
              <a:rPr lang="en-US" sz="2200" b="1" dirty="0">
                <a:solidFill>
                  <a:srgbClr val="11162B"/>
                </a:solidFill>
                <a:latin typeface="Aptos Display" pitchFamily="34" charset="0"/>
                <a:ea typeface="Aptos Display" pitchFamily="34" charset="-122"/>
                <a:cs typeface="Aptos Display" pitchFamily="34" charset="-120"/>
              </a:rPr>
              <a:t>Monitoring</a:t>
            </a:r>
            <a:endParaRPr lang="en-US" sz="2200" dirty="0"/>
          </a:p>
        </p:txBody>
      </p:sp>
      <p:sp>
        <p:nvSpPr>
          <p:cNvPr id="28" name="Text 26"/>
          <p:cNvSpPr/>
          <p:nvPr/>
        </p:nvSpPr>
        <p:spPr>
          <a:xfrm>
            <a:off x="4700016" y="3931920"/>
            <a:ext cx="2743200" cy="1298448"/>
          </a:xfrm>
          <a:prstGeom prst="rect">
            <a:avLst/>
          </a:prstGeom>
          <a:noFill/>
          <a:ln/>
        </p:spPr>
        <p:txBody>
          <a:bodyPr wrap="square" lIns="0" tIns="0" rIns="0" bIns="0" rtlCol="0" anchor="t">
            <a:normAutofit/>
          </a:bodyPr>
          <a:lstStyle/>
          <a:p>
            <a:pPr algn="ctr" indent="0" marL="0">
              <a:buNone/>
            </a:pPr>
            <a:r>
              <a:rPr lang="en-US" sz="1520" dirty="0">
                <a:solidFill>
                  <a:srgbClr val="151B31"/>
                </a:solidFill>
                <a:latin typeface="Aptos" pitchFamily="34" charset="0"/>
                <a:ea typeface="Aptos" pitchFamily="34" charset="-122"/>
                <a:cs typeface="Aptos" pitchFamily="34" charset="-120"/>
              </a:rPr>
              <a:t>Monitoring tracks signals and thresholds over time</a:t>
            </a:r>
            <a:endParaRPr lang="en-US" sz="1520" dirty="0"/>
          </a:p>
        </p:txBody>
      </p:sp>
      <p:sp>
        <p:nvSpPr>
          <p:cNvPr id="29" name="Shape 27"/>
          <p:cNvSpPr/>
          <p:nvPr/>
        </p:nvSpPr>
        <p:spPr>
          <a:xfrm>
            <a:off x="8065008" y="1417320"/>
            <a:ext cx="3438144" cy="4187952"/>
          </a:xfrm>
          <a:prstGeom prst="roundRect">
            <a:avLst>
              <a:gd name="adj" fmla="val 2128"/>
            </a:avLst>
          </a:prstGeom>
          <a:solidFill>
            <a:srgbClr val="FFFFFF"/>
          </a:solidFill>
          <a:ln w="10160">
            <a:solidFill>
              <a:srgbClr val="E4F7FB"/>
            </a:solidFill>
            <a:prstDash val="solid"/>
          </a:ln>
        </p:spPr>
      </p:sp>
      <p:sp>
        <p:nvSpPr>
          <p:cNvPr id="30" name="Text 28"/>
          <p:cNvSpPr/>
          <p:nvPr/>
        </p:nvSpPr>
        <p:spPr>
          <a:xfrm>
            <a:off x="8321040" y="1755648"/>
            <a:ext cx="2926080" cy="173736"/>
          </a:xfrm>
          <a:prstGeom prst="rect">
            <a:avLst/>
          </a:prstGeom>
          <a:noFill/>
          <a:ln/>
        </p:spPr>
        <p:txBody>
          <a:bodyPr wrap="square" lIns="0" tIns="0" rIns="0" bIns="0" rtlCol="0" anchor="ctr"/>
          <a:lstStyle/>
          <a:p>
            <a:pPr algn="ctr" indent="0" marL="0">
              <a:buNone/>
            </a:pPr>
            <a:r>
              <a:rPr lang="en-US" sz="1000" b="1" spc="280" kern="0" dirty="0">
                <a:solidFill>
                  <a:srgbClr val="16C7E8"/>
                </a:solidFill>
                <a:latin typeface="Aptos" pitchFamily="34" charset="0"/>
                <a:ea typeface="Aptos" pitchFamily="34" charset="-122"/>
                <a:cs typeface="Aptos" pitchFamily="34" charset="-120"/>
              </a:rPr>
              <a:t>JUDGE</a:t>
            </a:r>
            <a:endParaRPr lang="en-US" sz="1000" dirty="0"/>
          </a:p>
        </p:txBody>
      </p:sp>
      <p:sp>
        <p:nvSpPr>
          <p:cNvPr id="31" name="Shape 29"/>
          <p:cNvSpPr/>
          <p:nvPr/>
        </p:nvSpPr>
        <p:spPr>
          <a:xfrm>
            <a:off x="9290304" y="2139696"/>
            <a:ext cx="987552" cy="987552"/>
          </a:xfrm>
          <a:prstGeom prst="ellipse">
            <a:avLst/>
          </a:prstGeom>
          <a:solidFill>
            <a:srgbClr val="16C7E8"/>
          </a:solidFill>
          <a:ln/>
        </p:spPr>
      </p:sp>
      <p:sp>
        <p:nvSpPr>
          <p:cNvPr id="32" name="Text 30"/>
          <p:cNvSpPr/>
          <p:nvPr/>
        </p:nvSpPr>
        <p:spPr>
          <a:xfrm>
            <a:off x="9290304" y="2386584"/>
            <a:ext cx="987552" cy="310896"/>
          </a:xfrm>
          <a:prstGeom prst="rect">
            <a:avLst/>
          </a:prstGeom>
          <a:noFill/>
          <a:ln/>
        </p:spPr>
        <p:txBody>
          <a:bodyPr wrap="square" lIns="0" tIns="0" rIns="0" bIns="0" rtlCol="0" anchor="ctr"/>
          <a:lstStyle/>
          <a:p>
            <a:pPr algn="ctr" indent="0" marL="0">
              <a:buNone/>
            </a:pPr>
            <a:r>
              <a:rPr lang="en-US" sz="2400" b="1" dirty="0">
                <a:solidFill>
                  <a:srgbClr val="11162B"/>
                </a:solidFill>
                <a:latin typeface="Aptos" pitchFamily="34" charset="0"/>
                <a:ea typeface="Aptos" pitchFamily="34" charset="-122"/>
                <a:cs typeface="Aptos" pitchFamily="34" charset="-120"/>
              </a:rPr>
              <a:t>✓</a:t>
            </a:r>
            <a:endParaRPr lang="en-US" sz="2400" dirty="0"/>
          </a:p>
        </p:txBody>
      </p:sp>
      <p:sp>
        <p:nvSpPr>
          <p:cNvPr id="33" name="Text 31"/>
          <p:cNvSpPr/>
          <p:nvPr/>
        </p:nvSpPr>
        <p:spPr>
          <a:xfrm>
            <a:off x="8339328" y="3364992"/>
            <a:ext cx="2889504" cy="393192"/>
          </a:xfrm>
          <a:prstGeom prst="rect">
            <a:avLst/>
          </a:prstGeom>
          <a:noFill/>
          <a:ln/>
        </p:spPr>
        <p:txBody>
          <a:bodyPr wrap="square" lIns="0" tIns="0" rIns="0" bIns="0" rtlCol="0" anchor="ctr"/>
          <a:lstStyle/>
          <a:p>
            <a:pPr algn="ctr" indent="0" marL="0">
              <a:buNone/>
            </a:pPr>
            <a:r>
              <a:rPr lang="en-US" sz="2200" b="1" dirty="0">
                <a:solidFill>
                  <a:srgbClr val="11162B"/>
                </a:solidFill>
                <a:latin typeface="Aptos Display" pitchFamily="34" charset="0"/>
                <a:ea typeface="Aptos Display" pitchFamily="34" charset="-122"/>
                <a:cs typeface="Aptos Display" pitchFamily="34" charset="-120"/>
              </a:rPr>
              <a:t>Evaluation</a:t>
            </a:r>
            <a:endParaRPr lang="en-US" sz="2200" dirty="0"/>
          </a:p>
        </p:txBody>
      </p:sp>
      <p:sp>
        <p:nvSpPr>
          <p:cNvPr id="34" name="Text 32"/>
          <p:cNvSpPr/>
          <p:nvPr/>
        </p:nvSpPr>
        <p:spPr>
          <a:xfrm>
            <a:off x="8412480" y="3931920"/>
            <a:ext cx="2743200" cy="1298448"/>
          </a:xfrm>
          <a:prstGeom prst="rect">
            <a:avLst/>
          </a:prstGeom>
          <a:noFill/>
          <a:ln/>
        </p:spPr>
        <p:txBody>
          <a:bodyPr wrap="square" lIns="0" tIns="0" rIns="0" bIns="0" rtlCol="0" anchor="t">
            <a:normAutofit/>
          </a:bodyPr>
          <a:lstStyle/>
          <a:p>
            <a:pPr algn="ctr" indent="0" marL="0">
              <a:buNone/>
            </a:pPr>
            <a:r>
              <a:rPr lang="en-US" sz="1520" dirty="0">
                <a:solidFill>
                  <a:srgbClr val="151B31"/>
                </a:solidFill>
                <a:latin typeface="Aptos" pitchFamily="34" charset="0"/>
                <a:ea typeface="Aptos" pitchFamily="34" charset="-122"/>
                <a:cs typeface="Aptos" pitchFamily="34" charset="-120"/>
              </a:rPr>
              <a:t>Evaluation measures quality, safety, or task success against criteria</a:t>
            </a:r>
            <a:endParaRPr lang="en-US" sz="1520" dirty="0"/>
          </a:p>
        </p:txBody>
      </p:sp>
      <p:sp>
        <p:nvSpPr>
          <p:cNvPr id="35" name="Text 33"/>
          <p:cNvSpPr/>
          <p:nvPr/>
        </p:nvSpPr>
        <p:spPr>
          <a:xfrm>
            <a:off x="896112" y="1554480"/>
            <a:ext cx="2926080" cy="118872"/>
          </a:xfrm>
          <a:prstGeom prst="rect">
            <a:avLst/>
          </a:prstGeom>
          <a:noFill/>
          <a:ln/>
        </p:spPr>
        <p:txBody>
          <a:bodyPr wrap="square" lIns="0" tIns="0" rIns="0" bIns="0" rtlCol="0" anchor="ctr">
            <a:normAutofit/>
          </a:bodyPr>
          <a:lstStyle/>
          <a:p>
            <a:pPr algn="ctr" indent="0" marL="0">
              <a:buNone/>
            </a:pPr>
            <a:r>
              <a:rPr lang="en-US" sz="820" b="1" spc="45" kern="0" dirty="0">
                <a:solidFill>
                  <a:srgbClr val="11162B"/>
                </a:solidFill>
                <a:latin typeface="Aptos" pitchFamily="34" charset="0"/>
                <a:ea typeface="Aptos" pitchFamily="34" charset="-122"/>
                <a:cs typeface="Aptos" pitchFamily="34" charset="-120"/>
              </a:rPr>
              <a:t>EXPLAIN THIS BEHAVIOR — OBSERVABILITY</a:t>
            </a:r>
            <a:endParaRPr lang="en-US" sz="820" dirty="0"/>
          </a:p>
        </p:txBody>
      </p:sp>
      <p:sp>
        <p:nvSpPr>
          <p:cNvPr id="36" name="Text 34"/>
          <p:cNvSpPr/>
          <p:nvPr/>
        </p:nvSpPr>
        <p:spPr>
          <a:xfrm>
            <a:off x="4590288" y="1554480"/>
            <a:ext cx="6656832" cy="118872"/>
          </a:xfrm>
          <a:prstGeom prst="rect">
            <a:avLst/>
          </a:prstGeom>
          <a:noFill/>
          <a:ln/>
        </p:spPr>
        <p:txBody>
          <a:bodyPr wrap="square" lIns="0" tIns="0" rIns="0" bIns="0" rtlCol="0" anchor="ctr">
            <a:normAutofit/>
          </a:bodyPr>
          <a:lstStyle/>
          <a:p>
            <a:pPr algn="ctr" indent="0" marL="0">
              <a:buNone/>
            </a:pPr>
            <a:r>
              <a:rPr lang="en-US" sz="820" b="1" spc="45" kern="0" dirty="0">
                <a:solidFill>
                  <a:srgbClr val="11162B"/>
                </a:solidFill>
                <a:latin typeface="Aptos" pitchFamily="34" charset="0"/>
                <a:ea typeface="Aptos" pitchFamily="34" charset="-122"/>
                <a:cs typeface="Aptos" pitchFamily="34" charset="-120"/>
              </a:rPr>
              <a:t>WATCH AND JUDGE — MONITORING + EVALUATION</a:t>
            </a:r>
            <a:endParaRPr lang="en-US" sz="820" dirty="0"/>
          </a:p>
        </p:txBody>
      </p:sp>
      <p:sp>
        <p:nvSpPr>
          <p:cNvPr id="37" name="Shape 35"/>
          <p:cNvSpPr/>
          <p:nvPr/>
        </p:nvSpPr>
        <p:spPr>
          <a:xfrm>
            <a:off x="1243584" y="5742432"/>
            <a:ext cx="9701784" cy="438912"/>
          </a:xfrm>
          <a:prstGeom prst="roundRect">
            <a:avLst>
              <a:gd name="adj" fmla="val 16667"/>
            </a:avLst>
          </a:prstGeom>
          <a:solidFill>
            <a:srgbClr val="11162B"/>
          </a:solidFill>
          <a:ln/>
        </p:spPr>
      </p:sp>
      <p:sp>
        <p:nvSpPr>
          <p:cNvPr id="38" name="Text 36"/>
          <p:cNvSpPr/>
          <p:nvPr/>
        </p:nvSpPr>
        <p:spPr>
          <a:xfrm>
            <a:off x="1554480" y="5879592"/>
            <a:ext cx="9079992" cy="12801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Error-free is not the same as correct, grounded, or useful</a:t>
            </a:r>
            <a:endParaRPr lang="en-US" sz="1400" dirty="0"/>
          </a:p>
        </p:txBody>
      </p:sp>
      <p:sp>
        <p:nvSpPr>
          <p:cNvPr id="39" name="Text 37"/>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learn.microsoft.com/azure/foundry/concepts/observability</a:t>
            </a:r>
            <a:endParaRPr lang="en-US" sz="940" dirty="0"/>
          </a:p>
        </p:txBody>
      </p:sp>
      <p:sp>
        <p:nvSpPr>
          <p:cNvPr id="40" name="Shape 38"/>
          <p:cNvSpPr/>
          <p:nvPr/>
        </p:nvSpPr>
        <p:spPr>
          <a:xfrm>
            <a:off x="0" y="6793992"/>
            <a:ext cx="12191695" cy="64008"/>
          </a:xfrm>
          <a:prstGeom prst="rect">
            <a:avLst/>
          </a:prstGeom>
          <a:solidFill>
            <a:srgbClr val="16C7E8"/>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Evidence from one agent run</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04</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481328"/>
            <a:ext cx="3657600" cy="987552"/>
          </a:xfrm>
          <a:prstGeom prst="roundRect">
            <a:avLst>
              <a:gd name="adj" fmla="val 7407"/>
            </a:avLst>
          </a:prstGeom>
          <a:solidFill>
            <a:srgbClr val="E4F7FB"/>
          </a:solidFill>
          <a:ln w="10160">
            <a:solidFill>
              <a:srgbClr val="16C7E8"/>
            </a:solidFill>
            <a:prstDash val="solid"/>
          </a:ln>
        </p:spPr>
      </p:sp>
      <p:sp>
        <p:nvSpPr>
          <p:cNvPr id="18" name="Shape 16"/>
          <p:cNvSpPr/>
          <p:nvPr/>
        </p:nvSpPr>
        <p:spPr>
          <a:xfrm>
            <a:off x="850392" y="1737360"/>
            <a:ext cx="457200" cy="457200"/>
          </a:xfrm>
          <a:prstGeom prst="ellipse">
            <a:avLst/>
          </a:prstGeom>
          <a:solidFill>
            <a:srgbClr val="16C7E8"/>
          </a:solidFill>
          <a:ln/>
        </p:spPr>
      </p:sp>
      <p:sp>
        <p:nvSpPr>
          <p:cNvPr id="19" name="Text 17"/>
          <p:cNvSpPr/>
          <p:nvPr/>
        </p:nvSpPr>
        <p:spPr>
          <a:xfrm>
            <a:off x="850392" y="1883664"/>
            <a:ext cx="457200"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1</a:t>
            </a:r>
            <a:endParaRPr lang="en-US" sz="950" dirty="0"/>
          </a:p>
        </p:txBody>
      </p:sp>
      <p:sp>
        <p:nvSpPr>
          <p:cNvPr id="20" name="Text 18"/>
          <p:cNvSpPr/>
          <p:nvPr/>
        </p:nvSpPr>
        <p:spPr>
          <a:xfrm>
            <a:off x="1517904" y="1645920"/>
            <a:ext cx="2468880" cy="274320"/>
          </a:xfrm>
          <a:prstGeom prst="rect">
            <a:avLst/>
          </a:prstGeom>
          <a:noFill/>
          <a:ln/>
        </p:spPr>
        <p:txBody>
          <a:bodyPr wrap="square" lIns="0" tIns="0" rIns="0" bIns="0" rtlCol="0" anchor="ctr"/>
          <a:lstStyle/>
          <a:p>
            <a:pPr indent="0" marL="0">
              <a:buNone/>
            </a:pPr>
            <a:r>
              <a:rPr lang="en-US" sz="1900" b="1" dirty="0">
                <a:solidFill>
                  <a:srgbClr val="11162B"/>
                </a:solidFill>
                <a:latin typeface="Aptos Display" pitchFamily="34" charset="0"/>
                <a:ea typeface="Aptos Display" pitchFamily="34" charset="-122"/>
                <a:cs typeface="Aptos Display" pitchFamily="34" charset="-120"/>
              </a:rPr>
              <a:t>Trace</a:t>
            </a:r>
            <a:endParaRPr lang="en-US" sz="1900" dirty="0"/>
          </a:p>
        </p:txBody>
      </p:sp>
      <p:sp>
        <p:nvSpPr>
          <p:cNvPr id="21" name="Text 19"/>
          <p:cNvSpPr/>
          <p:nvPr/>
        </p:nvSpPr>
        <p:spPr>
          <a:xfrm>
            <a:off x="1517904" y="1984248"/>
            <a:ext cx="2468880" cy="338328"/>
          </a:xfrm>
          <a:prstGeom prst="rect">
            <a:avLst/>
          </a:prstGeom>
          <a:noFill/>
          <a:ln/>
        </p:spPr>
        <p:txBody>
          <a:bodyPr wrap="square" lIns="0" tIns="0" rIns="0" bIns="0" rtlCol="0" anchor="ctr">
            <a:normAutofit/>
          </a:bodyPr>
          <a:lstStyle/>
          <a:p>
            <a:pPr indent="0" marL="0">
              <a:buNone/>
            </a:pPr>
            <a:r>
              <a:rPr lang="en-US" sz="1420" dirty="0">
                <a:solidFill>
                  <a:srgbClr val="151B31"/>
                </a:solidFill>
                <a:latin typeface="Aptos" pitchFamily="34" charset="0"/>
                <a:ea typeface="Aptos" pitchFamily="34" charset="-122"/>
                <a:cs typeface="Aptos" pitchFamily="34" charset="-120"/>
              </a:rPr>
              <a:t>One execution journey across the operations recorded by instrumentation</a:t>
            </a:r>
            <a:endParaRPr lang="en-US" sz="1420" dirty="0"/>
          </a:p>
        </p:txBody>
      </p:sp>
      <p:sp>
        <p:nvSpPr>
          <p:cNvPr id="22" name="Shape 20"/>
          <p:cNvSpPr/>
          <p:nvPr/>
        </p:nvSpPr>
        <p:spPr>
          <a:xfrm>
            <a:off x="640080" y="2697480"/>
            <a:ext cx="3657600" cy="987552"/>
          </a:xfrm>
          <a:prstGeom prst="roundRect">
            <a:avLst>
              <a:gd name="adj" fmla="val 7407"/>
            </a:avLst>
          </a:prstGeom>
          <a:solidFill>
            <a:srgbClr val="FFFFFF"/>
          </a:solidFill>
          <a:ln w="10160">
            <a:solidFill>
              <a:srgbClr val="E4F7FB"/>
            </a:solidFill>
            <a:prstDash val="solid"/>
          </a:ln>
        </p:spPr>
      </p:sp>
      <p:sp>
        <p:nvSpPr>
          <p:cNvPr id="23" name="Shape 21"/>
          <p:cNvSpPr/>
          <p:nvPr/>
        </p:nvSpPr>
        <p:spPr>
          <a:xfrm>
            <a:off x="850392" y="2953512"/>
            <a:ext cx="457200" cy="457200"/>
          </a:xfrm>
          <a:prstGeom prst="ellipse">
            <a:avLst/>
          </a:prstGeom>
          <a:solidFill>
            <a:srgbClr val="8B5CF6"/>
          </a:solidFill>
          <a:ln/>
        </p:spPr>
      </p:sp>
      <p:sp>
        <p:nvSpPr>
          <p:cNvPr id="24" name="Text 22"/>
          <p:cNvSpPr/>
          <p:nvPr/>
        </p:nvSpPr>
        <p:spPr>
          <a:xfrm>
            <a:off x="850392" y="3099816"/>
            <a:ext cx="457200"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2</a:t>
            </a:r>
            <a:endParaRPr lang="en-US" sz="950" dirty="0"/>
          </a:p>
        </p:txBody>
      </p:sp>
      <p:sp>
        <p:nvSpPr>
          <p:cNvPr id="25" name="Text 23"/>
          <p:cNvSpPr/>
          <p:nvPr/>
        </p:nvSpPr>
        <p:spPr>
          <a:xfrm>
            <a:off x="1517904" y="2862072"/>
            <a:ext cx="2468880" cy="274320"/>
          </a:xfrm>
          <a:prstGeom prst="rect">
            <a:avLst/>
          </a:prstGeom>
          <a:noFill/>
          <a:ln/>
        </p:spPr>
        <p:txBody>
          <a:bodyPr wrap="square" lIns="0" tIns="0" rIns="0" bIns="0" rtlCol="0" anchor="ctr"/>
          <a:lstStyle/>
          <a:p>
            <a:pPr indent="0" marL="0">
              <a:buNone/>
            </a:pPr>
            <a:r>
              <a:rPr lang="en-US" sz="1900" b="1" dirty="0">
                <a:solidFill>
                  <a:srgbClr val="11162B"/>
                </a:solidFill>
                <a:latin typeface="Aptos Display" pitchFamily="34" charset="0"/>
                <a:ea typeface="Aptos Display" pitchFamily="34" charset="-122"/>
                <a:cs typeface="Aptos Display" pitchFamily="34" charset="-120"/>
              </a:rPr>
              <a:t>Span</a:t>
            </a:r>
            <a:endParaRPr lang="en-US" sz="1900" dirty="0"/>
          </a:p>
        </p:txBody>
      </p:sp>
      <p:sp>
        <p:nvSpPr>
          <p:cNvPr id="26" name="Text 24"/>
          <p:cNvSpPr/>
          <p:nvPr/>
        </p:nvSpPr>
        <p:spPr>
          <a:xfrm>
            <a:off x="1517904" y="3200400"/>
            <a:ext cx="2468880" cy="338328"/>
          </a:xfrm>
          <a:prstGeom prst="rect">
            <a:avLst/>
          </a:prstGeom>
          <a:noFill/>
          <a:ln/>
        </p:spPr>
        <p:txBody>
          <a:bodyPr wrap="square" lIns="0" tIns="0" rIns="0" bIns="0" rtlCol="0" anchor="ctr">
            <a:normAutofit/>
          </a:bodyPr>
          <a:lstStyle/>
          <a:p>
            <a:pPr indent="0" marL="0">
              <a:buNone/>
            </a:pPr>
            <a:r>
              <a:rPr lang="en-US" sz="1420" dirty="0">
                <a:solidFill>
                  <a:srgbClr val="151B31"/>
                </a:solidFill>
                <a:latin typeface="Aptos" pitchFamily="34" charset="0"/>
                <a:ea typeface="Aptos" pitchFamily="34" charset="-122"/>
                <a:cs typeface="Aptos" pitchFamily="34" charset="-120"/>
              </a:rPr>
              <a:t>One operation with start/end time, status, and relationships</a:t>
            </a:r>
            <a:endParaRPr lang="en-US" sz="1420" dirty="0"/>
          </a:p>
        </p:txBody>
      </p:sp>
      <p:sp>
        <p:nvSpPr>
          <p:cNvPr id="27" name="Shape 25"/>
          <p:cNvSpPr/>
          <p:nvPr/>
        </p:nvSpPr>
        <p:spPr>
          <a:xfrm>
            <a:off x="640080" y="3913632"/>
            <a:ext cx="3657600" cy="987552"/>
          </a:xfrm>
          <a:prstGeom prst="roundRect">
            <a:avLst>
              <a:gd name="adj" fmla="val 7407"/>
            </a:avLst>
          </a:prstGeom>
          <a:solidFill>
            <a:srgbClr val="FFFFFF"/>
          </a:solidFill>
          <a:ln w="10160">
            <a:solidFill>
              <a:srgbClr val="E4F7FB"/>
            </a:solidFill>
            <a:prstDash val="solid"/>
          </a:ln>
        </p:spPr>
      </p:sp>
      <p:sp>
        <p:nvSpPr>
          <p:cNvPr id="28" name="Shape 26"/>
          <p:cNvSpPr/>
          <p:nvPr/>
        </p:nvSpPr>
        <p:spPr>
          <a:xfrm>
            <a:off x="850392" y="4169664"/>
            <a:ext cx="457200" cy="457200"/>
          </a:xfrm>
          <a:prstGeom prst="ellipse">
            <a:avLst/>
          </a:prstGeom>
          <a:solidFill>
            <a:srgbClr val="16C7E8"/>
          </a:solidFill>
          <a:ln/>
        </p:spPr>
      </p:sp>
      <p:sp>
        <p:nvSpPr>
          <p:cNvPr id="29" name="Text 27"/>
          <p:cNvSpPr/>
          <p:nvPr/>
        </p:nvSpPr>
        <p:spPr>
          <a:xfrm>
            <a:off x="850392" y="4315968"/>
            <a:ext cx="457200"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3</a:t>
            </a:r>
            <a:endParaRPr lang="en-US" sz="950" dirty="0"/>
          </a:p>
        </p:txBody>
      </p:sp>
      <p:sp>
        <p:nvSpPr>
          <p:cNvPr id="30" name="Text 28"/>
          <p:cNvSpPr/>
          <p:nvPr/>
        </p:nvSpPr>
        <p:spPr>
          <a:xfrm>
            <a:off x="1517904" y="4078224"/>
            <a:ext cx="2468880" cy="274320"/>
          </a:xfrm>
          <a:prstGeom prst="rect">
            <a:avLst/>
          </a:prstGeom>
          <a:noFill/>
          <a:ln/>
        </p:spPr>
        <p:txBody>
          <a:bodyPr wrap="square" lIns="0" tIns="0" rIns="0" bIns="0" rtlCol="0" anchor="ctr"/>
          <a:lstStyle/>
          <a:p>
            <a:pPr indent="0" marL="0">
              <a:buNone/>
            </a:pPr>
            <a:r>
              <a:rPr lang="en-US" sz="1900" b="1" dirty="0">
                <a:solidFill>
                  <a:srgbClr val="11162B"/>
                </a:solidFill>
                <a:latin typeface="Aptos Display" pitchFamily="34" charset="0"/>
                <a:ea typeface="Aptos Display" pitchFamily="34" charset="-122"/>
                <a:cs typeface="Aptos Display" pitchFamily="34" charset="-120"/>
              </a:rPr>
              <a:t>Attribute</a:t>
            </a:r>
            <a:endParaRPr lang="en-US" sz="1900" dirty="0"/>
          </a:p>
        </p:txBody>
      </p:sp>
      <p:sp>
        <p:nvSpPr>
          <p:cNvPr id="31" name="Text 29"/>
          <p:cNvSpPr/>
          <p:nvPr/>
        </p:nvSpPr>
        <p:spPr>
          <a:xfrm>
            <a:off x="1517904" y="4416552"/>
            <a:ext cx="2468880" cy="338328"/>
          </a:xfrm>
          <a:prstGeom prst="rect">
            <a:avLst/>
          </a:prstGeom>
          <a:noFill/>
          <a:ln/>
        </p:spPr>
        <p:txBody>
          <a:bodyPr wrap="square" lIns="0" tIns="0" rIns="0" bIns="0" rtlCol="0" anchor="ctr">
            <a:normAutofit/>
          </a:bodyPr>
          <a:lstStyle/>
          <a:p>
            <a:pPr indent="0" marL="0">
              <a:buNone/>
            </a:pPr>
            <a:r>
              <a:rPr lang="en-US" sz="1420" dirty="0">
                <a:solidFill>
                  <a:srgbClr val="151B31"/>
                </a:solidFill>
                <a:latin typeface="Aptos" pitchFamily="34" charset="0"/>
                <a:ea typeface="Aptos" pitchFamily="34" charset="-122"/>
                <a:cs typeface="Aptos" pitchFamily="34" charset="-120"/>
              </a:rPr>
              <a:t>Context such as model, tool, executor, or correlation metadata</a:t>
            </a:r>
            <a:endParaRPr lang="en-US" sz="1420" dirty="0"/>
          </a:p>
        </p:txBody>
      </p:sp>
      <p:sp>
        <p:nvSpPr>
          <p:cNvPr id="32" name="Shape 30"/>
          <p:cNvSpPr/>
          <p:nvPr/>
        </p:nvSpPr>
        <p:spPr>
          <a:xfrm>
            <a:off x="4553712" y="1481328"/>
            <a:ext cx="6995160" cy="4160520"/>
          </a:xfrm>
          <a:prstGeom prst="roundRect">
            <a:avLst>
              <a:gd name="adj" fmla="val 1758"/>
            </a:avLst>
          </a:prstGeom>
          <a:solidFill>
            <a:srgbClr val="FFFFFF"/>
          </a:solidFill>
          <a:ln w="10160">
            <a:solidFill>
              <a:srgbClr val="E4F7FB"/>
            </a:solidFill>
            <a:prstDash val="solid"/>
          </a:ln>
        </p:spPr>
      </p:sp>
      <p:sp>
        <p:nvSpPr>
          <p:cNvPr id="33" name="Text 31"/>
          <p:cNvSpPr/>
          <p:nvPr/>
        </p:nvSpPr>
        <p:spPr>
          <a:xfrm>
            <a:off x="4864608" y="1773936"/>
            <a:ext cx="2926080" cy="182880"/>
          </a:xfrm>
          <a:prstGeom prst="rect">
            <a:avLst/>
          </a:prstGeom>
          <a:noFill/>
          <a:ln/>
        </p:spPr>
        <p:txBody>
          <a:bodyPr wrap="square" lIns="0" tIns="0" rIns="0" bIns="0" rtlCol="0" anchor="ctr"/>
          <a:lstStyle/>
          <a:p>
            <a:pPr indent="0" marL="0">
              <a:buNone/>
            </a:pPr>
            <a:r>
              <a:rPr lang="en-US" sz="1100" b="1" dirty="0">
                <a:solidFill>
                  <a:srgbClr val="11162B"/>
                </a:solidFill>
                <a:latin typeface="Consolas" pitchFamily="34" charset="0"/>
                <a:ea typeface="Consolas" pitchFamily="34" charset="-122"/>
                <a:cs typeface="Consolas" pitchFamily="34" charset="-120"/>
              </a:rPr>
              <a:t>AUTOMATIC SPANS  /  SAME TRACE</a:t>
            </a:r>
            <a:endParaRPr lang="en-US" sz="1100" dirty="0"/>
          </a:p>
        </p:txBody>
      </p:sp>
      <p:sp>
        <p:nvSpPr>
          <p:cNvPr id="34" name="Shape 32"/>
          <p:cNvSpPr/>
          <p:nvPr/>
        </p:nvSpPr>
        <p:spPr>
          <a:xfrm>
            <a:off x="4956048" y="2816352"/>
            <a:ext cx="5989320" cy="0"/>
          </a:xfrm>
          <a:prstGeom prst="line">
            <a:avLst/>
          </a:prstGeom>
          <a:noFill/>
          <a:ln w="88900">
            <a:solidFill>
              <a:srgbClr val="E4F7FB"/>
            </a:solidFill>
            <a:prstDash val="solid"/>
          </a:ln>
        </p:spPr>
      </p:sp>
      <p:sp>
        <p:nvSpPr>
          <p:cNvPr id="35" name="Shape 33"/>
          <p:cNvSpPr/>
          <p:nvPr/>
        </p:nvSpPr>
        <p:spPr>
          <a:xfrm>
            <a:off x="5010912" y="2404872"/>
            <a:ext cx="5440680" cy="475488"/>
          </a:xfrm>
          <a:prstGeom prst="roundRect">
            <a:avLst>
              <a:gd name="adj" fmla="val 15385"/>
            </a:avLst>
          </a:prstGeom>
          <a:solidFill>
            <a:srgbClr val="11162B"/>
          </a:solidFill>
          <a:ln/>
        </p:spPr>
      </p:sp>
      <p:sp>
        <p:nvSpPr>
          <p:cNvPr id="36" name="Text 34"/>
          <p:cNvSpPr/>
          <p:nvPr/>
        </p:nvSpPr>
        <p:spPr>
          <a:xfrm>
            <a:off x="5157216" y="2560320"/>
            <a:ext cx="5148072" cy="128016"/>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Consolas" pitchFamily="34" charset="0"/>
                <a:ea typeface="Consolas" pitchFamily="34" charset="-122"/>
                <a:cs typeface="Consolas" pitchFamily="34" charset="-120"/>
              </a:rPr>
              <a:t>invoke_agent WeatherAgent</a:t>
            </a:r>
            <a:endParaRPr lang="en-US" sz="1050" dirty="0"/>
          </a:p>
        </p:txBody>
      </p:sp>
      <p:sp>
        <p:nvSpPr>
          <p:cNvPr id="37" name="Shape 35"/>
          <p:cNvSpPr/>
          <p:nvPr/>
        </p:nvSpPr>
        <p:spPr>
          <a:xfrm>
            <a:off x="5577840" y="3081528"/>
            <a:ext cx="2240280" cy="475488"/>
          </a:xfrm>
          <a:prstGeom prst="roundRect">
            <a:avLst>
              <a:gd name="adj" fmla="val 15385"/>
            </a:avLst>
          </a:prstGeom>
          <a:solidFill>
            <a:srgbClr val="16C7E8"/>
          </a:solidFill>
          <a:ln/>
        </p:spPr>
      </p:sp>
      <p:sp>
        <p:nvSpPr>
          <p:cNvPr id="38" name="Text 36"/>
          <p:cNvSpPr/>
          <p:nvPr/>
        </p:nvSpPr>
        <p:spPr>
          <a:xfrm>
            <a:off x="5724144" y="3236976"/>
            <a:ext cx="1947672" cy="128016"/>
          </a:xfrm>
          <a:prstGeom prst="rect">
            <a:avLst/>
          </a:prstGeom>
          <a:noFill/>
          <a:ln/>
        </p:spPr>
        <p:txBody>
          <a:bodyPr wrap="square" lIns="0" tIns="0" rIns="0" bIns="0" rtlCol="0" anchor="ctr">
            <a:normAutofit/>
          </a:bodyPr>
          <a:lstStyle/>
          <a:p>
            <a:pPr algn="ctr" indent="0" marL="0">
              <a:buNone/>
            </a:pPr>
            <a:r>
              <a:rPr lang="en-US" sz="1050" b="1" dirty="0">
                <a:solidFill>
                  <a:srgbClr val="11162B"/>
                </a:solidFill>
                <a:latin typeface="Consolas" pitchFamily="34" charset="0"/>
                <a:ea typeface="Consolas" pitchFamily="34" charset="-122"/>
                <a:cs typeface="Consolas" pitchFamily="34" charset="-120"/>
              </a:rPr>
              <a:t>chat &lt;model&gt;</a:t>
            </a:r>
            <a:endParaRPr lang="en-US" sz="1050" dirty="0"/>
          </a:p>
        </p:txBody>
      </p:sp>
      <p:sp>
        <p:nvSpPr>
          <p:cNvPr id="39" name="Shape 37"/>
          <p:cNvSpPr/>
          <p:nvPr/>
        </p:nvSpPr>
        <p:spPr>
          <a:xfrm>
            <a:off x="8046720" y="3081528"/>
            <a:ext cx="1261872" cy="475488"/>
          </a:xfrm>
          <a:prstGeom prst="roundRect">
            <a:avLst>
              <a:gd name="adj" fmla="val 15385"/>
            </a:avLst>
          </a:prstGeom>
          <a:solidFill>
            <a:srgbClr val="8B5CF6"/>
          </a:solidFill>
          <a:ln/>
        </p:spPr>
      </p:sp>
      <p:sp>
        <p:nvSpPr>
          <p:cNvPr id="40" name="Text 38"/>
          <p:cNvSpPr/>
          <p:nvPr/>
        </p:nvSpPr>
        <p:spPr>
          <a:xfrm>
            <a:off x="8193024" y="3236976"/>
            <a:ext cx="969264" cy="128016"/>
          </a:xfrm>
          <a:prstGeom prst="rect">
            <a:avLst/>
          </a:prstGeom>
          <a:noFill/>
          <a:ln/>
        </p:spPr>
        <p:txBody>
          <a:bodyPr wrap="square" lIns="0" tIns="0" rIns="0" bIns="0" rtlCol="0" anchor="ctr">
            <a:normAutofit/>
          </a:bodyPr>
          <a:lstStyle/>
          <a:p>
            <a:pPr algn="ctr" indent="0" marL="0">
              <a:buNone/>
            </a:pPr>
            <a:r>
              <a:rPr lang="en-US" sz="1050" b="1" dirty="0">
                <a:solidFill>
                  <a:srgbClr val="11162B"/>
                </a:solidFill>
                <a:latin typeface="Consolas" pitchFamily="34" charset="0"/>
                <a:ea typeface="Consolas" pitchFamily="34" charset="-122"/>
                <a:cs typeface="Consolas" pitchFamily="34" charset="-120"/>
              </a:rPr>
              <a:t>execute_tool get_weather</a:t>
            </a:r>
            <a:endParaRPr lang="en-US" sz="1050" dirty="0"/>
          </a:p>
        </p:txBody>
      </p:sp>
      <p:sp>
        <p:nvSpPr>
          <p:cNvPr id="41" name="Shape 39"/>
          <p:cNvSpPr/>
          <p:nvPr/>
        </p:nvSpPr>
        <p:spPr>
          <a:xfrm>
            <a:off x="4892040" y="4041648"/>
            <a:ext cx="1737360" cy="384048"/>
          </a:xfrm>
          <a:prstGeom prst="roundRect">
            <a:avLst>
              <a:gd name="adj" fmla="val 19048"/>
            </a:avLst>
          </a:prstGeom>
          <a:solidFill>
            <a:srgbClr val="E4F7FB"/>
          </a:solidFill>
          <a:ln/>
        </p:spPr>
      </p:sp>
      <p:sp>
        <p:nvSpPr>
          <p:cNvPr id="42" name="Text 40"/>
          <p:cNvSpPr/>
          <p:nvPr/>
        </p:nvSpPr>
        <p:spPr>
          <a:xfrm>
            <a:off x="5010912" y="4160520"/>
            <a:ext cx="1499616" cy="109728"/>
          </a:xfrm>
          <a:prstGeom prst="rect">
            <a:avLst/>
          </a:prstGeom>
          <a:noFill/>
          <a:ln/>
        </p:spPr>
        <p:txBody>
          <a:bodyPr wrap="square" lIns="0" tIns="0" rIns="0" bIns="0" rtlCol="0" anchor="ctr">
            <a:normAutofit/>
          </a:bodyPr>
          <a:lstStyle/>
          <a:p>
            <a:pPr algn="ctr" indent="0" marL="0">
              <a:buNone/>
            </a:pPr>
            <a:r>
              <a:rPr lang="en-US" sz="1020" dirty="0">
                <a:solidFill>
                  <a:srgbClr val="11162B"/>
                </a:solidFill>
                <a:latin typeface="Consolas" pitchFamily="34" charset="0"/>
                <a:ea typeface="Consolas" pitchFamily="34" charset="-122"/>
                <a:cs typeface="Consolas" pitchFamily="34" charset="-120"/>
              </a:rPr>
              <a:t>agent=weather-agent</a:t>
            </a:r>
            <a:endParaRPr lang="en-US" sz="1020" dirty="0"/>
          </a:p>
        </p:txBody>
      </p:sp>
      <p:sp>
        <p:nvSpPr>
          <p:cNvPr id="43" name="Shape 41"/>
          <p:cNvSpPr/>
          <p:nvPr/>
        </p:nvSpPr>
        <p:spPr>
          <a:xfrm>
            <a:off x="6858000" y="4041648"/>
            <a:ext cx="1737360" cy="384048"/>
          </a:xfrm>
          <a:prstGeom prst="roundRect">
            <a:avLst>
              <a:gd name="adj" fmla="val 19048"/>
            </a:avLst>
          </a:prstGeom>
          <a:solidFill>
            <a:srgbClr val="EEE9FF"/>
          </a:solidFill>
          <a:ln/>
        </p:spPr>
      </p:sp>
      <p:sp>
        <p:nvSpPr>
          <p:cNvPr id="44" name="Text 42"/>
          <p:cNvSpPr/>
          <p:nvPr/>
        </p:nvSpPr>
        <p:spPr>
          <a:xfrm>
            <a:off x="6976872" y="4160520"/>
            <a:ext cx="1499616" cy="109728"/>
          </a:xfrm>
          <a:prstGeom prst="rect">
            <a:avLst/>
          </a:prstGeom>
          <a:noFill/>
          <a:ln/>
        </p:spPr>
        <p:txBody>
          <a:bodyPr wrap="square" lIns="0" tIns="0" rIns="0" bIns="0" rtlCol="0" anchor="ctr">
            <a:normAutofit/>
          </a:bodyPr>
          <a:lstStyle/>
          <a:p>
            <a:pPr algn="ctr" indent="0" marL="0">
              <a:buNone/>
            </a:pPr>
            <a:r>
              <a:rPr lang="en-US" sz="1020" dirty="0">
                <a:solidFill>
                  <a:srgbClr val="11162B"/>
                </a:solidFill>
                <a:latin typeface="Consolas" pitchFamily="34" charset="0"/>
                <a:ea typeface="Consolas" pitchFamily="34" charset="-122"/>
                <a:cs typeface="Consolas" pitchFamily="34" charset="-120"/>
              </a:rPr>
              <a:t>status=ok</a:t>
            </a:r>
            <a:endParaRPr lang="en-US" sz="1020" dirty="0"/>
          </a:p>
        </p:txBody>
      </p:sp>
      <p:sp>
        <p:nvSpPr>
          <p:cNvPr id="45" name="Shape 43"/>
          <p:cNvSpPr/>
          <p:nvPr/>
        </p:nvSpPr>
        <p:spPr>
          <a:xfrm>
            <a:off x="8823960" y="4041648"/>
            <a:ext cx="1737360" cy="384048"/>
          </a:xfrm>
          <a:prstGeom prst="roundRect">
            <a:avLst>
              <a:gd name="adj" fmla="val 19048"/>
            </a:avLst>
          </a:prstGeom>
          <a:solidFill>
            <a:srgbClr val="E4F7FB"/>
          </a:solidFill>
          <a:ln/>
        </p:spPr>
      </p:sp>
      <p:sp>
        <p:nvSpPr>
          <p:cNvPr id="46" name="Text 44"/>
          <p:cNvSpPr/>
          <p:nvPr/>
        </p:nvSpPr>
        <p:spPr>
          <a:xfrm>
            <a:off x="8942832" y="4160520"/>
            <a:ext cx="1499616" cy="109728"/>
          </a:xfrm>
          <a:prstGeom prst="rect">
            <a:avLst/>
          </a:prstGeom>
          <a:noFill/>
          <a:ln/>
        </p:spPr>
        <p:txBody>
          <a:bodyPr wrap="square" lIns="0" tIns="0" rIns="0" bIns="0" rtlCol="0" anchor="ctr">
            <a:normAutofit/>
          </a:bodyPr>
          <a:lstStyle/>
          <a:p>
            <a:pPr algn="ctr" indent="0" marL="0">
              <a:buNone/>
            </a:pPr>
            <a:r>
              <a:rPr lang="en-US" sz="1020" dirty="0">
                <a:solidFill>
                  <a:srgbClr val="11162B"/>
                </a:solidFill>
                <a:latin typeface="Consolas" pitchFamily="34" charset="0"/>
                <a:ea typeface="Consolas" pitchFamily="34" charset="-122"/>
                <a:cs typeface="Consolas" pitchFamily="34" charset="-120"/>
              </a:rPr>
              <a:t>tool=get_weather</a:t>
            </a:r>
            <a:endParaRPr lang="en-US" sz="1020" dirty="0"/>
          </a:p>
        </p:txBody>
      </p:sp>
      <p:sp>
        <p:nvSpPr>
          <p:cNvPr id="47" name="Shape 45"/>
          <p:cNvSpPr/>
          <p:nvPr/>
        </p:nvSpPr>
        <p:spPr>
          <a:xfrm>
            <a:off x="640080" y="5294376"/>
            <a:ext cx="10908792" cy="832104"/>
          </a:xfrm>
          <a:prstGeom prst="roundRect">
            <a:avLst>
              <a:gd name="adj" fmla="val 8791"/>
            </a:avLst>
          </a:prstGeom>
          <a:solidFill>
            <a:srgbClr val="11162B"/>
          </a:solidFill>
          <a:ln/>
        </p:spPr>
      </p:sp>
      <p:sp>
        <p:nvSpPr>
          <p:cNvPr id="48" name="Text 46"/>
          <p:cNvSpPr/>
          <p:nvPr/>
        </p:nvSpPr>
        <p:spPr>
          <a:xfrm>
            <a:off x="896112" y="5522976"/>
            <a:ext cx="2148840" cy="228600"/>
          </a:xfrm>
          <a:prstGeom prst="rect">
            <a:avLst/>
          </a:prstGeom>
          <a:noFill/>
          <a:ln/>
        </p:spPr>
        <p:txBody>
          <a:bodyPr wrap="square" lIns="0" tIns="0" rIns="0" bIns="0" rtlCol="0" anchor="ctr"/>
          <a:lstStyle/>
          <a:p>
            <a:pPr indent="0" marL="0">
              <a:buNone/>
            </a:pPr>
            <a:r>
              <a:rPr lang="en-US" sz="1650" b="1" dirty="0">
                <a:solidFill>
                  <a:srgbClr val="16C7E8"/>
                </a:solidFill>
                <a:latin typeface="Aptos Display" pitchFamily="34" charset="0"/>
                <a:ea typeface="Aptos Display" pitchFamily="34" charset="-122"/>
                <a:cs typeface="Aptos Display" pitchFamily="34" charset="-120"/>
              </a:rPr>
              <a:t>Custom span</a:t>
            </a:r>
            <a:endParaRPr lang="en-US" sz="1650" dirty="0"/>
          </a:p>
        </p:txBody>
      </p:sp>
      <p:sp>
        <p:nvSpPr>
          <p:cNvPr id="49" name="Text 47"/>
          <p:cNvSpPr/>
          <p:nvPr/>
        </p:nvSpPr>
        <p:spPr>
          <a:xfrm>
            <a:off x="3182112" y="5468112"/>
            <a:ext cx="7973568" cy="301752"/>
          </a:xfrm>
          <a:prstGeom prst="rect">
            <a:avLst/>
          </a:prstGeom>
          <a:noFill/>
          <a:ln/>
        </p:spPr>
        <p:txBody>
          <a:bodyPr wrap="square" lIns="0" tIns="0" rIns="0" bIns="0" rtlCol="0" anchor="ctr">
            <a:normAutofit/>
          </a:bodyPr>
          <a:lstStyle/>
          <a:p>
            <a:pPr indent="0" marL="0">
              <a:buNone/>
            </a:pPr>
            <a:r>
              <a:rPr lang="en-US" sz="1340" dirty="0">
                <a:solidFill>
                  <a:srgbClr val="FFFFFF"/>
                </a:solidFill>
                <a:latin typeface="Aptos" pitchFamily="34" charset="0"/>
                <a:ea typeface="Aptos" pitchFamily="34" charset="-122"/>
                <a:cs typeface="Aptos" pitchFamily="34" charset="-120"/>
              </a:rPr>
              <a:t>Application code adds business or scenario context around recorded work</a:t>
            </a:r>
            <a:endParaRPr lang="en-US" sz="1340" dirty="0"/>
          </a:p>
        </p:txBody>
      </p:sp>
      <p:sp>
        <p:nvSpPr>
          <p:cNvPr id="50" name="Text 48"/>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learn.microsoft.com/azure/foundry/observability/concepts/trace-agent-concept  ·  +1 more in notes</a:t>
            </a:r>
            <a:endParaRPr lang="en-US" sz="940" dirty="0"/>
          </a:p>
        </p:txBody>
      </p:sp>
      <p:sp>
        <p:nvSpPr>
          <p:cNvPr id="51" name="Shape 49"/>
          <p:cNvSpPr/>
          <p:nvPr/>
        </p:nvSpPr>
        <p:spPr>
          <a:xfrm>
            <a:off x="0" y="6793992"/>
            <a:ext cx="12191695" cy="64008"/>
          </a:xfrm>
          <a:prstGeom prst="rect">
            <a:avLst/>
          </a:prstGeom>
          <a:solidFill>
            <a:srgbClr val="16C7E8"/>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How telemetry reaches Foundry and Application Insights</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05</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389888"/>
            <a:ext cx="3477768" cy="2299716"/>
          </a:xfrm>
          <a:prstGeom prst="roundRect">
            <a:avLst>
              <a:gd name="adj" fmla="val 3181"/>
            </a:avLst>
          </a:prstGeom>
          <a:solidFill>
            <a:srgbClr val="E4F7FB"/>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18" name="Shape 16"/>
          <p:cNvSpPr/>
          <p:nvPr/>
        </p:nvSpPr>
        <p:spPr>
          <a:xfrm>
            <a:off x="822960" y="1572768"/>
            <a:ext cx="384048" cy="384048"/>
          </a:xfrm>
          <a:prstGeom prst="ellipse">
            <a:avLst/>
          </a:prstGeom>
          <a:solidFill>
            <a:srgbClr val="16C7E8"/>
          </a:solidFill>
          <a:ln/>
        </p:spPr>
      </p:sp>
      <p:sp>
        <p:nvSpPr>
          <p:cNvPr id="19" name="Text 17"/>
          <p:cNvSpPr/>
          <p:nvPr/>
        </p:nvSpPr>
        <p:spPr>
          <a:xfrm>
            <a:off x="822960" y="1682496"/>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1</a:t>
            </a:r>
            <a:endParaRPr lang="en-US" sz="950" dirty="0"/>
          </a:p>
        </p:txBody>
      </p:sp>
      <p:sp>
        <p:nvSpPr>
          <p:cNvPr id="20" name="Text 18"/>
          <p:cNvSpPr/>
          <p:nvPr/>
        </p:nvSpPr>
        <p:spPr>
          <a:xfrm>
            <a:off x="1335024" y="1554480"/>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Instrument</a:t>
            </a:r>
            <a:endParaRPr lang="en-US" sz="1800" dirty="0"/>
          </a:p>
        </p:txBody>
      </p:sp>
      <p:sp>
        <p:nvSpPr>
          <p:cNvPr id="21" name="Text 19"/>
          <p:cNvSpPr/>
          <p:nvPr/>
        </p:nvSpPr>
        <p:spPr>
          <a:xfrm>
            <a:off x="896112" y="2194560"/>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MAF and supported runtimes emit OpenTelemetry signals around recorded operations</a:t>
            </a:r>
            <a:endParaRPr lang="en-US" sz="1420" dirty="0"/>
          </a:p>
        </p:txBody>
      </p:sp>
      <p:sp>
        <p:nvSpPr>
          <p:cNvPr id="22" name="Shape 20"/>
          <p:cNvSpPr/>
          <p:nvPr/>
        </p:nvSpPr>
        <p:spPr>
          <a:xfrm>
            <a:off x="4355592" y="1389888"/>
            <a:ext cx="3477768" cy="2299716"/>
          </a:xfrm>
          <a:prstGeom prst="roundRect">
            <a:avLst>
              <a:gd name="adj" fmla="val 3181"/>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23" name="Shape 21"/>
          <p:cNvSpPr/>
          <p:nvPr/>
        </p:nvSpPr>
        <p:spPr>
          <a:xfrm>
            <a:off x="4538472" y="1572768"/>
            <a:ext cx="384048" cy="384048"/>
          </a:xfrm>
          <a:prstGeom prst="ellipse">
            <a:avLst/>
          </a:prstGeom>
          <a:solidFill>
            <a:srgbClr val="16C7E8"/>
          </a:solidFill>
          <a:ln/>
        </p:spPr>
      </p:sp>
      <p:sp>
        <p:nvSpPr>
          <p:cNvPr id="24" name="Text 22"/>
          <p:cNvSpPr/>
          <p:nvPr/>
        </p:nvSpPr>
        <p:spPr>
          <a:xfrm>
            <a:off x="4538472" y="1682496"/>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2</a:t>
            </a:r>
            <a:endParaRPr lang="en-US" sz="950" dirty="0"/>
          </a:p>
        </p:txBody>
      </p:sp>
      <p:sp>
        <p:nvSpPr>
          <p:cNvPr id="25" name="Text 23"/>
          <p:cNvSpPr/>
          <p:nvPr/>
        </p:nvSpPr>
        <p:spPr>
          <a:xfrm>
            <a:off x="5050536" y="1554480"/>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Use conventions</a:t>
            </a:r>
            <a:endParaRPr lang="en-US" sz="1800" dirty="0"/>
          </a:p>
        </p:txBody>
      </p:sp>
      <p:sp>
        <p:nvSpPr>
          <p:cNvPr id="26" name="Text 24"/>
          <p:cNvSpPr/>
          <p:nvPr/>
        </p:nvSpPr>
        <p:spPr>
          <a:xfrm>
            <a:off x="4611624" y="2194560"/>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Shared names aid interpretation but names alone do not propagate trace context</a:t>
            </a:r>
            <a:endParaRPr lang="en-US" sz="1420" dirty="0"/>
          </a:p>
        </p:txBody>
      </p:sp>
      <p:sp>
        <p:nvSpPr>
          <p:cNvPr id="27" name="Shape 25"/>
          <p:cNvSpPr/>
          <p:nvPr/>
        </p:nvSpPr>
        <p:spPr>
          <a:xfrm>
            <a:off x="8071104" y="1389888"/>
            <a:ext cx="3477768" cy="2299716"/>
          </a:xfrm>
          <a:prstGeom prst="roundRect">
            <a:avLst>
              <a:gd name="adj" fmla="val 3181"/>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28" name="Shape 26"/>
          <p:cNvSpPr/>
          <p:nvPr/>
        </p:nvSpPr>
        <p:spPr>
          <a:xfrm>
            <a:off x="8253984" y="1572768"/>
            <a:ext cx="384048" cy="384048"/>
          </a:xfrm>
          <a:prstGeom prst="ellipse">
            <a:avLst/>
          </a:prstGeom>
          <a:solidFill>
            <a:srgbClr val="16C7E8"/>
          </a:solidFill>
          <a:ln/>
        </p:spPr>
      </p:sp>
      <p:sp>
        <p:nvSpPr>
          <p:cNvPr id="29" name="Text 27"/>
          <p:cNvSpPr/>
          <p:nvPr/>
        </p:nvSpPr>
        <p:spPr>
          <a:xfrm>
            <a:off x="8253984" y="1682496"/>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3</a:t>
            </a:r>
            <a:endParaRPr lang="en-US" sz="950" dirty="0"/>
          </a:p>
        </p:txBody>
      </p:sp>
      <p:sp>
        <p:nvSpPr>
          <p:cNvPr id="30" name="Text 28"/>
          <p:cNvSpPr/>
          <p:nvPr/>
        </p:nvSpPr>
        <p:spPr>
          <a:xfrm>
            <a:off x="8766048" y="1554480"/>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Export</a:t>
            </a:r>
            <a:endParaRPr lang="en-US" sz="1800" dirty="0"/>
          </a:p>
        </p:txBody>
      </p:sp>
      <p:sp>
        <p:nvSpPr>
          <p:cNvPr id="31" name="Text 29"/>
          <p:cNvSpPr/>
          <p:nvPr/>
        </p:nvSpPr>
        <p:spPr>
          <a:xfrm>
            <a:off x="8327136" y="2194560"/>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A configured exporter sends telemetry to the selected backend</a:t>
            </a:r>
            <a:endParaRPr lang="en-US" sz="1420" dirty="0"/>
          </a:p>
        </p:txBody>
      </p:sp>
      <p:sp>
        <p:nvSpPr>
          <p:cNvPr id="32" name="Shape 30"/>
          <p:cNvSpPr/>
          <p:nvPr/>
        </p:nvSpPr>
        <p:spPr>
          <a:xfrm>
            <a:off x="2378964" y="3945636"/>
            <a:ext cx="3477768" cy="2299716"/>
          </a:xfrm>
          <a:prstGeom prst="roundRect">
            <a:avLst>
              <a:gd name="adj" fmla="val 3181"/>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33" name="Shape 31"/>
          <p:cNvSpPr/>
          <p:nvPr/>
        </p:nvSpPr>
        <p:spPr>
          <a:xfrm>
            <a:off x="2561844" y="4128516"/>
            <a:ext cx="384048" cy="384048"/>
          </a:xfrm>
          <a:prstGeom prst="ellipse">
            <a:avLst/>
          </a:prstGeom>
          <a:solidFill>
            <a:srgbClr val="8B5CF6"/>
          </a:solidFill>
          <a:ln/>
        </p:spPr>
      </p:sp>
      <p:sp>
        <p:nvSpPr>
          <p:cNvPr id="34" name="Text 32"/>
          <p:cNvSpPr/>
          <p:nvPr/>
        </p:nvSpPr>
        <p:spPr>
          <a:xfrm>
            <a:off x="2561844" y="4238244"/>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4</a:t>
            </a:r>
            <a:endParaRPr lang="en-US" sz="950" dirty="0"/>
          </a:p>
        </p:txBody>
      </p:sp>
      <p:sp>
        <p:nvSpPr>
          <p:cNvPr id="35" name="Text 33"/>
          <p:cNvSpPr/>
          <p:nvPr/>
        </p:nvSpPr>
        <p:spPr>
          <a:xfrm>
            <a:off x="3073908" y="4110228"/>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Inspect</a:t>
            </a:r>
            <a:endParaRPr lang="en-US" sz="1800" dirty="0"/>
          </a:p>
        </p:txBody>
      </p:sp>
      <p:sp>
        <p:nvSpPr>
          <p:cNvPr id="36" name="Text 34"/>
          <p:cNvSpPr/>
          <p:nvPr/>
        </p:nvSpPr>
        <p:spPr>
          <a:xfrm>
            <a:off x="2634996" y="4750308"/>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Foundry and Application Insights expose connected trace data; client and server coverage differ</a:t>
            </a:r>
            <a:endParaRPr lang="en-US" sz="1420" dirty="0"/>
          </a:p>
        </p:txBody>
      </p:sp>
      <p:sp>
        <p:nvSpPr>
          <p:cNvPr id="37" name="Shape 35"/>
          <p:cNvSpPr/>
          <p:nvPr/>
        </p:nvSpPr>
        <p:spPr>
          <a:xfrm>
            <a:off x="6094476" y="3945636"/>
            <a:ext cx="3477768" cy="2299716"/>
          </a:xfrm>
          <a:prstGeom prst="roundRect">
            <a:avLst>
              <a:gd name="adj" fmla="val 3181"/>
            </a:avLst>
          </a:prstGeom>
          <a:solidFill>
            <a:srgbClr val="EEE9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38" name="Shape 36"/>
          <p:cNvSpPr/>
          <p:nvPr/>
        </p:nvSpPr>
        <p:spPr>
          <a:xfrm>
            <a:off x="6277356" y="4128516"/>
            <a:ext cx="384048" cy="384048"/>
          </a:xfrm>
          <a:prstGeom prst="ellipse">
            <a:avLst/>
          </a:prstGeom>
          <a:solidFill>
            <a:srgbClr val="8B5CF6"/>
          </a:solidFill>
          <a:ln/>
        </p:spPr>
      </p:sp>
      <p:sp>
        <p:nvSpPr>
          <p:cNvPr id="39" name="Text 37"/>
          <p:cNvSpPr/>
          <p:nvPr/>
        </p:nvSpPr>
        <p:spPr>
          <a:xfrm>
            <a:off x="6277356" y="4238244"/>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5</a:t>
            </a:r>
            <a:endParaRPr lang="en-US" sz="950" dirty="0"/>
          </a:p>
        </p:txBody>
      </p:sp>
      <p:sp>
        <p:nvSpPr>
          <p:cNvPr id="40" name="Text 38"/>
          <p:cNvSpPr/>
          <p:nvPr/>
        </p:nvSpPr>
        <p:spPr>
          <a:xfrm>
            <a:off x="6789420" y="4110228"/>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Note</a:t>
            </a:r>
            <a:endParaRPr lang="en-US" sz="1800" dirty="0"/>
          </a:p>
        </p:txBody>
      </p:sp>
      <p:sp>
        <p:nvSpPr>
          <p:cNvPr id="41" name="Text 39"/>
          <p:cNvSpPr/>
          <p:nvPr/>
        </p:nvSpPr>
        <p:spPr>
          <a:xfrm>
            <a:off x="6350508" y="4750308"/>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Foundry tracing is GA for prompt and hosted agents; workflow and external-agent tracing is preview</a:t>
            </a:r>
            <a:endParaRPr lang="en-US" sz="1420" dirty="0"/>
          </a:p>
        </p:txBody>
      </p:sp>
      <p:sp>
        <p:nvSpPr>
          <p:cNvPr id="42" name="Text 40"/>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learn.microsoft.com/agent-framework/agents/observability  ·  +3 more in notes</a:t>
            </a:r>
            <a:endParaRPr lang="en-US" sz="940" dirty="0"/>
          </a:p>
        </p:txBody>
      </p:sp>
      <p:sp>
        <p:nvSpPr>
          <p:cNvPr id="43" name="Shape 41"/>
          <p:cNvSpPr/>
          <p:nvPr/>
        </p:nvSpPr>
        <p:spPr>
          <a:xfrm>
            <a:off x="0" y="6793992"/>
            <a:ext cx="12191695" cy="64008"/>
          </a:xfrm>
          <a:prstGeom prst="rect">
            <a:avLst/>
          </a:prstGeom>
          <a:solidFill>
            <a:srgbClr val="16C7E8"/>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Workflow traces are graphs, not parent/child trees</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07</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417320"/>
            <a:ext cx="5623560" cy="4645152"/>
          </a:xfrm>
          <a:prstGeom prst="roundRect">
            <a:avLst>
              <a:gd name="adj" fmla="val 1575"/>
            </a:avLst>
          </a:prstGeom>
          <a:solidFill>
            <a:srgbClr val="FFFFFF"/>
          </a:solidFill>
          <a:ln w="10160">
            <a:solidFill>
              <a:srgbClr val="E4F7FB"/>
            </a:solidFill>
            <a:prstDash val="solid"/>
          </a:ln>
        </p:spPr>
      </p:sp>
      <p:sp>
        <p:nvSpPr>
          <p:cNvPr id="18" name="Text 16"/>
          <p:cNvSpPr/>
          <p:nvPr/>
        </p:nvSpPr>
        <p:spPr>
          <a:xfrm>
            <a:off x="941832" y="1737360"/>
            <a:ext cx="3017520" cy="164592"/>
          </a:xfrm>
          <a:prstGeom prst="rect">
            <a:avLst/>
          </a:prstGeom>
          <a:noFill/>
          <a:ln/>
        </p:spPr>
        <p:txBody>
          <a:bodyPr wrap="square" lIns="0" tIns="0" rIns="0" bIns="0" rtlCol="0" anchor="ctr"/>
          <a:lstStyle/>
          <a:p>
            <a:pPr indent="0" marL="0">
              <a:buNone/>
            </a:pPr>
            <a:r>
              <a:rPr lang="en-US" sz="1000" b="1" spc="210" kern="0" dirty="0">
                <a:solidFill>
                  <a:srgbClr val="8B5CF6"/>
                </a:solidFill>
                <a:latin typeface="Aptos" pitchFamily="34" charset="0"/>
                <a:ea typeface="Aptos" pitchFamily="34" charset="-122"/>
                <a:cs typeface="Aptos" pitchFamily="34" charset="-120"/>
              </a:rPr>
              <a:t>EXECUTION RELATIONSHIPS</a:t>
            </a:r>
            <a:endParaRPr lang="en-US" sz="1000" dirty="0"/>
          </a:p>
        </p:txBody>
      </p:sp>
      <p:sp>
        <p:nvSpPr>
          <p:cNvPr id="19" name="Shape 17"/>
          <p:cNvSpPr/>
          <p:nvPr/>
        </p:nvSpPr>
        <p:spPr>
          <a:xfrm>
            <a:off x="987552" y="2103120"/>
            <a:ext cx="1444752" cy="713232"/>
          </a:xfrm>
          <a:prstGeom prst="roundRect">
            <a:avLst>
              <a:gd name="adj" fmla="val 10256"/>
            </a:avLst>
          </a:prstGeom>
          <a:solidFill>
            <a:srgbClr val="11162B"/>
          </a:solidFill>
          <a:ln/>
        </p:spPr>
      </p:sp>
      <p:sp>
        <p:nvSpPr>
          <p:cNvPr id="20" name="Text 18"/>
          <p:cNvSpPr/>
          <p:nvPr/>
        </p:nvSpPr>
        <p:spPr>
          <a:xfrm>
            <a:off x="1170432" y="2286000"/>
            <a:ext cx="107899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SENDING</a:t>
            </a:r>
            <a:endParaRPr lang="en-US" sz="1150" dirty="0"/>
          </a:p>
          <a:p>
            <a:pPr algn="ctr" indent="0" marL="0">
              <a:buNone/>
            </a:pPr>
            <a:r>
              <a:rPr lang="en-US" sz="1150" b="1" dirty="0">
                <a:solidFill>
                  <a:srgbClr val="FFFFFF"/>
                </a:solidFill>
                <a:latin typeface="Aptos" pitchFamily="34" charset="0"/>
                <a:ea typeface="Aptos" pitchFamily="34" charset="-122"/>
                <a:cs typeface="Aptos" pitchFamily="34" charset="-120"/>
              </a:rPr>
              <a:t>EXECUTOR</a:t>
            </a:r>
            <a:endParaRPr lang="en-US" sz="1150" dirty="0"/>
          </a:p>
        </p:txBody>
      </p:sp>
      <p:sp>
        <p:nvSpPr>
          <p:cNvPr id="21" name="Shape 19"/>
          <p:cNvSpPr/>
          <p:nvPr/>
        </p:nvSpPr>
        <p:spPr>
          <a:xfrm>
            <a:off x="2724912" y="2139696"/>
            <a:ext cx="1353312" cy="640080"/>
          </a:xfrm>
          <a:prstGeom prst="roundRect">
            <a:avLst>
              <a:gd name="adj" fmla="val 11429"/>
            </a:avLst>
          </a:prstGeom>
          <a:solidFill>
            <a:srgbClr val="E4F7FB"/>
          </a:solidFill>
          <a:ln/>
        </p:spPr>
      </p:sp>
      <p:sp>
        <p:nvSpPr>
          <p:cNvPr id="22" name="Text 20"/>
          <p:cNvSpPr/>
          <p:nvPr/>
        </p:nvSpPr>
        <p:spPr>
          <a:xfrm>
            <a:off x="2862072" y="2359152"/>
            <a:ext cx="1078992" cy="128016"/>
          </a:xfrm>
          <a:prstGeom prst="rect">
            <a:avLst/>
          </a:prstGeom>
          <a:noFill/>
          <a:ln/>
        </p:spPr>
        <p:txBody>
          <a:bodyPr wrap="square" lIns="0" tIns="0" rIns="0" bIns="0" rtlCol="0" anchor="ctr"/>
          <a:lstStyle/>
          <a:p>
            <a:pPr algn="ctr" indent="0" marL="0">
              <a:buNone/>
            </a:pPr>
            <a:r>
              <a:rPr lang="en-US" sz="950" b="1" dirty="0">
                <a:solidFill>
                  <a:srgbClr val="11162B"/>
                </a:solidFill>
                <a:latin typeface="Consolas" pitchFamily="34" charset="0"/>
                <a:ea typeface="Consolas" pitchFamily="34" charset="-122"/>
                <a:cs typeface="Consolas" pitchFamily="34" charset="-120"/>
              </a:rPr>
              <a:t>message.send</a:t>
            </a:r>
            <a:endParaRPr lang="en-US" sz="950" dirty="0"/>
          </a:p>
        </p:txBody>
      </p:sp>
      <p:sp>
        <p:nvSpPr>
          <p:cNvPr id="23" name="Shape 21"/>
          <p:cNvSpPr/>
          <p:nvPr/>
        </p:nvSpPr>
        <p:spPr>
          <a:xfrm>
            <a:off x="2432304" y="2450592"/>
            <a:ext cx="292608" cy="0"/>
          </a:xfrm>
          <a:prstGeom prst="line">
            <a:avLst/>
          </a:prstGeom>
          <a:noFill/>
          <a:ln w="25400">
            <a:solidFill>
              <a:srgbClr val="11162B"/>
            </a:solidFill>
            <a:prstDash val="solid"/>
          </a:ln>
        </p:spPr>
      </p:sp>
      <p:sp>
        <p:nvSpPr>
          <p:cNvPr id="24" name="Shape 22"/>
          <p:cNvSpPr/>
          <p:nvPr/>
        </p:nvSpPr>
        <p:spPr>
          <a:xfrm>
            <a:off x="4370832" y="2103120"/>
            <a:ext cx="1444752" cy="713232"/>
          </a:xfrm>
          <a:prstGeom prst="roundRect">
            <a:avLst>
              <a:gd name="adj" fmla="val 10256"/>
            </a:avLst>
          </a:prstGeom>
          <a:solidFill>
            <a:srgbClr val="EEE9FF"/>
          </a:solidFill>
          <a:ln/>
        </p:spPr>
      </p:sp>
      <p:sp>
        <p:nvSpPr>
          <p:cNvPr id="25" name="Text 23"/>
          <p:cNvSpPr/>
          <p:nvPr/>
        </p:nvSpPr>
        <p:spPr>
          <a:xfrm>
            <a:off x="4553712" y="2276856"/>
            <a:ext cx="1078992" cy="310896"/>
          </a:xfrm>
          <a:prstGeom prst="rect">
            <a:avLst/>
          </a:prstGeom>
          <a:noFill/>
          <a:ln/>
        </p:spPr>
        <p:txBody>
          <a:bodyPr wrap="square" lIns="0" tIns="0" rIns="0" bIns="0" rtlCol="0" anchor="ctr"/>
          <a:lstStyle/>
          <a:p>
            <a:pPr algn="ctr" indent="0" marL="0">
              <a:buNone/>
            </a:pPr>
            <a:r>
              <a:rPr lang="en-US" sz="1100" b="1" dirty="0">
                <a:solidFill>
                  <a:srgbClr val="11162B"/>
                </a:solidFill>
                <a:latin typeface="Aptos" pitchFamily="34" charset="0"/>
                <a:ea typeface="Aptos" pitchFamily="34" charset="-122"/>
                <a:cs typeface="Aptos" pitchFamily="34" charset="-120"/>
              </a:rPr>
              <a:t>RECEIVING</a:t>
            </a:r>
            <a:endParaRPr lang="en-US" sz="1100" dirty="0"/>
          </a:p>
          <a:p>
            <a:pPr algn="ctr" indent="0" marL="0">
              <a:buNone/>
            </a:pPr>
            <a:r>
              <a:rPr lang="en-US" sz="1100" b="1" dirty="0">
                <a:solidFill>
                  <a:srgbClr val="11162B"/>
                </a:solidFill>
                <a:latin typeface="Aptos" pitchFamily="34" charset="0"/>
                <a:ea typeface="Aptos" pitchFamily="34" charset="-122"/>
                <a:cs typeface="Aptos" pitchFamily="34" charset="-120"/>
              </a:rPr>
              <a:t>EXECUTOR</a:t>
            </a:r>
            <a:endParaRPr lang="en-US" sz="1100" dirty="0"/>
          </a:p>
        </p:txBody>
      </p:sp>
      <p:sp>
        <p:nvSpPr>
          <p:cNvPr id="26" name="Shape 24"/>
          <p:cNvSpPr/>
          <p:nvPr/>
        </p:nvSpPr>
        <p:spPr>
          <a:xfrm>
            <a:off x="4078224" y="2450592"/>
            <a:ext cx="292608" cy="0"/>
          </a:xfrm>
          <a:prstGeom prst="line">
            <a:avLst/>
          </a:prstGeom>
          <a:noFill/>
          <a:ln w="25400">
            <a:solidFill>
              <a:srgbClr val="8B5CF6"/>
            </a:solidFill>
            <a:prstDash val="dash"/>
          </a:ln>
        </p:spPr>
      </p:sp>
      <p:sp>
        <p:nvSpPr>
          <p:cNvPr id="27" name="Text 25"/>
          <p:cNvSpPr/>
          <p:nvPr/>
        </p:nvSpPr>
        <p:spPr>
          <a:xfrm>
            <a:off x="4005072" y="2194560"/>
            <a:ext cx="438912" cy="109728"/>
          </a:xfrm>
          <a:prstGeom prst="rect">
            <a:avLst/>
          </a:prstGeom>
          <a:noFill/>
          <a:ln/>
        </p:spPr>
        <p:txBody>
          <a:bodyPr wrap="square" lIns="0" tIns="0" rIns="0" bIns="0" rtlCol="0" anchor="ctr"/>
          <a:lstStyle/>
          <a:p>
            <a:pPr algn="ctr" indent="0" marL="0">
              <a:buNone/>
            </a:pPr>
            <a:r>
              <a:rPr lang="en-US" sz="800" b="1" dirty="0">
                <a:solidFill>
                  <a:srgbClr val="8B5CF6"/>
                </a:solidFill>
                <a:latin typeface="Aptos" pitchFamily="34" charset="0"/>
                <a:ea typeface="Aptos" pitchFamily="34" charset="-122"/>
                <a:cs typeface="Aptos" pitchFamily="34" charset="-120"/>
              </a:rPr>
              <a:t>LINK</a:t>
            </a:r>
            <a:endParaRPr lang="en-US" sz="800" dirty="0"/>
          </a:p>
        </p:txBody>
      </p:sp>
      <p:sp>
        <p:nvSpPr>
          <p:cNvPr id="28" name="Text 26"/>
          <p:cNvSpPr/>
          <p:nvPr/>
        </p:nvSpPr>
        <p:spPr>
          <a:xfrm>
            <a:off x="950976" y="3154680"/>
            <a:ext cx="4983480" cy="2240280"/>
          </a:xfrm>
          <a:prstGeom prst="rect">
            <a:avLst/>
          </a:prstGeom>
          <a:noFill/>
          <a:ln/>
        </p:spPr>
        <p:txBody>
          <a:bodyPr wrap="square" lIns="0" tIns="0" rIns="0" bIns="0" rtlCol="0" anchor="t">
            <a:normAutofit/>
          </a:bodyPr>
          <a:lstStyle/>
          <a:p>
            <a:pPr marL="342900" indent="-342900">
              <a:buSzPct val="100000"/>
              <a:buChar char="•"/>
            </a:pPr>
            <a:r>
              <a:rPr lang="en-US" sz="1300" dirty="0">
                <a:solidFill>
                  <a:srgbClr val="151B31"/>
                </a:solidFill>
                <a:latin typeface="Aptos" pitchFamily="34" charset="0"/>
                <a:ea typeface="Aptos" pitchFamily="34" charset="-122"/>
                <a:cs typeface="Aptos" pitchFamily="34" charset="-120"/>
              </a:rPr>
              <a:t>Parent/child means work is nested inside another operation</a:t>
            </a:r>
            <a:endParaRPr lang="en-US" sz="1300" dirty="0"/>
          </a:p>
          <a:p>
            <a:pPr marL="342900" indent="-342900">
              <a:buSzPct val="100000"/>
              <a:buChar char="•"/>
            </a:pPr>
            <a:r>
              <a:rPr lang="en-US" sz="1300" dirty="0">
                <a:solidFill>
                  <a:srgbClr val="151B31"/>
                </a:solidFill>
                <a:latin typeface="Aptos" pitchFamily="34" charset="0"/>
                <a:ea typeface="Aptos" pitchFamily="34" charset="-122"/>
                <a:cs typeface="Aptos" pitchFamily="34" charset="-120"/>
              </a:rPr>
              <a:t>OpenTelemetry links preserve causal handoffs and fan-in without claiming nesting</a:t>
            </a:r>
            <a:endParaRPr lang="en-US" sz="1300" dirty="0"/>
          </a:p>
          <a:p>
            <a:pPr marL="342900" indent="-342900">
              <a:buSzPct val="100000"/>
              <a:buChar char="•"/>
            </a:pPr>
            <a:r>
              <a:rPr lang="en-US" sz="1300" dirty="0">
                <a:solidFill>
                  <a:srgbClr val="151B31"/>
                </a:solidFill>
                <a:latin typeface="Aptos" pitchFamily="34" charset="0"/>
                <a:ea typeface="Aptos" pitchFamily="34" charset="-122"/>
                <a:cs typeface="Aptos" pitchFamily="34" charset="-120"/>
              </a:rPr>
              <a:t>Routing attributes can explain delivered, buffered, or dropped workflow messages</a:t>
            </a:r>
            <a:endParaRPr lang="en-US" sz="1300" dirty="0"/>
          </a:p>
        </p:txBody>
      </p:sp>
      <p:sp>
        <p:nvSpPr>
          <p:cNvPr id="29" name="Shape 27"/>
          <p:cNvSpPr/>
          <p:nvPr/>
        </p:nvSpPr>
        <p:spPr>
          <a:xfrm>
            <a:off x="6492240" y="1417320"/>
            <a:ext cx="5056632" cy="4645152"/>
          </a:xfrm>
          <a:prstGeom prst="roundRect">
            <a:avLst>
              <a:gd name="adj" fmla="val 1575"/>
            </a:avLst>
          </a:prstGeom>
          <a:solidFill>
            <a:srgbClr val="E4F7FB"/>
          </a:solidFill>
          <a:ln w="10160">
            <a:solidFill>
              <a:srgbClr val="16C7E8"/>
            </a:solidFill>
            <a:prstDash val="solid"/>
          </a:ln>
        </p:spPr>
      </p:sp>
      <p:sp>
        <p:nvSpPr>
          <p:cNvPr id="30" name="Text 28"/>
          <p:cNvSpPr/>
          <p:nvPr/>
        </p:nvSpPr>
        <p:spPr>
          <a:xfrm>
            <a:off x="6793992" y="1737360"/>
            <a:ext cx="3017520" cy="164592"/>
          </a:xfrm>
          <a:prstGeom prst="rect">
            <a:avLst/>
          </a:prstGeom>
          <a:noFill/>
          <a:ln/>
        </p:spPr>
        <p:txBody>
          <a:bodyPr wrap="square" lIns="0" tIns="0" rIns="0" bIns="0" rtlCol="0" anchor="ctr"/>
          <a:lstStyle/>
          <a:p>
            <a:pPr indent="0" marL="0">
              <a:buNone/>
            </a:pPr>
            <a:r>
              <a:rPr lang="en-US" sz="1000" b="1" spc="210" kern="0" dirty="0">
                <a:solidFill>
                  <a:srgbClr val="8B5CF6"/>
                </a:solidFill>
                <a:latin typeface="Aptos" pitchFamily="34" charset="0"/>
                <a:ea typeface="Aptos" pitchFamily="34" charset="-122"/>
                <a:cs typeface="Aptos" pitchFamily="34" charset="-120"/>
              </a:rPr>
              <a:t>IDENTIFIER BOUNDARIES</a:t>
            </a:r>
            <a:endParaRPr lang="en-US" sz="1000" dirty="0"/>
          </a:p>
        </p:txBody>
      </p:sp>
      <p:sp>
        <p:nvSpPr>
          <p:cNvPr id="31" name="Shape 29"/>
          <p:cNvSpPr/>
          <p:nvPr/>
        </p:nvSpPr>
        <p:spPr>
          <a:xfrm>
            <a:off x="6821424" y="2340864"/>
            <a:ext cx="438912" cy="438912"/>
          </a:xfrm>
          <a:prstGeom prst="ellipse">
            <a:avLst/>
          </a:prstGeom>
          <a:solidFill>
            <a:srgbClr val="16C7E8"/>
          </a:solidFill>
          <a:ln/>
        </p:spPr>
      </p:sp>
      <p:sp>
        <p:nvSpPr>
          <p:cNvPr id="32" name="Text 30"/>
          <p:cNvSpPr/>
          <p:nvPr/>
        </p:nvSpPr>
        <p:spPr>
          <a:xfrm>
            <a:off x="6821424" y="2478024"/>
            <a:ext cx="438912" cy="109728"/>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1</a:t>
            </a:r>
            <a:endParaRPr lang="en-US" sz="900" dirty="0"/>
          </a:p>
        </p:txBody>
      </p:sp>
      <p:sp>
        <p:nvSpPr>
          <p:cNvPr id="33" name="Text 31"/>
          <p:cNvSpPr/>
          <p:nvPr/>
        </p:nvSpPr>
        <p:spPr>
          <a:xfrm>
            <a:off x="7498080" y="2176272"/>
            <a:ext cx="3611880" cy="749808"/>
          </a:xfrm>
          <a:prstGeom prst="rect">
            <a:avLst/>
          </a:prstGeom>
          <a:noFill/>
          <a:ln/>
        </p:spPr>
        <p:txBody>
          <a:bodyPr wrap="square" lIns="0" tIns="0" rIns="0" bIns="0" rtlCol="0" anchor="ctr">
            <a:normAutofit/>
          </a:bodyPr>
          <a:lstStyle/>
          <a:p>
            <a:pPr indent="0" marL="0">
              <a:buNone/>
            </a:pPr>
            <a:r>
              <a:rPr lang="en-US" sz="1360" dirty="0">
                <a:solidFill>
                  <a:srgbClr val="151B31"/>
                </a:solidFill>
                <a:latin typeface="Aptos" pitchFamily="34" charset="0"/>
                <a:ea typeface="Aptos" pitchFamily="34" charset="-122"/>
                <a:cs typeface="Aptos" pitchFamily="34" charset="-120"/>
              </a:rPr>
              <a:t>A conversation holds history across turns; it is not one trace</a:t>
            </a:r>
            <a:endParaRPr lang="en-US" sz="1360" dirty="0"/>
          </a:p>
        </p:txBody>
      </p:sp>
      <p:sp>
        <p:nvSpPr>
          <p:cNvPr id="34" name="Shape 32"/>
          <p:cNvSpPr/>
          <p:nvPr/>
        </p:nvSpPr>
        <p:spPr>
          <a:xfrm>
            <a:off x="6821424" y="3456432"/>
            <a:ext cx="438912" cy="438912"/>
          </a:xfrm>
          <a:prstGeom prst="ellipse">
            <a:avLst/>
          </a:prstGeom>
          <a:solidFill>
            <a:srgbClr val="8B5CF6"/>
          </a:solidFill>
          <a:ln/>
        </p:spPr>
      </p:sp>
      <p:sp>
        <p:nvSpPr>
          <p:cNvPr id="35" name="Text 33"/>
          <p:cNvSpPr/>
          <p:nvPr/>
        </p:nvSpPr>
        <p:spPr>
          <a:xfrm>
            <a:off x="6821424" y="3593592"/>
            <a:ext cx="438912" cy="109728"/>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2</a:t>
            </a:r>
            <a:endParaRPr lang="en-US" sz="900" dirty="0"/>
          </a:p>
        </p:txBody>
      </p:sp>
      <p:sp>
        <p:nvSpPr>
          <p:cNvPr id="36" name="Text 34"/>
          <p:cNvSpPr/>
          <p:nvPr/>
        </p:nvSpPr>
        <p:spPr>
          <a:xfrm>
            <a:off x="7498080" y="3291840"/>
            <a:ext cx="3611880" cy="749808"/>
          </a:xfrm>
          <a:prstGeom prst="rect">
            <a:avLst/>
          </a:prstGeom>
          <a:noFill/>
          <a:ln/>
        </p:spPr>
        <p:txBody>
          <a:bodyPr wrap="square" lIns="0" tIns="0" rIns="0" bIns="0" rtlCol="0" anchor="ctr">
            <a:normAutofit/>
          </a:bodyPr>
          <a:lstStyle/>
          <a:p>
            <a:pPr indent="0" marL="0">
              <a:buNone/>
            </a:pPr>
            <a:r>
              <a:rPr lang="en-US" sz="1360" dirty="0">
                <a:solidFill>
                  <a:srgbClr val="151B31"/>
                </a:solidFill>
                <a:latin typeface="Aptos" pitchFamily="34" charset="0"/>
                <a:ea typeface="Aptos" pitchFamily="34" charset="-122"/>
                <a:cs typeface="Aptos" pitchFamily="34" charset="-120"/>
              </a:rPr>
              <a:t>A response ID is not a trace ID</a:t>
            </a:r>
            <a:endParaRPr lang="en-US" sz="1360" dirty="0"/>
          </a:p>
        </p:txBody>
      </p:sp>
      <p:sp>
        <p:nvSpPr>
          <p:cNvPr id="37" name="Shape 35"/>
          <p:cNvSpPr/>
          <p:nvPr/>
        </p:nvSpPr>
        <p:spPr>
          <a:xfrm>
            <a:off x="6821424" y="4572000"/>
            <a:ext cx="438912" cy="438912"/>
          </a:xfrm>
          <a:prstGeom prst="ellipse">
            <a:avLst/>
          </a:prstGeom>
          <a:solidFill>
            <a:srgbClr val="8B5CF6"/>
          </a:solidFill>
          <a:ln/>
        </p:spPr>
      </p:sp>
      <p:sp>
        <p:nvSpPr>
          <p:cNvPr id="38" name="Text 36"/>
          <p:cNvSpPr/>
          <p:nvPr/>
        </p:nvSpPr>
        <p:spPr>
          <a:xfrm>
            <a:off x="6821424" y="4709160"/>
            <a:ext cx="438912" cy="109728"/>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3</a:t>
            </a:r>
            <a:endParaRPr lang="en-US" sz="900" dirty="0"/>
          </a:p>
        </p:txBody>
      </p:sp>
      <p:sp>
        <p:nvSpPr>
          <p:cNvPr id="39" name="Text 37"/>
          <p:cNvSpPr/>
          <p:nvPr/>
        </p:nvSpPr>
        <p:spPr>
          <a:xfrm>
            <a:off x="7498080" y="4407408"/>
            <a:ext cx="3611880" cy="749808"/>
          </a:xfrm>
          <a:prstGeom prst="rect">
            <a:avLst/>
          </a:prstGeom>
          <a:noFill/>
          <a:ln/>
        </p:spPr>
        <p:txBody>
          <a:bodyPr wrap="square" lIns="0" tIns="0" rIns="0" bIns="0" rtlCol="0" anchor="ctr">
            <a:normAutofit/>
          </a:bodyPr>
          <a:lstStyle/>
          <a:p>
            <a:pPr indent="0" marL="0">
              <a:buNone/>
            </a:pPr>
            <a:r>
              <a:rPr lang="en-US" sz="1360" dirty="0">
                <a:solidFill>
                  <a:srgbClr val="151B31"/>
                </a:solidFill>
                <a:latin typeface="Aptos" pitchFamily="34" charset="0"/>
                <a:ea typeface="Aptos" pitchFamily="34" charset="-122"/>
                <a:cs typeface="Aptos" pitchFamily="34" charset="-120"/>
              </a:rPr>
              <a:t>First streamed output is not workflow completion</a:t>
            </a:r>
            <a:endParaRPr lang="en-US" sz="1360" dirty="0"/>
          </a:p>
        </p:txBody>
      </p:sp>
      <p:sp>
        <p:nvSpPr>
          <p:cNvPr id="40" name="Text 38"/>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learn.microsoft.com/agent-framework/workflows/observability  ·  +2 more in notes</a:t>
            </a:r>
            <a:endParaRPr lang="en-US" sz="940" dirty="0"/>
          </a:p>
        </p:txBody>
      </p:sp>
      <p:sp>
        <p:nvSpPr>
          <p:cNvPr id="41" name="Shape 39"/>
          <p:cNvSpPr/>
          <p:nvPr/>
        </p:nvSpPr>
        <p:spPr>
          <a:xfrm>
            <a:off x="0" y="6793992"/>
            <a:ext cx="12191695" cy="64008"/>
          </a:xfrm>
          <a:prstGeom prst="rect">
            <a:avLst/>
          </a:prstGeom>
          <a:solidFill>
            <a:srgbClr val="16C7E8"/>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62B"/>
        </a:solidFill>
      </p:bgPr>
    </p:bg>
    <p:spTree>
      <p:nvGrpSpPr>
        <p:cNvPr id="1" name=""/>
        <p:cNvGrpSpPr/>
        <p:nvPr/>
      </p:nvGrpSpPr>
      <p:grpSpPr>
        <a:xfrm>
          <a:off x="0" y="0"/>
          <a:ext cx="0" cy="0"/>
          <a:chOff x="0" y="0"/>
          <a:chExt cx="0" cy="0"/>
        </a:xfrm>
      </p:grpSpPr>
      <p:sp>
        <p:nvSpPr>
          <p:cNvPr id="2" name="Shape 0"/>
          <p:cNvSpPr/>
          <p:nvPr/>
        </p:nvSpPr>
        <p:spPr>
          <a:xfrm>
            <a:off x="274320" y="4306320"/>
            <a:ext cx="1417320" cy="1417320"/>
          </a:xfrm>
          <a:prstGeom prst="ellipse">
            <a:avLst/>
          </a:prstGeom>
          <a:solidFill>
            <a:srgbClr val="EEE9FF"/>
          </a:solidFill>
          <a:ln/>
        </p:spPr>
      </p:sp>
      <p:sp>
        <p:nvSpPr>
          <p:cNvPr id="3" name="Shape 1"/>
          <p:cNvSpPr/>
          <p:nvPr/>
        </p:nvSpPr>
        <p:spPr>
          <a:xfrm>
            <a:off x="457200" y="4681728"/>
            <a:ext cx="1024128" cy="1024128"/>
          </a:xfrm>
          <a:prstGeom prst="ellipse">
            <a:avLst/>
          </a:prstGeom>
          <a:solidFill>
            <a:srgbClr val="11162B"/>
          </a:solidFill>
          <a:ln/>
        </p:spPr>
      </p:sp>
      <p:sp>
        <p:nvSpPr>
          <p:cNvPr id="4" name="Text 2"/>
          <p:cNvSpPr/>
          <p:nvPr/>
        </p:nvSpPr>
        <p:spPr>
          <a:xfrm>
            <a:off x="713232" y="530352"/>
            <a:ext cx="2560320" cy="256032"/>
          </a:xfrm>
          <a:prstGeom prst="rect">
            <a:avLst/>
          </a:prstGeom>
          <a:noFill/>
          <a:ln/>
        </p:spPr>
        <p:txBody>
          <a:bodyPr wrap="square" lIns="0" tIns="0" rIns="0" bIns="0" rtlCol="0" anchor="ctr"/>
          <a:lstStyle/>
          <a:p>
            <a:pPr indent="0" marL="0">
              <a:buNone/>
            </a:pPr>
            <a:r>
              <a:rPr lang="en-US" sz="1200" b="1" spc="350" kern="0" dirty="0">
                <a:solidFill>
                  <a:srgbClr val="16C7E8"/>
                </a:solidFill>
                <a:latin typeface="Aptos" pitchFamily="34" charset="0"/>
                <a:ea typeface="Aptos" pitchFamily="34" charset="-122"/>
                <a:cs typeface="Aptos" pitchFamily="34" charset="-120"/>
              </a:rPr>
              <a:t>LIVE DEMO</a:t>
            </a:r>
            <a:endParaRPr lang="en-US" sz="1200" dirty="0"/>
          </a:p>
        </p:txBody>
      </p:sp>
      <p:sp>
        <p:nvSpPr>
          <p:cNvPr id="5" name="Text 3"/>
          <p:cNvSpPr/>
          <p:nvPr/>
        </p:nvSpPr>
        <p:spPr>
          <a:xfrm>
            <a:off x="713232" y="1088136"/>
            <a:ext cx="6199632" cy="105156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Compare client-side and</a:t>
            </a:r>
            <a:br/>
            <a:r>
              <a:rPr lang="en-US" sz="3500" b="1" dirty="0">
                <a:solidFill>
                  <a:srgbClr val="FFFFFF"/>
                </a:solidFill>
                <a:latin typeface="Aptos Display" pitchFamily="34" charset="0"/>
                <a:ea typeface="Aptos Display" pitchFamily="34" charset="-122"/>
                <a:cs typeface="Aptos Display" pitchFamily="34" charset="-120"/>
              </a:rPr>
              <a:t>server-side traces</a:t>
            </a:r>
            <a:endParaRPr lang="en-US" sz="3500" dirty="0"/>
          </a:p>
        </p:txBody>
      </p:sp>
      <p:sp>
        <p:nvSpPr>
          <p:cNvPr id="6" name="Text 4"/>
          <p:cNvSpPr/>
          <p:nvPr/>
        </p:nvSpPr>
        <p:spPr>
          <a:xfrm>
            <a:off x="749808" y="2395728"/>
            <a:ext cx="6473952" cy="2057400"/>
          </a:xfrm>
          <a:prstGeom prst="rect">
            <a:avLst/>
          </a:prstGeom>
          <a:noFill/>
          <a:ln/>
        </p:spPr>
        <p:txBody>
          <a:bodyPr wrap="square" lIns="0" tIns="0" rIns="0" bIns="0" rtlCol="0" anchor="t">
            <a:normAutofit/>
          </a:bodyPr>
          <a:lstStyle/>
          <a:p>
            <a:pPr indent="0" marL="0">
              <a:buNone/>
            </a:pPr>
            <a:r>
              <a:rPr lang="en-US" sz="1540" b="1" dirty="0">
                <a:solidFill>
                  <a:srgbClr val="E5EBF0"/>
                </a:solidFill>
                <a:latin typeface="Aptos" pitchFamily="34" charset="0"/>
                <a:ea typeface="Aptos" pitchFamily="34" charset="-122"/>
                <a:cs typeface="Aptos" pitchFamily="34" charset="-120"/>
              </a:rPr>
              <a:t>STEP 1 — CLIENT-SIDE</a:t>
            </a:r>
            <a:endParaRPr lang="en-US" sz="1540" dirty="0"/>
          </a:p>
          <a:p>
            <a:pPr indent="0" marL="0">
              <a:buNone/>
            </a:pPr>
            <a:r>
              <a:rPr lang="en-US" sz="1540" dirty="0">
                <a:solidFill>
                  <a:srgbClr val="E5EBF0"/>
                </a:solidFill>
                <a:latin typeface="Aptos" pitchFamily="34" charset="0"/>
                <a:ea typeface="Aptos" pitchFamily="34" charset="-122"/>
                <a:cs typeface="Aptos" pitchFamily="34" charset="-120"/>
              </a:rPr>
              <a:t>Run WeatherAgent; inspect its custom parent and automatic spans.</a:t>
            </a:r>
            <a:endParaRPr lang="en-US" sz="1540" dirty="0"/>
          </a:p>
          <a:p>
            <a:pPr indent="0" marL="0">
              <a:buNone/>
            </a:pPr>
            <a:r>
              <a:rPr lang="en-US" sz="1540" b="1" dirty="0">
                <a:solidFill>
                  <a:srgbClr val="E5EBF0"/>
                </a:solidFill>
                <a:latin typeface="Aptos" pitchFamily="34" charset="0"/>
                <a:ea typeface="Aptos" pitchFamily="34" charset="-122"/>
                <a:cs typeface="Aptos" pitchFamily="34" charset="-120"/>
              </a:rPr>
              <a:t>STEP 2 — SERVER-SIDE</a:t>
            </a:r>
            <a:endParaRPr lang="en-US" sz="1540" dirty="0"/>
          </a:p>
          <a:p>
            <a:pPr indent="0" marL="0">
              <a:buNone/>
            </a:pPr>
            <a:r>
              <a:rPr lang="en-US" sz="1540" dirty="0">
                <a:solidFill>
                  <a:srgbClr val="E5EBF0"/>
                </a:solidFill>
                <a:latin typeface="Aptos" pitchFamily="34" charset="0"/>
                <a:ea typeface="Aptos" pitchFamily="34" charset="-122"/>
                <a:cs typeface="Aptos" pitchFamily="34" charset="-120"/>
              </a:rPr>
              <a:t>Run docs-assistant in Foundry; inspect its trace in Agents &gt; Traces.</a:t>
            </a:r>
            <a:endParaRPr lang="en-US" sz="1540" dirty="0"/>
          </a:p>
        </p:txBody>
      </p:sp>
      <p:sp>
        <p:nvSpPr>
          <p:cNvPr id="7" name="Shape 5"/>
          <p:cNvSpPr/>
          <p:nvPr/>
        </p:nvSpPr>
        <p:spPr>
          <a:xfrm>
            <a:off x="7452360" y="749808"/>
            <a:ext cx="4041648" cy="5074920"/>
          </a:xfrm>
          <a:prstGeom prst="roundRect">
            <a:avLst>
              <a:gd name="adj" fmla="val 1810"/>
            </a:avLst>
          </a:prstGeom>
          <a:solidFill>
            <a:srgbClr val="FFFFFF"/>
          </a:solidFill>
          <a:ln/>
        </p:spPr>
      </p:sp>
      <p:sp>
        <p:nvSpPr>
          <p:cNvPr id="8" name="Shape 6"/>
          <p:cNvSpPr/>
          <p:nvPr/>
        </p:nvSpPr>
        <p:spPr>
          <a:xfrm>
            <a:off x="7726680" y="1060704"/>
            <a:ext cx="1225296" cy="347472"/>
          </a:xfrm>
          <a:prstGeom prst="roundRect">
            <a:avLst>
              <a:gd name="adj" fmla="val 21053"/>
            </a:avLst>
          </a:prstGeom>
          <a:solidFill>
            <a:srgbClr val="16C7E8"/>
          </a:solidFill>
          <a:ln/>
        </p:spPr>
      </p:sp>
      <p:sp>
        <p:nvSpPr>
          <p:cNvPr id="9" name="Text 7"/>
          <p:cNvSpPr/>
          <p:nvPr/>
        </p:nvSpPr>
        <p:spPr>
          <a:xfrm>
            <a:off x="7836408" y="1170432"/>
            <a:ext cx="1005840"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~8 min</a:t>
            </a:r>
            <a:endParaRPr lang="en-US" sz="950" dirty="0"/>
          </a:p>
        </p:txBody>
      </p:sp>
      <p:sp>
        <p:nvSpPr>
          <p:cNvPr id="10" name="Text 8"/>
          <p:cNvSpPr/>
          <p:nvPr/>
        </p:nvSpPr>
        <p:spPr>
          <a:xfrm>
            <a:off x="7726680" y="1719072"/>
            <a:ext cx="2971800" cy="274320"/>
          </a:xfrm>
          <a:prstGeom prst="rect">
            <a:avLst/>
          </a:prstGeom>
          <a:noFill/>
          <a:ln/>
        </p:spPr>
        <p:txBody>
          <a:bodyPr wrap="square" lIns="0" tIns="0" rIns="0" bIns="0" rtlCol="0" anchor="ctr"/>
          <a:lstStyle/>
          <a:p>
            <a:pPr indent="0" marL="0">
              <a:buNone/>
            </a:pPr>
            <a:r>
              <a:rPr lang="en-US" sz="2100" b="1" dirty="0">
                <a:solidFill>
                  <a:srgbClr val="11162B"/>
                </a:solidFill>
                <a:latin typeface="Aptos Display" pitchFamily="34" charset="0"/>
                <a:ea typeface="Aptos Display" pitchFamily="34" charset="-122"/>
                <a:cs typeface="Aptos Display" pitchFamily="34" charset="-120"/>
              </a:rPr>
              <a:t>WATCH FOR</a:t>
            </a:r>
            <a:endParaRPr lang="en-US" sz="2100" dirty="0"/>
          </a:p>
        </p:txBody>
      </p:sp>
      <p:sp>
        <p:nvSpPr>
          <p:cNvPr id="11" name="Shape 9"/>
          <p:cNvSpPr/>
          <p:nvPr/>
        </p:nvSpPr>
        <p:spPr>
          <a:xfrm>
            <a:off x="7772400" y="2340864"/>
            <a:ext cx="384048" cy="384048"/>
          </a:xfrm>
          <a:prstGeom prst="ellipse">
            <a:avLst/>
          </a:prstGeom>
          <a:solidFill>
            <a:srgbClr val="16C7E8"/>
          </a:solidFill>
          <a:ln/>
        </p:spPr>
      </p:sp>
      <p:sp>
        <p:nvSpPr>
          <p:cNvPr id="12" name="Text 10"/>
          <p:cNvSpPr/>
          <p:nvPr/>
        </p:nvSpPr>
        <p:spPr>
          <a:xfrm>
            <a:off x="7772400" y="2459736"/>
            <a:ext cx="384048" cy="100584"/>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1</a:t>
            </a:r>
            <a:endParaRPr lang="en-US" sz="900" dirty="0"/>
          </a:p>
        </p:txBody>
      </p:sp>
      <p:sp>
        <p:nvSpPr>
          <p:cNvPr id="13" name="Text 11"/>
          <p:cNvSpPr/>
          <p:nvPr/>
        </p:nvSpPr>
        <p:spPr>
          <a:xfrm>
            <a:off x="8339328" y="2286000"/>
            <a:ext cx="2889504" cy="512064"/>
          </a:xfrm>
          <a:prstGeom prst="rect">
            <a:avLst/>
          </a:prstGeom>
          <a:noFill/>
          <a:ln/>
        </p:spPr>
        <p:txBody>
          <a:bodyPr wrap="square" lIns="0" tIns="0" rIns="0" bIns="0" rtlCol="0" anchor="ctr">
            <a:normAutofit/>
          </a:bodyPr>
          <a:lstStyle/>
          <a:p>
            <a:pPr indent="0" marL="0">
              <a:buNone/>
            </a:pPr>
            <a:r>
              <a:rPr lang="en-US" sz="1480" b="1" dirty="0">
                <a:solidFill>
                  <a:srgbClr val="151B31"/>
                </a:solidFill>
                <a:latin typeface="Aptos" pitchFamily="34" charset="0"/>
                <a:ea typeface="Aptos" pitchFamily="34" charset="-122"/>
                <a:cs typeface="Aptos" pitchFamily="34" charset="-120"/>
              </a:rPr>
              <a:t>Client trace: custom + automatic spans</a:t>
            </a:r>
            <a:endParaRPr lang="en-US" sz="1480" dirty="0"/>
          </a:p>
        </p:txBody>
      </p:sp>
      <p:sp>
        <p:nvSpPr>
          <p:cNvPr id="14" name="Shape 12"/>
          <p:cNvSpPr/>
          <p:nvPr/>
        </p:nvSpPr>
        <p:spPr>
          <a:xfrm>
            <a:off x="7772400" y="3127248"/>
            <a:ext cx="384048" cy="384048"/>
          </a:xfrm>
          <a:prstGeom prst="ellipse">
            <a:avLst/>
          </a:prstGeom>
          <a:solidFill>
            <a:srgbClr val="16C7E8"/>
          </a:solidFill>
          <a:ln/>
        </p:spPr>
      </p:sp>
      <p:sp>
        <p:nvSpPr>
          <p:cNvPr id="15" name="Text 13"/>
          <p:cNvSpPr/>
          <p:nvPr/>
        </p:nvSpPr>
        <p:spPr>
          <a:xfrm>
            <a:off x="7772400" y="3246120"/>
            <a:ext cx="384048" cy="100584"/>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2</a:t>
            </a:r>
            <a:endParaRPr lang="en-US" sz="900" dirty="0"/>
          </a:p>
        </p:txBody>
      </p:sp>
      <p:sp>
        <p:nvSpPr>
          <p:cNvPr id="16" name="Text 14"/>
          <p:cNvSpPr/>
          <p:nvPr/>
        </p:nvSpPr>
        <p:spPr>
          <a:xfrm>
            <a:off x="8339328" y="3072384"/>
            <a:ext cx="2889504" cy="512064"/>
          </a:xfrm>
          <a:prstGeom prst="rect">
            <a:avLst/>
          </a:prstGeom>
          <a:noFill/>
          <a:ln/>
        </p:spPr>
        <p:txBody>
          <a:bodyPr wrap="square" lIns="0" tIns="0" rIns="0" bIns="0" rtlCol="0" anchor="ctr">
            <a:normAutofit/>
          </a:bodyPr>
          <a:lstStyle/>
          <a:p>
            <a:pPr indent="0" marL="0">
              <a:buNone/>
            </a:pPr>
            <a:r>
              <a:rPr lang="en-US" sz="1480" b="1" dirty="0">
                <a:solidFill>
                  <a:srgbClr val="151B31"/>
                </a:solidFill>
                <a:latin typeface="Aptos" pitchFamily="34" charset="0"/>
                <a:ea typeface="Aptos" pitchFamily="34" charset="-122"/>
                <a:cs typeface="Aptos" pitchFamily="34" charset="-120"/>
              </a:rPr>
              <a:t>Server trace: Foundry-managed coverage</a:t>
            </a:r>
            <a:endParaRPr lang="en-US" sz="1480" dirty="0"/>
          </a:p>
        </p:txBody>
      </p:sp>
      <p:sp>
        <p:nvSpPr>
          <p:cNvPr id="17" name="Shape 15"/>
          <p:cNvSpPr/>
          <p:nvPr/>
        </p:nvSpPr>
        <p:spPr>
          <a:xfrm>
            <a:off x="7772400" y="3913632"/>
            <a:ext cx="384048" cy="384048"/>
          </a:xfrm>
          <a:prstGeom prst="ellipse">
            <a:avLst/>
          </a:prstGeom>
          <a:solidFill>
            <a:srgbClr val="8B5CF6"/>
          </a:solidFill>
          <a:ln/>
        </p:spPr>
      </p:sp>
      <p:sp>
        <p:nvSpPr>
          <p:cNvPr id="18" name="Text 16"/>
          <p:cNvSpPr/>
          <p:nvPr/>
        </p:nvSpPr>
        <p:spPr>
          <a:xfrm>
            <a:off x="7772400" y="4032504"/>
            <a:ext cx="384048" cy="100584"/>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3</a:t>
            </a:r>
            <a:endParaRPr lang="en-US" sz="900" dirty="0"/>
          </a:p>
        </p:txBody>
      </p:sp>
      <p:sp>
        <p:nvSpPr>
          <p:cNvPr id="19" name="Text 17"/>
          <p:cNvSpPr/>
          <p:nvPr/>
        </p:nvSpPr>
        <p:spPr>
          <a:xfrm>
            <a:off x="8339328" y="3858768"/>
            <a:ext cx="2889504" cy="512064"/>
          </a:xfrm>
          <a:prstGeom prst="rect">
            <a:avLst/>
          </a:prstGeom>
          <a:noFill/>
          <a:ln/>
        </p:spPr>
        <p:txBody>
          <a:bodyPr wrap="square" lIns="0" tIns="0" rIns="0" bIns="0" rtlCol="0" anchor="ctr">
            <a:normAutofit/>
          </a:bodyPr>
          <a:lstStyle/>
          <a:p>
            <a:pPr indent="0" marL="0">
              <a:buNone/>
            </a:pPr>
            <a:r>
              <a:rPr lang="en-US" sz="1480" b="1" dirty="0">
                <a:solidFill>
                  <a:srgbClr val="151B31"/>
                </a:solidFill>
                <a:latin typeface="Aptos" pitchFamily="34" charset="0"/>
                <a:ea typeface="Aptos" pitchFamily="34" charset="-122"/>
                <a:cs typeface="Aptos" pitchFamily="34" charset="-120"/>
              </a:rPr>
              <a:t>Separate trace IDs, duration, and status</a:t>
            </a:r>
            <a:endParaRPr lang="en-US" sz="1480" dirty="0"/>
          </a:p>
        </p:txBody>
      </p:sp>
      <p:sp>
        <p:nvSpPr>
          <p:cNvPr id="20" name="Shape 18"/>
          <p:cNvSpPr/>
          <p:nvPr/>
        </p:nvSpPr>
        <p:spPr>
          <a:xfrm>
            <a:off x="7726680" y="4882896"/>
            <a:ext cx="3401568" cy="566928"/>
          </a:xfrm>
          <a:prstGeom prst="roundRect">
            <a:avLst>
              <a:gd name="adj" fmla="val 12903"/>
            </a:avLst>
          </a:prstGeom>
          <a:solidFill>
            <a:srgbClr val="E4F7FB"/>
          </a:solidFill>
          <a:ln/>
        </p:spPr>
      </p:sp>
      <p:sp>
        <p:nvSpPr>
          <p:cNvPr id="21" name="Text 19"/>
          <p:cNvSpPr/>
          <p:nvPr/>
        </p:nvSpPr>
        <p:spPr>
          <a:xfrm>
            <a:off x="7882128" y="5029200"/>
            <a:ext cx="3090672" cy="201168"/>
          </a:xfrm>
          <a:prstGeom prst="rect">
            <a:avLst/>
          </a:prstGeom>
          <a:noFill/>
          <a:ln/>
        </p:spPr>
        <p:txBody>
          <a:bodyPr wrap="square" lIns="0" tIns="0" rIns="0" bIns="0" rtlCol="0" anchor="ctr">
            <a:normAutofit/>
          </a:bodyPr>
          <a:lstStyle/>
          <a:p>
            <a:pPr indent="0" marL="0">
              <a:buNone/>
            </a:pPr>
            <a:r>
              <a:rPr lang="en-US" sz="1100" dirty="0">
                <a:solidFill>
                  <a:srgbClr val="11162B"/>
                </a:solidFill>
                <a:latin typeface="Consolas" pitchFamily="34" charset="0"/>
                <a:ea typeface="Consolas" pitchFamily="34" charset="-122"/>
                <a:cs typeface="Consolas" pitchFamily="34" charset="-120"/>
              </a:rPr>
              <a:t>RUNBOOK  Module 1 trace demo guide</a:t>
            </a:r>
            <a:endParaRPr lang="en-US" sz="1100" dirty="0"/>
          </a:p>
        </p:txBody>
      </p:sp>
      <p:sp>
        <p:nvSpPr>
          <p:cNvPr id="22" name="Text 20"/>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DDE7EF"/>
                </a:solidFill>
                <a:latin typeface="Aptos" pitchFamily="34" charset="0"/>
                <a:ea typeface="Aptos" pitchFamily="34" charset="-122"/>
                <a:cs typeface="Aptos" pitchFamily="34" charset="-120"/>
              </a:rPr>
              <a:t>REFERENCE  github.com/microsoft/agent-framework  ·  +3 more in notes</a:t>
            </a:r>
            <a:endParaRPr lang="en-US" sz="940" dirty="0"/>
          </a:p>
        </p:txBody>
      </p:sp>
      <p:sp>
        <p:nvSpPr>
          <p:cNvPr id="23" name="Shape 21"/>
          <p:cNvSpPr/>
          <p:nvPr/>
        </p:nvSpPr>
        <p:spPr>
          <a:xfrm>
            <a:off x="0" y="6793992"/>
            <a:ext cx="12191695" cy="64008"/>
          </a:xfrm>
          <a:prstGeom prst="rect">
            <a:avLst/>
          </a:prstGeom>
          <a:solidFill>
            <a:srgbClr val="16C7E8"/>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Treat trace telemetry as governed data</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09</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389888"/>
            <a:ext cx="1874520" cy="475488"/>
          </a:xfrm>
          <a:prstGeom prst="roundRect">
            <a:avLst>
              <a:gd name="adj" fmla="val 15385"/>
            </a:avLst>
          </a:prstGeom>
          <a:solidFill>
            <a:srgbClr val="11162B"/>
          </a:solidFill>
          <a:ln/>
        </p:spPr>
      </p:sp>
      <p:sp>
        <p:nvSpPr>
          <p:cNvPr id="18" name="Text 16"/>
          <p:cNvSpPr/>
          <p:nvPr/>
        </p:nvSpPr>
        <p:spPr>
          <a:xfrm>
            <a:off x="768096" y="1554480"/>
            <a:ext cx="1618488" cy="109728"/>
          </a:xfrm>
          <a:prstGeom prst="rect">
            <a:avLst/>
          </a:prstGeom>
          <a:noFill/>
          <a:ln/>
        </p:spPr>
        <p:txBody>
          <a:bodyPr wrap="square" lIns="0" tIns="0" rIns="0" bIns="0" rtlCol="0" anchor="ctr">
            <a:normAutofit/>
          </a:bodyPr>
          <a:lstStyle/>
          <a:p>
            <a:pPr indent="0" marL="0">
              <a:buNone/>
            </a:pPr>
            <a:r>
              <a:rPr lang="en-US" sz="940" b="1" spc="110" kern="0" dirty="0">
                <a:solidFill>
                  <a:srgbClr val="FFFFFF"/>
                </a:solidFill>
                <a:latin typeface="Aptos" pitchFamily="34" charset="0"/>
                <a:ea typeface="Aptos" pitchFamily="34" charset="-122"/>
                <a:cs typeface="Aptos" pitchFamily="34" charset="-120"/>
              </a:rPr>
              <a:t>DECISION</a:t>
            </a:r>
            <a:endParaRPr lang="en-US" sz="940" dirty="0"/>
          </a:p>
        </p:txBody>
      </p:sp>
      <p:sp>
        <p:nvSpPr>
          <p:cNvPr id="19" name="Shape 17"/>
          <p:cNvSpPr/>
          <p:nvPr/>
        </p:nvSpPr>
        <p:spPr>
          <a:xfrm>
            <a:off x="2560320" y="1389888"/>
            <a:ext cx="2743200" cy="475488"/>
          </a:xfrm>
          <a:prstGeom prst="roundRect">
            <a:avLst>
              <a:gd name="adj" fmla="val 15385"/>
            </a:avLst>
          </a:prstGeom>
          <a:solidFill>
            <a:srgbClr val="16C7E8"/>
          </a:solidFill>
          <a:ln/>
        </p:spPr>
      </p:sp>
      <p:sp>
        <p:nvSpPr>
          <p:cNvPr id="20" name="Text 18"/>
          <p:cNvSpPr/>
          <p:nvPr/>
        </p:nvSpPr>
        <p:spPr>
          <a:xfrm>
            <a:off x="2688336" y="1554480"/>
            <a:ext cx="2487168" cy="109728"/>
          </a:xfrm>
          <a:prstGeom prst="rect">
            <a:avLst/>
          </a:prstGeom>
          <a:noFill/>
          <a:ln/>
        </p:spPr>
        <p:txBody>
          <a:bodyPr wrap="square" lIns="0" tIns="0" rIns="0" bIns="0" rtlCol="0" anchor="ctr">
            <a:normAutofit/>
          </a:bodyPr>
          <a:lstStyle/>
          <a:p>
            <a:pPr indent="0" marL="0">
              <a:buNone/>
            </a:pPr>
            <a:r>
              <a:rPr lang="en-US" sz="940" b="1" spc="110" kern="0" dirty="0">
                <a:solidFill>
                  <a:srgbClr val="11162B"/>
                </a:solidFill>
                <a:latin typeface="Aptos" pitchFamily="34" charset="0"/>
                <a:ea typeface="Aptos" pitchFamily="34" charset="-122"/>
                <a:cs typeface="Aptos" pitchFamily="34" charset="-120"/>
              </a:rPr>
              <a:t>DEFAULT STANCE</a:t>
            </a:r>
            <a:endParaRPr lang="en-US" sz="940" dirty="0"/>
          </a:p>
        </p:txBody>
      </p:sp>
      <p:sp>
        <p:nvSpPr>
          <p:cNvPr id="21" name="Shape 19"/>
          <p:cNvSpPr/>
          <p:nvPr/>
        </p:nvSpPr>
        <p:spPr>
          <a:xfrm>
            <a:off x="5349240" y="1389888"/>
            <a:ext cx="6153912" cy="475488"/>
          </a:xfrm>
          <a:prstGeom prst="roundRect">
            <a:avLst>
              <a:gd name="adj" fmla="val 15385"/>
            </a:avLst>
          </a:prstGeom>
          <a:solidFill>
            <a:srgbClr val="16C7E8"/>
          </a:solidFill>
          <a:ln/>
        </p:spPr>
      </p:sp>
      <p:sp>
        <p:nvSpPr>
          <p:cNvPr id="22" name="Text 20"/>
          <p:cNvSpPr/>
          <p:nvPr/>
        </p:nvSpPr>
        <p:spPr>
          <a:xfrm>
            <a:off x="5477256" y="1554480"/>
            <a:ext cx="5897880" cy="109728"/>
          </a:xfrm>
          <a:prstGeom prst="rect">
            <a:avLst/>
          </a:prstGeom>
          <a:noFill/>
          <a:ln/>
        </p:spPr>
        <p:txBody>
          <a:bodyPr wrap="square" lIns="0" tIns="0" rIns="0" bIns="0" rtlCol="0" anchor="ctr">
            <a:normAutofit/>
          </a:bodyPr>
          <a:lstStyle/>
          <a:p>
            <a:pPr indent="0" marL="0">
              <a:buNone/>
            </a:pPr>
            <a:r>
              <a:rPr lang="en-US" sz="940" b="1" spc="110" kern="0" dirty="0">
                <a:solidFill>
                  <a:srgbClr val="11162B"/>
                </a:solidFill>
                <a:latin typeface="Aptos" pitchFamily="34" charset="0"/>
                <a:ea typeface="Aptos" pitchFamily="34" charset="-122"/>
                <a:cs typeface="Aptos" pitchFamily="34" charset="-120"/>
              </a:rPr>
              <a:t>REASON</a:t>
            </a:r>
            <a:endParaRPr lang="en-US" sz="940" dirty="0"/>
          </a:p>
        </p:txBody>
      </p:sp>
      <p:sp>
        <p:nvSpPr>
          <p:cNvPr id="23" name="Shape 21"/>
          <p:cNvSpPr/>
          <p:nvPr/>
        </p:nvSpPr>
        <p:spPr>
          <a:xfrm>
            <a:off x="640080" y="1993392"/>
            <a:ext cx="10908792" cy="1008126"/>
          </a:xfrm>
          <a:prstGeom prst="roundRect">
            <a:avLst>
              <a:gd name="adj" fmla="val 7256"/>
            </a:avLst>
          </a:prstGeom>
          <a:solidFill>
            <a:srgbClr val="E4F7FB"/>
          </a:solidFill>
          <a:ln w="10160">
            <a:solidFill>
              <a:srgbClr val="16C7E8"/>
            </a:solidFill>
            <a:prstDash val="solid"/>
          </a:ln>
        </p:spPr>
      </p:sp>
      <p:sp>
        <p:nvSpPr>
          <p:cNvPr id="24" name="Text 22"/>
          <p:cNvSpPr/>
          <p:nvPr/>
        </p:nvSpPr>
        <p:spPr>
          <a:xfrm>
            <a:off x="786384" y="2121408"/>
            <a:ext cx="1627632" cy="752094"/>
          </a:xfrm>
          <a:prstGeom prst="rect">
            <a:avLst/>
          </a:prstGeom>
          <a:noFill/>
          <a:ln/>
        </p:spPr>
        <p:txBody>
          <a:bodyPr wrap="square" lIns="0" tIns="0" rIns="0" bIns="0" rtlCol="0" anchor="ctr">
            <a:normAutofit/>
          </a:bodyPr>
          <a:lstStyle/>
          <a:p>
            <a:pPr indent="0" marL="0">
              <a:buNone/>
            </a:pPr>
            <a:r>
              <a:rPr lang="en-US" sz="1460" b="1" dirty="0">
                <a:solidFill>
                  <a:srgbClr val="11162B"/>
                </a:solidFill>
                <a:latin typeface="Aptos" pitchFamily="34" charset="0"/>
                <a:ea typeface="Aptos" pitchFamily="34" charset="-122"/>
                <a:cs typeface="Aptos" pitchFamily="34" charset="-120"/>
              </a:rPr>
              <a:t>Payloads</a:t>
            </a:r>
            <a:endParaRPr lang="en-US" sz="1460" dirty="0"/>
          </a:p>
        </p:txBody>
      </p:sp>
      <p:sp>
        <p:nvSpPr>
          <p:cNvPr id="25" name="Shape 23"/>
          <p:cNvSpPr/>
          <p:nvPr/>
        </p:nvSpPr>
        <p:spPr>
          <a:xfrm>
            <a:off x="2560320" y="2139696"/>
            <a:ext cx="0" cy="715518"/>
          </a:xfrm>
          <a:prstGeom prst="line">
            <a:avLst/>
          </a:prstGeom>
          <a:noFill/>
          <a:ln w="10160">
            <a:solidFill>
              <a:srgbClr val="16C7E8"/>
            </a:solidFill>
            <a:prstDash val="solid"/>
          </a:ln>
        </p:spPr>
      </p:sp>
      <p:sp>
        <p:nvSpPr>
          <p:cNvPr id="26" name="Text 24"/>
          <p:cNvSpPr/>
          <p:nvPr/>
        </p:nvSpPr>
        <p:spPr>
          <a:xfrm>
            <a:off x="2706624" y="2121408"/>
            <a:ext cx="2496312" cy="752094"/>
          </a:xfrm>
          <a:prstGeom prst="rect">
            <a:avLst/>
          </a:prstGeom>
          <a:noFill/>
          <a:ln/>
        </p:spPr>
        <p:txBody>
          <a:bodyPr wrap="square" lIns="0" tIns="0" rIns="0" bIns="0" rtlCol="0" anchor="ctr">
            <a:normAutofit/>
          </a:bodyPr>
          <a:lstStyle/>
          <a:p>
            <a:pPr indent="0" marL="0">
              <a:buNone/>
            </a:pPr>
            <a:r>
              <a:rPr lang="en-US" sz="1380" dirty="0">
                <a:solidFill>
                  <a:srgbClr val="151B31"/>
                </a:solidFill>
                <a:latin typeface="Aptos" pitchFamily="34" charset="0"/>
                <a:ea typeface="Aptos" pitchFamily="34" charset="-122"/>
                <a:cs typeface="Aptos" pitchFamily="34" charset="-120"/>
              </a:rPr>
              <a:t>Omit, redact, or minimize</a:t>
            </a:r>
            <a:endParaRPr lang="en-US" sz="1380" dirty="0"/>
          </a:p>
        </p:txBody>
      </p:sp>
      <p:sp>
        <p:nvSpPr>
          <p:cNvPr id="27" name="Shape 25"/>
          <p:cNvSpPr/>
          <p:nvPr/>
        </p:nvSpPr>
        <p:spPr>
          <a:xfrm>
            <a:off x="5349240" y="2139696"/>
            <a:ext cx="0" cy="715518"/>
          </a:xfrm>
          <a:prstGeom prst="line">
            <a:avLst/>
          </a:prstGeom>
          <a:noFill/>
          <a:ln w="10160">
            <a:solidFill>
              <a:srgbClr val="E4F7FB"/>
            </a:solidFill>
            <a:prstDash val="solid"/>
          </a:ln>
        </p:spPr>
      </p:sp>
      <p:sp>
        <p:nvSpPr>
          <p:cNvPr id="28" name="Text 26"/>
          <p:cNvSpPr/>
          <p:nvPr/>
        </p:nvSpPr>
        <p:spPr>
          <a:xfrm>
            <a:off x="5495544" y="2121408"/>
            <a:ext cx="5907024" cy="752094"/>
          </a:xfrm>
          <a:prstGeom prst="rect">
            <a:avLst/>
          </a:prstGeom>
          <a:noFill/>
          <a:ln/>
        </p:spPr>
        <p:txBody>
          <a:bodyPr wrap="square" lIns="0" tIns="0" rIns="0" bIns="0" rtlCol="0" anchor="ctr">
            <a:normAutofit/>
          </a:bodyPr>
          <a:lstStyle/>
          <a:p>
            <a:pPr indent="0" marL="0">
              <a:buNone/>
            </a:pPr>
            <a:r>
              <a:rPr lang="en-US" sz="1380" dirty="0">
                <a:solidFill>
                  <a:srgbClr val="151B31"/>
                </a:solidFill>
                <a:latin typeface="Aptos" pitchFamily="34" charset="0"/>
                <a:ea typeface="Aptos" pitchFamily="34" charset="-122"/>
                <a:cs typeface="Aptos" pitchFamily="34" charset="-120"/>
              </a:rPr>
              <a:t>Prompts, outputs, tool arguments, and results can contain sensitive data</a:t>
            </a:r>
            <a:endParaRPr lang="en-US" sz="1380" dirty="0"/>
          </a:p>
        </p:txBody>
      </p:sp>
      <p:sp>
        <p:nvSpPr>
          <p:cNvPr id="29" name="Shape 27"/>
          <p:cNvSpPr/>
          <p:nvPr/>
        </p:nvSpPr>
        <p:spPr>
          <a:xfrm>
            <a:off x="640080" y="3074670"/>
            <a:ext cx="10908792" cy="1008126"/>
          </a:xfrm>
          <a:prstGeom prst="roundRect">
            <a:avLst>
              <a:gd name="adj" fmla="val 7256"/>
            </a:avLst>
          </a:prstGeom>
          <a:solidFill>
            <a:srgbClr val="FFFFFF"/>
          </a:solidFill>
          <a:ln w="10160">
            <a:solidFill>
              <a:srgbClr val="E4F7FB"/>
            </a:solidFill>
            <a:prstDash val="solid"/>
          </a:ln>
        </p:spPr>
      </p:sp>
      <p:sp>
        <p:nvSpPr>
          <p:cNvPr id="30" name="Text 28"/>
          <p:cNvSpPr/>
          <p:nvPr/>
        </p:nvSpPr>
        <p:spPr>
          <a:xfrm>
            <a:off x="786384" y="3202686"/>
            <a:ext cx="1627632" cy="752094"/>
          </a:xfrm>
          <a:prstGeom prst="rect">
            <a:avLst/>
          </a:prstGeom>
          <a:noFill/>
          <a:ln/>
        </p:spPr>
        <p:txBody>
          <a:bodyPr wrap="square" lIns="0" tIns="0" rIns="0" bIns="0" rtlCol="0" anchor="ctr">
            <a:normAutofit/>
          </a:bodyPr>
          <a:lstStyle/>
          <a:p>
            <a:pPr indent="0" marL="0">
              <a:buNone/>
            </a:pPr>
            <a:r>
              <a:rPr lang="en-US" sz="1460" b="1" dirty="0">
                <a:solidFill>
                  <a:srgbClr val="11162B"/>
                </a:solidFill>
                <a:latin typeface="Aptos" pitchFamily="34" charset="0"/>
                <a:ea typeface="Aptos" pitchFamily="34" charset="-122"/>
                <a:cs typeface="Aptos" pitchFamily="34" charset="-120"/>
              </a:rPr>
              <a:t>Metadata</a:t>
            </a:r>
            <a:endParaRPr lang="en-US" sz="1460" dirty="0"/>
          </a:p>
        </p:txBody>
      </p:sp>
      <p:sp>
        <p:nvSpPr>
          <p:cNvPr id="31" name="Shape 29"/>
          <p:cNvSpPr/>
          <p:nvPr/>
        </p:nvSpPr>
        <p:spPr>
          <a:xfrm>
            <a:off x="2560320" y="3220974"/>
            <a:ext cx="0" cy="715518"/>
          </a:xfrm>
          <a:prstGeom prst="line">
            <a:avLst/>
          </a:prstGeom>
          <a:noFill/>
          <a:ln w="10160">
            <a:solidFill>
              <a:srgbClr val="16C7E8"/>
            </a:solidFill>
            <a:prstDash val="solid"/>
          </a:ln>
        </p:spPr>
      </p:sp>
      <p:sp>
        <p:nvSpPr>
          <p:cNvPr id="32" name="Text 30"/>
          <p:cNvSpPr/>
          <p:nvPr/>
        </p:nvSpPr>
        <p:spPr>
          <a:xfrm>
            <a:off x="2706624" y="3202686"/>
            <a:ext cx="2496312" cy="752094"/>
          </a:xfrm>
          <a:prstGeom prst="rect">
            <a:avLst/>
          </a:prstGeom>
          <a:noFill/>
          <a:ln/>
        </p:spPr>
        <p:txBody>
          <a:bodyPr wrap="square" lIns="0" tIns="0" rIns="0" bIns="0" rtlCol="0" anchor="ctr">
            <a:normAutofit/>
          </a:bodyPr>
          <a:lstStyle/>
          <a:p>
            <a:pPr indent="0" marL="0">
              <a:buNone/>
            </a:pPr>
            <a:r>
              <a:rPr lang="en-US" sz="1380" dirty="0">
                <a:solidFill>
                  <a:srgbClr val="151B31"/>
                </a:solidFill>
                <a:latin typeface="Aptos" pitchFamily="34" charset="0"/>
                <a:ea typeface="Aptos" pitchFamily="34" charset="-122"/>
                <a:cs typeface="Aptos" pitchFamily="34" charset="-120"/>
              </a:rPr>
              <a:t>Keep only useful context</a:t>
            </a:r>
            <a:endParaRPr lang="en-US" sz="1380" dirty="0"/>
          </a:p>
        </p:txBody>
      </p:sp>
      <p:sp>
        <p:nvSpPr>
          <p:cNvPr id="33" name="Shape 31"/>
          <p:cNvSpPr/>
          <p:nvPr/>
        </p:nvSpPr>
        <p:spPr>
          <a:xfrm>
            <a:off x="5349240" y="3220974"/>
            <a:ext cx="0" cy="715518"/>
          </a:xfrm>
          <a:prstGeom prst="line">
            <a:avLst/>
          </a:prstGeom>
          <a:noFill/>
          <a:ln w="10160">
            <a:solidFill>
              <a:srgbClr val="E4F7FB"/>
            </a:solidFill>
            <a:prstDash val="solid"/>
          </a:ln>
        </p:spPr>
      </p:sp>
      <p:sp>
        <p:nvSpPr>
          <p:cNvPr id="34" name="Text 32"/>
          <p:cNvSpPr/>
          <p:nvPr/>
        </p:nvSpPr>
        <p:spPr>
          <a:xfrm>
            <a:off x="5495544" y="3202686"/>
            <a:ext cx="5907024" cy="752094"/>
          </a:xfrm>
          <a:prstGeom prst="rect">
            <a:avLst/>
          </a:prstGeom>
          <a:noFill/>
          <a:ln/>
        </p:spPr>
        <p:txBody>
          <a:bodyPr wrap="square" lIns="0" tIns="0" rIns="0" bIns="0" rtlCol="0" anchor="ctr">
            <a:normAutofit/>
          </a:bodyPr>
          <a:lstStyle/>
          <a:p>
            <a:pPr indent="0" marL="0">
              <a:buNone/>
            </a:pPr>
            <a:r>
              <a:rPr lang="en-US" sz="1380" dirty="0">
                <a:solidFill>
                  <a:srgbClr val="151B31"/>
                </a:solidFill>
                <a:latin typeface="Aptos" pitchFamily="34" charset="0"/>
                <a:ea typeface="Aptos" pitchFamily="34" charset="-122"/>
                <a:cs typeface="Aptos" pitchFamily="34" charset="-120"/>
              </a:rPr>
              <a:t>Duration, status, operation type, and safe identifiers often answer the question</a:t>
            </a:r>
            <a:endParaRPr lang="en-US" sz="1380" dirty="0"/>
          </a:p>
        </p:txBody>
      </p:sp>
      <p:sp>
        <p:nvSpPr>
          <p:cNvPr id="35" name="Shape 33"/>
          <p:cNvSpPr/>
          <p:nvPr/>
        </p:nvSpPr>
        <p:spPr>
          <a:xfrm>
            <a:off x="640080" y="4155948"/>
            <a:ext cx="10908792" cy="1008126"/>
          </a:xfrm>
          <a:prstGeom prst="roundRect">
            <a:avLst>
              <a:gd name="adj" fmla="val 7256"/>
            </a:avLst>
          </a:prstGeom>
          <a:solidFill>
            <a:srgbClr val="E4F7FB"/>
          </a:solidFill>
          <a:ln w="10160">
            <a:solidFill>
              <a:srgbClr val="E4F7FB"/>
            </a:solidFill>
            <a:prstDash val="solid"/>
          </a:ln>
        </p:spPr>
      </p:sp>
      <p:sp>
        <p:nvSpPr>
          <p:cNvPr id="36" name="Text 34"/>
          <p:cNvSpPr/>
          <p:nvPr/>
        </p:nvSpPr>
        <p:spPr>
          <a:xfrm>
            <a:off x="786384" y="4283964"/>
            <a:ext cx="1627632" cy="752094"/>
          </a:xfrm>
          <a:prstGeom prst="rect">
            <a:avLst/>
          </a:prstGeom>
          <a:noFill/>
          <a:ln/>
        </p:spPr>
        <p:txBody>
          <a:bodyPr wrap="square" lIns="0" tIns="0" rIns="0" bIns="0" rtlCol="0" anchor="ctr">
            <a:normAutofit/>
          </a:bodyPr>
          <a:lstStyle/>
          <a:p>
            <a:pPr indent="0" marL="0">
              <a:buNone/>
            </a:pPr>
            <a:r>
              <a:rPr lang="en-US" sz="1460" b="1" dirty="0">
                <a:solidFill>
                  <a:srgbClr val="11162B"/>
                </a:solidFill>
                <a:latin typeface="Aptos" pitchFamily="34" charset="0"/>
                <a:ea typeface="Aptos" pitchFamily="34" charset="-122"/>
                <a:cs typeface="Aptos" pitchFamily="34" charset="-120"/>
              </a:rPr>
              <a:t>Access + retention</a:t>
            </a:r>
            <a:endParaRPr lang="en-US" sz="1460" dirty="0"/>
          </a:p>
        </p:txBody>
      </p:sp>
      <p:sp>
        <p:nvSpPr>
          <p:cNvPr id="37" name="Shape 35"/>
          <p:cNvSpPr/>
          <p:nvPr/>
        </p:nvSpPr>
        <p:spPr>
          <a:xfrm>
            <a:off x="2560320" y="4302252"/>
            <a:ext cx="0" cy="715518"/>
          </a:xfrm>
          <a:prstGeom prst="line">
            <a:avLst/>
          </a:prstGeom>
          <a:noFill/>
          <a:ln w="10160">
            <a:solidFill>
              <a:srgbClr val="16C7E8"/>
            </a:solidFill>
            <a:prstDash val="solid"/>
          </a:ln>
        </p:spPr>
      </p:sp>
      <p:sp>
        <p:nvSpPr>
          <p:cNvPr id="38" name="Text 36"/>
          <p:cNvSpPr/>
          <p:nvPr/>
        </p:nvSpPr>
        <p:spPr>
          <a:xfrm>
            <a:off x="2706624" y="4283964"/>
            <a:ext cx="2496312" cy="752094"/>
          </a:xfrm>
          <a:prstGeom prst="rect">
            <a:avLst/>
          </a:prstGeom>
          <a:noFill/>
          <a:ln/>
        </p:spPr>
        <p:txBody>
          <a:bodyPr wrap="square" lIns="0" tIns="0" rIns="0" bIns="0" rtlCol="0" anchor="ctr">
            <a:normAutofit/>
          </a:bodyPr>
          <a:lstStyle/>
          <a:p>
            <a:pPr indent="0" marL="0">
              <a:buNone/>
            </a:pPr>
            <a:r>
              <a:rPr lang="en-US" sz="1380" dirty="0">
                <a:solidFill>
                  <a:srgbClr val="151B31"/>
                </a:solidFill>
                <a:latin typeface="Aptos" pitchFamily="34" charset="0"/>
                <a:ea typeface="Aptos" pitchFamily="34" charset="-122"/>
                <a:cs typeface="Aptos" pitchFamily="34" charset="-120"/>
              </a:rPr>
              <a:t>Restrict, sample, and expire deliberately</a:t>
            </a:r>
            <a:endParaRPr lang="en-US" sz="1380" dirty="0"/>
          </a:p>
        </p:txBody>
      </p:sp>
      <p:sp>
        <p:nvSpPr>
          <p:cNvPr id="39" name="Shape 37"/>
          <p:cNvSpPr/>
          <p:nvPr/>
        </p:nvSpPr>
        <p:spPr>
          <a:xfrm>
            <a:off x="5349240" y="4302252"/>
            <a:ext cx="0" cy="715518"/>
          </a:xfrm>
          <a:prstGeom prst="line">
            <a:avLst/>
          </a:prstGeom>
          <a:noFill/>
          <a:ln w="10160">
            <a:solidFill>
              <a:srgbClr val="E4F7FB"/>
            </a:solidFill>
            <a:prstDash val="solid"/>
          </a:ln>
        </p:spPr>
      </p:sp>
      <p:sp>
        <p:nvSpPr>
          <p:cNvPr id="40" name="Text 38"/>
          <p:cNvSpPr/>
          <p:nvPr/>
        </p:nvSpPr>
        <p:spPr>
          <a:xfrm>
            <a:off x="5495544" y="4283964"/>
            <a:ext cx="5907024" cy="752094"/>
          </a:xfrm>
          <a:prstGeom prst="rect">
            <a:avLst/>
          </a:prstGeom>
          <a:noFill/>
          <a:ln/>
        </p:spPr>
        <p:txBody>
          <a:bodyPr wrap="square" lIns="0" tIns="0" rIns="0" bIns="0" rtlCol="0" anchor="ctr">
            <a:normAutofit/>
          </a:bodyPr>
          <a:lstStyle/>
          <a:p>
            <a:pPr indent="0" marL="0">
              <a:buNone/>
            </a:pPr>
            <a:r>
              <a:rPr lang="en-US" sz="1380" dirty="0">
                <a:solidFill>
                  <a:srgbClr val="151B31"/>
                </a:solidFill>
                <a:latin typeface="Aptos" pitchFamily="34" charset="0"/>
                <a:ea typeface="Aptos" pitchFamily="34" charset="-122"/>
                <a:cs typeface="Aptos" pitchFamily="34" charset="-120"/>
              </a:rPr>
              <a:t>Trace storage follows Application Insights access, retention, and billing</a:t>
            </a:r>
            <a:endParaRPr lang="en-US" sz="1380" dirty="0"/>
          </a:p>
        </p:txBody>
      </p:sp>
      <p:sp>
        <p:nvSpPr>
          <p:cNvPr id="41" name="Shape 39"/>
          <p:cNvSpPr/>
          <p:nvPr/>
        </p:nvSpPr>
        <p:spPr>
          <a:xfrm>
            <a:off x="640080" y="5237226"/>
            <a:ext cx="10908792" cy="1008126"/>
          </a:xfrm>
          <a:prstGeom prst="roundRect">
            <a:avLst>
              <a:gd name="adj" fmla="val 7256"/>
            </a:avLst>
          </a:prstGeom>
          <a:solidFill>
            <a:srgbClr val="FFFFFF"/>
          </a:solidFill>
          <a:ln w="10160">
            <a:solidFill>
              <a:srgbClr val="E4F7FB"/>
            </a:solidFill>
            <a:prstDash val="solid"/>
          </a:ln>
        </p:spPr>
      </p:sp>
      <p:sp>
        <p:nvSpPr>
          <p:cNvPr id="42" name="Text 40"/>
          <p:cNvSpPr/>
          <p:nvPr/>
        </p:nvSpPr>
        <p:spPr>
          <a:xfrm>
            <a:off x="786384" y="5365242"/>
            <a:ext cx="1627632" cy="752094"/>
          </a:xfrm>
          <a:prstGeom prst="rect">
            <a:avLst/>
          </a:prstGeom>
          <a:noFill/>
          <a:ln/>
        </p:spPr>
        <p:txBody>
          <a:bodyPr wrap="square" lIns="0" tIns="0" rIns="0" bIns="0" rtlCol="0" anchor="ctr">
            <a:normAutofit/>
          </a:bodyPr>
          <a:lstStyle/>
          <a:p>
            <a:pPr indent="0" marL="0">
              <a:buNone/>
            </a:pPr>
            <a:r>
              <a:rPr lang="en-US" sz="1460" b="1" dirty="0">
                <a:solidFill>
                  <a:srgbClr val="11162B"/>
                </a:solidFill>
                <a:latin typeface="Aptos" pitchFamily="34" charset="0"/>
                <a:ea typeface="Aptos" pitchFamily="34" charset="-122"/>
                <a:cs typeface="Aptos" pitchFamily="34" charset="-120"/>
              </a:rPr>
              <a:t>Demo content</a:t>
            </a:r>
            <a:endParaRPr lang="en-US" sz="1460" dirty="0"/>
          </a:p>
        </p:txBody>
      </p:sp>
      <p:sp>
        <p:nvSpPr>
          <p:cNvPr id="43" name="Shape 41"/>
          <p:cNvSpPr/>
          <p:nvPr/>
        </p:nvSpPr>
        <p:spPr>
          <a:xfrm>
            <a:off x="2560320" y="5383530"/>
            <a:ext cx="0" cy="715518"/>
          </a:xfrm>
          <a:prstGeom prst="line">
            <a:avLst/>
          </a:prstGeom>
          <a:noFill/>
          <a:ln w="10160">
            <a:solidFill>
              <a:srgbClr val="16C7E8"/>
            </a:solidFill>
            <a:prstDash val="solid"/>
          </a:ln>
        </p:spPr>
      </p:sp>
      <p:sp>
        <p:nvSpPr>
          <p:cNvPr id="44" name="Text 42"/>
          <p:cNvSpPr/>
          <p:nvPr/>
        </p:nvSpPr>
        <p:spPr>
          <a:xfrm>
            <a:off x="2706624" y="5365242"/>
            <a:ext cx="2496312" cy="752094"/>
          </a:xfrm>
          <a:prstGeom prst="rect">
            <a:avLst/>
          </a:prstGeom>
          <a:noFill/>
          <a:ln/>
        </p:spPr>
        <p:txBody>
          <a:bodyPr wrap="square" lIns="0" tIns="0" rIns="0" bIns="0" rtlCol="0" anchor="ctr">
            <a:normAutofit/>
          </a:bodyPr>
          <a:lstStyle/>
          <a:p>
            <a:pPr indent="0" marL="0">
              <a:buNone/>
            </a:pPr>
            <a:r>
              <a:rPr lang="en-US" sz="1380" dirty="0">
                <a:solidFill>
                  <a:srgbClr val="151B31"/>
                </a:solidFill>
                <a:latin typeface="Aptos" pitchFamily="34" charset="0"/>
                <a:ea typeface="Aptos" pitchFamily="34" charset="-122"/>
                <a:cs typeface="Aptos" pitchFamily="34" charset="-120"/>
              </a:rPr>
              <a:t>Use synthetic inputs</a:t>
            </a:r>
            <a:endParaRPr lang="en-US" sz="1380" dirty="0"/>
          </a:p>
        </p:txBody>
      </p:sp>
      <p:sp>
        <p:nvSpPr>
          <p:cNvPr id="45" name="Shape 43"/>
          <p:cNvSpPr/>
          <p:nvPr/>
        </p:nvSpPr>
        <p:spPr>
          <a:xfrm>
            <a:off x="5349240" y="5383530"/>
            <a:ext cx="0" cy="715518"/>
          </a:xfrm>
          <a:prstGeom prst="line">
            <a:avLst/>
          </a:prstGeom>
          <a:noFill/>
          <a:ln w="10160">
            <a:solidFill>
              <a:srgbClr val="E4F7FB"/>
            </a:solidFill>
            <a:prstDash val="solid"/>
          </a:ln>
        </p:spPr>
      </p:sp>
      <p:sp>
        <p:nvSpPr>
          <p:cNvPr id="46" name="Text 44"/>
          <p:cNvSpPr/>
          <p:nvPr/>
        </p:nvSpPr>
        <p:spPr>
          <a:xfrm>
            <a:off x="5495544" y="5365242"/>
            <a:ext cx="5907024" cy="752094"/>
          </a:xfrm>
          <a:prstGeom prst="rect">
            <a:avLst/>
          </a:prstGeom>
          <a:noFill/>
          <a:ln/>
        </p:spPr>
        <p:txBody>
          <a:bodyPr wrap="square" lIns="0" tIns="0" rIns="0" bIns="0" rtlCol="0" anchor="ctr">
            <a:normAutofit/>
          </a:bodyPr>
          <a:lstStyle/>
          <a:p>
            <a:pPr indent="0" marL="0">
              <a:buNone/>
            </a:pPr>
            <a:r>
              <a:rPr lang="en-US" sz="1380" dirty="0">
                <a:solidFill>
                  <a:srgbClr val="151B31"/>
                </a:solidFill>
                <a:latin typeface="Aptos" pitchFamily="34" charset="0"/>
                <a:ea typeface="Aptos" pitchFamily="34" charset="-122"/>
                <a:cs typeface="Aptos" pitchFamily="34" charset="-120"/>
              </a:rPr>
              <a:t>Troubleshooting value never justifies copying secrets or personal data</a:t>
            </a:r>
            <a:endParaRPr lang="en-US" sz="1380" dirty="0"/>
          </a:p>
        </p:txBody>
      </p:sp>
      <p:sp>
        <p:nvSpPr>
          <p:cNvPr id="47" name="Text 45"/>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learn.microsoft.com/agent-framework/agents/observability  ·  +3 more in notes</a:t>
            </a:r>
            <a:endParaRPr lang="en-US" sz="940" dirty="0"/>
          </a:p>
        </p:txBody>
      </p:sp>
      <p:sp>
        <p:nvSpPr>
          <p:cNvPr id="48" name="Shape 46"/>
          <p:cNvSpPr/>
          <p:nvPr/>
        </p:nvSpPr>
        <p:spPr>
          <a:xfrm>
            <a:off x="0" y="6793992"/>
            <a:ext cx="12191695" cy="64008"/>
          </a:xfrm>
          <a:prstGeom prst="rect">
            <a:avLst/>
          </a:prstGeom>
          <a:solidFill>
            <a:srgbClr val="16C7E8"/>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Separate latency, failure, and answer quality</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10</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389888"/>
            <a:ext cx="5335524" cy="2308860"/>
          </a:xfrm>
          <a:prstGeom prst="roundRect">
            <a:avLst>
              <a:gd name="adj" fmla="val 3168"/>
            </a:avLst>
          </a:prstGeom>
          <a:solidFill>
            <a:srgbClr val="E4F7FB"/>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18" name="Shape 16"/>
          <p:cNvSpPr/>
          <p:nvPr/>
        </p:nvSpPr>
        <p:spPr>
          <a:xfrm>
            <a:off x="822960" y="1572768"/>
            <a:ext cx="384048" cy="384048"/>
          </a:xfrm>
          <a:prstGeom prst="ellipse">
            <a:avLst/>
          </a:prstGeom>
          <a:solidFill>
            <a:srgbClr val="16C7E8"/>
          </a:solidFill>
          <a:ln/>
        </p:spPr>
      </p:sp>
      <p:sp>
        <p:nvSpPr>
          <p:cNvPr id="19" name="Text 17"/>
          <p:cNvSpPr/>
          <p:nvPr/>
        </p:nvSpPr>
        <p:spPr>
          <a:xfrm>
            <a:off x="822960" y="1682496"/>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1</a:t>
            </a:r>
            <a:endParaRPr lang="en-US" sz="950" dirty="0"/>
          </a:p>
        </p:txBody>
      </p:sp>
      <p:sp>
        <p:nvSpPr>
          <p:cNvPr id="20" name="Text 18"/>
          <p:cNvSpPr/>
          <p:nvPr/>
        </p:nvSpPr>
        <p:spPr>
          <a:xfrm>
            <a:off x="1335024" y="1554480"/>
            <a:ext cx="4439412"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Where did time go?</a:t>
            </a:r>
            <a:endParaRPr lang="en-US" sz="1800" dirty="0"/>
          </a:p>
        </p:txBody>
      </p:sp>
      <p:sp>
        <p:nvSpPr>
          <p:cNvPr id="21" name="Text 19"/>
          <p:cNvSpPr/>
          <p:nvPr/>
        </p:nvSpPr>
        <p:spPr>
          <a:xfrm>
            <a:off x="896112" y="2194560"/>
            <a:ext cx="4823460" cy="1321308"/>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Compare actual agent, model, tool, and custom-span durations</a:t>
            </a:r>
            <a:endParaRPr lang="en-US" sz="1420" dirty="0"/>
          </a:p>
        </p:txBody>
      </p:sp>
      <p:sp>
        <p:nvSpPr>
          <p:cNvPr id="22" name="Shape 20"/>
          <p:cNvSpPr/>
          <p:nvPr/>
        </p:nvSpPr>
        <p:spPr>
          <a:xfrm>
            <a:off x="6213348" y="1389888"/>
            <a:ext cx="5335524" cy="2308860"/>
          </a:xfrm>
          <a:prstGeom prst="roundRect">
            <a:avLst>
              <a:gd name="adj" fmla="val 3168"/>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23" name="Shape 21"/>
          <p:cNvSpPr/>
          <p:nvPr/>
        </p:nvSpPr>
        <p:spPr>
          <a:xfrm>
            <a:off x="6396228" y="1572768"/>
            <a:ext cx="384048" cy="384048"/>
          </a:xfrm>
          <a:prstGeom prst="ellipse">
            <a:avLst/>
          </a:prstGeom>
          <a:solidFill>
            <a:srgbClr val="8B5CF6"/>
          </a:solidFill>
          <a:ln/>
        </p:spPr>
      </p:sp>
      <p:sp>
        <p:nvSpPr>
          <p:cNvPr id="24" name="Text 22"/>
          <p:cNvSpPr/>
          <p:nvPr/>
        </p:nvSpPr>
        <p:spPr>
          <a:xfrm>
            <a:off x="6396228" y="1682496"/>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2</a:t>
            </a:r>
            <a:endParaRPr lang="en-US" sz="950" dirty="0"/>
          </a:p>
        </p:txBody>
      </p:sp>
      <p:sp>
        <p:nvSpPr>
          <p:cNvPr id="25" name="Text 23"/>
          <p:cNvSpPr/>
          <p:nvPr/>
        </p:nvSpPr>
        <p:spPr>
          <a:xfrm>
            <a:off x="6908292" y="1554480"/>
            <a:ext cx="4439412"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Did anything fail?</a:t>
            </a:r>
            <a:endParaRPr lang="en-US" sz="1800" dirty="0"/>
          </a:p>
        </p:txBody>
      </p:sp>
      <p:sp>
        <p:nvSpPr>
          <p:cNvPr id="26" name="Text 24"/>
          <p:cNvSpPr/>
          <p:nvPr/>
        </p:nvSpPr>
        <p:spPr>
          <a:xfrm>
            <a:off x="6469380" y="2194560"/>
            <a:ext cx="4823460" cy="1321308"/>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Check status and error attributes; a long operation can still succeed</a:t>
            </a:r>
            <a:endParaRPr lang="en-US" sz="1420" dirty="0"/>
          </a:p>
        </p:txBody>
      </p:sp>
      <p:sp>
        <p:nvSpPr>
          <p:cNvPr id="27" name="Shape 25"/>
          <p:cNvSpPr/>
          <p:nvPr/>
        </p:nvSpPr>
        <p:spPr>
          <a:xfrm>
            <a:off x="640080" y="3936492"/>
            <a:ext cx="5335524" cy="2308860"/>
          </a:xfrm>
          <a:prstGeom prst="roundRect">
            <a:avLst>
              <a:gd name="adj" fmla="val 3168"/>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28" name="Shape 26"/>
          <p:cNvSpPr/>
          <p:nvPr/>
        </p:nvSpPr>
        <p:spPr>
          <a:xfrm>
            <a:off x="822960" y="4119372"/>
            <a:ext cx="384048" cy="384048"/>
          </a:xfrm>
          <a:prstGeom prst="ellipse">
            <a:avLst/>
          </a:prstGeom>
          <a:solidFill>
            <a:srgbClr val="16C7E8"/>
          </a:solidFill>
          <a:ln/>
        </p:spPr>
      </p:sp>
      <p:sp>
        <p:nvSpPr>
          <p:cNvPr id="29" name="Text 27"/>
          <p:cNvSpPr/>
          <p:nvPr/>
        </p:nvSpPr>
        <p:spPr>
          <a:xfrm>
            <a:off x="822960" y="4229100"/>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3</a:t>
            </a:r>
            <a:endParaRPr lang="en-US" sz="950" dirty="0"/>
          </a:p>
        </p:txBody>
      </p:sp>
      <p:sp>
        <p:nvSpPr>
          <p:cNvPr id="30" name="Text 28"/>
          <p:cNvSpPr/>
          <p:nvPr/>
        </p:nvSpPr>
        <p:spPr>
          <a:xfrm>
            <a:off x="1335024" y="4101084"/>
            <a:ext cx="4439412"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Was the answer good?</a:t>
            </a:r>
            <a:endParaRPr lang="en-US" sz="1800" dirty="0"/>
          </a:p>
        </p:txBody>
      </p:sp>
      <p:sp>
        <p:nvSpPr>
          <p:cNvPr id="31" name="Text 29"/>
          <p:cNvSpPr/>
          <p:nvPr/>
        </p:nvSpPr>
        <p:spPr>
          <a:xfrm>
            <a:off x="896112" y="4741164"/>
            <a:ext cx="4823460" cy="1321308"/>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Use an evaluator or reviewed answer against explicit criteria</a:t>
            </a:r>
            <a:endParaRPr lang="en-US" sz="1420" dirty="0"/>
          </a:p>
        </p:txBody>
      </p:sp>
      <p:sp>
        <p:nvSpPr>
          <p:cNvPr id="32" name="Shape 30"/>
          <p:cNvSpPr/>
          <p:nvPr/>
        </p:nvSpPr>
        <p:spPr>
          <a:xfrm>
            <a:off x="6213348" y="3936492"/>
            <a:ext cx="5335524" cy="2308860"/>
          </a:xfrm>
          <a:prstGeom prst="roundRect">
            <a:avLst>
              <a:gd name="adj" fmla="val 3168"/>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33" name="Shape 31"/>
          <p:cNvSpPr/>
          <p:nvPr/>
        </p:nvSpPr>
        <p:spPr>
          <a:xfrm>
            <a:off x="6396228" y="4119372"/>
            <a:ext cx="384048" cy="384048"/>
          </a:xfrm>
          <a:prstGeom prst="ellipse">
            <a:avLst/>
          </a:prstGeom>
          <a:solidFill>
            <a:srgbClr val="8B5CF6"/>
          </a:solidFill>
          <a:ln/>
        </p:spPr>
      </p:sp>
      <p:sp>
        <p:nvSpPr>
          <p:cNvPr id="34" name="Text 32"/>
          <p:cNvSpPr/>
          <p:nvPr/>
        </p:nvSpPr>
        <p:spPr>
          <a:xfrm>
            <a:off x="6396228" y="4229100"/>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4</a:t>
            </a:r>
            <a:endParaRPr lang="en-US" sz="950" dirty="0"/>
          </a:p>
        </p:txBody>
      </p:sp>
      <p:sp>
        <p:nvSpPr>
          <p:cNvPr id="35" name="Text 33"/>
          <p:cNvSpPr/>
          <p:nvPr/>
        </p:nvSpPr>
        <p:spPr>
          <a:xfrm>
            <a:off x="6908292" y="4101084"/>
            <a:ext cx="4439412"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What remains unknown?</a:t>
            </a:r>
            <a:endParaRPr lang="en-US" sz="1800" dirty="0"/>
          </a:p>
        </p:txBody>
      </p:sp>
      <p:sp>
        <p:nvSpPr>
          <p:cNvPr id="36" name="Text 34"/>
          <p:cNvSpPr/>
          <p:nvPr/>
        </p:nvSpPr>
        <p:spPr>
          <a:xfrm>
            <a:off x="6469380" y="4741164"/>
            <a:ext cx="4823460" cy="1321308"/>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Unrecorded work and private model reasoning are not guaranteed trace evidence</a:t>
            </a:r>
            <a:endParaRPr lang="en-US" sz="1420" dirty="0"/>
          </a:p>
        </p:txBody>
      </p:sp>
      <p:sp>
        <p:nvSpPr>
          <p:cNvPr id="37" name="Text 35"/>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learn.microsoft.com/azure/foundry/observability/concepts/trace-agent-concept  ·  +1 more in notes</a:t>
            </a:r>
            <a:endParaRPr lang="en-US" sz="940" dirty="0"/>
          </a:p>
        </p:txBody>
      </p:sp>
      <p:sp>
        <p:nvSpPr>
          <p:cNvPr id="38" name="Shape 36"/>
          <p:cNvSpPr/>
          <p:nvPr/>
        </p:nvSpPr>
        <p:spPr>
          <a:xfrm>
            <a:off x="0" y="6793992"/>
            <a:ext cx="12191695" cy="64008"/>
          </a:xfrm>
          <a:prstGeom prst="rect">
            <a:avLst/>
          </a:prstGeom>
          <a:solidFill>
            <a:srgbClr val="16C7E8"/>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Takeaways</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11</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371600"/>
            <a:ext cx="2788920" cy="4736592"/>
          </a:xfrm>
          <a:prstGeom prst="roundRect">
            <a:avLst>
              <a:gd name="adj" fmla="val 2623"/>
            </a:avLst>
          </a:prstGeom>
          <a:solidFill>
            <a:srgbClr val="11162B"/>
          </a:solidFill>
          <a:ln/>
        </p:spPr>
      </p:sp>
      <p:sp>
        <p:nvSpPr>
          <p:cNvPr id="18" name="Text 16"/>
          <p:cNvSpPr/>
          <p:nvPr/>
        </p:nvSpPr>
        <p:spPr>
          <a:xfrm>
            <a:off x="941832" y="1828800"/>
            <a:ext cx="2103120" cy="1920240"/>
          </a:xfrm>
          <a:prstGeom prst="rect">
            <a:avLst/>
          </a:prstGeom>
          <a:noFill/>
          <a:ln/>
        </p:spPr>
        <p:txBody>
          <a:bodyPr wrap="square" lIns="0" tIns="0" rIns="0" bIns="0" rtlCol="0" anchor="ct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WHAT TO</a:t>
            </a:r>
            <a:endParaRPr lang="en-US" sz="2900" dirty="0"/>
          </a:p>
          <a:p>
            <a:pPr indent="0" marL="0">
              <a:buNone/>
            </a:pPr>
            <a:r>
              <a:rPr lang="en-US" sz="2900" b="1" dirty="0">
                <a:solidFill>
                  <a:srgbClr val="FFFFFF"/>
                </a:solidFill>
                <a:latin typeface="Aptos Display" pitchFamily="34" charset="0"/>
                <a:ea typeface="Aptos Display" pitchFamily="34" charset="-122"/>
                <a:cs typeface="Aptos Display" pitchFamily="34" charset="-120"/>
              </a:rPr>
              <a:t>CARRY</a:t>
            </a:r>
            <a:endParaRPr lang="en-US" sz="2900" dirty="0"/>
          </a:p>
          <a:p>
            <a:pPr indent="0" marL="0">
              <a:buNone/>
            </a:pPr>
            <a:r>
              <a:rPr lang="en-US" sz="2900" b="1" dirty="0">
                <a:solidFill>
                  <a:srgbClr val="FFFFFF"/>
                </a:solidFill>
                <a:latin typeface="Aptos Display" pitchFamily="34" charset="0"/>
                <a:ea typeface="Aptos Display" pitchFamily="34" charset="-122"/>
                <a:cs typeface="Aptos Display" pitchFamily="34" charset="-120"/>
              </a:rPr>
              <a:t>FORWARD</a:t>
            </a:r>
            <a:endParaRPr lang="en-US" sz="2900" dirty="0"/>
          </a:p>
        </p:txBody>
      </p:sp>
      <p:sp>
        <p:nvSpPr>
          <p:cNvPr id="19" name="Shape 17"/>
          <p:cNvSpPr/>
          <p:nvPr/>
        </p:nvSpPr>
        <p:spPr>
          <a:xfrm>
            <a:off x="1458011" y="4537710"/>
            <a:ext cx="377190" cy="452628"/>
          </a:xfrm>
          <a:prstGeom prst="line">
            <a:avLst/>
          </a:prstGeom>
          <a:noFill/>
          <a:ln w="25400">
            <a:solidFill>
              <a:srgbClr val="FFFFFF"/>
            </a:solidFill>
            <a:prstDash val="solid"/>
          </a:ln>
        </p:spPr>
      </p:sp>
      <p:sp>
        <p:nvSpPr>
          <p:cNvPr id="20" name="Shape 18"/>
          <p:cNvSpPr/>
          <p:nvPr/>
        </p:nvSpPr>
        <p:spPr>
          <a:xfrm>
            <a:off x="1865376" y="4522622"/>
            <a:ext cx="362102" cy="377190"/>
          </a:xfrm>
          <a:prstGeom prst="line">
            <a:avLst/>
          </a:prstGeom>
          <a:noFill/>
          <a:ln w="25400">
            <a:solidFill>
              <a:srgbClr val="FFFFFF"/>
            </a:solidFill>
            <a:prstDash val="solid"/>
          </a:ln>
        </p:spPr>
      </p:sp>
      <p:sp>
        <p:nvSpPr>
          <p:cNvPr id="21" name="Shape 19"/>
          <p:cNvSpPr/>
          <p:nvPr/>
        </p:nvSpPr>
        <p:spPr>
          <a:xfrm>
            <a:off x="2242566" y="4432097"/>
            <a:ext cx="362102" cy="452628"/>
          </a:xfrm>
          <a:prstGeom prst="line">
            <a:avLst/>
          </a:prstGeom>
          <a:noFill/>
          <a:ln w="25400">
            <a:solidFill>
              <a:srgbClr val="FFFFFF"/>
            </a:solidFill>
            <a:prstDash val="solid"/>
          </a:ln>
        </p:spPr>
      </p:sp>
      <p:sp>
        <p:nvSpPr>
          <p:cNvPr id="22" name="Shape 20"/>
          <p:cNvSpPr/>
          <p:nvPr/>
        </p:nvSpPr>
        <p:spPr>
          <a:xfrm>
            <a:off x="2242566" y="4914900"/>
            <a:ext cx="362102" cy="422453"/>
          </a:xfrm>
          <a:prstGeom prst="line">
            <a:avLst/>
          </a:prstGeom>
          <a:noFill/>
          <a:ln w="25400">
            <a:solidFill>
              <a:srgbClr val="FFFFFF"/>
            </a:solidFill>
            <a:prstDash val="dash"/>
          </a:ln>
        </p:spPr>
      </p:sp>
      <p:sp>
        <p:nvSpPr>
          <p:cNvPr id="23" name="Shape 21"/>
          <p:cNvSpPr/>
          <p:nvPr/>
        </p:nvSpPr>
        <p:spPr>
          <a:xfrm>
            <a:off x="1382573" y="4945075"/>
            <a:ext cx="226314" cy="226314"/>
          </a:xfrm>
          <a:prstGeom prst="ellipse">
            <a:avLst/>
          </a:prstGeom>
          <a:solidFill>
            <a:srgbClr val="8B5CF6"/>
          </a:solidFill>
          <a:ln w="10160">
            <a:solidFill>
              <a:srgbClr val="FFFFFF"/>
            </a:solidFill>
            <a:prstDash val="solid"/>
          </a:ln>
        </p:spPr>
      </p:sp>
      <p:sp>
        <p:nvSpPr>
          <p:cNvPr id="24" name="Shape 22"/>
          <p:cNvSpPr/>
          <p:nvPr/>
        </p:nvSpPr>
        <p:spPr>
          <a:xfrm>
            <a:off x="1805026" y="4432097"/>
            <a:ext cx="226314" cy="226314"/>
          </a:xfrm>
          <a:prstGeom prst="ellipse">
            <a:avLst/>
          </a:prstGeom>
          <a:solidFill>
            <a:srgbClr val="8B5CF6"/>
          </a:solidFill>
          <a:ln w="10160">
            <a:solidFill>
              <a:srgbClr val="FFFFFF"/>
            </a:solidFill>
            <a:prstDash val="solid"/>
          </a:ln>
        </p:spPr>
      </p:sp>
      <p:sp>
        <p:nvSpPr>
          <p:cNvPr id="25" name="Shape 23"/>
          <p:cNvSpPr/>
          <p:nvPr/>
        </p:nvSpPr>
        <p:spPr>
          <a:xfrm>
            <a:off x="2197303" y="4884725"/>
            <a:ext cx="226314" cy="226314"/>
          </a:xfrm>
          <a:prstGeom prst="ellipse">
            <a:avLst/>
          </a:prstGeom>
          <a:solidFill>
            <a:srgbClr val="16C7E8"/>
          </a:solidFill>
          <a:ln w="10160">
            <a:solidFill>
              <a:srgbClr val="FFFFFF"/>
            </a:solidFill>
            <a:prstDash val="solid"/>
          </a:ln>
        </p:spPr>
      </p:sp>
      <p:sp>
        <p:nvSpPr>
          <p:cNvPr id="26" name="Shape 24"/>
          <p:cNvSpPr/>
          <p:nvPr/>
        </p:nvSpPr>
        <p:spPr>
          <a:xfrm>
            <a:off x="2589581" y="4341571"/>
            <a:ext cx="226314" cy="226314"/>
          </a:xfrm>
          <a:prstGeom prst="ellipse">
            <a:avLst/>
          </a:prstGeom>
          <a:solidFill>
            <a:srgbClr val="8B5CF6"/>
          </a:solidFill>
          <a:ln w="10160">
            <a:solidFill>
              <a:srgbClr val="FFFFFF"/>
            </a:solidFill>
            <a:prstDash val="solid"/>
          </a:ln>
        </p:spPr>
      </p:sp>
      <p:sp>
        <p:nvSpPr>
          <p:cNvPr id="27" name="Shape 25"/>
          <p:cNvSpPr/>
          <p:nvPr/>
        </p:nvSpPr>
        <p:spPr>
          <a:xfrm>
            <a:off x="2649931" y="5397703"/>
            <a:ext cx="226314" cy="226314"/>
          </a:xfrm>
          <a:prstGeom prst="ellipse">
            <a:avLst/>
          </a:prstGeom>
          <a:solidFill>
            <a:srgbClr val="8B5CF6"/>
          </a:solidFill>
          <a:ln w="10160">
            <a:solidFill>
              <a:srgbClr val="FFFFFF"/>
            </a:solidFill>
            <a:prstDash val="solid"/>
          </a:ln>
        </p:spPr>
      </p:sp>
      <p:sp>
        <p:nvSpPr>
          <p:cNvPr id="28" name="Shape 26"/>
          <p:cNvSpPr/>
          <p:nvPr/>
        </p:nvSpPr>
        <p:spPr>
          <a:xfrm>
            <a:off x="3712464" y="1371600"/>
            <a:ext cx="3799332" cy="1420368"/>
          </a:xfrm>
          <a:prstGeom prst="roundRect">
            <a:avLst>
              <a:gd name="adj" fmla="val 5150"/>
            </a:avLst>
          </a:prstGeom>
          <a:solidFill>
            <a:srgbClr val="FFFFFF"/>
          </a:solidFill>
          <a:ln w="10160">
            <a:solidFill>
              <a:srgbClr val="E4F7FB"/>
            </a:solidFill>
            <a:prstDash val="solid"/>
          </a:ln>
        </p:spPr>
      </p:sp>
      <p:sp>
        <p:nvSpPr>
          <p:cNvPr id="29" name="Shape 27"/>
          <p:cNvSpPr/>
          <p:nvPr/>
        </p:nvSpPr>
        <p:spPr>
          <a:xfrm>
            <a:off x="3895344" y="1880616"/>
            <a:ext cx="402336" cy="402336"/>
          </a:xfrm>
          <a:prstGeom prst="ellipse">
            <a:avLst/>
          </a:prstGeom>
          <a:solidFill>
            <a:srgbClr val="16C7E8"/>
          </a:solidFill>
          <a:ln/>
        </p:spPr>
      </p:sp>
      <p:sp>
        <p:nvSpPr>
          <p:cNvPr id="30" name="Text 28"/>
          <p:cNvSpPr/>
          <p:nvPr/>
        </p:nvSpPr>
        <p:spPr>
          <a:xfrm>
            <a:off x="3895344" y="2017776"/>
            <a:ext cx="402336" cy="100584"/>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1</a:t>
            </a:r>
            <a:endParaRPr lang="en-US" sz="900" dirty="0"/>
          </a:p>
        </p:txBody>
      </p:sp>
      <p:sp>
        <p:nvSpPr>
          <p:cNvPr id="31" name="Text 29"/>
          <p:cNvSpPr/>
          <p:nvPr/>
        </p:nvSpPr>
        <p:spPr>
          <a:xfrm>
            <a:off x="4462272" y="1517904"/>
            <a:ext cx="2857500" cy="1127760"/>
          </a:xfrm>
          <a:prstGeom prst="rect">
            <a:avLst/>
          </a:prstGeom>
          <a:noFill/>
          <a:ln/>
        </p:spPr>
        <p:txBody>
          <a:bodyPr wrap="square" lIns="0" tIns="0" rIns="0" bIns="0" rtlCol="0" anchor="ctr">
            <a:normAutofit/>
          </a:bodyPr>
          <a:lstStyle/>
          <a:p>
            <a:pPr indent="0" marL="0">
              <a:buNone/>
            </a:pPr>
            <a:r>
              <a:rPr lang="en-US" sz="1530" dirty="0">
                <a:solidFill>
                  <a:srgbClr val="151B31"/>
                </a:solidFill>
                <a:latin typeface="Aptos" pitchFamily="34" charset="0"/>
                <a:ea typeface="Aptos" pitchFamily="34" charset="-122"/>
                <a:cs typeface="Aptos" pitchFamily="34" charset="-120"/>
              </a:rPr>
              <a:t>Observability explains behavior; monitoring watches signals over time; evaluation judges quality or safety.</a:t>
            </a:r>
            <a:endParaRPr lang="en-US" sz="1530" dirty="0"/>
          </a:p>
        </p:txBody>
      </p:sp>
      <p:sp>
        <p:nvSpPr>
          <p:cNvPr id="32" name="Shape 30"/>
          <p:cNvSpPr/>
          <p:nvPr/>
        </p:nvSpPr>
        <p:spPr>
          <a:xfrm>
            <a:off x="7749540" y="1371600"/>
            <a:ext cx="3799332" cy="1420368"/>
          </a:xfrm>
          <a:prstGeom prst="roundRect">
            <a:avLst>
              <a:gd name="adj" fmla="val 5150"/>
            </a:avLst>
          </a:prstGeom>
          <a:solidFill>
            <a:srgbClr val="FFFFFF"/>
          </a:solidFill>
          <a:ln w="10160">
            <a:solidFill>
              <a:srgbClr val="E4F7FB"/>
            </a:solidFill>
            <a:prstDash val="solid"/>
          </a:ln>
        </p:spPr>
      </p:sp>
      <p:sp>
        <p:nvSpPr>
          <p:cNvPr id="33" name="Shape 31"/>
          <p:cNvSpPr/>
          <p:nvPr/>
        </p:nvSpPr>
        <p:spPr>
          <a:xfrm>
            <a:off x="7932420" y="1880616"/>
            <a:ext cx="402336" cy="402336"/>
          </a:xfrm>
          <a:prstGeom prst="ellipse">
            <a:avLst/>
          </a:prstGeom>
          <a:solidFill>
            <a:srgbClr val="16C7E8"/>
          </a:solidFill>
          <a:ln/>
        </p:spPr>
      </p:sp>
      <p:sp>
        <p:nvSpPr>
          <p:cNvPr id="34" name="Text 32"/>
          <p:cNvSpPr/>
          <p:nvPr/>
        </p:nvSpPr>
        <p:spPr>
          <a:xfrm>
            <a:off x="7932420" y="2017776"/>
            <a:ext cx="402336" cy="100584"/>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2</a:t>
            </a:r>
            <a:endParaRPr lang="en-US" sz="900" dirty="0"/>
          </a:p>
        </p:txBody>
      </p:sp>
      <p:sp>
        <p:nvSpPr>
          <p:cNvPr id="35" name="Text 33"/>
          <p:cNvSpPr/>
          <p:nvPr/>
        </p:nvSpPr>
        <p:spPr>
          <a:xfrm>
            <a:off x="8499348" y="1517904"/>
            <a:ext cx="2857500" cy="1127760"/>
          </a:xfrm>
          <a:prstGeom prst="rect">
            <a:avLst/>
          </a:prstGeom>
          <a:noFill/>
          <a:ln/>
        </p:spPr>
        <p:txBody>
          <a:bodyPr wrap="square" lIns="0" tIns="0" rIns="0" bIns="0" rtlCol="0" anchor="ctr">
            <a:normAutofit/>
          </a:bodyPr>
          <a:lstStyle/>
          <a:p>
            <a:pPr indent="0" marL="0">
              <a:buNone/>
            </a:pPr>
            <a:r>
              <a:rPr lang="en-US" sz="1530" dirty="0">
                <a:solidFill>
                  <a:srgbClr val="151B31"/>
                </a:solidFill>
                <a:latin typeface="Aptos" pitchFamily="34" charset="0"/>
                <a:ea typeface="Aptos" pitchFamily="34" charset="-122"/>
                <a:cs typeface="Aptos" pitchFamily="34" charset="-120"/>
              </a:rPr>
              <a:t>A trace contains spans, and spans carry attributes that describe recorded operations.</a:t>
            </a:r>
            <a:endParaRPr lang="en-US" sz="1530" dirty="0"/>
          </a:p>
        </p:txBody>
      </p:sp>
      <p:sp>
        <p:nvSpPr>
          <p:cNvPr id="36" name="Shape 34"/>
          <p:cNvSpPr/>
          <p:nvPr/>
        </p:nvSpPr>
        <p:spPr>
          <a:xfrm>
            <a:off x="3712464" y="3029712"/>
            <a:ext cx="3799332" cy="1420368"/>
          </a:xfrm>
          <a:prstGeom prst="roundRect">
            <a:avLst>
              <a:gd name="adj" fmla="val 5150"/>
            </a:avLst>
          </a:prstGeom>
          <a:solidFill>
            <a:srgbClr val="FFFFFF"/>
          </a:solidFill>
          <a:ln w="10160">
            <a:solidFill>
              <a:srgbClr val="E4F7FB"/>
            </a:solidFill>
            <a:prstDash val="solid"/>
          </a:ln>
        </p:spPr>
      </p:sp>
      <p:sp>
        <p:nvSpPr>
          <p:cNvPr id="37" name="Shape 35"/>
          <p:cNvSpPr/>
          <p:nvPr/>
        </p:nvSpPr>
        <p:spPr>
          <a:xfrm>
            <a:off x="3895344" y="3538728"/>
            <a:ext cx="402336" cy="402336"/>
          </a:xfrm>
          <a:prstGeom prst="ellipse">
            <a:avLst/>
          </a:prstGeom>
          <a:solidFill>
            <a:srgbClr val="16C7E8"/>
          </a:solidFill>
          <a:ln/>
        </p:spPr>
      </p:sp>
      <p:sp>
        <p:nvSpPr>
          <p:cNvPr id="38" name="Text 36"/>
          <p:cNvSpPr/>
          <p:nvPr/>
        </p:nvSpPr>
        <p:spPr>
          <a:xfrm>
            <a:off x="3895344" y="3675888"/>
            <a:ext cx="402336" cy="100584"/>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3</a:t>
            </a:r>
            <a:endParaRPr lang="en-US" sz="900" dirty="0"/>
          </a:p>
        </p:txBody>
      </p:sp>
      <p:sp>
        <p:nvSpPr>
          <p:cNvPr id="39" name="Text 37"/>
          <p:cNvSpPr/>
          <p:nvPr/>
        </p:nvSpPr>
        <p:spPr>
          <a:xfrm>
            <a:off x="4462272" y="3176016"/>
            <a:ext cx="2857500" cy="1127760"/>
          </a:xfrm>
          <a:prstGeom prst="rect">
            <a:avLst/>
          </a:prstGeom>
          <a:noFill/>
          <a:ln/>
        </p:spPr>
        <p:txBody>
          <a:bodyPr wrap="square" lIns="0" tIns="0" rIns="0" bIns="0" rtlCol="0" anchor="ctr">
            <a:normAutofit/>
          </a:bodyPr>
          <a:lstStyle/>
          <a:p>
            <a:pPr indent="0" marL="0">
              <a:buNone/>
            </a:pPr>
            <a:r>
              <a:rPr lang="en-US" sz="1530" dirty="0">
                <a:solidFill>
                  <a:srgbClr val="151B31"/>
                </a:solidFill>
                <a:latin typeface="Aptos" pitchFamily="34" charset="0"/>
                <a:ea typeface="Aptos" pitchFamily="34" charset="-122"/>
                <a:cs typeface="Aptos" pitchFamily="34" charset="-120"/>
              </a:rPr>
              <a:t>Agent Framework emits automatic spans; custom spans add application-defined context.</a:t>
            </a:r>
            <a:endParaRPr lang="en-US" sz="1530" dirty="0"/>
          </a:p>
        </p:txBody>
      </p:sp>
      <p:sp>
        <p:nvSpPr>
          <p:cNvPr id="40" name="Shape 38"/>
          <p:cNvSpPr/>
          <p:nvPr/>
        </p:nvSpPr>
        <p:spPr>
          <a:xfrm>
            <a:off x="7749540" y="3029712"/>
            <a:ext cx="3799332" cy="1420368"/>
          </a:xfrm>
          <a:prstGeom prst="roundRect">
            <a:avLst>
              <a:gd name="adj" fmla="val 5150"/>
            </a:avLst>
          </a:prstGeom>
          <a:solidFill>
            <a:srgbClr val="FFFFFF"/>
          </a:solidFill>
          <a:ln w="10160">
            <a:solidFill>
              <a:srgbClr val="E4F7FB"/>
            </a:solidFill>
            <a:prstDash val="solid"/>
          </a:ln>
        </p:spPr>
      </p:sp>
      <p:sp>
        <p:nvSpPr>
          <p:cNvPr id="41" name="Shape 39"/>
          <p:cNvSpPr/>
          <p:nvPr/>
        </p:nvSpPr>
        <p:spPr>
          <a:xfrm>
            <a:off x="7932420" y="3538728"/>
            <a:ext cx="402336" cy="402336"/>
          </a:xfrm>
          <a:prstGeom prst="ellipse">
            <a:avLst/>
          </a:prstGeom>
          <a:solidFill>
            <a:srgbClr val="16C7E8"/>
          </a:solidFill>
          <a:ln/>
        </p:spPr>
      </p:sp>
      <p:sp>
        <p:nvSpPr>
          <p:cNvPr id="42" name="Text 40"/>
          <p:cNvSpPr/>
          <p:nvPr/>
        </p:nvSpPr>
        <p:spPr>
          <a:xfrm>
            <a:off x="7932420" y="3675888"/>
            <a:ext cx="402336" cy="100584"/>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4</a:t>
            </a:r>
            <a:endParaRPr lang="en-US" sz="900" dirty="0"/>
          </a:p>
        </p:txBody>
      </p:sp>
      <p:sp>
        <p:nvSpPr>
          <p:cNvPr id="43" name="Text 41"/>
          <p:cNvSpPr/>
          <p:nvPr/>
        </p:nvSpPr>
        <p:spPr>
          <a:xfrm>
            <a:off x="8499348" y="3176016"/>
            <a:ext cx="2857500" cy="1127760"/>
          </a:xfrm>
          <a:prstGeom prst="rect">
            <a:avLst/>
          </a:prstGeom>
          <a:noFill/>
          <a:ln/>
        </p:spPr>
        <p:txBody>
          <a:bodyPr wrap="square" lIns="0" tIns="0" rIns="0" bIns="0" rtlCol="0" anchor="ctr">
            <a:normAutofit/>
          </a:bodyPr>
          <a:lstStyle/>
          <a:p>
            <a:pPr indent="0" marL="0">
              <a:buNone/>
            </a:pPr>
            <a:r>
              <a:rPr lang="en-US" sz="1530" dirty="0">
                <a:solidFill>
                  <a:srgbClr val="151B31"/>
                </a:solidFill>
                <a:latin typeface="Aptos" pitchFamily="34" charset="0"/>
                <a:ea typeface="Aptos" pitchFamily="34" charset="-122"/>
                <a:cs typeface="Aptos" pitchFamily="34" charset="-120"/>
              </a:rPr>
              <a:t>Context propagation correlates boundaries; links express causal handoffs without inventing nesting.</a:t>
            </a:r>
            <a:endParaRPr lang="en-US" sz="1530" dirty="0"/>
          </a:p>
        </p:txBody>
      </p:sp>
      <p:sp>
        <p:nvSpPr>
          <p:cNvPr id="44" name="Shape 42"/>
          <p:cNvSpPr/>
          <p:nvPr/>
        </p:nvSpPr>
        <p:spPr>
          <a:xfrm>
            <a:off x="3712464" y="4687824"/>
            <a:ext cx="7836408" cy="1420368"/>
          </a:xfrm>
          <a:prstGeom prst="roundRect">
            <a:avLst>
              <a:gd name="adj" fmla="val 5150"/>
            </a:avLst>
          </a:prstGeom>
          <a:solidFill>
            <a:srgbClr val="EEE9FF"/>
          </a:solidFill>
          <a:ln w="10160">
            <a:solidFill>
              <a:srgbClr val="8B5CF6"/>
            </a:solidFill>
            <a:prstDash val="solid"/>
          </a:ln>
        </p:spPr>
      </p:sp>
      <p:sp>
        <p:nvSpPr>
          <p:cNvPr id="45" name="Shape 43"/>
          <p:cNvSpPr/>
          <p:nvPr/>
        </p:nvSpPr>
        <p:spPr>
          <a:xfrm>
            <a:off x="3895344" y="5196840"/>
            <a:ext cx="402336" cy="402336"/>
          </a:xfrm>
          <a:prstGeom prst="ellipse">
            <a:avLst/>
          </a:prstGeom>
          <a:solidFill>
            <a:srgbClr val="8B5CF6"/>
          </a:solidFill>
          <a:ln/>
        </p:spPr>
      </p:sp>
      <p:sp>
        <p:nvSpPr>
          <p:cNvPr id="46" name="Text 44"/>
          <p:cNvSpPr/>
          <p:nvPr/>
        </p:nvSpPr>
        <p:spPr>
          <a:xfrm>
            <a:off x="3895344" y="5334000"/>
            <a:ext cx="402336" cy="100584"/>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5</a:t>
            </a:r>
            <a:endParaRPr lang="en-US" sz="900" dirty="0"/>
          </a:p>
        </p:txBody>
      </p:sp>
      <p:sp>
        <p:nvSpPr>
          <p:cNvPr id="47" name="Text 45"/>
          <p:cNvSpPr/>
          <p:nvPr/>
        </p:nvSpPr>
        <p:spPr>
          <a:xfrm>
            <a:off x="4462272" y="4834128"/>
            <a:ext cx="6894576" cy="1127760"/>
          </a:xfrm>
          <a:prstGeom prst="rect">
            <a:avLst/>
          </a:prstGeom>
          <a:noFill/>
          <a:ln/>
        </p:spPr>
        <p:txBody>
          <a:bodyPr wrap="square" lIns="0" tIns="0" rIns="0" bIns="0" rtlCol="0" anchor="ctr">
            <a:normAutofit/>
          </a:bodyPr>
          <a:lstStyle/>
          <a:p>
            <a:pPr indent="0" marL="0">
              <a:buNone/>
            </a:pPr>
            <a:r>
              <a:rPr lang="en-US" sz="1530" b="1" dirty="0">
                <a:solidFill>
                  <a:srgbClr val="151B31"/>
                </a:solidFill>
                <a:latin typeface="Aptos" pitchFamily="34" charset="0"/>
                <a:ea typeface="Aptos" pitchFamily="34" charset="-122"/>
                <a:cs typeface="Aptos" pitchFamily="34" charset="-120"/>
              </a:rPr>
              <a:t>Minimize sensitive payloads, and govern telemetry access, sampling, retention, and cost.</a:t>
            </a:r>
            <a:endParaRPr lang="en-US" sz="1530" dirty="0"/>
          </a:p>
        </p:txBody>
      </p:sp>
      <p:sp>
        <p:nvSpPr>
          <p:cNvPr id="48" name="Text 46"/>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learn.microsoft.com/azure/foundry/concepts/observability  ·  +3 more in notes</a:t>
            </a:r>
            <a:endParaRPr lang="en-US" sz="940" dirty="0"/>
          </a:p>
        </p:txBody>
      </p:sp>
      <p:sp>
        <p:nvSpPr>
          <p:cNvPr id="49" name="Shape 47"/>
          <p:cNvSpPr/>
          <p:nvPr/>
        </p:nvSpPr>
        <p:spPr>
          <a:xfrm>
            <a:off x="0" y="6793992"/>
            <a:ext cx="12191695" cy="64008"/>
          </a:xfrm>
          <a:prstGeom prst="rect">
            <a:avLst/>
          </a:prstGeom>
          <a:solidFill>
            <a:srgbClr val="16C7E8"/>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Challenges with Agents</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02</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389888"/>
            <a:ext cx="3477768" cy="2299716"/>
          </a:xfrm>
          <a:prstGeom prst="roundRect">
            <a:avLst>
              <a:gd name="adj" fmla="val 3181"/>
            </a:avLst>
          </a:prstGeom>
          <a:solidFill>
            <a:srgbClr val="E4F7FB"/>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18" name="Shape 16"/>
          <p:cNvSpPr/>
          <p:nvPr/>
        </p:nvSpPr>
        <p:spPr>
          <a:xfrm>
            <a:off x="822960" y="1572768"/>
            <a:ext cx="384048" cy="384048"/>
          </a:xfrm>
          <a:prstGeom prst="ellipse">
            <a:avLst/>
          </a:prstGeom>
          <a:solidFill>
            <a:srgbClr val="16C7E8"/>
          </a:solidFill>
          <a:ln/>
        </p:spPr>
      </p:sp>
      <p:sp>
        <p:nvSpPr>
          <p:cNvPr id="19" name="Text 17"/>
          <p:cNvSpPr/>
          <p:nvPr/>
        </p:nvSpPr>
        <p:spPr>
          <a:xfrm>
            <a:off x="822960" y="1682496"/>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1</a:t>
            </a:r>
            <a:endParaRPr lang="en-US" sz="950" dirty="0"/>
          </a:p>
        </p:txBody>
      </p:sp>
      <p:sp>
        <p:nvSpPr>
          <p:cNvPr id="20" name="Text 18"/>
          <p:cNvSpPr/>
          <p:nvPr/>
        </p:nvSpPr>
        <p:spPr>
          <a:xfrm>
            <a:off x="1335024" y="1554480"/>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Many steps</a:t>
            </a:r>
            <a:endParaRPr lang="en-US" sz="1800" dirty="0"/>
          </a:p>
        </p:txBody>
      </p:sp>
      <p:sp>
        <p:nvSpPr>
          <p:cNvPr id="21" name="Text 19"/>
          <p:cNvSpPr/>
          <p:nvPr/>
        </p:nvSpPr>
        <p:spPr>
          <a:xfrm>
            <a:off x="896112" y="2194560"/>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A single response can involve enough operations that the complete path is difficult to follow</a:t>
            </a:r>
            <a:endParaRPr lang="en-US" sz="1420" dirty="0"/>
          </a:p>
        </p:txBody>
      </p:sp>
      <p:sp>
        <p:nvSpPr>
          <p:cNvPr id="22" name="Shape 20"/>
          <p:cNvSpPr/>
          <p:nvPr/>
        </p:nvSpPr>
        <p:spPr>
          <a:xfrm>
            <a:off x="4355592" y="1389888"/>
            <a:ext cx="3477768" cy="2299716"/>
          </a:xfrm>
          <a:prstGeom prst="roundRect">
            <a:avLst>
              <a:gd name="adj" fmla="val 3181"/>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23" name="Shape 21"/>
          <p:cNvSpPr/>
          <p:nvPr/>
        </p:nvSpPr>
        <p:spPr>
          <a:xfrm>
            <a:off x="4538472" y="1572768"/>
            <a:ext cx="384048" cy="384048"/>
          </a:xfrm>
          <a:prstGeom prst="ellipse">
            <a:avLst/>
          </a:prstGeom>
          <a:solidFill>
            <a:srgbClr val="16C7E8"/>
          </a:solidFill>
          <a:ln/>
        </p:spPr>
      </p:sp>
      <p:sp>
        <p:nvSpPr>
          <p:cNvPr id="24" name="Text 22"/>
          <p:cNvSpPr/>
          <p:nvPr/>
        </p:nvSpPr>
        <p:spPr>
          <a:xfrm>
            <a:off x="4538472" y="1682496"/>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2</a:t>
            </a:r>
            <a:endParaRPr lang="en-US" sz="950" dirty="0"/>
          </a:p>
        </p:txBody>
      </p:sp>
      <p:sp>
        <p:nvSpPr>
          <p:cNvPr id="25" name="Text 23"/>
          <p:cNvSpPr/>
          <p:nvPr/>
        </p:nvSpPr>
        <p:spPr>
          <a:xfrm>
            <a:off x="5050536" y="1554480"/>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Variable sequence</a:t>
            </a:r>
            <a:endParaRPr lang="en-US" sz="1800" dirty="0"/>
          </a:p>
        </p:txBody>
      </p:sp>
      <p:sp>
        <p:nvSpPr>
          <p:cNvPr id="26" name="Text 24"/>
          <p:cNvSpPr/>
          <p:nvPr/>
        </p:nvSpPr>
        <p:spPr>
          <a:xfrm>
            <a:off x="4611624" y="2194560"/>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The steps and their order can change based on the user's input</a:t>
            </a:r>
            <a:endParaRPr lang="en-US" sz="1420" dirty="0"/>
          </a:p>
        </p:txBody>
      </p:sp>
      <p:sp>
        <p:nvSpPr>
          <p:cNvPr id="27" name="Shape 25"/>
          <p:cNvSpPr/>
          <p:nvPr/>
        </p:nvSpPr>
        <p:spPr>
          <a:xfrm>
            <a:off x="8071104" y="1389888"/>
            <a:ext cx="3477768" cy="2299716"/>
          </a:xfrm>
          <a:prstGeom prst="roundRect">
            <a:avLst>
              <a:gd name="adj" fmla="val 3181"/>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28" name="Shape 26"/>
          <p:cNvSpPr/>
          <p:nvPr/>
        </p:nvSpPr>
        <p:spPr>
          <a:xfrm>
            <a:off x="8253984" y="1572768"/>
            <a:ext cx="384048" cy="384048"/>
          </a:xfrm>
          <a:prstGeom prst="ellipse">
            <a:avLst/>
          </a:prstGeom>
          <a:solidFill>
            <a:srgbClr val="16C7E8"/>
          </a:solidFill>
          <a:ln/>
        </p:spPr>
      </p:sp>
      <p:sp>
        <p:nvSpPr>
          <p:cNvPr id="29" name="Text 27"/>
          <p:cNvSpPr/>
          <p:nvPr/>
        </p:nvSpPr>
        <p:spPr>
          <a:xfrm>
            <a:off x="8253984" y="1682496"/>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3</a:t>
            </a:r>
            <a:endParaRPr lang="en-US" sz="950" dirty="0"/>
          </a:p>
        </p:txBody>
      </p:sp>
      <p:sp>
        <p:nvSpPr>
          <p:cNvPr id="30" name="Text 28"/>
          <p:cNvSpPr/>
          <p:nvPr/>
        </p:nvSpPr>
        <p:spPr>
          <a:xfrm>
            <a:off x="8766048" y="1554480"/>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Large stage data</a:t>
            </a:r>
            <a:endParaRPr lang="en-US" sz="1800" dirty="0"/>
          </a:p>
        </p:txBody>
      </p:sp>
      <p:sp>
        <p:nvSpPr>
          <p:cNvPr id="31" name="Text 29"/>
          <p:cNvSpPr/>
          <p:nvPr/>
        </p:nvSpPr>
        <p:spPr>
          <a:xfrm>
            <a:off x="8327136" y="2194560"/>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Inputs and outputs at each stage can require detailed inspection</a:t>
            </a:r>
            <a:endParaRPr lang="en-US" sz="1420" dirty="0"/>
          </a:p>
        </p:txBody>
      </p:sp>
      <p:sp>
        <p:nvSpPr>
          <p:cNvPr id="32" name="Shape 30"/>
          <p:cNvSpPr/>
          <p:nvPr/>
        </p:nvSpPr>
        <p:spPr>
          <a:xfrm>
            <a:off x="2378964" y="3945636"/>
            <a:ext cx="3477768" cy="2299716"/>
          </a:xfrm>
          <a:prstGeom prst="roundRect">
            <a:avLst>
              <a:gd name="adj" fmla="val 3181"/>
            </a:avLst>
          </a:prstGeom>
          <a:solidFill>
            <a:srgbClr val="FFFF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33" name="Shape 31"/>
          <p:cNvSpPr/>
          <p:nvPr/>
        </p:nvSpPr>
        <p:spPr>
          <a:xfrm>
            <a:off x="2561844" y="4128516"/>
            <a:ext cx="384048" cy="384048"/>
          </a:xfrm>
          <a:prstGeom prst="ellipse">
            <a:avLst/>
          </a:prstGeom>
          <a:solidFill>
            <a:srgbClr val="8B5CF6"/>
          </a:solidFill>
          <a:ln/>
        </p:spPr>
      </p:sp>
      <p:sp>
        <p:nvSpPr>
          <p:cNvPr id="34" name="Text 32"/>
          <p:cNvSpPr/>
          <p:nvPr/>
        </p:nvSpPr>
        <p:spPr>
          <a:xfrm>
            <a:off x="2561844" y="4238244"/>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4</a:t>
            </a:r>
            <a:endParaRPr lang="en-US" sz="950" dirty="0"/>
          </a:p>
        </p:txBody>
      </p:sp>
      <p:sp>
        <p:nvSpPr>
          <p:cNvPr id="35" name="Text 33"/>
          <p:cNvSpPr/>
          <p:nvPr/>
        </p:nvSpPr>
        <p:spPr>
          <a:xfrm>
            <a:off x="3073908" y="4110228"/>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Nested execution</a:t>
            </a:r>
            <a:endParaRPr lang="en-US" sz="1800" dirty="0"/>
          </a:p>
        </p:txBody>
      </p:sp>
      <p:sp>
        <p:nvSpPr>
          <p:cNvPr id="36" name="Text 34"/>
          <p:cNvSpPr/>
          <p:nvPr/>
        </p:nvSpPr>
        <p:spPr>
          <a:xfrm>
            <a:off x="2634996" y="4750308"/>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An agent can call a tool that invokes another process or tool, obscuring where an issue entered the run</a:t>
            </a:r>
            <a:endParaRPr lang="en-US" sz="1420" dirty="0"/>
          </a:p>
        </p:txBody>
      </p:sp>
      <p:sp>
        <p:nvSpPr>
          <p:cNvPr id="37" name="Shape 35"/>
          <p:cNvSpPr/>
          <p:nvPr/>
        </p:nvSpPr>
        <p:spPr>
          <a:xfrm>
            <a:off x="6094476" y="3945636"/>
            <a:ext cx="3477768" cy="2299716"/>
          </a:xfrm>
          <a:prstGeom prst="roundRect">
            <a:avLst>
              <a:gd name="adj" fmla="val 3181"/>
            </a:avLst>
          </a:prstGeom>
          <a:solidFill>
            <a:srgbClr val="EEE9FF"/>
          </a:solidFill>
          <a:ln w="10160">
            <a:solidFill>
              <a:srgbClr val="E4F7FB"/>
            </a:solidFill>
            <a:prstDash val="solid"/>
          </a:ln>
          <a:effectLst>
            <a:outerShdw sx="100000" sy="100000" kx="0" ky="0" algn="bl" rotWithShape="0" blurRad="50800" dist="19050" dir="8100000">
              <a:srgbClr val="111827">
                <a:alpha val="11000"/>
              </a:srgbClr>
            </a:outerShdw>
          </a:effectLst>
        </p:spPr>
      </p:sp>
      <p:sp>
        <p:nvSpPr>
          <p:cNvPr id="38" name="Shape 36"/>
          <p:cNvSpPr/>
          <p:nvPr/>
        </p:nvSpPr>
        <p:spPr>
          <a:xfrm>
            <a:off x="6277356" y="4128516"/>
            <a:ext cx="384048" cy="384048"/>
          </a:xfrm>
          <a:prstGeom prst="ellipse">
            <a:avLst/>
          </a:prstGeom>
          <a:solidFill>
            <a:srgbClr val="8B5CF6"/>
          </a:solidFill>
          <a:ln/>
        </p:spPr>
      </p:sp>
      <p:sp>
        <p:nvSpPr>
          <p:cNvPr id="39" name="Text 37"/>
          <p:cNvSpPr/>
          <p:nvPr/>
        </p:nvSpPr>
        <p:spPr>
          <a:xfrm>
            <a:off x="6277356" y="4238244"/>
            <a:ext cx="384048" cy="109728"/>
          </a:xfrm>
          <a:prstGeom prst="rect">
            <a:avLst/>
          </a:prstGeom>
          <a:noFill/>
          <a:ln/>
        </p:spPr>
        <p:txBody>
          <a:bodyPr wrap="square" lIns="0" tIns="0" rIns="0" bIns="0" rtlCol="0" anchor="ctr"/>
          <a:lstStyle/>
          <a:p>
            <a:pPr algn="ctr" indent="0" marL="0">
              <a:buNone/>
            </a:pPr>
            <a:r>
              <a:rPr lang="en-US" sz="950" b="1" dirty="0">
                <a:solidFill>
                  <a:srgbClr val="11162B"/>
                </a:solidFill>
                <a:latin typeface="Aptos" pitchFamily="34" charset="0"/>
                <a:ea typeface="Aptos" pitchFamily="34" charset="-122"/>
                <a:cs typeface="Aptos" pitchFamily="34" charset="-120"/>
              </a:rPr>
              <a:t>5</a:t>
            </a:r>
            <a:endParaRPr lang="en-US" sz="950" dirty="0"/>
          </a:p>
        </p:txBody>
      </p:sp>
      <p:sp>
        <p:nvSpPr>
          <p:cNvPr id="40" name="Text 38"/>
          <p:cNvSpPr/>
          <p:nvPr/>
        </p:nvSpPr>
        <p:spPr>
          <a:xfrm>
            <a:off x="6789420" y="4110228"/>
            <a:ext cx="2581656" cy="493776"/>
          </a:xfrm>
          <a:prstGeom prst="rect">
            <a:avLst/>
          </a:prstGeom>
          <a:noFill/>
          <a:ln/>
        </p:spPr>
        <p:txBody>
          <a:bodyPr wrap="square" lIns="0" tIns="0" rIns="0" bIns="0" rtlCol="0" anchor="ctr">
            <a:normAutofit/>
          </a:bodyPr>
          <a:lstStyle/>
          <a:p>
            <a:pPr indent="0" marL="0">
              <a:buNone/>
            </a:pPr>
            <a:r>
              <a:rPr lang="en-US" sz="1800" b="1" dirty="0">
                <a:solidFill>
                  <a:srgbClr val="11162B"/>
                </a:solidFill>
                <a:latin typeface="Aptos Display" pitchFamily="34" charset="0"/>
                <a:ea typeface="Aptos Display" pitchFamily="34" charset="-122"/>
                <a:cs typeface="Aptos Display" pitchFamily="34" charset="-120"/>
              </a:rPr>
              <a:t>Trace the recorded run</a:t>
            </a:r>
            <a:endParaRPr lang="en-US" sz="1800" dirty="0"/>
          </a:p>
        </p:txBody>
      </p:sp>
      <p:sp>
        <p:nvSpPr>
          <p:cNvPr id="41" name="Text 39"/>
          <p:cNvSpPr/>
          <p:nvPr/>
        </p:nvSpPr>
        <p:spPr>
          <a:xfrm>
            <a:off x="6350508" y="4750308"/>
            <a:ext cx="2965704" cy="1312164"/>
          </a:xfrm>
          <a:prstGeom prst="rect">
            <a:avLst/>
          </a:prstGeom>
          <a:noFill/>
          <a:ln/>
        </p:spPr>
        <p:txBody>
          <a:bodyPr wrap="square" lIns="0" tIns="0" rIns="0" bIns="0" rtlCol="0" anchor="t">
            <a:normAutofit/>
          </a:bodyPr>
          <a:lstStyle/>
          <a:p>
            <a:pPr marL="342900" indent="-342900">
              <a:buSzPct val="100000"/>
              <a:buChar char="•"/>
            </a:pPr>
            <a:r>
              <a:rPr lang="en-US" sz="1420" dirty="0">
                <a:solidFill>
                  <a:srgbClr val="151B31"/>
                </a:solidFill>
                <a:latin typeface="Aptos" pitchFamily="34" charset="0"/>
                <a:ea typeface="Aptos" pitchFamily="34" charset="-122"/>
                <a:cs typeface="Aptos" pitchFamily="34" charset="-120"/>
              </a:rPr>
              <a:t>View recorded primitives in invocation order and inspect each stage's inputs and outputs to understand and debug the behavior</a:t>
            </a:r>
            <a:endParaRPr lang="en-US" sz="1420" dirty="0"/>
          </a:p>
        </p:txBody>
      </p:sp>
      <p:sp>
        <p:nvSpPr>
          <p:cNvPr id="42" name="Text 40"/>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learn.microsoft.com/azure/foundry/observability/concepts/trace-agent-concept</a:t>
            </a:r>
            <a:endParaRPr lang="en-US" sz="940" dirty="0"/>
          </a:p>
        </p:txBody>
      </p:sp>
      <p:sp>
        <p:nvSpPr>
          <p:cNvPr id="43" name="Shape 41"/>
          <p:cNvSpPr/>
          <p:nvPr/>
        </p:nvSpPr>
        <p:spPr>
          <a:xfrm>
            <a:off x="0" y="6793992"/>
            <a:ext cx="12191695" cy="64008"/>
          </a:xfrm>
          <a:prstGeom prst="rect">
            <a:avLst/>
          </a:prstGeom>
          <a:solidFill>
            <a:srgbClr val="16C7E8"/>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3FAFD"/>
        </a:solidFill>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11162B"/>
          </a:solidFill>
          <a:ln/>
        </p:spPr>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indent="0" marL="0">
              <a:buNone/>
            </a:pPr>
            <a:r>
              <a:rPr lang="en-US" sz="820" b="1" spc="120" kern="0" dirty="0">
                <a:solidFill>
                  <a:srgbClr val="FFFFFF"/>
                </a:solidFill>
                <a:latin typeface="Aptos" pitchFamily="34" charset="0"/>
                <a:ea typeface="Aptos" pitchFamily="34" charset="-122"/>
                <a:cs typeface="Aptos" pitchFamily="34" charset="-120"/>
              </a:rPr>
              <a:t>DAY 5  /  MODULE 1  /  SIGNAL PATH</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indent="0" marL="0">
              <a:buNone/>
            </a:pPr>
            <a:r>
              <a:rPr lang="en-US" sz="3100" b="1" dirty="0">
                <a:solidFill>
                  <a:srgbClr val="11162B"/>
                </a:solidFill>
                <a:latin typeface="Aptos Display" pitchFamily="34" charset="0"/>
                <a:ea typeface="Aptos Display" pitchFamily="34" charset="-122"/>
                <a:cs typeface="Aptos Display" pitchFamily="34" charset="-120"/>
              </a:rPr>
              <a:t>Server-side and client-side traces</a:t>
            </a:r>
            <a:endParaRPr lang="en-US" sz="3100" dirty="0"/>
          </a:p>
        </p:txBody>
      </p:sp>
      <p:sp>
        <p:nvSpPr>
          <p:cNvPr id="5" name="Shape 3"/>
          <p:cNvSpPr/>
          <p:nvPr/>
        </p:nvSpPr>
        <p:spPr>
          <a:xfrm>
            <a:off x="10857220" y="548640"/>
            <a:ext cx="164592" cy="197510"/>
          </a:xfrm>
          <a:prstGeom prst="line">
            <a:avLst/>
          </a:prstGeom>
          <a:noFill/>
          <a:ln w="25400">
            <a:solidFill>
              <a:srgbClr val="11162B"/>
            </a:solidFill>
            <a:prstDash val="solid"/>
          </a:ln>
        </p:spPr>
      </p:sp>
      <p:sp>
        <p:nvSpPr>
          <p:cNvPr id="6" name="Shape 4"/>
          <p:cNvSpPr/>
          <p:nvPr/>
        </p:nvSpPr>
        <p:spPr>
          <a:xfrm>
            <a:off x="11034979" y="542056"/>
            <a:ext cx="158008" cy="164592"/>
          </a:xfrm>
          <a:prstGeom prst="line">
            <a:avLst/>
          </a:prstGeom>
          <a:noFill/>
          <a:ln w="25400">
            <a:solidFill>
              <a:srgbClr val="11162B"/>
            </a:solidFill>
            <a:prstDash val="solid"/>
          </a:ln>
        </p:spPr>
      </p:sp>
      <p:sp>
        <p:nvSpPr>
          <p:cNvPr id="7" name="Shape 5"/>
          <p:cNvSpPr/>
          <p:nvPr/>
        </p:nvSpPr>
        <p:spPr>
          <a:xfrm>
            <a:off x="11199571" y="502554"/>
            <a:ext cx="158008" cy="197510"/>
          </a:xfrm>
          <a:prstGeom prst="line">
            <a:avLst/>
          </a:prstGeom>
          <a:noFill/>
          <a:ln w="25400">
            <a:solidFill>
              <a:srgbClr val="11162B"/>
            </a:solidFill>
            <a:prstDash val="solid"/>
          </a:ln>
        </p:spPr>
      </p:sp>
      <p:sp>
        <p:nvSpPr>
          <p:cNvPr id="8" name="Shape 6"/>
          <p:cNvSpPr/>
          <p:nvPr/>
        </p:nvSpPr>
        <p:spPr>
          <a:xfrm>
            <a:off x="11199571" y="713232"/>
            <a:ext cx="158008" cy="184343"/>
          </a:xfrm>
          <a:prstGeom prst="line">
            <a:avLst/>
          </a:prstGeom>
          <a:noFill/>
          <a:ln w="25400">
            <a:solidFill>
              <a:srgbClr val="11162B"/>
            </a:solidFill>
            <a:prstDash val="dash"/>
          </a:ln>
        </p:spPr>
      </p:sp>
      <p:sp>
        <p:nvSpPr>
          <p:cNvPr id="9" name="Shape 7"/>
          <p:cNvSpPr/>
          <p:nvPr/>
        </p:nvSpPr>
        <p:spPr>
          <a:xfrm>
            <a:off x="10824301" y="726399"/>
            <a:ext cx="98755" cy="98755"/>
          </a:xfrm>
          <a:prstGeom prst="ellipse">
            <a:avLst/>
          </a:prstGeom>
          <a:solidFill>
            <a:srgbClr val="E4F7FB"/>
          </a:solidFill>
          <a:ln w="10160">
            <a:solidFill>
              <a:srgbClr val="11162B"/>
            </a:solidFill>
            <a:prstDash val="solid"/>
          </a:ln>
        </p:spPr>
      </p:sp>
      <p:sp>
        <p:nvSpPr>
          <p:cNvPr id="10" name="Shape 8"/>
          <p:cNvSpPr/>
          <p:nvPr/>
        </p:nvSpPr>
        <p:spPr>
          <a:xfrm>
            <a:off x="11008644" y="502554"/>
            <a:ext cx="98755" cy="98755"/>
          </a:xfrm>
          <a:prstGeom prst="ellipse">
            <a:avLst/>
          </a:prstGeom>
          <a:solidFill>
            <a:srgbClr val="E4F7FB"/>
          </a:solidFill>
          <a:ln w="10160">
            <a:solidFill>
              <a:srgbClr val="11162B"/>
            </a:solidFill>
            <a:prstDash val="solid"/>
          </a:ln>
        </p:spPr>
      </p:sp>
      <p:sp>
        <p:nvSpPr>
          <p:cNvPr id="11" name="Shape 9"/>
          <p:cNvSpPr/>
          <p:nvPr/>
        </p:nvSpPr>
        <p:spPr>
          <a:xfrm>
            <a:off x="11179820" y="700065"/>
            <a:ext cx="98755" cy="98755"/>
          </a:xfrm>
          <a:prstGeom prst="ellipse">
            <a:avLst/>
          </a:prstGeom>
          <a:solidFill>
            <a:srgbClr val="16C7E8"/>
          </a:solidFill>
          <a:ln w="10160">
            <a:solidFill>
              <a:srgbClr val="11162B"/>
            </a:solidFill>
            <a:prstDash val="solid"/>
          </a:ln>
        </p:spPr>
      </p:sp>
      <p:sp>
        <p:nvSpPr>
          <p:cNvPr id="12" name="Shape 10"/>
          <p:cNvSpPr/>
          <p:nvPr/>
        </p:nvSpPr>
        <p:spPr>
          <a:xfrm>
            <a:off x="11350996" y="463052"/>
            <a:ext cx="98755" cy="98755"/>
          </a:xfrm>
          <a:prstGeom prst="ellipse">
            <a:avLst/>
          </a:prstGeom>
          <a:solidFill>
            <a:srgbClr val="E4F7FB"/>
          </a:solidFill>
          <a:ln w="10160">
            <a:solidFill>
              <a:srgbClr val="11162B"/>
            </a:solidFill>
            <a:prstDash val="solid"/>
          </a:ln>
        </p:spPr>
      </p:sp>
      <p:sp>
        <p:nvSpPr>
          <p:cNvPr id="13" name="Shape 11"/>
          <p:cNvSpPr/>
          <p:nvPr/>
        </p:nvSpPr>
        <p:spPr>
          <a:xfrm>
            <a:off x="11377331" y="923910"/>
            <a:ext cx="98755" cy="98755"/>
          </a:xfrm>
          <a:prstGeom prst="ellipse">
            <a:avLst/>
          </a:prstGeom>
          <a:solidFill>
            <a:srgbClr val="E4F7FB"/>
          </a:solidFill>
          <a:ln w="10160">
            <a:solidFill>
              <a:srgbClr val="11162B"/>
            </a:solidFill>
            <a:prstDash val="solid"/>
          </a:ln>
        </p:spPr>
      </p:sp>
      <p:sp>
        <p:nvSpPr>
          <p:cNvPr id="14" name="Shape 12"/>
          <p:cNvSpPr/>
          <p:nvPr/>
        </p:nvSpPr>
        <p:spPr>
          <a:xfrm>
            <a:off x="11612880" y="457200"/>
            <a:ext cx="329184" cy="329184"/>
          </a:xfrm>
          <a:prstGeom prst="ellipse">
            <a:avLst/>
          </a:prstGeom>
          <a:solidFill>
            <a:srgbClr val="16C7E8"/>
          </a:solidFill>
          <a:ln/>
        </p:spPr>
      </p:sp>
      <p:sp>
        <p:nvSpPr>
          <p:cNvPr id="15" name="Text 13"/>
          <p:cNvSpPr/>
          <p:nvPr/>
        </p:nvSpPr>
        <p:spPr>
          <a:xfrm>
            <a:off x="11612880" y="553212"/>
            <a:ext cx="329184" cy="100584"/>
          </a:xfrm>
          <a:prstGeom prst="rect">
            <a:avLst/>
          </a:prstGeom>
          <a:noFill/>
          <a:ln/>
        </p:spPr>
        <p:txBody>
          <a:bodyPr wrap="square" lIns="0" tIns="0" rIns="0" bIns="0" rtlCol="0" anchor="ctr"/>
          <a:lstStyle/>
          <a:p>
            <a:pPr algn="ctr" indent="0" marL="0">
              <a:buNone/>
            </a:pPr>
            <a:r>
              <a:rPr lang="en-US" sz="850" b="1" dirty="0">
                <a:solidFill>
                  <a:srgbClr val="11162B"/>
                </a:solidFill>
                <a:latin typeface="Aptos" pitchFamily="34" charset="0"/>
                <a:ea typeface="Aptos" pitchFamily="34" charset="-122"/>
                <a:cs typeface="Aptos" pitchFamily="34" charset="-120"/>
              </a:rPr>
              <a:t>06</a:t>
            </a:r>
            <a:endParaRPr lang="en-US" sz="850" dirty="0"/>
          </a:p>
        </p:txBody>
      </p:sp>
      <p:sp>
        <p:nvSpPr>
          <p:cNvPr id="16" name="Shape 14"/>
          <p:cNvSpPr/>
          <p:nvPr/>
        </p:nvSpPr>
        <p:spPr>
          <a:xfrm>
            <a:off x="9829800" y="1005840"/>
            <a:ext cx="2148840" cy="2148840"/>
          </a:xfrm>
          <a:prstGeom prst="ellipse">
            <a:avLst/>
          </a:prstGeom>
          <a:solidFill>
            <a:srgbClr val="E4F7FB"/>
          </a:solidFill>
          <a:ln/>
        </p:spPr>
      </p:sp>
      <p:sp>
        <p:nvSpPr>
          <p:cNvPr id="17" name="Shape 15"/>
          <p:cNvSpPr/>
          <p:nvPr/>
        </p:nvSpPr>
        <p:spPr>
          <a:xfrm>
            <a:off x="640080" y="1417320"/>
            <a:ext cx="5623560" cy="4645152"/>
          </a:xfrm>
          <a:prstGeom prst="roundRect">
            <a:avLst>
              <a:gd name="adj" fmla="val 1575"/>
            </a:avLst>
          </a:prstGeom>
          <a:solidFill>
            <a:srgbClr val="FFFFFF"/>
          </a:solidFill>
          <a:ln w="10160">
            <a:solidFill>
              <a:srgbClr val="E4F7FB"/>
            </a:solidFill>
            <a:prstDash val="solid"/>
          </a:ln>
        </p:spPr>
      </p:sp>
      <p:sp>
        <p:nvSpPr>
          <p:cNvPr id="18" name="Text 16"/>
          <p:cNvSpPr/>
          <p:nvPr/>
        </p:nvSpPr>
        <p:spPr>
          <a:xfrm>
            <a:off x="941832" y="1737360"/>
            <a:ext cx="3017520" cy="164592"/>
          </a:xfrm>
          <a:prstGeom prst="rect">
            <a:avLst/>
          </a:prstGeom>
          <a:noFill/>
          <a:ln/>
        </p:spPr>
        <p:txBody>
          <a:bodyPr wrap="square" lIns="0" tIns="0" rIns="0" bIns="0" rtlCol="0" anchor="ctr"/>
          <a:lstStyle/>
          <a:p>
            <a:pPr indent="0" marL="0">
              <a:buNone/>
            </a:pPr>
            <a:r>
              <a:rPr lang="en-US" sz="1000" b="1" spc="210" kern="0" dirty="0">
                <a:solidFill>
                  <a:srgbClr val="8B5CF6"/>
                </a:solidFill>
                <a:latin typeface="Aptos" pitchFamily="34" charset="0"/>
                <a:ea typeface="Aptos" pitchFamily="34" charset="-122"/>
                <a:cs typeface="Aptos" pitchFamily="34" charset="-120"/>
              </a:rPr>
              <a:t>SERVER-SIDE — START HERE</a:t>
            </a:r>
            <a:endParaRPr lang="en-US" sz="1000" dirty="0"/>
          </a:p>
        </p:txBody>
      </p:sp>
      <p:sp>
        <p:nvSpPr>
          <p:cNvPr id="19" name="Shape 17"/>
          <p:cNvSpPr/>
          <p:nvPr/>
        </p:nvSpPr>
        <p:spPr>
          <a:xfrm>
            <a:off x="987552" y="2103120"/>
            <a:ext cx="1444752" cy="713232"/>
          </a:xfrm>
          <a:prstGeom prst="roundRect">
            <a:avLst>
              <a:gd name="adj" fmla="val 10256"/>
            </a:avLst>
          </a:prstGeom>
          <a:solidFill>
            <a:srgbClr val="11162B"/>
          </a:solidFill>
          <a:ln/>
        </p:spPr>
      </p:sp>
      <p:sp>
        <p:nvSpPr>
          <p:cNvPr id="20" name="Text 18"/>
          <p:cNvSpPr/>
          <p:nvPr/>
        </p:nvSpPr>
        <p:spPr>
          <a:xfrm>
            <a:off x="1170432" y="2286000"/>
            <a:ext cx="107899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FOUNDRY</a:t>
            </a:r>
            <a:endParaRPr lang="en-US" sz="1150" dirty="0"/>
          </a:p>
          <a:p>
            <a:pPr algn="ctr" indent="0" marL="0">
              <a:buNone/>
            </a:pPr>
            <a:r>
              <a:rPr lang="en-US" sz="1150" b="1" dirty="0">
                <a:solidFill>
                  <a:srgbClr val="FFFFFF"/>
                </a:solidFill>
                <a:latin typeface="Aptos" pitchFamily="34" charset="0"/>
                <a:ea typeface="Aptos" pitchFamily="34" charset="-122"/>
                <a:cs typeface="Aptos" pitchFamily="34" charset="-120"/>
              </a:rPr>
              <a:t>HOSTED AGENT</a:t>
            </a:r>
            <a:endParaRPr lang="en-US" sz="1150" dirty="0"/>
          </a:p>
        </p:txBody>
      </p:sp>
      <p:sp>
        <p:nvSpPr>
          <p:cNvPr id="21" name="Shape 19"/>
          <p:cNvSpPr/>
          <p:nvPr/>
        </p:nvSpPr>
        <p:spPr>
          <a:xfrm>
            <a:off x="2724912" y="2139696"/>
            <a:ext cx="1353312" cy="640080"/>
          </a:xfrm>
          <a:prstGeom prst="roundRect">
            <a:avLst>
              <a:gd name="adj" fmla="val 11429"/>
            </a:avLst>
          </a:prstGeom>
          <a:solidFill>
            <a:srgbClr val="E4F7FB"/>
          </a:solidFill>
          <a:ln/>
        </p:spPr>
      </p:sp>
      <p:sp>
        <p:nvSpPr>
          <p:cNvPr id="22" name="Text 20"/>
          <p:cNvSpPr/>
          <p:nvPr/>
        </p:nvSpPr>
        <p:spPr>
          <a:xfrm>
            <a:off x="2862072" y="2359152"/>
            <a:ext cx="1078992" cy="128016"/>
          </a:xfrm>
          <a:prstGeom prst="rect">
            <a:avLst/>
          </a:prstGeom>
          <a:noFill/>
          <a:ln/>
        </p:spPr>
        <p:txBody>
          <a:bodyPr wrap="square" lIns="0" tIns="0" rIns="0" bIns="0" rtlCol="0" anchor="ctr"/>
          <a:lstStyle/>
          <a:p>
            <a:pPr algn="ctr" indent="0" marL="0">
              <a:buNone/>
            </a:pPr>
            <a:r>
              <a:rPr lang="en-US" sz="950" b="1" dirty="0">
                <a:solidFill>
                  <a:srgbClr val="11162B"/>
                </a:solidFill>
                <a:latin typeface="Consolas" pitchFamily="34" charset="0"/>
                <a:ea typeface="Consolas" pitchFamily="34" charset="-122"/>
                <a:cs typeface="Consolas" pitchFamily="34" charset="-120"/>
              </a:rPr>
              <a:t>AUTOMATIC TRACE</a:t>
            </a:r>
            <a:endParaRPr lang="en-US" sz="950" dirty="0"/>
          </a:p>
        </p:txBody>
      </p:sp>
      <p:sp>
        <p:nvSpPr>
          <p:cNvPr id="23" name="Shape 21"/>
          <p:cNvSpPr/>
          <p:nvPr/>
        </p:nvSpPr>
        <p:spPr>
          <a:xfrm>
            <a:off x="2432304" y="2450592"/>
            <a:ext cx="292608" cy="0"/>
          </a:xfrm>
          <a:prstGeom prst="line">
            <a:avLst/>
          </a:prstGeom>
          <a:noFill/>
          <a:ln w="25400">
            <a:solidFill>
              <a:srgbClr val="11162B"/>
            </a:solidFill>
            <a:prstDash val="solid"/>
          </a:ln>
        </p:spPr>
      </p:sp>
      <p:sp>
        <p:nvSpPr>
          <p:cNvPr id="24" name="Shape 22"/>
          <p:cNvSpPr/>
          <p:nvPr/>
        </p:nvSpPr>
        <p:spPr>
          <a:xfrm>
            <a:off x="4370832" y="2103120"/>
            <a:ext cx="1444752" cy="713232"/>
          </a:xfrm>
          <a:prstGeom prst="roundRect">
            <a:avLst>
              <a:gd name="adj" fmla="val 10256"/>
            </a:avLst>
          </a:prstGeom>
          <a:solidFill>
            <a:srgbClr val="EEE9FF"/>
          </a:solidFill>
          <a:ln/>
        </p:spPr>
      </p:sp>
      <p:sp>
        <p:nvSpPr>
          <p:cNvPr id="25" name="Text 23"/>
          <p:cNvSpPr/>
          <p:nvPr/>
        </p:nvSpPr>
        <p:spPr>
          <a:xfrm>
            <a:off x="4553712" y="2276856"/>
            <a:ext cx="1078992" cy="310896"/>
          </a:xfrm>
          <a:prstGeom prst="rect">
            <a:avLst/>
          </a:prstGeom>
          <a:noFill/>
          <a:ln/>
        </p:spPr>
        <p:txBody>
          <a:bodyPr wrap="square" lIns="0" tIns="0" rIns="0" bIns="0" rtlCol="0" anchor="ctr"/>
          <a:lstStyle/>
          <a:p>
            <a:pPr algn="ctr" indent="0" marL="0">
              <a:buNone/>
            </a:pPr>
            <a:r>
              <a:rPr lang="en-US" sz="1100" b="1" dirty="0">
                <a:solidFill>
                  <a:srgbClr val="11162B"/>
                </a:solidFill>
                <a:latin typeface="Aptos" pitchFamily="34" charset="0"/>
                <a:ea typeface="Aptos" pitchFamily="34" charset="-122"/>
                <a:cs typeface="Aptos" pitchFamily="34" charset="-120"/>
              </a:rPr>
              <a:t>APPLICATION</a:t>
            </a:r>
            <a:endParaRPr lang="en-US" sz="1100" dirty="0"/>
          </a:p>
          <a:p>
            <a:pPr algn="ctr" indent="0" marL="0">
              <a:buNone/>
            </a:pPr>
            <a:r>
              <a:rPr lang="en-US" sz="1100" b="1" dirty="0">
                <a:solidFill>
                  <a:srgbClr val="11162B"/>
                </a:solidFill>
                <a:latin typeface="Aptos" pitchFamily="34" charset="0"/>
                <a:ea typeface="Aptos" pitchFamily="34" charset="-122"/>
                <a:cs typeface="Aptos" pitchFamily="34" charset="-120"/>
              </a:rPr>
              <a:t>INSIGHTS</a:t>
            </a:r>
            <a:endParaRPr lang="en-US" sz="1100" dirty="0"/>
          </a:p>
        </p:txBody>
      </p:sp>
      <p:sp>
        <p:nvSpPr>
          <p:cNvPr id="26" name="Shape 24"/>
          <p:cNvSpPr/>
          <p:nvPr/>
        </p:nvSpPr>
        <p:spPr>
          <a:xfrm>
            <a:off x="4078224" y="2450592"/>
            <a:ext cx="292608" cy="0"/>
          </a:xfrm>
          <a:prstGeom prst="line">
            <a:avLst/>
          </a:prstGeom>
          <a:noFill/>
          <a:ln w="25400">
            <a:solidFill>
              <a:srgbClr val="8B5CF6"/>
            </a:solidFill>
            <a:prstDash val="dash"/>
          </a:ln>
        </p:spPr>
      </p:sp>
      <p:sp>
        <p:nvSpPr>
          <p:cNvPr id="27" name="Text 25"/>
          <p:cNvSpPr/>
          <p:nvPr/>
        </p:nvSpPr>
        <p:spPr>
          <a:xfrm>
            <a:off x="4005072" y="2194560"/>
            <a:ext cx="438912" cy="109728"/>
          </a:xfrm>
          <a:prstGeom prst="rect">
            <a:avLst/>
          </a:prstGeom>
          <a:noFill/>
          <a:ln/>
        </p:spPr>
        <p:txBody>
          <a:bodyPr wrap="square" lIns="0" tIns="0" rIns="0" bIns="0" rtlCol="0" anchor="ctr"/>
          <a:lstStyle/>
          <a:p>
            <a:pPr algn="ctr" indent="0" marL="0">
              <a:buNone/>
            </a:pPr>
            <a:r>
              <a:rPr lang="en-US" sz="800" b="1" dirty="0">
                <a:solidFill>
                  <a:srgbClr val="8B5CF6"/>
                </a:solidFill>
                <a:latin typeface="Aptos" pitchFamily="34" charset="0"/>
                <a:ea typeface="Aptos" pitchFamily="34" charset="-122"/>
                <a:cs typeface="Aptos" pitchFamily="34" charset="-120"/>
              </a:rPr>
              <a:t>LINK</a:t>
            </a:r>
            <a:endParaRPr lang="en-US" sz="800" dirty="0"/>
          </a:p>
        </p:txBody>
      </p:sp>
      <p:sp>
        <p:nvSpPr>
          <p:cNvPr id="28" name="Text 26"/>
          <p:cNvSpPr/>
          <p:nvPr/>
        </p:nvSpPr>
        <p:spPr>
          <a:xfrm>
            <a:off x="950976" y="3154680"/>
            <a:ext cx="4983480" cy="2240280"/>
          </a:xfrm>
          <a:prstGeom prst="rect">
            <a:avLst/>
          </a:prstGeom>
          <a:noFill/>
          <a:ln/>
        </p:spPr>
        <p:txBody>
          <a:bodyPr wrap="square" lIns="0" tIns="0" rIns="0" bIns="0" rtlCol="0" anchor="t">
            <a:normAutofit/>
          </a:bodyPr>
          <a:lstStyle/>
          <a:p>
            <a:pPr marL="342900" indent="-342900">
              <a:buSzPct val="100000"/>
              <a:buChar char="•"/>
            </a:pPr>
            <a:r>
              <a:rPr lang="en-US" sz="1300" dirty="0">
                <a:solidFill>
                  <a:srgbClr val="151B31"/>
                </a:solidFill>
                <a:latin typeface="Aptos" pitchFamily="34" charset="0"/>
                <a:ea typeface="Aptos" pitchFamily="34" charset="-122"/>
                <a:cs typeface="Aptos" pitchFamily="34" charset="-120"/>
              </a:rPr>
              <a:t>Foundry enables tracing after Application Insights is connected to the project</a:t>
            </a:r>
            <a:endParaRPr lang="en-US" sz="1300" dirty="0"/>
          </a:p>
          <a:p>
            <a:pPr marL="342900" indent="-342900">
              <a:buSzPct val="100000"/>
              <a:buChar char="•"/>
            </a:pPr>
            <a:r>
              <a:rPr lang="en-US" sz="1300" dirty="0">
                <a:solidFill>
                  <a:srgbClr val="151B31"/>
                </a:solidFill>
                <a:latin typeface="Aptos" pitchFamily="34" charset="0"/>
                <a:ea typeface="Aptos" pitchFamily="34" charset="-122"/>
                <a:cs typeface="Aptos" pitchFamily="34" charset="-120"/>
              </a:rPr>
              <a:t>No application code changes are required for supported agents hosted in Foundry</a:t>
            </a:r>
            <a:endParaRPr lang="en-US" sz="1300" dirty="0"/>
          </a:p>
          <a:p>
            <a:pPr marL="342900" indent="-342900">
              <a:buSzPct val="100000"/>
              <a:buChar char="•"/>
            </a:pPr>
            <a:r>
              <a:rPr lang="en-US" sz="1300" dirty="0">
                <a:solidFill>
                  <a:srgbClr val="151B31"/>
                </a:solidFill>
                <a:latin typeface="Aptos" pitchFamily="34" charset="0"/>
                <a:ea typeface="Aptos" pitchFamily="34" charset="-122"/>
                <a:cs typeface="Aptos" pitchFamily="34" charset="-120"/>
              </a:rPr>
              <a:t>Use these traces to inspect activity inside the Foundry-hosted boundary</a:t>
            </a:r>
            <a:endParaRPr lang="en-US" sz="1300" dirty="0"/>
          </a:p>
        </p:txBody>
      </p:sp>
      <p:sp>
        <p:nvSpPr>
          <p:cNvPr id="29" name="Shape 27"/>
          <p:cNvSpPr/>
          <p:nvPr/>
        </p:nvSpPr>
        <p:spPr>
          <a:xfrm>
            <a:off x="6492240" y="1417320"/>
            <a:ext cx="5056632" cy="4645152"/>
          </a:xfrm>
          <a:prstGeom prst="roundRect">
            <a:avLst>
              <a:gd name="adj" fmla="val 1575"/>
            </a:avLst>
          </a:prstGeom>
          <a:solidFill>
            <a:srgbClr val="E4F7FB"/>
          </a:solidFill>
          <a:ln w="10160">
            <a:solidFill>
              <a:srgbClr val="16C7E8"/>
            </a:solidFill>
            <a:prstDash val="solid"/>
          </a:ln>
        </p:spPr>
      </p:sp>
      <p:sp>
        <p:nvSpPr>
          <p:cNvPr id="30" name="Text 28"/>
          <p:cNvSpPr/>
          <p:nvPr/>
        </p:nvSpPr>
        <p:spPr>
          <a:xfrm>
            <a:off x="6793992" y="1737360"/>
            <a:ext cx="3017520" cy="164592"/>
          </a:xfrm>
          <a:prstGeom prst="rect">
            <a:avLst/>
          </a:prstGeom>
          <a:noFill/>
          <a:ln/>
        </p:spPr>
        <p:txBody>
          <a:bodyPr wrap="square" lIns="0" tIns="0" rIns="0" bIns="0" rtlCol="0" anchor="ctr"/>
          <a:lstStyle/>
          <a:p>
            <a:pPr indent="0" marL="0">
              <a:buNone/>
            </a:pPr>
            <a:r>
              <a:rPr lang="en-US" sz="1000" b="1" spc="210" kern="0" dirty="0">
                <a:solidFill>
                  <a:srgbClr val="8B5CF6"/>
                </a:solidFill>
                <a:latin typeface="Aptos" pitchFamily="34" charset="0"/>
                <a:ea typeface="Aptos" pitchFamily="34" charset="-122"/>
                <a:cs typeface="Aptos" pitchFamily="34" charset="-120"/>
              </a:rPr>
              <a:t>CLIENT-SIDE — EXTEND THE VIEW</a:t>
            </a:r>
            <a:endParaRPr lang="en-US" sz="1000" dirty="0"/>
          </a:p>
        </p:txBody>
      </p:sp>
      <p:sp>
        <p:nvSpPr>
          <p:cNvPr id="31" name="Shape 29"/>
          <p:cNvSpPr/>
          <p:nvPr/>
        </p:nvSpPr>
        <p:spPr>
          <a:xfrm>
            <a:off x="6821424" y="2340864"/>
            <a:ext cx="438912" cy="438912"/>
          </a:xfrm>
          <a:prstGeom prst="ellipse">
            <a:avLst/>
          </a:prstGeom>
          <a:solidFill>
            <a:srgbClr val="16C7E8"/>
          </a:solidFill>
          <a:ln/>
        </p:spPr>
      </p:sp>
      <p:sp>
        <p:nvSpPr>
          <p:cNvPr id="32" name="Text 30"/>
          <p:cNvSpPr/>
          <p:nvPr/>
        </p:nvSpPr>
        <p:spPr>
          <a:xfrm>
            <a:off x="6821424" y="2478024"/>
            <a:ext cx="438912" cy="109728"/>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1</a:t>
            </a:r>
            <a:endParaRPr lang="en-US" sz="900" dirty="0"/>
          </a:p>
        </p:txBody>
      </p:sp>
      <p:sp>
        <p:nvSpPr>
          <p:cNvPr id="33" name="Text 31"/>
          <p:cNvSpPr/>
          <p:nvPr/>
        </p:nvSpPr>
        <p:spPr>
          <a:xfrm>
            <a:off x="7498080" y="2176272"/>
            <a:ext cx="3886200" cy="749808"/>
          </a:xfrm>
          <a:prstGeom prst="rect">
            <a:avLst/>
          </a:prstGeom>
          <a:noFill/>
          <a:ln/>
        </p:spPr>
        <p:txBody>
          <a:bodyPr wrap="square" lIns="0" tIns="0" rIns="0" bIns="0" rtlCol="0" anchor="ctr">
            <a:normAutofit/>
          </a:bodyPr>
          <a:lstStyle/>
          <a:p>
            <a:pPr indent="0" marL="0">
              <a:buNone/>
            </a:pPr>
            <a:r>
              <a:rPr lang="en-US" sz="1450" dirty="0">
                <a:solidFill>
                  <a:srgbClr val="151B31"/>
                </a:solidFill>
                <a:latin typeface="Aptos" pitchFamily="34" charset="0"/>
                <a:ea typeface="Aptos" pitchFamily="34" charset="-122"/>
                <a:cs typeface="Aptos" pitchFamily="34" charset="-120"/>
              </a:rPr>
              <a:t>Instrument application-owned logic around the agent call</a:t>
            </a:r>
            <a:endParaRPr lang="en-US" sz="1450" dirty="0"/>
          </a:p>
        </p:txBody>
      </p:sp>
      <p:sp>
        <p:nvSpPr>
          <p:cNvPr id="34" name="Shape 32"/>
          <p:cNvSpPr/>
          <p:nvPr/>
        </p:nvSpPr>
        <p:spPr>
          <a:xfrm>
            <a:off x="6821424" y="3456432"/>
            <a:ext cx="438912" cy="438912"/>
          </a:xfrm>
          <a:prstGeom prst="ellipse">
            <a:avLst/>
          </a:prstGeom>
          <a:solidFill>
            <a:srgbClr val="8B5CF6"/>
          </a:solidFill>
          <a:ln/>
        </p:spPr>
      </p:sp>
      <p:sp>
        <p:nvSpPr>
          <p:cNvPr id="35" name="Text 33"/>
          <p:cNvSpPr/>
          <p:nvPr/>
        </p:nvSpPr>
        <p:spPr>
          <a:xfrm>
            <a:off x="6821424" y="3593592"/>
            <a:ext cx="438912" cy="109728"/>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2</a:t>
            </a:r>
            <a:endParaRPr lang="en-US" sz="900" dirty="0"/>
          </a:p>
        </p:txBody>
      </p:sp>
      <p:sp>
        <p:nvSpPr>
          <p:cNvPr id="36" name="Text 34"/>
          <p:cNvSpPr/>
          <p:nvPr/>
        </p:nvSpPr>
        <p:spPr>
          <a:xfrm>
            <a:off x="7498080" y="3291840"/>
            <a:ext cx="3886200" cy="749808"/>
          </a:xfrm>
          <a:prstGeom prst="rect">
            <a:avLst/>
          </a:prstGeom>
          <a:noFill/>
          <a:ln/>
        </p:spPr>
        <p:txBody>
          <a:bodyPr wrap="square" lIns="0" tIns="0" rIns="0" bIns="0" rtlCol="0" anchor="ctr">
            <a:normAutofit/>
          </a:bodyPr>
          <a:lstStyle/>
          <a:p>
            <a:pPr indent="0" marL="0">
              <a:buNone/>
            </a:pPr>
            <a:r>
              <a:rPr lang="en-US" sz="1450" dirty="0">
                <a:solidFill>
                  <a:srgbClr val="151B31"/>
                </a:solidFill>
                <a:latin typeface="Aptos" pitchFamily="34" charset="0"/>
                <a:ea typeface="Aptos" pitchFamily="34" charset="-122"/>
                <a:cs typeface="Aptos" pitchFamily="34" charset="-120"/>
              </a:rPr>
              <a:t>Use the Foundry SDK and OpenTelemetry tracing packages</a:t>
            </a:r>
            <a:endParaRPr lang="en-US" sz="1450" dirty="0"/>
          </a:p>
        </p:txBody>
      </p:sp>
      <p:sp>
        <p:nvSpPr>
          <p:cNvPr id="37" name="Shape 35"/>
          <p:cNvSpPr/>
          <p:nvPr/>
        </p:nvSpPr>
        <p:spPr>
          <a:xfrm>
            <a:off x="6821424" y="4572000"/>
            <a:ext cx="438912" cy="438912"/>
          </a:xfrm>
          <a:prstGeom prst="ellipse">
            <a:avLst/>
          </a:prstGeom>
          <a:solidFill>
            <a:srgbClr val="8B5CF6"/>
          </a:solidFill>
          <a:ln/>
        </p:spPr>
      </p:sp>
      <p:sp>
        <p:nvSpPr>
          <p:cNvPr id="38" name="Text 36"/>
          <p:cNvSpPr/>
          <p:nvPr/>
        </p:nvSpPr>
        <p:spPr>
          <a:xfrm>
            <a:off x="6821424" y="4709160"/>
            <a:ext cx="438912" cy="109728"/>
          </a:xfrm>
          <a:prstGeom prst="rect">
            <a:avLst/>
          </a:prstGeom>
          <a:noFill/>
          <a:ln/>
        </p:spPr>
        <p:txBody>
          <a:bodyPr wrap="square" lIns="0" tIns="0" rIns="0" bIns="0" rtlCol="0" anchor="ctr"/>
          <a:lstStyle/>
          <a:p>
            <a:pPr algn="ctr" indent="0" marL="0">
              <a:buNone/>
            </a:pPr>
            <a:r>
              <a:rPr lang="en-US" sz="900" b="1" dirty="0">
                <a:solidFill>
                  <a:srgbClr val="11162B"/>
                </a:solidFill>
                <a:latin typeface="Aptos" pitchFamily="34" charset="0"/>
                <a:ea typeface="Aptos" pitchFamily="34" charset="-122"/>
                <a:cs typeface="Aptos" pitchFamily="34" charset="-120"/>
              </a:rPr>
              <a:t>3</a:t>
            </a:r>
            <a:endParaRPr lang="en-US" sz="900" dirty="0"/>
          </a:p>
        </p:txBody>
      </p:sp>
      <p:sp>
        <p:nvSpPr>
          <p:cNvPr id="39" name="Text 37"/>
          <p:cNvSpPr/>
          <p:nvPr/>
        </p:nvSpPr>
        <p:spPr>
          <a:xfrm>
            <a:off x="7498080" y="4407408"/>
            <a:ext cx="3886200" cy="749808"/>
          </a:xfrm>
          <a:prstGeom prst="rect">
            <a:avLst/>
          </a:prstGeom>
          <a:noFill/>
          <a:ln/>
        </p:spPr>
        <p:txBody>
          <a:bodyPr wrap="square" lIns="0" tIns="0" rIns="0" bIns="0" rtlCol="0" anchor="ctr">
            <a:normAutofit/>
          </a:bodyPr>
          <a:lstStyle/>
          <a:p>
            <a:pPr indent="0" marL="0">
              <a:buNone/>
            </a:pPr>
            <a:r>
              <a:rPr lang="en-US" sz="1450" dirty="0">
                <a:solidFill>
                  <a:srgbClr val="151B31"/>
                </a:solidFill>
                <a:latin typeface="Aptos" pitchFamily="34" charset="0"/>
                <a:ea typeface="Aptos" pitchFamily="34" charset="-122"/>
                <a:cs typeface="Aptos" pitchFamily="34" charset="-120"/>
              </a:rPr>
              <a:t>Export the trace to Azure Monitor or the console</a:t>
            </a:r>
            <a:endParaRPr lang="en-US" sz="1450" dirty="0"/>
          </a:p>
        </p:txBody>
      </p:sp>
      <p:sp>
        <p:nvSpPr>
          <p:cNvPr id="40" name="Text 38"/>
          <p:cNvSpPr/>
          <p:nvPr/>
        </p:nvSpPr>
        <p:spPr>
          <a:xfrm>
            <a:off x="658368" y="6318504"/>
            <a:ext cx="10881360" cy="182880"/>
          </a:xfrm>
          <a:prstGeom prst="rect">
            <a:avLst/>
          </a:prstGeom>
          <a:noFill/>
          <a:ln/>
        </p:spPr>
        <p:txBody>
          <a:bodyPr wrap="square" lIns="0" tIns="0" rIns="0" bIns="0" rtlCol="0" anchor="ctr">
            <a:normAutofit/>
          </a:bodyPr>
          <a:lstStyle/>
          <a:p>
            <a:pPr indent="0" marL="0">
              <a:buNone/>
            </a:pPr>
            <a:r>
              <a:rPr lang="en-US" sz="940" dirty="0">
                <a:solidFill>
                  <a:srgbClr val="526276"/>
                </a:solidFill>
                <a:latin typeface="Aptos" pitchFamily="34" charset="0"/>
                <a:ea typeface="Aptos" pitchFamily="34" charset="-122"/>
                <a:cs typeface="Aptos" pitchFamily="34" charset="-120"/>
              </a:rPr>
              <a:t>REFERENCE  learn.microsoft.com/azure/foundry/observability/how-to/trace-agent-setup</a:t>
            </a:r>
            <a:endParaRPr lang="en-US" sz="940" dirty="0"/>
          </a:p>
        </p:txBody>
      </p:sp>
      <p:sp>
        <p:nvSpPr>
          <p:cNvPr id="41" name="Shape 39"/>
          <p:cNvSpPr/>
          <p:nvPr/>
        </p:nvSpPr>
        <p:spPr>
          <a:xfrm>
            <a:off x="0" y="6793992"/>
            <a:ext cx="12191695" cy="64008"/>
          </a:xfrm>
          <a:prstGeom prst="rect">
            <a:avLst/>
          </a:prstGeom>
          <a:solidFill>
            <a:srgbClr val="16C7E8"/>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Observability and Tracing</dc:title>
  <dc:subject>Day 5 — Production Readiness and Capstone</dc:subject>
  <dc:creator>Building AI Apps and Agents Workshop</dc:creator>
  <cp:lastModifiedBy>Building AI Apps and Agents Workshop</cp:lastModifiedBy>
  <cp:revision>1</cp:revision>
  <dcterms:created xsi:type="dcterms:W3CDTF">2026-09-18T21:01:13Z</dcterms:created>
  <dcterms:modified xsi:type="dcterms:W3CDTF">2026-09-18T21:01:13Z</dcterms:modified>
</cp:coreProperties>
</file>