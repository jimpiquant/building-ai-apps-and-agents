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1 minute. Reintroduce the presenter-prepared technical-documentation assistant: Planner scopes the request, Retriever gathers evidence, and Critic either requests one bounded revision or stops. No prior lab completion is assumed. The module asks what evidence lets an operator explain one run without mistaking operational health for answer quality.
• GROUNDING SOURCE: https://learn.microsoft.com/azure/foundry/concepts/observability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4 minutes. Observability is the umbrella ability to understand and troubleshoot behavior. Monitoring watches operational and quality signals over time; evaluation judges an output or action against explicit criteria. Stress that a request can have no exception and still produce a poor answer, while a good answer can still be too slow or costly.
• GROUNDING SOURCE: https://learn.microsoft.com/azure/foundry/concepts/observability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4 minutes. Point to the supplied reference run while defining the terms. A trace is the journey of one execution; a span is one timed operation within it; attributes are key-value context on that operation. The console event list can be useful evidence, but without trace context, instrumentation, and export it is not automatically a distributed trace.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4 minutes. Instrumentation creates signals, semantic conventions give fields shared meanings, and an exporter sends the signals to a backend. Matching attribute names do not connect two processes; trace context must propagate. Separate Foundry-managed server-side traces from client-side MAF instrumentation around application code. Maturity is surface-specific, not a blanket label.
• GROUNDING SOURCE: https://learn.microsoft.com/agent-framework/agents/observability
• GROUNDING SOURCE: https://learn.microsoft.com/azure/foundry/observability/how-to/trace-agent-setup
• GROUNDING SOURCE: https://learn.microsoft.com/azure/foundry/observability/how-to/trace-agent-framework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In MAF workflows, a message-send span can be a child of the sending executor, while the receiving executor is linked to that send because the work is causally related but not nested. A conversation persists dialogue across turns; a response records processing output; neither identifier should be substituted for a trace ID. Streaming exposes partial output before completion, but the documentation does not promise one span per token.
• GROUNDING SOURCE: https://learn.microsoft.com/agent-framework/workflows/observability
• GROUNDING SOURCE: https://learn.microsoft.com/azure/foundry/agents/concepts/runtime-components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6 minutes. Use the runbook's read-only, presenter-prepared evidence from one synthetic Planner/Retriever/Critic request. Compare its console events with its authentic exported trace, follow the retrieval and Critic decision, identify the longest recorded operation, and finish by asking what separate evidence establishes answer quality. Never improvise missing spans or identifiers.
• GROUNDING SOURCE: https://learn.microsoft.com/azure/foundry/observability/concepts/trace-agent-concept
• GROUNDING SOURCE: https://learn.microsoft.com/agent-framework/workflows/observability
• GROUNDING SOURCE: https://learn.microsoft.com/azure/foundry/observability/how-to/trace-agent-setup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Treat prompts, outputs, tool arguments, and results as sensitive unless proven otherwise. Prefer durations, status, stable identifiers, and bounded categorical metadata. Capture payloads only for a justified case with synthetic content, then apply telemetry access controls, retention, and sampling. More data also means more ingestion and retention cost.
• GROUNDING SOURCE: https://learn.microsoft.com/agent-framework/agents/observability
• GROUNDING SOURCE: https://learn.microsoft.com/agent-framework/workflows/observability
• GROUNDING SOURCE: https://learn.microsoft.com/azure/foundry/observability/how-to/trace-agent-setup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Use only the values actually visible in the prepared evidence. Ask where the delay occurred: the answer is the longest relevant span and its child or linked operations. Ask whether the final answer was good: the trace alone cannot establish that; use an appropriate evaluator or reviewed answer. Also remind the room that traces expose recorded operations, not guaranteed access to a model's private reasoning.
• GROUNDING SOURCE: https://learn.microsoft.com/azure/foundry/observability/concepts/trace-agent-concept
• GROUNDING SOURCE: https://learn.microsoft.com/azure/foundry/concepts/observability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Ask for the four-part operational story: instrument, propagate context, export, inspect. Then ask which evidence answers latency versus quality. Close by handing off to Module 2: the telemetry contract stays the same, but the next question is which VS Code surface should an architect use during development.
• GROUNDING SOURCE: https://learn.microsoft.com/azure/foundry/concepts/observability
• GROUNDING SOURCE: https://learn.microsoft.com/azure/foundry/observability/concepts/trace-agent-concept
• GROUNDING SOURCE: https://learn.microsoft.com/agent-framework/workflows/observability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62B"/>
        </a:solidFill>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EEE9FF"/>
          </a:solidFill>
          <a:ln/>
        </p:spPr>
      </p:sp>
      <p:sp>
        <p:nvSpPr>
          <p:cNvPr id="3" name="Shape 1"/>
          <p:cNvSpPr/>
          <p:nvPr/>
        </p:nvSpPr>
        <p:spPr>
          <a:xfrm>
            <a:off x="8394192" y="557784"/>
            <a:ext cx="3044952" cy="3044952"/>
          </a:xfrm>
          <a:prstGeom prst="ellipse">
            <a:avLst/>
          </a:prstGeom>
          <a:solidFill>
            <a:srgbClr val="11162B"/>
          </a:solidFill>
          <a:ln/>
        </p:spPr>
      </p:sp>
      <p:sp>
        <p:nvSpPr>
          <p:cNvPr id="4" name="Shape 2"/>
          <p:cNvSpPr/>
          <p:nvPr/>
        </p:nvSpPr>
        <p:spPr>
          <a:xfrm>
            <a:off x="9337396" y="1232154"/>
            <a:ext cx="811530" cy="973836"/>
          </a:xfrm>
          <a:prstGeom prst="line">
            <a:avLst/>
          </a:prstGeom>
          <a:noFill/>
          <a:ln w="25400">
            <a:solidFill>
              <a:srgbClr val="FFFFFF"/>
            </a:solidFill>
            <a:prstDash val="solid"/>
          </a:ln>
        </p:spPr>
      </p:sp>
      <p:sp>
        <p:nvSpPr>
          <p:cNvPr id="5" name="Shape 3"/>
          <p:cNvSpPr/>
          <p:nvPr/>
        </p:nvSpPr>
        <p:spPr>
          <a:xfrm>
            <a:off x="10213848" y="1199693"/>
            <a:ext cx="779069" cy="811530"/>
          </a:xfrm>
          <a:prstGeom prst="line">
            <a:avLst/>
          </a:prstGeom>
          <a:noFill/>
          <a:ln w="25400">
            <a:solidFill>
              <a:srgbClr val="FFFFFF"/>
            </a:solidFill>
            <a:prstDash val="solid"/>
          </a:ln>
        </p:spPr>
      </p:sp>
      <p:sp>
        <p:nvSpPr>
          <p:cNvPr id="6" name="Shape 4"/>
          <p:cNvSpPr/>
          <p:nvPr/>
        </p:nvSpPr>
        <p:spPr>
          <a:xfrm>
            <a:off x="11025378" y="1004926"/>
            <a:ext cx="779069" cy="973836"/>
          </a:xfrm>
          <a:prstGeom prst="line">
            <a:avLst/>
          </a:prstGeom>
          <a:noFill/>
          <a:ln w="25400">
            <a:solidFill>
              <a:srgbClr val="FFFFFF"/>
            </a:solidFill>
            <a:prstDash val="solid"/>
          </a:ln>
        </p:spPr>
      </p:sp>
      <p:sp>
        <p:nvSpPr>
          <p:cNvPr id="7" name="Shape 5"/>
          <p:cNvSpPr/>
          <p:nvPr/>
        </p:nvSpPr>
        <p:spPr>
          <a:xfrm>
            <a:off x="11025378" y="2043684"/>
            <a:ext cx="779069" cy="908914"/>
          </a:xfrm>
          <a:prstGeom prst="line">
            <a:avLst/>
          </a:prstGeom>
          <a:noFill/>
          <a:ln w="25400">
            <a:solidFill>
              <a:srgbClr val="FFFFFF"/>
            </a:solidFill>
            <a:prstDash val="dash"/>
          </a:ln>
        </p:spPr>
      </p:sp>
      <p:sp>
        <p:nvSpPr>
          <p:cNvPr id="8" name="Shape 6"/>
          <p:cNvSpPr/>
          <p:nvPr/>
        </p:nvSpPr>
        <p:spPr>
          <a:xfrm>
            <a:off x="9175090" y="2108606"/>
            <a:ext cx="486918" cy="486918"/>
          </a:xfrm>
          <a:prstGeom prst="ellipse">
            <a:avLst/>
          </a:prstGeom>
          <a:solidFill>
            <a:srgbClr val="8B5CF6"/>
          </a:solidFill>
          <a:ln w="10160">
            <a:solidFill>
              <a:srgbClr val="FFFFFF"/>
            </a:solidFill>
            <a:prstDash val="solid"/>
          </a:ln>
        </p:spPr>
      </p:sp>
      <p:sp>
        <p:nvSpPr>
          <p:cNvPr id="9" name="Shape 7"/>
          <p:cNvSpPr/>
          <p:nvPr/>
        </p:nvSpPr>
        <p:spPr>
          <a:xfrm>
            <a:off x="10084003" y="1004926"/>
            <a:ext cx="486918" cy="486918"/>
          </a:xfrm>
          <a:prstGeom prst="ellipse">
            <a:avLst/>
          </a:prstGeom>
          <a:solidFill>
            <a:srgbClr val="8B5CF6"/>
          </a:solidFill>
          <a:ln w="10160">
            <a:solidFill>
              <a:srgbClr val="FFFFFF"/>
            </a:solidFill>
            <a:prstDash val="solid"/>
          </a:ln>
        </p:spPr>
      </p:sp>
      <p:sp>
        <p:nvSpPr>
          <p:cNvPr id="10" name="Shape 8"/>
          <p:cNvSpPr/>
          <p:nvPr/>
        </p:nvSpPr>
        <p:spPr>
          <a:xfrm>
            <a:off x="10927994" y="1978762"/>
            <a:ext cx="486918" cy="486918"/>
          </a:xfrm>
          <a:prstGeom prst="ellipse">
            <a:avLst/>
          </a:prstGeom>
          <a:solidFill>
            <a:srgbClr val="16C7E8"/>
          </a:solidFill>
          <a:ln w="10160">
            <a:solidFill>
              <a:srgbClr val="FFFFFF"/>
            </a:solidFill>
            <a:prstDash val="solid"/>
          </a:ln>
        </p:spPr>
      </p:sp>
      <p:sp>
        <p:nvSpPr>
          <p:cNvPr id="11" name="Shape 9"/>
          <p:cNvSpPr/>
          <p:nvPr/>
        </p:nvSpPr>
        <p:spPr>
          <a:xfrm>
            <a:off x="11771986" y="810158"/>
            <a:ext cx="486918" cy="486918"/>
          </a:xfrm>
          <a:prstGeom prst="ellipse">
            <a:avLst/>
          </a:prstGeom>
          <a:solidFill>
            <a:srgbClr val="8B5CF6"/>
          </a:solidFill>
          <a:ln w="10160">
            <a:solidFill>
              <a:srgbClr val="FFFFFF"/>
            </a:solidFill>
            <a:prstDash val="solid"/>
          </a:ln>
        </p:spPr>
      </p:sp>
      <p:sp>
        <p:nvSpPr>
          <p:cNvPr id="12" name="Shape 10"/>
          <p:cNvSpPr/>
          <p:nvPr/>
        </p:nvSpPr>
        <p:spPr>
          <a:xfrm>
            <a:off x="11901830" y="3082442"/>
            <a:ext cx="486918" cy="486918"/>
          </a:xfrm>
          <a:prstGeom prst="ellipse">
            <a:avLst/>
          </a:prstGeom>
          <a:solidFill>
            <a:srgbClr val="8B5CF6"/>
          </a:solidFill>
          <a:ln w="10160">
            <a:solidFill>
              <a:srgbClr val="FFFFFF"/>
            </a:solidFill>
            <a:prstDash val="solid"/>
          </a:ln>
        </p:spPr>
      </p:sp>
      <p:sp>
        <p:nvSpPr>
          <p:cNvPr id="13" name="Shape 11"/>
          <p:cNvSpPr/>
          <p:nvPr/>
        </p:nvSpPr>
        <p:spPr>
          <a:xfrm>
            <a:off x="713232" y="530352"/>
            <a:ext cx="2148840" cy="365760"/>
          </a:xfrm>
          <a:prstGeom prst="roundRect">
            <a:avLst>
              <a:gd name="adj" fmla="val 20000"/>
            </a:avLst>
          </a:prstGeom>
          <a:solidFill>
            <a:srgbClr val="16C7E8"/>
          </a:solidFill>
          <a:ln/>
        </p:spPr>
      </p:sp>
      <p:sp>
        <p:nvSpPr>
          <p:cNvPr id="14" name="Text 12"/>
          <p:cNvSpPr/>
          <p:nvPr/>
        </p:nvSpPr>
        <p:spPr>
          <a:xfrm>
            <a:off x="868680" y="658368"/>
            <a:ext cx="1828800" cy="109728"/>
          </a:xfrm>
          <a:prstGeom prst="rect">
            <a:avLst/>
          </a:prstGeom>
          <a:noFill/>
          <a:ln/>
        </p:spPr>
        <p:txBody>
          <a:bodyPr wrap="square" lIns="0" tIns="0" rIns="0" bIns="0" rtlCol="0" anchor="ctr"/>
          <a:lstStyle/>
          <a:p>
            <a:pPr algn="ctr" indent="0" marL="0">
              <a:buNone/>
            </a:pPr>
            <a:r>
              <a:rPr lang="en-US" sz="900" b="1" spc="160" kern="0" dirty="0">
                <a:solidFill>
                  <a:srgbClr val="11162B"/>
                </a:solidFill>
                <a:latin typeface="Aptos" pitchFamily="34" charset="0"/>
                <a:ea typeface="Aptos" pitchFamily="34" charset="-122"/>
                <a:cs typeface="Aptos" pitchFamily="34" charset="-120"/>
              </a:rPr>
              <a:t>DAY 5  ·  MODULE 1</a:t>
            </a:r>
            <a:endParaRPr lang="en-US" sz="900" dirty="0"/>
          </a:p>
        </p:txBody>
      </p:sp>
      <p:sp>
        <p:nvSpPr>
          <p:cNvPr id="15" name="Text 13"/>
          <p:cNvSpPr/>
          <p:nvPr/>
        </p:nvSpPr>
        <p:spPr>
          <a:xfrm>
            <a:off x="713232" y="1298448"/>
            <a:ext cx="7150608" cy="1143000"/>
          </a:xfrm>
          <a:prstGeom prst="rect">
            <a:avLst/>
          </a:prstGeom>
          <a:noFill/>
          <a:ln/>
        </p:spPr>
        <p:txBody>
          <a:bodyPr wrap="square" lIns="0" tIns="0" rIns="0" bIns="0" rtlCol="0" anchor="ctr">
            <a:normAutofit/>
          </a:bodyPr>
          <a:lstStyle/>
          <a:p>
            <a:pPr indent="0" marL="0">
              <a:buNone/>
            </a:pPr>
            <a:r>
              <a:rPr lang="en-US" sz="4700" b="1" dirty="0">
                <a:solidFill>
                  <a:srgbClr val="FFFFFF"/>
                </a:solidFill>
                <a:latin typeface="Aptos Display" pitchFamily="34" charset="0"/>
                <a:ea typeface="Aptos Display" pitchFamily="34" charset="-122"/>
                <a:cs typeface="Aptos Display" pitchFamily="34" charset="-120"/>
              </a:rPr>
              <a:t>Observability and Tracing</a:t>
            </a:r>
            <a:endParaRPr lang="en-US" sz="4700" dirty="0"/>
          </a:p>
        </p:txBody>
      </p:sp>
      <p:sp>
        <p:nvSpPr>
          <p:cNvPr id="16" name="Text 14"/>
          <p:cNvSpPr/>
          <p:nvPr/>
        </p:nvSpPr>
        <p:spPr>
          <a:xfrm>
            <a:off x="749808" y="2615184"/>
            <a:ext cx="6931152" cy="786384"/>
          </a:xfrm>
          <a:prstGeom prst="rect">
            <a:avLst/>
          </a:prstGeom>
          <a:noFill/>
          <a:ln/>
        </p:spPr>
        <p:txBody>
          <a:bodyPr wrap="square" lIns="0" tIns="0" rIns="0" bIns="0" rtlCol="0" anchor="ctr">
            <a:normAutofit/>
          </a:bodyPr>
          <a:lstStyle/>
          <a:p>
            <a:pPr indent="0" marL="0">
              <a:buNone/>
            </a:pPr>
            <a:r>
              <a:rPr lang="en-US" sz="1830" dirty="0">
                <a:solidFill>
                  <a:srgbClr val="E4EAF0"/>
                </a:solidFill>
                <a:latin typeface="Aptos" pitchFamily="34" charset="0"/>
                <a:ea typeface="Aptos" pitchFamily="34" charset="-122"/>
                <a:cs typeface="Aptos" pitchFamily="34" charset="-120"/>
              </a:rPr>
              <a:t>Follow one request, explain the delay,</a:t>
            </a:r>
            <a:endParaRPr lang="en-US" sz="1830" dirty="0"/>
          </a:p>
          <a:p>
            <a:pPr indent="0" marL="0">
              <a:buNone/>
            </a:pPr>
            <a:r>
              <a:rPr lang="en-US" sz="1830" dirty="0">
                <a:solidFill>
                  <a:srgbClr val="E4EAF0"/>
                </a:solidFill>
                <a:latin typeface="Aptos" pitchFamily="34" charset="0"/>
                <a:ea typeface="Aptos" pitchFamily="34" charset="-122"/>
                <a:cs typeface="Aptos" pitchFamily="34" charset="-120"/>
              </a:rPr>
              <a:t>and protect what telemetry records</a:t>
            </a:r>
            <a:endParaRPr lang="en-US" sz="1830" dirty="0"/>
          </a:p>
        </p:txBody>
      </p:sp>
      <p:sp>
        <p:nvSpPr>
          <p:cNvPr id="17" name="Shape 15"/>
          <p:cNvSpPr/>
          <p:nvPr/>
        </p:nvSpPr>
        <p:spPr>
          <a:xfrm>
            <a:off x="713232" y="4160520"/>
            <a:ext cx="6793992" cy="1097280"/>
          </a:xfrm>
          <a:prstGeom prst="roundRect">
            <a:avLst>
              <a:gd name="adj" fmla="val 6667"/>
            </a:avLst>
          </a:prstGeom>
          <a:solidFill>
            <a:srgbClr val="FFFFFF"/>
          </a:solidFill>
          <a:ln/>
        </p:spPr>
      </p:sp>
      <p:sp>
        <p:nvSpPr>
          <p:cNvPr id="18" name="Shape 16"/>
          <p:cNvSpPr/>
          <p:nvPr/>
        </p:nvSpPr>
        <p:spPr>
          <a:xfrm>
            <a:off x="713232" y="4160520"/>
            <a:ext cx="146304" cy="1097280"/>
          </a:xfrm>
          <a:prstGeom prst="rect">
            <a:avLst/>
          </a:prstGeom>
          <a:solidFill>
            <a:srgbClr val="16C7E8"/>
          </a:solidFill>
          <a:ln/>
        </p:spPr>
      </p:sp>
      <p:sp>
        <p:nvSpPr>
          <p:cNvPr id="19" name="Text 17"/>
          <p:cNvSpPr/>
          <p:nvPr/>
        </p:nvSpPr>
        <p:spPr>
          <a:xfrm>
            <a:off x="1078992" y="4407408"/>
            <a:ext cx="6080760" cy="603504"/>
          </a:xfrm>
          <a:prstGeom prst="rect">
            <a:avLst/>
          </a:prstGeom>
          <a:noFill/>
          <a:ln/>
        </p:spPr>
        <p:txBody>
          <a:bodyPr wrap="square" lIns="0" tIns="0" rIns="0" bIns="0" rtlCol="0" anchor="ctr">
            <a:normAutofit/>
          </a:bodyPr>
          <a:lstStyle/>
          <a:p>
            <a:pPr indent="0" marL="0">
              <a:buNone/>
            </a:pPr>
            <a:r>
              <a:rPr lang="en-US" sz="1700" b="1" dirty="0">
                <a:solidFill>
                  <a:srgbClr val="11162B"/>
                </a:solidFill>
                <a:latin typeface="Aptos" pitchFamily="34" charset="0"/>
                <a:ea typeface="Aptos" pitchFamily="34" charset="-122"/>
                <a:cs typeface="Aptos" pitchFamily="34" charset="-120"/>
              </a:rPr>
              <a:t>Follow one presenter-prepared request from workflow entry to answer — then ask what the trace still cannot prove.</a:t>
            </a:r>
            <a:endParaRPr lang="en-US" sz="1700" dirty="0"/>
          </a:p>
        </p:txBody>
      </p:sp>
      <p:sp>
        <p:nvSpPr>
          <p:cNvPr id="20" name="Text 18"/>
          <p:cNvSpPr/>
          <p:nvPr/>
        </p:nvSpPr>
        <p:spPr>
          <a:xfrm>
            <a:off x="9546336" y="4261104"/>
            <a:ext cx="2011680" cy="914400"/>
          </a:xfrm>
          <a:prstGeom prst="rect">
            <a:avLst/>
          </a:prstGeom>
          <a:noFill/>
          <a:ln/>
        </p:spPr>
        <p:txBody>
          <a:bodyPr wrap="square" lIns="0" tIns="0" rIns="0" bIns="0" rtlCol="0" anchor="ctr"/>
          <a:lstStyle/>
          <a:p>
            <a:pPr algn="ctr" indent="0" marL="0">
              <a:buNone/>
            </a:pPr>
            <a:r>
              <a:rPr lang="en-US" sz="6800" b="1" dirty="0">
                <a:solidFill>
                  <a:srgbClr val="16C7E8"/>
                </a:solidFill>
                <a:latin typeface="Aptos Display" pitchFamily="34" charset="0"/>
                <a:ea typeface="Aptos Display" pitchFamily="34" charset="-122"/>
                <a:cs typeface="Aptos Display" pitchFamily="34" charset="-120"/>
              </a:rPr>
              <a:t>01</a:t>
            </a:r>
            <a:endParaRPr lang="en-US" sz="6800" dirty="0"/>
          </a:p>
        </p:txBody>
      </p:sp>
      <p:sp>
        <p:nvSpPr>
          <p:cNvPr id="21" name="Text 19"/>
          <p:cNvSpPr/>
          <p:nvPr/>
        </p:nvSpPr>
        <p:spPr>
          <a:xfrm>
            <a:off x="8732520" y="5239512"/>
            <a:ext cx="3611880" cy="182880"/>
          </a:xfrm>
          <a:prstGeom prst="rect">
            <a:avLst/>
          </a:prstGeom>
          <a:noFill/>
          <a:ln/>
        </p:spPr>
        <p:txBody>
          <a:bodyPr wrap="square" lIns="0" tIns="0" rIns="0" bIns="0" rtlCol="0" anchor="ctr"/>
          <a:lstStyle/>
          <a:p>
            <a:pPr algn="ctr" indent="0" marL="0">
              <a:buNone/>
            </a:pPr>
            <a:r>
              <a:rPr lang="en-US" sz="950" b="1" spc="240" kern="0" dirty="0">
                <a:solidFill>
                  <a:srgbClr val="FFFFFF"/>
                </a:solidFill>
                <a:latin typeface="Aptos" pitchFamily="34" charset="0"/>
                <a:ea typeface="Aptos" pitchFamily="34" charset="-122"/>
                <a:cs typeface="Aptos" pitchFamily="34" charset="-120"/>
              </a:rPr>
              <a:t>SIGNAL PATH</a:t>
            </a:r>
            <a:endParaRPr lang="en-US" sz="95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learn.microsoft.com/azure/foundry/concepts/observability  ·  +1 more in notes</a:t>
            </a:r>
            <a:endParaRPr lang="en-US" sz="940" dirty="0"/>
          </a:p>
        </p:txBody>
      </p:sp>
      <p:sp>
        <p:nvSpPr>
          <p:cNvPr id="23" name="Shape 21"/>
          <p:cNvSpPr/>
          <p:nvPr/>
        </p:nvSpPr>
        <p:spPr>
          <a:xfrm>
            <a:off x="0" y="6793992"/>
            <a:ext cx="12191695" cy="64008"/>
          </a:xfrm>
          <a:prstGeom prst="rect">
            <a:avLst/>
          </a:prstGeom>
          <a:solidFill>
            <a:srgbClr val="16C7E8"/>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Three questions, three practices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02</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417320"/>
            <a:ext cx="3438144" cy="4187952"/>
          </a:xfrm>
          <a:prstGeom prst="roundRect">
            <a:avLst>
              <a:gd name="adj" fmla="val 2128"/>
            </a:avLst>
          </a:prstGeom>
          <a:solidFill>
            <a:srgbClr val="E4F7FB"/>
          </a:solidFill>
          <a:ln w="10160">
            <a:solidFill>
              <a:srgbClr val="16C7E8"/>
            </a:solidFill>
            <a:prstDash val="solid"/>
          </a:ln>
        </p:spPr>
      </p:sp>
      <p:sp>
        <p:nvSpPr>
          <p:cNvPr id="18" name="Text 16"/>
          <p:cNvSpPr/>
          <p:nvPr/>
        </p:nvSpPr>
        <p:spPr>
          <a:xfrm>
            <a:off x="896112" y="1755648"/>
            <a:ext cx="2926080" cy="173736"/>
          </a:xfrm>
          <a:prstGeom prst="rect">
            <a:avLst/>
          </a:prstGeom>
          <a:noFill/>
          <a:ln/>
        </p:spPr>
        <p:txBody>
          <a:bodyPr wrap="square" lIns="0" tIns="0" rIns="0" bIns="0" rtlCol="0" anchor="ctr"/>
          <a:lstStyle/>
          <a:p>
            <a:pPr algn="ctr" indent="0" marL="0">
              <a:buNone/>
            </a:pPr>
            <a:r>
              <a:rPr lang="en-US" sz="1000" b="1" spc="280" kern="0" dirty="0">
                <a:solidFill>
                  <a:srgbClr val="16C7E8"/>
                </a:solidFill>
                <a:latin typeface="Aptos" pitchFamily="34" charset="0"/>
                <a:ea typeface="Aptos" pitchFamily="34" charset="-122"/>
                <a:cs typeface="Aptos" pitchFamily="34" charset="-120"/>
              </a:rPr>
              <a:t>EXPLAIN</a:t>
            </a:r>
            <a:endParaRPr lang="en-US" sz="1000" dirty="0"/>
          </a:p>
        </p:txBody>
      </p:sp>
      <p:sp>
        <p:nvSpPr>
          <p:cNvPr id="19" name="Shape 17"/>
          <p:cNvSpPr/>
          <p:nvPr/>
        </p:nvSpPr>
        <p:spPr>
          <a:xfrm>
            <a:off x="1865376" y="2139696"/>
            <a:ext cx="987552" cy="987552"/>
          </a:xfrm>
          <a:prstGeom prst="ellipse">
            <a:avLst/>
          </a:prstGeom>
          <a:solidFill>
            <a:srgbClr val="16C7E8"/>
          </a:solidFill>
          <a:ln/>
        </p:spPr>
      </p:sp>
      <p:sp>
        <p:nvSpPr>
          <p:cNvPr id="20" name="Text 18"/>
          <p:cNvSpPr/>
          <p:nvPr/>
        </p:nvSpPr>
        <p:spPr>
          <a:xfrm>
            <a:off x="1865376" y="2386584"/>
            <a:ext cx="987552" cy="310896"/>
          </a:xfrm>
          <a:prstGeom prst="rect">
            <a:avLst/>
          </a:prstGeom>
          <a:noFill/>
          <a:ln/>
        </p:spPr>
        <p:txBody>
          <a:bodyPr wrap="square" lIns="0" tIns="0" rIns="0" bIns="0" rtlCol="0" anchor="ctr"/>
          <a:lstStyle/>
          <a:p>
            <a:pPr algn="ctr" indent="0" marL="0">
              <a:buNone/>
            </a:pPr>
            <a:r>
              <a:rPr lang="en-US" sz="2400" b="1" dirty="0">
                <a:solidFill>
                  <a:srgbClr val="11162B"/>
                </a:solidFill>
                <a:latin typeface="Aptos" pitchFamily="34" charset="0"/>
                <a:ea typeface="Aptos" pitchFamily="34" charset="-122"/>
                <a:cs typeface="Aptos" pitchFamily="34" charset="-120"/>
              </a:rPr>
              <a:t>?</a:t>
            </a:r>
            <a:endParaRPr lang="en-US" sz="2400" dirty="0"/>
          </a:p>
        </p:txBody>
      </p:sp>
      <p:sp>
        <p:nvSpPr>
          <p:cNvPr id="21" name="Text 19"/>
          <p:cNvSpPr/>
          <p:nvPr/>
        </p:nvSpPr>
        <p:spPr>
          <a:xfrm>
            <a:off x="914400" y="3364992"/>
            <a:ext cx="2889504" cy="393192"/>
          </a:xfrm>
          <a:prstGeom prst="rect">
            <a:avLst/>
          </a:prstGeom>
          <a:noFill/>
          <a:ln/>
        </p:spPr>
        <p:txBody>
          <a:bodyPr wrap="square" lIns="0" tIns="0" rIns="0" bIns="0" rtlCol="0" anchor="ctr"/>
          <a:lstStyle/>
          <a:p>
            <a:pPr algn="ctr" indent="0" marL="0">
              <a:buNone/>
            </a:pPr>
            <a:r>
              <a:rPr lang="en-US" sz="2200" b="1" dirty="0">
                <a:solidFill>
                  <a:srgbClr val="11162B"/>
                </a:solidFill>
                <a:latin typeface="Aptos Display" pitchFamily="34" charset="0"/>
                <a:ea typeface="Aptos Display" pitchFamily="34" charset="-122"/>
                <a:cs typeface="Aptos Display" pitchFamily="34" charset="-120"/>
              </a:rPr>
              <a:t>Observability</a:t>
            </a:r>
            <a:endParaRPr lang="en-US" sz="2200" dirty="0"/>
          </a:p>
        </p:txBody>
      </p:sp>
      <p:sp>
        <p:nvSpPr>
          <p:cNvPr id="22" name="Text 20"/>
          <p:cNvSpPr/>
          <p:nvPr/>
        </p:nvSpPr>
        <p:spPr>
          <a:xfrm>
            <a:off x="987552" y="3931920"/>
            <a:ext cx="2743200" cy="1298448"/>
          </a:xfrm>
          <a:prstGeom prst="rect">
            <a:avLst/>
          </a:prstGeom>
          <a:noFill/>
          <a:ln/>
        </p:spPr>
        <p:txBody>
          <a:bodyPr wrap="square" lIns="0" tIns="0" rIns="0" bIns="0" rtlCol="0" anchor="t">
            <a:normAutofit/>
          </a:bodyPr>
          <a:lstStyle/>
          <a:p>
            <a:pPr algn="ctr" indent="0" marL="0">
              <a:buNone/>
            </a:pPr>
            <a:r>
              <a:rPr lang="en-US" sz="1520" dirty="0">
                <a:solidFill>
                  <a:srgbClr val="151B31"/>
                </a:solidFill>
                <a:latin typeface="Aptos" pitchFamily="34" charset="0"/>
                <a:ea typeface="Aptos" pitchFamily="34" charset="-122"/>
                <a:cs typeface="Aptos" pitchFamily="34" charset="-120"/>
              </a:rPr>
              <a:t>Combine logs, metrics, traces, and evaluation signals to understand the system</a:t>
            </a:r>
            <a:endParaRPr lang="en-US" sz="1520" dirty="0"/>
          </a:p>
          <a:p>
            <a:pPr algn="ctr" indent="0" marL="0">
              <a:buNone/>
            </a:pPr>
            <a:r>
              <a:rPr lang="en-US" sz="1520" dirty="0">
                <a:solidFill>
                  <a:srgbClr val="151B31"/>
                </a:solidFill>
                <a:latin typeface="Aptos" pitchFamily="34" charset="0"/>
                <a:ea typeface="Aptos" pitchFamily="34" charset="-122"/>
                <a:cs typeface="Aptos" pitchFamily="34" charset="-120"/>
              </a:rPr>
              <a:t>Use a trace to investigate one execution path and its dependencies</a:t>
            </a:r>
            <a:endParaRPr lang="en-US" sz="1520" dirty="0"/>
          </a:p>
        </p:txBody>
      </p:sp>
      <p:sp>
        <p:nvSpPr>
          <p:cNvPr id="23" name="Shape 21"/>
          <p:cNvSpPr/>
          <p:nvPr/>
        </p:nvSpPr>
        <p:spPr>
          <a:xfrm>
            <a:off x="4352544" y="1417320"/>
            <a:ext cx="3438144" cy="4187952"/>
          </a:xfrm>
          <a:prstGeom prst="roundRect">
            <a:avLst>
              <a:gd name="adj" fmla="val 2128"/>
            </a:avLst>
          </a:prstGeom>
          <a:solidFill>
            <a:srgbClr val="FFFFFF"/>
          </a:solidFill>
          <a:ln w="10160">
            <a:solidFill>
              <a:srgbClr val="E4F7FB"/>
            </a:solidFill>
            <a:prstDash val="solid"/>
          </a:ln>
        </p:spPr>
      </p:sp>
      <p:sp>
        <p:nvSpPr>
          <p:cNvPr id="24" name="Text 22"/>
          <p:cNvSpPr/>
          <p:nvPr/>
        </p:nvSpPr>
        <p:spPr>
          <a:xfrm>
            <a:off x="4608576" y="1755648"/>
            <a:ext cx="2926080" cy="173736"/>
          </a:xfrm>
          <a:prstGeom prst="rect">
            <a:avLst/>
          </a:prstGeom>
          <a:noFill/>
          <a:ln/>
        </p:spPr>
        <p:txBody>
          <a:bodyPr wrap="square" lIns="0" tIns="0" rIns="0" bIns="0" rtlCol="0" anchor="ctr"/>
          <a:lstStyle/>
          <a:p>
            <a:pPr algn="ctr" indent="0" marL="0">
              <a:buNone/>
            </a:pPr>
            <a:r>
              <a:rPr lang="en-US" sz="1000" b="1" spc="280" kern="0" dirty="0">
                <a:solidFill>
                  <a:srgbClr val="8B5CF6"/>
                </a:solidFill>
                <a:latin typeface="Aptos" pitchFamily="34" charset="0"/>
                <a:ea typeface="Aptos" pitchFamily="34" charset="-122"/>
                <a:cs typeface="Aptos" pitchFamily="34" charset="-120"/>
              </a:rPr>
              <a:t>WATCH</a:t>
            </a:r>
            <a:endParaRPr lang="en-US" sz="1000" dirty="0"/>
          </a:p>
        </p:txBody>
      </p:sp>
      <p:sp>
        <p:nvSpPr>
          <p:cNvPr id="25" name="Shape 23"/>
          <p:cNvSpPr/>
          <p:nvPr/>
        </p:nvSpPr>
        <p:spPr>
          <a:xfrm>
            <a:off x="5577840" y="2139696"/>
            <a:ext cx="987552" cy="987552"/>
          </a:xfrm>
          <a:prstGeom prst="ellipse">
            <a:avLst/>
          </a:prstGeom>
          <a:solidFill>
            <a:srgbClr val="8B5CF6"/>
          </a:solidFill>
          <a:ln/>
        </p:spPr>
      </p:sp>
      <p:sp>
        <p:nvSpPr>
          <p:cNvPr id="26" name="Text 24"/>
          <p:cNvSpPr/>
          <p:nvPr/>
        </p:nvSpPr>
        <p:spPr>
          <a:xfrm>
            <a:off x="5577840" y="2386584"/>
            <a:ext cx="987552" cy="310896"/>
          </a:xfrm>
          <a:prstGeom prst="rect">
            <a:avLst/>
          </a:prstGeom>
          <a:noFill/>
          <a:ln/>
        </p:spPr>
        <p:txBody>
          <a:bodyPr wrap="square" lIns="0" tIns="0" rIns="0" bIns="0" rtlCol="0" anchor="ctr"/>
          <a:lstStyle/>
          <a:p>
            <a:pPr algn="ctr" indent="0" marL="0">
              <a:buNone/>
            </a:pPr>
            <a:r>
              <a:rPr lang="en-US" sz="2400" b="1" dirty="0">
                <a:solidFill>
                  <a:srgbClr val="11162B"/>
                </a:solidFill>
                <a:latin typeface="Aptos" pitchFamily="34" charset="0"/>
                <a:ea typeface="Aptos" pitchFamily="34" charset="-122"/>
                <a:cs typeface="Aptos" pitchFamily="34" charset="-120"/>
              </a:rPr>
              <a:t>↗</a:t>
            </a:r>
            <a:endParaRPr lang="en-US" sz="2400" dirty="0"/>
          </a:p>
        </p:txBody>
      </p:sp>
      <p:sp>
        <p:nvSpPr>
          <p:cNvPr id="27" name="Text 25"/>
          <p:cNvSpPr/>
          <p:nvPr/>
        </p:nvSpPr>
        <p:spPr>
          <a:xfrm>
            <a:off x="4626864" y="3364992"/>
            <a:ext cx="2889504" cy="393192"/>
          </a:xfrm>
          <a:prstGeom prst="rect">
            <a:avLst/>
          </a:prstGeom>
          <a:noFill/>
          <a:ln/>
        </p:spPr>
        <p:txBody>
          <a:bodyPr wrap="square" lIns="0" tIns="0" rIns="0" bIns="0" rtlCol="0" anchor="ctr"/>
          <a:lstStyle/>
          <a:p>
            <a:pPr algn="ctr" indent="0" marL="0">
              <a:buNone/>
            </a:pPr>
            <a:r>
              <a:rPr lang="en-US" sz="2200" b="1" dirty="0">
                <a:solidFill>
                  <a:srgbClr val="11162B"/>
                </a:solidFill>
                <a:latin typeface="Aptos Display" pitchFamily="34" charset="0"/>
                <a:ea typeface="Aptos Display" pitchFamily="34" charset="-122"/>
                <a:cs typeface="Aptos Display" pitchFamily="34" charset="-120"/>
              </a:rPr>
              <a:t>Monitoring</a:t>
            </a:r>
            <a:endParaRPr lang="en-US" sz="2200" dirty="0"/>
          </a:p>
        </p:txBody>
      </p:sp>
      <p:sp>
        <p:nvSpPr>
          <p:cNvPr id="28" name="Text 26"/>
          <p:cNvSpPr/>
          <p:nvPr/>
        </p:nvSpPr>
        <p:spPr>
          <a:xfrm>
            <a:off x="4700016" y="3931920"/>
            <a:ext cx="2743200" cy="1298448"/>
          </a:xfrm>
          <a:prstGeom prst="rect">
            <a:avLst/>
          </a:prstGeom>
          <a:noFill/>
          <a:ln/>
        </p:spPr>
        <p:txBody>
          <a:bodyPr wrap="square" lIns="0" tIns="0" rIns="0" bIns="0" rtlCol="0" anchor="t">
            <a:normAutofit/>
          </a:bodyPr>
          <a:lstStyle/>
          <a:p>
            <a:pPr algn="ctr" indent="0" marL="0">
              <a:buNone/>
            </a:pPr>
            <a:r>
              <a:rPr lang="en-US" sz="1520" dirty="0">
                <a:solidFill>
                  <a:srgbClr val="151B31"/>
                </a:solidFill>
                <a:latin typeface="Aptos" pitchFamily="34" charset="0"/>
                <a:ea typeface="Aptos" pitchFamily="34" charset="-122"/>
                <a:cs typeface="Aptos" pitchFamily="34" charset="-120"/>
              </a:rPr>
              <a:t>Monitoring tracks signals and thresholds over time</a:t>
            </a:r>
            <a:endParaRPr lang="en-US" sz="1520" dirty="0"/>
          </a:p>
        </p:txBody>
      </p:sp>
      <p:sp>
        <p:nvSpPr>
          <p:cNvPr id="29" name="Shape 27"/>
          <p:cNvSpPr/>
          <p:nvPr/>
        </p:nvSpPr>
        <p:spPr>
          <a:xfrm>
            <a:off x="8065008" y="1417320"/>
            <a:ext cx="3438144" cy="4187952"/>
          </a:xfrm>
          <a:prstGeom prst="roundRect">
            <a:avLst>
              <a:gd name="adj" fmla="val 2128"/>
            </a:avLst>
          </a:prstGeom>
          <a:solidFill>
            <a:srgbClr val="FFFFFF"/>
          </a:solidFill>
          <a:ln w="10160">
            <a:solidFill>
              <a:srgbClr val="E4F7FB"/>
            </a:solidFill>
            <a:prstDash val="solid"/>
          </a:ln>
        </p:spPr>
      </p:sp>
      <p:sp>
        <p:nvSpPr>
          <p:cNvPr id="30" name="Text 28"/>
          <p:cNvSpPr/>
          <p:nvPr/>
        </p:nvSpPr>
        <p:spPr>
          <a:xfrm>
            <a:off x="8321040" y="1755648"/>
            <a:ext cx="2926080" cy="173736"/>
          </a:xfrm>
          <a:prstGeom prst="rect">
            <a:avLst/>
          </a:prstGeom>
          <a:noFill/>
          <a:ln/>
        </p:spPr>
        <p:txBody>
          <a:bodyPr wrap="square" lIns="0" tIns="0" rIns="0" bIns="0" rtlCol="0" anchor="ctr"/>
          <a:lstStyle/>
          <a:p>
            <a:pPr algn="ctr" indent="0" marL="0">
              <a:buNone/>
            </a:pPr>
            <a:r>
              <a:rPr lang="en-US" sz="1000" b="1" spc="280" kern="0" dirty="0">
                <a:solidFill>
                  <a:srgbClr val="16C7E8"/>
                </a:solidFill>
                <a:latin typeface="Aptos" pitchFamily="34" charset="0"/>
                <a:ea typeface="Aptos" pitchFamily="34" charset="-122"/>
                <a:cs typeface="Aptos" pitchFamily="34" charset="-120"/>
              </a:rPr>
              <a:t>JUDGE</a:t>
            </a:r>
            <a:endParaRPr lang="en-US" sz="1000" dirty="0"/>
          </a:p>
        </p:txBody>
      </p:sp>
      <p:sp>
        <p:nvSpPr>
          <p:cNvPr id="31" name="Shape 29"/>
          <p:cNvSpPr/>
          <p:nvPr/>
        </p:nvSpPr>
        <p:spPr>
          <a:xfrm>
            <a:off x="9290304" y="2139696"/>
            <a:ext cx="987552" cy="987552"/>
          </a:xfrm>
          <a:prstGeom prst="ellipse">
            <a:avLst/>
          </a:prstGeom>
          <a:solidFill>
            <a:srgbClr val="16C7E8"/>
          </a:solidFill>
          <a:ln/>
        </p:spPr>
      </p:sp>
      <p:sp>
        <p:nvSpPr>
          <p:cNvPr id="32" name="Text 30"/>
          <p:cNvSpPr/>
          <p:nvPr/>
        </p:nvSpPr>
        <p:spPr>
          <a:xfrm>
            <a:off x="9290304" y="2386584"/>
            <a:ext cx="987552" cy="310896"/>
          </a:xfrm>
          <a:prstGeom prst="rect">
            <a:avLst/>
          </a:prstGeom>
          <a:noFill/>
          <a:ln/>
        </p:spPr>
        <p:txBody>
          <a:bodyPr wrap="square" lIns="0" tIns="0" rIns="0" bIns="0" rtlCol="0" anchor="ctr"/>
          <a:lstStyle/>
          <a:p>
            <a:pPr algn="ctr" indent="0" marL="0">
              <a:buNone/>
            </a:pPr>
            <a:r>
              <a:rPr lang="en-US" sz="2400" b="1" dirty="0">
                <a:solidFill>
                  <a:srgbClr val="11162B"/>
                </a:solidFill>
                <a:latin typeface="Aptos" pitchFamily="34" charset="0"/>
                <a:ea typeface="Aptos" pitchFamily="34" charset="-122"/>
                <a:cs typeface="Aptos" pitchFamily="34" charset="-120"/>
              </a:rPr>
              <a:t>✓</a:t>
            </a:r>
            <a:endParaRPr lang="en-US" sz="2400" dirty="0"/>
          </a:p>
        </p:txBody>
      </p:sp>
      <p:sp>
        <p:nvSpPr>
          <p:cNvPr id="33" name="Text 31"/>
          <p:cNvSpPr/>
          <p:nvPr/>
        </p:nvSpPr>
        <p:spPr>
          <a:xfrm>
            <a:off x="8339328" y="3364992"/>
            <a:ext cx="2889504" cy="393192"/>
          </a:xfrm>
          <a:prstGeom prst="rect">
            <a:avLst/>
          </a:prstGeom>
          <a:noFill/>
          <a:ln/>
        </p:spPr>
        <p:txBody>
          <a:bodyPr wrap="square" lIns="0" tIns="0" rIns="0" bIns="0" rtlCol="0" anchor="ctr"/>
          <a:lstStyle/>
          <a:p>
            <a:pPr algn="ctr" indent="0" marL="0">
              <a:buNone/>
            </a:pPr>
            <a:r>
              <a:rPr lang="en-US" sz="2200" b="1" dirty="0">
                <a:solidFill>
                  <a:srgbClr val="11162B"/>
                </a:solidFill>
                <a:latin typeface="Aptos Display" pitchFamily="34" charset="0"/>
                <a:ea typeface="Aptos Display" pitchFamily="34" charset="-122"/>
                <a:cs typeface="Aptos Display" pitchFamily="34" charset="-120"/>
              </a:rPr>
              <a:t>Evaluation</a:t>
            </a:r>
            <a:endParaRPr lang="en-US" sz="2200" dirty="0"/>
          </a:p>
        </p:txBody>
      </p:sp>
      <p:sp>
        <p:nvSpPr>
          <p:cNvPr id="34" name="Text 32"/>
          <p:cNvSpPr/>
          <p:nvPr/>
        </p:nvSpPr>
        <p:spPr>
          <a:xfrm>
            <a:off x="8412480" y="3931920"/>
            <a:ext cx="2743200" cy="1298448"/>
          </a:xfrm>
          <a:prstGeom prst="rect">
            <a:avLst/>
          </a:prstGeom>
          <a:noFill/>
          <a:ln/>
        </p:spPr>
        <p:txBody>
          <a:bodyPr wrap="square" lIns="0" tIns="0" rIns="0" bIns="0" rtlCol="0" anchor="t">
            <a:normAutofit/>
          </a:bodyPr>
          <a:lstStyle/>
          <a:p>
            <a:pPr algn="ctr" indent="0" marL="0">
              <a:buNone/>
            </a:pPr>
            <a:r>
              <a:rPr lang="en-US" sz="1520" dirty="0">
                <a:solidFill>
                  <a:srgbClr val="151B31"/>
                </a:solidFill>
                <a:latin typeface="Aptos" pitchFamily="34" charset="0"/>
                <a:ea typeface="Aptos" pitchFamily="34" charset="-122"/>
                <a:cs typeface="Aptos" pitchFamily="34" charset="-120"/>
              </a:rPr>
              <a:t>Evaluation measures quality, safety, or task success against criteria</a:t>
            </a:r>
            <a:endParaRPr lang="en-US" sz="1520" dirty="0"/>
          </a:p>
        </p:txBody>
      </p:sp>
      <p:sp>
        <p:nvSpPr>
          <p:cNvPr id="35" name="Text 33"/>
          <p:cNvSpPr/>
          <p:nvPr/>
        </p:nvSpPr>
        <p:spPr>
          <a:xfrm>
            <a:off x="896112" y="1554480"/>
            <a:ext cx="2926080" cy="118872"/>
          </a:xfrm>
          <a:prstGeom prst="rect">
            <a:avLst/>
          </a:prstGeom>
          <a:noFill/>
          <a:ln/>
        </p:spPr>
        <p:txBody>
          <a:bodyPr wrap="square" lIns="0" tIns="0" rIns="0" bIns="0" rtlCol="0" anchor="ctr">
            <a:normAutofit/>
          </a:bodyPr>
          <a:lstStyle/>
          <a:p>
            <a:pPr algn="ctr" indent="0" marL="0">
              <a:buNone/>
            </a:pPr>
            <a:r>
              <a:rPr lang="en-US" sz="820" b="1" spc="45" kern="0" dirty="0">
                <a:solidFill>
                  <a:srgbClr val="11162B"/>
                </a:solidFill>
                <a:latin typeface="Aptos" pitchFamily="34" charset="0"/>
                <a:ea typeface="Aptos" pitchFamily="34" charset="-122"/>
                <a:cs typeface="Aptos" pitchFamily="34" charset="-120"/>
              </a:rPr>
              <a:t>EXPLAIN THIS BEHAVIOR — OBSERVABILITY</a:t>
            </a:r>
            <a:endParaRPr lang="en-US" sz="820" dirty="0"/>
          </a:p>
        </p:txBody>
      </p:sp>
      <p:sp>
        <p:nvSpPr>
          <p:cNvPr id="36" name="Text 34"/>
          <p:cNvSpPr/>
          <p:nvPr/>
        </p:nvSpPr>
        <p:spPr>
          <a:xfrm>
            <a:off x="4590288" y="1554480"/>
            <a:ext cx="6656832" cy="118872"/>
          </a:xfrm>
          <a:prstGeom prst="rect">
            <a:avLst/>
          </a:prstGeom>
          <a:noFill/>
          <a:ln/>
        </p:spPr>
        <p:txBody>
          <a:bodyPr wrap="square" lIns="0" tIns="0" rIns="0" bIns="0" rtlCol="0" anchor="ctr">
            <a:normAutofit/>
          </a:bodyPr>
          <a:lstStyle/>
          <a:p>
            <a:pPr algn="ctr" indent="0" marL="0">
              <a:buNone/>
            </a:pPr>
            <a:r>
              <a:rPr lang="en-US" sz="820" b="1" spc="45" kern="0" dirty="0">
                <a:solidFill>
                  <a:srgbClr val="11162B"/>
                </a:solidFill>
                <a:latin typeface="Aptos" pitchFamily="34" charset="0"/>
                <a:ea typeface="Aptos" pitchFamily="34" charset="-122"/>
                <a:cs typeface="Aptos" pitchFamily="34" charset="-120"/>
              </a:rPr>
              <a:t>WATCH AND JUDGE — MONITORING + EVALUATION</a:t>
            </a:r>
            <a:endParaRPr lang="en-US" sz="820" dirty="0"/>
          </a:p>
        </p:txBody>
      </p:sp>
      <p:sp>
        <p:nvSpPr>
          <p:cNvPr id="37" name="Shape 35"/>
          <p:cNvSpPr/>
          <p:nvPr/>
        </p:nvSpPr>
        <p:spPr>
          <a:xfrm>
            <a:off x="1243584" y="5742432"/>
            <a:ext cx="9701784" cy="438912"/>
          </a:xfrm>
          <a:prstGeom prst="roundRect">
            <a:avLst>
              <a:gd name="adj" fmla="val 16667"/>
            </a:avLst>
          </a:prstGeom>
          <a:solidFill>
            <a:srgbClr val="11162B"/>
          </a:solidFill>
          <a:ln/>
        </p:spPr>
      </p:sp>
      <p:sp>
        <p:nvSpPr>
          <p:cNvPr id="38" name="Text 36"/>
          <p:cNvSpPr/>
          <p:nvPr/>
        </p:nvSpPr>
        <p:spPr>
          <a:xfrm>
            <a:off x="1554480" y="5879592"/>
            <a:ext cx="9079992" cy="128016"/>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Error-free is not the same as correct, grounded, or useful</a:t>
            </a:r>
            <a:endParaRPr lang="en-US" sz="1400" dirty="0"/>
          </a:p>
        </p:txBody>
      </p:sp>
      <p:sp>
        <p:nvSpPr>
          <p:cNvPr id="39" name="Text 37"/>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learn.microsoft.com/azure/foundry/concepts/observability</a:t>
            </a:r>
            <a:endParaRPr lang="en-US" sz="940" dirty="0"/>
          </a:p>
        </p:txBody>
      </p:sp>
      <p:sp>
        <p:nvSpPr>
          <p:cNvPr id="40" name="Shape 38"/>
          <p:cNvSpPr/>
          <p:nvPr/>
        </p:nvSpPr>
        <p:spPr>
          <a:xfrm>
            <a:off x="0" y="6793992"/>
            <a:ext cx="12191695" cy="64008"/>
          </a:xfrm>
          <a:prstGeom prst="rect">
            <a:avLst/>
          </a:prstGeom>
          <a:solidFill>
            <a:srgbClr val="16C7E8"/>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Name the evidence inside one request</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03</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481328"/>
            <a:ext cx="3657600" cy="987552"/>
          </a:xfrm>
          <a:prstGeom prst="roundRect">
            <a:avLst>
              <a:gd name="adj" fmla="val 7407"/>
            </a:avLst>
          </a:prstGeom>
          <a:solidFill>
            <a:srgbClr val="E4F7FB"/>
          </a:solidFill>
          <a:ln w="10160">
            <a:solidFill>
              <a:srgbClr val="16C7E8"/>
            </a:solidFill>
            <a:prstDash val="solid"/>
          </a:ln>
        </p:spPr>
      </p:sp>
      <p:sp>
        <p:nvSpPr>
          <p:cNvPr id="18" name="Shape 16"/>
          <p:cNvSpPr/>
          <p:nvPr/>
        </p:nvSpPr>
        <p:spPr>
          <a:xfrm>
            <a:off x="850392" y="1737360"/>
            <a:ext cx="457200" cy="457200"/>
          </a:xfrm>
          <a:prstGeom prst="ellipse">
            <a:avLst/>
          </a:prstGeom>
          <a:solidFill>
            <a:srgbClr val="16C7E8"/>
          </a:solidFill>
          <a:ln/>
        </p:spPr>
      </p:sp>
      <p:sp>
        <p:nvSpPr>
          <p:cNvPr id="19" name="Text 17"/>
          <p:cNvSpPr/>
          <p:nvPr/>
        </p:nvSpPr>
        <p:spPr>
          <a:xfrm>
            <a:off x="850392" y="1883664"/>
            <a:ext cx="45720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1</a:t>
            </a:r>
            <a:endParaRPr lang="en-US" sz="950" dirty="0"/>
          </a:p>
        </p:txBody>
      </p:sp>
      <p:sp>
        <p:nvSpPr>
          <p:cNvPr id="20" name="Text 18"/>
          <p:cNvSpPr/>
          <p:nvPr/>
        </p:nvSpPr>
        <p:spPr>
          <a:xfrm>
            <a:off x="1517904" y="1645920"/>
            <a:ext cx="2468880" cy="274320"/>
          </a:xfrm>
          <a:prstGeom prst="rect">
            <a:avLst/>
          </a:prstGeom>
          <a:noFill/>
          <a:ln/>
        </p:spPr>
        <p:txBody>
          <a:bodyPr wrap="square" lIns="0" tIns="0" rIns="0" bIns="0" rtlCol="0" anchor="ctr"/>
          <a:lstStyle/>
          <a:p>
            <a:pPr indent="0" marL="0">
              <a:buNone/>
            </a:pPr>
            <a:r>
              <a:rPr lang="en-US" sz="1900" b="1" dirty="0">
                <a:solidFill>
                  <a:srgbClr val="11162B"/>
                </a:solidFill>
                <a:latin typeface="Aptos Display" pitchFamily="34" charset="0"/>
                <a:ea typeface="Aptos Display" pitchFamily="34" charset="-122"/>
                <a:cs typeface="Aptos Display" pitchFamily="34" charset="-120"/>
              </a:rPr>
              <a:t>Trace</a:t>
            </a:r>
            <a:endParaRPr lang="en-US" sz="1900" dirty="0"/>
          </a:p>
        </p:txBody>
      </p:sp>
      <p:sp>
        <p:nvSpPr>
          <p:cNvPr id="21" name="Text 19"/>
          <p:cNvSpPr/>
          <p:nvPr/>
        </p:nvSpPr>
        <p:spPr>
          <a:xfrm>
            <a:off x="1517904" y="1984248"/>
            <a:ext cx="2468880" cy="338328"/>
          </a:xfrm>
          <a:prstGeom prst="rect">
            <a:avLst/>
          </a:prstGeom>
          <a:noFill/>
          <a:ln/>
        </p:spPr>
        <p:txBody>
          <a:bodyPr wrap="square" lIns="0" tIns="0" rIns="0" bIns="0" rtlCol="0" anchor="ctr">
            <a:normAutofit/>
          </a:bodyPr>
          <a:lstStyle/>
          <a:p>
            <a:pPr indent="0" marL="0">
              <a:buNone/>
            </a:pPr>
            <a:r>
              <a:rPr lang="en-US" sz="1420" dirty="0">
                <a:solidFill>
                  <a:srgbClr val="151B31"/>
                </a:solidFill>
                <a:latin typeface="Aptos" pitchFamily="34" charset="0"/>
                <a:ea typeface="Aptos" pitchFamily="34" charset="-122"/>
                <a:cs typeface="Aptos" pitchFamily="34" charset="-120"/>
              </a:rPr>
              <a:t>One execution journey across the operations recorded by instrumentation</a:t>
            </a:r>
            <a:endParaRPr lang="en-US" sz="1420" dirty="0"/>
          </a:p>
        </p:txBody>
      </p:sp>
      <p:sp>
        <p:nvSpPr>
          <p:cNvPr id="22" name="Shape 20"/>
          <p:cNvSpPr/>
          <p:nvPr/>
        </p:nvSpPr>
        <p:spPr>
          <a:xfrm>
            <a:off x="640080" y="2697480"/>
            <a:ext cx="3657600" cy="987552"/>
          </a:xfrm>
          <a:prstGeom prst="roundRect">
            <a:avLst>
              <a:gd name="adj" fmla="val 7407"/>
            </a:avLst>
          </a:prstGeom>
          <a:solidFill>
            <a:srgbClr val="FFFFFF"/>
          </a:solidFill>
          <a:ln w="10160">
            <a:solidFill>
              <a:srgbClr val="E4F7FB"/>
            </a:solidFill>
            <a:prstDash val="solid"/>
          </a:ln>
        </p:spPr>
      </p:sp>
      <p:sp>
        <p:nvSpPr>
          <p:cNvPr id="23" name="Shape 21"/>
          <p:cNvSpPr/>
          <p:nvPr/>
        </p:nvSpPr>
        <p:spPr>
          <a:xfrm>
            <a:off x="850392" y="2953512"/>
            <a:ext cx="457200" cy="457200"/>
          </a:xfrm>
          <a:prstGeom prst="ellipse">
            <a:avLst/>
          </a:prstGeom>
          <a:solidFill>
            <a:srgbClr val="8B5CF6"/>
          </a:solidFill>
          <a:ln/>
        </p:spPr>
      </p:sp>
      <p:sp>
        <p:nvSpPr>
          <p:cNvPr id="24" name="Text 22"/>
          <p:cNvSpPr/>
          <p:nvPr/>
        </p:nvSpPr>
        <p:spPr>
          <a:xfrm>
            <a:off x="850392" y="3099816"/>
            <a:ext cx="45720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2</a:t>
            </a:r>
            <a:endParaRPr lang="en-US" sz="950" dirty="0"/>
          </a:p>
        </p:txBody>
      </p:sp>
      <p:sp>
        <p:nvSpPr>
          <p:cNvPr id="25" name="Text 23"/>
          <p:cNvSpPr/>
          <p:nvPr/>
        </p:nvSpPr>
        <p:spPr>
          <a:xfrm>
            <a:off x="1517904" y="2862072"/>
            <a:ext cx="2468880" cy="274320"/>
          </a:xfrm>
          <a:prstGeom prst="rect">
            <a:avLst/>
          </a:prstGeom>
          <a:noFill/>
          <a:ln/>
        </p:spPr>
        <p:txBody>
          <a:bodyPr wrap="square" lIns="0" tIns="0" rIns="0" bIns="0" rtlCol="0" anchor="ctr"/>
          <a:lstStyle/>
          <a:p>
            <a:pPr indent="0" marL="0">
              <a:buNone/>
            </a:pPr>
            <a:r>
              <a:rPr lang="en-US" sz="1900" b="1" dirty="0">
                <a:solidFill>
                  <a:srgbClr val="11162B"/>
                </a:solidFill>
                <a:latin typeface="Aptos Display" pitchFamily="34" charset="0"/>
                <a:ea typeface="Aptos Display" pitchFamily="34" charset="-122"/>
                <a:cs typeface="Aptos Display" pitchFamily="34" charset="-120"/>
              </a:rPr>
              <a:t>Span</a:t>
            </a:r>
            <a:endParaRPr lang="en-US" sz="1900" dirty="0"/>
          </a:p>
        </p:txBody>
      </p:sp>
      <p:sp>
        <p:nvSpPr>
          <p:cNvPr id="26" name="Text 24"/>
          <p:cNvSpPr/>
          <p:nvPr/>
        </p:nvSpPr>
        <p:spPr>
          <a:xfrm>
            <a:off x="1517904" y="3200400"/>
            <a:ext cx="2468880" cy="338328"/>
          </a:xfrm>
          <a:prstGeom prst="rect">
            <a:avLst/>
          </a:prstGeom>
          <a:noFill/>
          <a:ln/>
        </p:spPr>
        <p:txBody>
          <a:bodyPr wrap="square" lIns="0" tIns="0" rIns="0" bIns="0" rtlCol="0" anchor="ctr">
            <a:normAutofit/>
          </a:bodyPr>
          <a:lstStyle/>
          <a:p>
            <a:pPr indent="0" marL="0">
              <a:buNone/>
            </a:pPr>
            <a:r>
              <a:rPr lang="en-US" sz="1420" dirty="0">
                <a:solidFill>
                  <a:srgbClr val="151B31"/>
                </a:solidFill>
                <a:latin typeface="Aptos" pitchFamily="34" charset="0"/>
                <a:ea typeface="Aptos" pitchFamily="34" charset="-122"/>
                <a:cs typeface="Aptos" pitchFamily="34" charset="-120"/>
              </a:rPr>
              <a:t>One operation with start/end time, status, and relationships</a:t>
            </a:r>
            <a:endParaRPr lang="en-US" sz="1420" dirty="0"/>
          </a:p>
        </p:txBody>
      </p:sp>
      <p:sp>
        <p:nvSpPr>
          <p:cNvPr id="27" name="Shape 25"/>
          <p:cNvSpPr/>
          <p:nvPr/>
        </p:nvSpPr>
        <p:spPr>
          <a:xfrm>
            <a:off x="640080" y="3913632"/>
            <a:ext cx="3657600" cy="987552"/>
          </a:xfrm>
          <a:prstGeom prst="roundRect">
            <a:avLst>
              <a:gd name="adj" fmla="val 7407"/>
            </a:avLst>
          </a:prstGeom>
          <a:solidFill>
            <a:srgbClr val="FFFFFF"/>
          </a:solidFill>
          <a:ln w="10160">
            <a:solidFill>
              <a:srgbClr val="E4F7FB"/>
            </a:solidFill>
            <a:prstDash val="solid"/>
          </a:ln>
        </p:spPr>
      </p:sp>
      <p:sp>
        <p:nvSpPr>
          <p:cNvPr id="28" name="Shape 26"/>
          <p:cNvSpPr/>
          <p:nvPr/>
        </p:nvSpPr>
        <p:spPr>
          <a:xfrm>
            <a:off x="850392" y="4169664"/>
            <a:ext cx="457200" cy="457200"/>
          </a:xfrm>
          <a:prstGeom prst="ellipse">
            <a:avLst/>
          </a:prstGeom>
          <a:solidFill>
            <a:srgbClr val="16C7E8"/>
          </a:solidFill>
          <a:ln/>
        </p:spPr>
      </p:sp>
      <p:sp>
        <p:nvSpPr>
          <p:cNvPr id="29" name="Text 27"/>
          <p:cNvSpPr/>
          <p:nvPr/>
        </p:nvSpPr>
        <p:spPr>
          <a:xfrm>
            <a:off x="850392" y="4315968"/>
            <a:ext cx="45720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3</a:t>
            </a:r>
            <a:endParaRPr lang="en-US" sz="950" dirty="0"/>
          </a:p>
        </p:txBody>
      </p:sp>
      <p:sp>
        <p:nvSpPr>
          <p:cNvPr id="30" name="Text 28"/>
          <p:cNvSpPr/>
          <p:nvPr/>
        </p:nvSpPr>
        <p:spPr>
          <a:xfrm>
            <a:off x="1517904" y="4078224"/>
            <a:ext cx="2468880" cy="274320"/>
          </a:xfrm>
          <a:prstGeom prst="rect">
            <a:avLst/>
          </a:prstGeom>
          <a:noFill/>
          <a:ln/>
        </p:spPr>
        <p:txBody>
          <a:bodyPr wrap="square" lIns="0" tIns="0" rIns="0" bIns="0" rtlCol="0" anchor="ctr"/>
          <a:lstStyle/>
          <a:p>
            <a:pPr indent="0" marL="0">
              <a:buNone/>
            </a:pPr>
            <a:r>
              <a:rPr lang="en-US" sz="1900" b="1" dirty="0">
                <a:solidFill>
                  <a:srgbClr val="11162B"/>
                </a:solidFill>
                <a:latin typeface="Aptos Display" pitchFamily="34" charset="0"/>
                <a:ea typeface="Aptos Display" pitchFamily="34" charset="-122"/>
                <a:cs typeface="Aptos Display" pitchFamily="34" charset="-120"/>
              </a:rPr>
              <a:t>Attribute</a:t>
            </a:r>
            <a:endParaRPr lang="en-US" sz="1900" dirty="0"/>
          </a:p>
        </p:txBody>
      </p:sp>
      <p:sp>
        <p:nvSpPr>
          <p:cNvPr id="31" name="Text 29"/>
          <p:cNvSpPr/>
          <p:nvPr/>
        </p:nvSpPr>
        <p:spPr>
          <a:xfrm>
            <a:off x="1517904" y="4416552"/>
            <a:ext cx="2468880" cy="338328"/>
          </a:xfrm>
          <a:prstGeom prst="rect">
            <a:avLst/>
          </a:prstGeom>
          <a:noFill/>
          <a:ln/>
        </p:spPr>
        <p:txBody>
          <a:bodyPr wrap="square" lIns="0" tIns="0" rIns="0" bIns="0" rtlCol="0" anchor="ctr">
            <a:normAutofit/>
          </a:bodyPr>
          <a:lstStyle/>
          <a:p>
            <a:pPr indent="0" marL="0">
              <a:buNone/>
            </a:pPr>
            <a:r>
              <a:rPr lang="en-US" sz="1420" dirty="0">
                <a:solidFill>
                  <a:srgbClr val="151B31"/>
                </a:solidFill>
                <a:latin typeface="Aptos" pitchFamily="34" charset="0"/>
                <a:ea typeface="Aptos" pitchFamily="34" charset="-122"/>
                <a:cs typeface="Aptos" pitchFamily="34" charset="-120"/>
              </a:rPr>
              <a:t>Context such as model, tool, executor, or correlation metadata</a:t>
            </a:r>
            <a:endParaRPr lang="en-US" sz="1420" dirty="0"/>
          </a:p>
        </p:txBody>
      </p:sp>
      <p:sp>
        <p:nvSpPr>
          <p:cNvPr id="32" name="Shape 30"/>
          <p:cNvSpPr/>
          <p:nvPr/>
        </p:nvSpPr>
        <p:spPr>
          <a:xfrm>
            <a:off x="4553712" y="1481328"/>
            <a:ext cx="6995160" cy="4160520"/>
          </a:xfrm>
          <a:prstGeom prst="roundRect">
            <a:avLst>
              <a:gd name="adj" fmla="val 1758"/>
            </a:avLst>
          </a:prstGeom>
          <a:solidFill>
            <a:srgbClr val="FFFFFF"/>
          </a:solidFill>
          <a:ln w="10160">
            <a:solidFill>
              <a:srgbClr val="E4F7FB"/>
            </a:solidFill>
            <a:prstDash val="solid"/>
          </a:ln>
        </p:spPr>
      </p:sp>
      <p:sp>
        <p:nvSpPr>
          <p:cNvPr id="33" name="Text 31"/>
          <p:cNvSpPr/>
          <p:nvPr/>
        </p:nvSpPr>
        <p:spPr>
          <a:xfrm>
            <a:off x="4864608" y="1773936"/>
            <a:ext cx="2926080" cy="182880"/>
          </a:xfrm>
          <a:prstGeom prst="rect">
            <a:avLst/>
          </a:prstGeom>
          <a:noFill/>
          <a:ln/>
        </p:spPr>
        <p:txBody>
          <a:bodyPr wrap="square" lIns="0" tIns="0" rIns="0" bIns="0" rtlCol="0" anchor="ctr"/>
          <a:lstStyle/>
          <a:p>
            <a:pPr indent="0" marL="0">
              <a:buNone/>
            </a:pPr>
            <a:r>
              <a:rPr lang="en-US" sz="1100" b="1" dirty="0">
                <a:solidFill>
                  <a:srgbClr val="11162B"/>
                </a:solidFill>
                <a:latin typeface="Consolas" pitchFamily="34" charset="0"/>
                <a:ea typeface="Consolas" pitchFamily="34" charset="-122"/>
                <a:cs typeface="Consolas" pitchFamily="34" charset="-120"/>
              </a:rPr>
              <a:t>TRACE  /  request 9f2a</a:t>
            </a:r>
            <a:endParaRPr lang="en-US" sz="1100" dirty="0"/>
          </a:p>
        </p:txBody>
      </p:sp>
      <p:sp>
        <p:nvSpPr>
          <p:cNvPr id="34" name="Shape 32"/>
          <p:cNvSpPr/>
          <p:nvPr/>
        </p:nvSpPr>
        <p:spPr>
          <a:xfrm>
            <a:off x="4956048" y="2816352"/>
            <a:ext cx="5989320" cy="0"/>
          </a:xfrm>
          <a:prstGeom prst="line">
            <a:avLst/>
          </a:prstGeom>
          <a:noFill/>
          <a:ln w="88900">
            <a:solidFill>
              <a:srgbClr val="E4F7FB"/>
            </a:solidFill>
            <a:prstDash val="solid"/>
          </a:ln>
        </p:spPr>
      </p:sp>
      <p:sp>
        <p:nvSpPr>
          <p:cNvPr id="35" name="Shape 33"/>
          <p:cNvSpPr/>
          <p:nvPr/>
        </p:nvSpPr>
        <p:spPr>
          <a:xfrm>
            <a:off x="5010912" y="2404872"/>
            <a:ext cx="5440680" cy="475488"/>
          </a:xfrm>
          <a:prstGeom prst="roundRect">
            <a:avLst>
              <a:gd name="adj" fmla="val 15385"/>
            </a:avLst>
          </a:prstGeom>
          <a:solidFill>
            <a:srgbClr val="11162B"/>
          </a:solidFill>
          <a:ln/>
        </p:spPr>
      </p:sp>
      <p:sp>
        <p:nvSpPr>
          <p:cNvPr id="36" name="Text 34"/>
          <p:cNvSpPr/>
          <p:nvPr/>
        </p:nvSpPr>
        <p:spPr>
          <a:xfrm>
            <a:off x="5157216" y="2560320"/>
            <a:ext cx="5148072" cy="128016"/>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Consolas" pitchFamily="34" charset="0"/>
                <a:ea typeface="Consolas" pitchFamily="34" charset="-122"/>
                <a:cs typeface="Consolas" pitchFamily="34" charset="-120"/>
              </a:rPr>
              <a:t>workflow.run  2.8 s</a:t>
            </a:r>
            <a:endParaRPr lang="en-US" sz="1050" dirty="0"/>
          </a:p>
        </p:txBody>
      </p:sp>
      <p:sp>
        <p:nvSpPr>
          <p:cNvPr id="37" name="Shape 35"/>
          <p:cNvSpPr/>
          <p:nvPr/>
        </p:nvSpPr>
        <p:spPr>
          <a:xfrm>
            <a:off x="5577840" y="3081528"/>
            <a:ext cx="2240280" cy="475488"/>
          </a:xfrm>
          <a:prstGeom prst="roundRect">
            <a:avLst>
              <a:gd name="adj" fmla="val 15385"/>
            </a:avLst>
          </a:prstGeom>
          <a:solidFill>
            <a:srgbClr val="16C7E8"/>
          </a:solidFill>
          <a:ln/>
        </p:spPr>
      </p:sp>
      <p:sp>
        <p:nvSpPr>
          <p:cNvPr id="38" name="Text 36"/>
          <p:cNvSpPr/>
          <p:nvPr/>
        </p:nvSpPr>
        <p:spPr>
          <a:xfrm>
            <a:off x="5724144" y="3236976"/>
            <a:ext cx="1947672" cy="128016"/>
          </a:xfrm>
          <a:prstGeom prst="rect">
            <a:avLst/>
          </a:prstGeom>
          <a:noFill/>
          <a:ln/>
        </p:spPr>
        <p:txBody>
          <a:bodyPr wrap="square" lIns="0" tIns="0" rIns="0" bIns="0" rtlCol="0" anchor="ctr">
            <a:normAutofit/>
          </a:bodyPr>
          <a:lstStyle/>
          <a:p>
            <a:pPr algn="ctr" indent="0" marL="0">
              <a:buNone/>
            </a:pPr>
            <a:r>
              <a:rPr lang="en-US" sz="1050" b="1" dirty="0">
                <a:solidFill>
                  <a:srgbClr val="11162B"/>
                </a:solidFill>
                <a:latin typeface="Consolas" pitchFamily="34" charset="0"/>
                <a:ea typeface="Consolas" pitchFamily="34" charset="-122"/>
                <a:cs typeface="Consolas" pitchFamily="34" charset="-120"/>
              </a:rPr>
              <a:t>retrieval  1.4 s</a:t>
            </a:r>
            <a:endParaRPr lang="en-US" sz="1050" dirty="0"/>
          </a:p>
        </p:txBody>
      </p:sp>
      <p:sp>
        <p:nvSpPr>
          <p:cNvPr id="39" name="Shape 37"/>
          <p:cNvSpPr/>
          <p:nvPr/>
        </p:nvSpPr>
        <p:spPr>
          <a:xfrm>
            <a:off x="8046720" y="3081528"/>
            <a:ext cx="1261872" cy="475488"/>
          </a:xfrm>
          <a:prstGeom prst="roundRect">
            <a:avLst>
              <a:gd name="adj" fmla="val 15385"/>
            </a:avLst>
          </a:prstGeom>
          <a:solidFill>
            <a:srgbClr val="8B5CF6"/>
          </a:solidFill>
          <a:ln/>
        </p:spPr>
      </p:sp>
      <p:sp>
        <p:nvSpPr>
          <p:cNvPr id="40" name="Text 38"/>
          <p:cNvSpPr/>
          <p:nvPr/>
        </p:nvSpPr>
        <p:spPr>
          <a:xfrm>
            <a:off x="8193024" y="3236976"/>
            <a:ext cx="969264" cy="128016"/>
          </a:xfrm>
          <a:prstGeom prst="rect">
            <a:avLst/>
          </a:prstGeom>
          <a:noFill/>
          <a:ln/>
        </p:spPr>
        <p:txBody>
          <a:bodyPr wrap="square" lIns="0" tIns="0" rIns="0" bIns="0" rtlCol="0" anchor="ctr">
            <a:normAutofit/>
          </a:bodyPr>
          <a:lstStyle/>
          <a:p>
            <a:pPr algn="ctr" indent="0" marL="0">
              <a:buNone/>
            </a:pPr>
            <a:r>
              <a:rPr lang="en-US" sz="1050" b="1" dirty="0">
                <a:solidFill>
                  <a:srgbClr val="11162B"/>
                </a:solidFill>
                <a:latin typeface="Consolas" pitchFamily="34" charset="0"/>
                <a:ea typeface="Consolas" pitchFamily="34" charset="-122"/>
                <a:cs typeface="Consolas" pitchFamily="34" charset="-120"/>
              </a:rPr>
              <a:t>critic  0.6 s</a:t>
            </a:r>
            <a:endParaRPr lang="en-US" sz="1050" dirty="0"/>
          </a:p>
        </p:txBody>
      </p:sp>
      <p:sp>
        <p:nvSpPr>
          <p:cNvPr id="41" name="Shape 39"/>
          <p:cNvSpPr/>
          <p:nvPr/>
        </p:nvSpPr>
        <p:spPr>
          <a:xfrm>
            <a:off x="4892040" y="4041648"/>
            <a:ext cx="1737360" cy="384048"/>
          </a:xfrm>
          <a:prstGeom prst="roundRect">
            <a:avLst>
              <a:gd name="adj" fmla="val 19048"/>
            </a:avLst>
          </a:prstGeom>
          <a:solidFill>
            <a:srgbClr val="E4F7FB"/>
          </a:solidFill>
          <a:ln/>
        </p:spPr>
      </p:sp>
      <p:sp>
        <p:nvSpPr>
          <p:cNvPr id="42" name="Text 40"/>
          <p:cNvSpPr/>
          <p:nvPr/>
        </p:nvSpPr>
        <p:spPr>
          <a:xfrm>
            <a:off x="5010912" y="4160520"/>
            <a:ext cx="1499616" cy="109728"/>
          </a:xfrm>
          <a:prstGeom prst="rect">
            <a:avLst/>
          </a:prstGeom>
          <a:noFill/>
          <a:ln/>
        </p:spPr>
        <p:txBody>
          <a:bodyPr wrap="square" lIns="0" tIns="0" rIns="0" bIns="0" rtlCol="0" anchor="ctr">
            <a:normAutofit/>
          </a:bodyPr>
          <a:lstStyle/>
          <a:p>
            <a:pPr algn="ctr" indent="0" marL="0">
              <a:buNone/>
            </a:pPr>
            <a:r>
              <a:rPr lang="en-US" sz="1020" dirty="0">
                <a:solidFill>
                  <a:srgbClr val="11162B"/>
                </a:solidFill>
                <a:latin typeface="Consolas" pitchFamily="34" charset="0"/>
                <a:ea typeface="Consolas" pitchFamily="34" charset="-122"/>
                <a:cs typeface="Consolas" pitchFamily="34" charset="-120"/>
              </a:rPr>
              <a:t>model=gpt</a:t>
            </a:r>
            <a:endParaRPr lang="en-US" sz="1020" dirty="0"/>
          </a:p>
        </p:txBody>
      </p:sp>
      <p:sp>
        <p:nvSpPr>
          <p:cNvPr id="43" name="Shape 41"/>
          <p:cNvSpPr/>
          <p:nvPr/>
        </p:nvSpPr>
        <p:spPr>
          <a:xfrm>
            <a:off x="6858000" y="4041648"/>
            <a:ext cx="1737360" cy="384048"/>
          </a:xfrm>
          <a:prstGeom prst="roundRect">
            <a:avLst>
              <a:gd name="adj" fmla="val 19048"/>
            </a:avLst>
          </a:prstGeom>
          <a:solidFill>
            <a:srgbClr val="EEE9FF"/>
          </a:solidFill>
          <a:ln/>
        </p:spPr>
      </p:sp>
      <p:sp>
        <p:nvSpPr>
          <p:cNvPr id="44" name="Text 42"/>
          <p:cNvSpPr/>
          <p:nvPr/>
        </p:nvSpPr>
        <p:spPr>
          <a:xfrm>
            <a:off x="6976872" y="4160520"/>
            <a:ext cx="1499616" cy="109728"/>
          </a:xfrm>
          <a:prstGeom prst="rect">
            <a:avLst/>
          </a:prstGeom>
          <a:noFill/>
          <a:ln/>
        </p:spPr>
        <p:txBody>
          <a:bodyPr wrap="square" lIns="0" tIns="0" rIns="0" bIns="0" rtlCol="0" anchor="ctr">
            <a:normAutofit/>
          </a:bodyPr>
          <a:lstStyle/>
          <a:p>
            <a:pPr algn="ctr" indent="0" marL="0">
              <a:buNone/>
            </a:pPr>
            <a:r>
              <a:rPr lang="en-US" sz="1020" dirty="0">
                <a:solidFill>
                  <a:srgbClr val="11162B"/>
                </a:solidFill>
                <a:latin typeface="Consolas" pitchFamily="34" charset="0"/>
                <a:ea typeface="Consolas" pitchFamily="34" charset="-122"/>
                <a:cs typeface="Consolas" pitchFamily="34" charset="-120"/>
              </a:rPr>
              <a:t>status=ok</a:t>
            </a:r>
            <a:endParaRPr lang="en-US" sz="1020" dirty="0"/>
          </a:p>
        </p:txBody>
      </p:sp>
      <p:sp>
        <p:nvSpPr>
          <p:cNvPr id="45" name="Shape 43"/>
          <p:cNvSpPr/>
          <p:nvPr/>
        </p:nvSpPr>
        <p:spPr>
          <a:xfrm>
            <a:off x="8823960" y="4041648"/>
            <a:ext cx="1737360" cy="384048"/>
          </a:xfrm>
          <a:prstGeom prst="roundRect">
            <a:avLst>
              <a:gd name="adj" fmla="val 19048"/>
            </a:avLst>
          </a:prstGeom>
          <a:solidFill>
            <a:srgbClr val="E4F7FB"/>
          </a:solidFill>
          <a:ln/>
        </p:spPr>
      </p:sp>
      <p:sp>
        <p:nvSpPr>
          <p:cNvPr id="46" name="Text 44"/>
          <p:cNvSpPr/>
          <p:nvPr/>
        </p:nvSpPr>
        <p:spPr>
          <a:xfrm>
            <a:off x="8942832" y="4160520"/>
            <a:ext cx="1499616" cy="109728"/>
          </a:xfrm>
          <a:prstGeom prst="rect">
            <a:avLst/>
          </a:prstGeom>
          <a:noFill/>
          <a:ln/>
        </p:spPr>
        <p:txBody>
          <a:bodyPr wrap="square" lIns="0" tIns="0" rIns="0" bIns="0" rtlCol="0" anchor="ctr">
            <a:normAutofit/>
          </a:bodyPr>
          <a:lstStyle/>
          <a:p>
            <a:pPr algn="ctr" indent="0" marL="0">
              <a:buNone/>
            </a:pPr>
            <a:r>
              <a:rPr lang="en-US" sz="1020" dirty="0">
                <a:solidFill>
                  <a:srgbClr val="11162B"/>
                </a:solidFill>
                <a:latin typeface="Consolas" pitchFamily="34" charset="0"/>
                <a:ea typeface="Consolas" pitchFamily="34" charset="-122"/>
                <a:cs typeface="Consolas" pitchFamily="34" charset="-120"/>
              </a:rPr>
              <a:t>route=deliver</a:t>
            </a:r>
            <a:endParaRPr lang="en-US" sz="1020" dirty="0"/>
          </a:p>
        </p:txBody>
      </p:sp>
      <p:sp>
        <p:nvSpPr>
          <p:cNvPr id="47" name="Shape 45"/>
          <p:cNvSpPr/>
          <p:nvPr/>
        </p:nvSpPr>
        <p:spPr>
          <a:xfrm>
            <a:off x="640080" y="5294376"/>
            <a:ext cx="10908792" cy="832104"/>
          </a:xfrm>
          <a:prstGeom prst="roundRect">
            <a:avLst>
              <a:gd name="adj" fmla="val 8791"/>
            </a:avLst>
          </a:prstGeom>
          <a:solidFill>
            <a:srgbClr val="11162B"/>
          </a:solidFill>
          <a:ln/>
        </p:spPr>
      </p:sp>
      <p:sp>
        <p:nvSpPr>
          <p:cNvPr id="48" name="Text 46"/>
          <p:cNvSpPr/>
          <p:nvPr/>
        </p:nvSpPr>
        <p:spPr>
          <a:xfrm>
            <a:off x="896112" y="5522976"/>
            <a:ext cx="2148840" cy="228600"/>
          </a:xfrm>
          <a:prstGeom prst="rect">
            <a:avLst/>
          </a:prstGeom>
          <a:noFill/>
          <a:ln/>
        </p:spPr>
        <p:txBody>
          <a:bodyPr wrap="square" lIns="0" tIns="0" rIns="0" bIns="0" rtlCol="0" anchor="ctr"/>
          <a:lstStyle/>
          <a:p>
            <a:pPr indent="0" marL="0">
              <a:buNone/>
            </a:pPr>
            <a:r>
              <a:rPr lang="en-US" sz="1650" b="1" dirty="0">
                <a:solidFill>
                  <a:srgbClr val="16C7E8"/>
                </a:solidFill>
                <a:latin typeface="Aptos Display" pitchFamily="34" charset="0"/>
                <a:ea typeface="Aptos Display" pitchFamily="34" charset="-122"/>
                <a:cs typeface="Aptos Display" pitchFamily="34" charset="-120"/>
              </a:rPr>
              <a:t>Console event list</a:t>
            </a:r>
            <a:endParaRPr lang="en-US" sz="1650" dirty="0"/>
          </a:p>
        </p:txBody>
      </p:sp>
      <p:sp>
        <p:nvSpPr>
          <p:cNvPr id="49" name="Text 47"/>
          <p:cNvSpPr/>
          <p:nvPr/>
        </p:nvSpPr>
        <p:spPr>
          <a:xfrm>
            <a:off x="3182112" y="5468112"/>
            <a:ext cx="7973568" cy="301752"/>
          </a:xfrm>
          <a:prstGeom prst="rect">
            <a:avLst/>
          </a:prstGeom>
          <a:noFill/>
          <a:ln/>
        </p:spPr>
        <p:txBody>
          <a:bodyPr wrap="square" lIns="0" tIns="0" rIns="0" bIns="0" rtlCol="0" anchor="ctr">
            <a:normAutofit/>
          </a:bodyPr>
          <a:lstStyle/>
          <a:p>
            <a:pPr indent="0" marL="0">
              <a:buNone/>
            </a:pPr>
            <a:r>
              <a:rPr lang="en-US" sz="1340" dirty="0">
                <a:solidFill>
                  <a:srgbClr val="FFFFFF"/>
                </a:solidFill>
                <a:latin typeface="Aptos" pitchFamily="34" charset="0"/>
                <a:ea typeface="Aptos" pitchFamily="34" charset="-122"/>
                <a:cs typeface="Aptos" pitchFamily="34" charset="-120"/>
              </a:rPr>
              <a:t>Application output; useful, but not automatically a cloud trace</a:t>
            </a:r>
            <a:endParaRPr lang="en-US" sz="1340" dirty="0"/>
          </a:p>
        </p:txBody>
      </p:sp>
      <p:sp>
        <p:nvSpPr>
          <p:cNvPr id="50" name="Text 48"/>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learn.microsoft.com/azure/foundry/observability/concepts/trace-agent-concept</a:t>
            </a:r>
            <a:endParaRPr lang="en-US" sz="940" dirty="0"/>
          </a:p>
        </p:txBody>
      </p:sp>
      <p:sp>
        <p:nvSpPr>
          <p:cNvPr id="51" name="Shape 49"/>
          <p:cNvSpPr/>
          <p:nvPr/>
        </p:nvSpPr>
        <p:spPr>
          <a:xfrm>
            <a:off x="0" y="6793992"/>
            <a:ext cx="12191695" cy="64008"/>
          </a:xfrm>
          <a:prstGeom prst="rect">
            <a:avLst/>
          </a:prstGeom>
          <a:solidFill>
            <a:srgbClr val="16C7E8"/>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From instrumentation to a trace backend</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04</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89888"/>
            <a:ext cx="3477768" cy="2299716"/>
          </a:xfrm>
          <a:prstGeom prst="roundRect">
            <a:avLst>
              <a:gd name="adj" fmla="val 3181"/>
            </a:avLst>
          </a:prstGeom>
          <a:solidFill>
            <a:srgbClr val="E4F7FB"/>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18" name="Shape 16"/>
          <p:cNvSpPr/>
          <p:nvPr/>
        </p:nvSpPr>
        <p:spPr>
          <a:xfrm>
            <a:off x="822960" y="1572768"/>
            <a:ext cx="384048" cy="384048"/>
          </a:xfrm>
          <a:prstGeom prst="ellipse">
            <a:avLst/>
          </a:prstGeom>
          <a:solidFill>
            <a:srgbClr val="16C7E8"/>
          </a:solidFill>
          <a:ln/>
        </p:spPr>
      </p:sp>
      <p:sp>
        <p:nvSpPr>
          <p:cNvPr id="19" name="Text 17"/>
          <p:cNvSpPr/>
          <p:nvPr/>
        </p:nvSpPr>
        <p:spPr>
          <a:xfrm>
            <a:off x="822960"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1</a:t>
            </a:r>
            <a:endParaRPr lang="en-US" sz="950" dirty="0"/>
          </a:p>
        </p:txBody>
      </p:sp>
      <p:sp>
        <p:nvSpPr>
          <p:cNvPr id="20" name="Text 18"/>
          <p:cNvSpPr/>
          <p:nvPr/>
        </p:nvSpPr>
        <p:spPr>
          <a:xfrm>
            <a:off x="1335024"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Instrument</a:t>
            </a:r>
            <a:endParaRPr lang="en-US" sz="1800" dirty="0"/>
          </a:p>
        </p:txBody>
      </p:sp>
      <p:sp>
        <p:nvSpPr>
          <p:cNvPr id="21" name="Text 19"/>
          <p:cNvSpPr/>
          <p:nvPr/>
        </p:nvSpPr>
        <p:spPr>
          <a:xfrm>
            <a:off x="896112"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MAF and supported runtimes emit OpenTelemetry signals around recorded operations</a:t>
            </a:r>
            <a:endParaRPr lang="en-US" sz="1420" dirty="0"/>
          </a:p>
        </p:txBody>
      </p:sp>
      <p:sp>
        <p:nvSpPr>
          <p:cNvPr id="22" name="Shape 20"/>
          <p:cNvSpPr/>
          <p:nvPr/>
        </p:nvSpPr>
        <p:spPr>
          <a:xfrm>
            <a:off x="4355592" y="1389888"/>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3" name="Shape 21"/>
          <p:cNvSpPr/>
          <p:nvPr/>
        </p:nvSpPr>
        <p:spPr>
          <a:xfrm>
            <a:off x="4538472" y="1572768"/>
            <a:ext cx="384048" cy="384048"/>
          </a:xfrm>
          <a:prstGeom prst="ellipse">
            <a:avLst/>
          </a:prstGeom>
          <a:solidFill>
            <a:srgbClr val="16C7E8"/>
          </a:solidFill>
          <a:ln/>
        </p:spPr>
      </p:sp>
      <p:sp>
        <p:nvSpPr>
          <p:cNvPr id="24" name="Text 22"/>
          <p:cNvSpPr/>
          <p:nvPr/>
        </p:nvSpPr>
        <p:spPr>
          <a:xfrm>
            <a:off x="4538472"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2</a:t>
            </a:r>
            <a:endParaRPr lang="en-US" sz="950" dirty="0"/>
          </a:p>
        </p:txBody>
      </p:sp>
      <p:sp>
        <p:nvSpPr>
          <p:cNvPr id="25" name="Text 23"/>
          <p:cNvSpPr/>
          <p:nvPr/>
        </p:nvSpPr>
        <p:spPr>
          <a:xfrm>
            <a:off x="5050536"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Use conventions</a:t>
            </a:r>
            <a:endParaRPr lang="en-US" sz="1800" dirty="0"/>
          </a:p>
        </p:txBody>
      </p:sp>
      <p:sp>
        <p:nvSpPr>
          <p:cNvPr id="26" name="Text 24"/>
          <p:cNvSpPr/>
          <p:nvPr/>
        </p:nvSpPr>
        <p:spPr>
          <a:xfrm>
            <a:off x="4611624"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Shared names aid interpretation; names alone do not propagate trace context</a:t>
            </a:r>
            <a:endParaRPr lang="en-US" sz="1420" dirty="0"/>
          </a:p>
        </p:txBody>
      </p:sp>
      <p:sp>
        <p:nvSpPr>
          <p:cNvPr id="27" name="Shape 25"/>
          <p:cNvSpPr/>
          <p:nvPr/>
        </p:nvSpPr>
        <p:spPr>
          <a:xfrm>
            <a:off x="8071104" y="1389888"/>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8" name="Shape 26"/>
          <p:cNvSpPr/>
          <p:nvPr/>
        </p:nvSpPr>
        <p:spPr>
          <a:xfrm>
            <a:off x="8253984" y="1572768"/>
            <a:ext cx="384048" cy="384048"/>
          </a:xfrm>
          <a:prstGeom prst="ellipse">
            <a:avLst/>
          </a:prstGeom>
          <a:solidFill>
            <a:srgbClr val="16C7E8"/>
          </a:solidFill>
          <a:ln/>
        </p:spPr>
      </p:sp>
      <p:sp>
        <p:nvSpPr>
          <p:cNvPr id="29" name="Text 27"/>
          <p:cNvSpPr/>
          <p:nvPr/>
        </p:nvSpPr>
        <p:spPr>
          <a:xfrm>
            <a:off x="8253984"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3</a:t>
            </a:r>
            <a:endParaRPr lang="en-US" sz="950" dirty="0"/>
          </a:p>
        </p:txBody>
      </p:sp>
      <p:sp>
        <p:nvSpPr>
          <p:cNvPr id="30" name="Text 28"/>
          <p:cNvSpPr/>
          <p:nvPr/>
        </p:nvSpPr>
        <p:spPr>
          <a:xfrm>
            <a:off x="8766048" y="1554480"/>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Export</a:t>
            </a:r>
            <a:endParaRPr lang="en-US" sz="1800" dirty="0"/>
          </a:p>
        </p:txBody>
      </p:sp>
      <p:sp>
        <p:nvSpPr>
          <p:cNvPr id="31" name="Text 29"/>
          <p:cNvSpPr/>
          <p:nvPr/>
        </p:nvSpPr>
        <p:spPr>
          <a:xfrm>
            <a:off x="8327136" y="2194560"/>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A configured exporter sends telemetry to the selected backend</a:t>
            </a:r>
            <a:endParaRPr lang="en-US" sz="1420" dirty="0"/>
          </a:p>
        </p:txBody>
      </p:sp>
      <p:sp>
        <p:nvSpPr>
          <p:cNvPr id="32" name="Shape 30"/>
          <p:cNvSpPr/>
          <p:nvPr/>
        </p:nvSpPr>
        <p:spPr>
          <a:xfrm>
            <a:off x="2378964" y="3945636"/>
            <a:ext cx="3477768" cy="2299716"/>
          </a:xfrm>
          <a:prstGeom prst="roundRect">
            <a:avLst>
              <a:gd name="adj" fmla="val 3181"/>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3" name="Shape 31"/>
          <p:cNvSpPr/>
          <p:nvPr/>
        </p:nvSpPr>
        <p:spPr>
          <a:xfrm>
            <a:off x="2561844" y="4128516"/>
            <a:ext cx="384048" cy="384048"/>
          </a:xfrm>
          <a:prstGeom prst="ellipse">
            <a:avLst/>
          </a:prstGeom>
          <a:solidFill>
            <a:srgbClr val="8B5CF6"/>
          </a:solidFill>
          <a:ln/>
        </p:spPr>
      </p:sp>
      <p:sp>
        <p:nvSpPr>
          <p:cNvPr id="34" name="Text 32"/>
          <p:cNvSpPr/>
          <p:nvPr/>
        </p:nvSpPr>
        <p:spPr>
          <a:xfrm>
            <a:off x="2561844" y="4238244"/>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4</a:t>
            </a:r>
            <a:endParaRPr lang="en-US" sz="950" dirty="0"/>
          </a:p>
        </p:txBody>
      </p:sp>
      <p:sp>
        <p:nvSpPr>
          <p:cNvPr id="35" name="Text 33"/>
          <p:cNvSpPr/>
          <p:nvPr/>
        </p:nvSpPr>
        <p:spPr>
          <a:xfrm>
            <a:off x="3073908" y="4110228"/>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Inspect</a:t>
            </a:r>
            <a:endParaRPr lang="en-US" sz="1800" dirty="0"/>
          </a:p>
        </p:txBody>
      </p:sp>
      <p:sp>
        <p:nvSpPr>
          <p:cNvPr id="36" name="Text 34"/>
          <p:cNvSpPr/>
          <p:nvPr/>
        </p:nvSpPr>
        <p:spPr>
          <a:xfrm>
            <a:off x="2634996" y="4750308"/>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Foundry and Application Insights expose connected trace data; client and server coverage differ</a:t>
            </a:r>
            <a:endParaRPr lang="en-US" sz="1420" dirty="0"/>
          </a:p>
        </p:txBody>
      </p:sp>
      <p:sp>
        <p:nvSpPr>
          <p:cNvPr id="37" name="Shape 35"/>
          <p:cNvSpPr/>
          <p:nvPr/>
        </p:nvSpPr>
        <p:spPr>
          <a:xfrm>
            <a:off x="6094476" y="3945636"/>
            <a:ext cx="3477768" cy="2299716"/>
          </a:xfrm>
          <a:prstGeom prst="roundRect">
            <a:avLst>
              <a:gd name="adj" fmla="val 3181"/>
            </a:avLst>
          </a:prstGeom>
          <a:solidFill>
            <a:srgbClr val="EEE9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8" name="Shape 36"/>
          <p:cNvSpPr/>
          <p:nvPr/>
        </p:nvSpPr>
        <p:spPr>
          <a:xfrm>
            <a:off x="6277356" y="4128516"/>
            <a:ext cx="384048" cy="384048"/>
          </a:xfrm>
          <a:prstGeom prst="ellipse">
            <a:avLst/>
          </a:prstGeom>
          <a:solidFill>
            <a:srgbClr val="8B5CF6"/>
          </a:solidFill>
          <a:ln/>
        </p:spPr>
      </p:sp>
      <p:sp>
        <p:nvSpPr>
          <p:cNvPr id="39" name="Text 37"/>
          <p:cNvSpPr/>
          <p:nvPr/>
        </p:nvSpPr>
        <p:spPr>
          <a:xfrm>
            <a:off x="6277356" y="4238244"/>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5</a:t>
            </a:r>
            <a:endParaRPr lang="en-US" sz="950" dirty="0"/>
          </a:p>
        </p:txBody>
      </p:sp>
      <p:sp>
        <p:nvSpPr>
          <p:cNvPr id="40" name="Text 38"/>
          <p:cNvSpPr/>
          <p:nvPr/>
        </p:nvSpPr>
        <p:spPr>
          <a:xfrm>
            <a:off x="6789420" y="4110228"/>
            <a:ext cx="2581656"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Label maturity</a:t>
            </a:r>
            <a:endParaRPr lang="en-US" sz="1800" dirty="0"/>
          </a:p>
        </p:txBody>
      </p:sp>
      <p:sp>
        <p:nvSpPr>
          <p:cNvPr id="41" name="Text 39"/>
          <p:cNvSpPr/>
          <p:nvPr/>
        </p:nvSpPr>
        <p:spPr>
          <a:xfrm>
            <a:off x="6350508" y="4750308"/>
            <a:ext cx="2965704" cy="1312164"/>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Foundry tracing is GA for prompt and hosted agents; workflow and external-agent tracing is preview</a:t>
            </a:r>
            <a:endParaRPr lang="en-US" sz="1420" dirty="0"/>
          </a:p>
        </p:txBody>
      </p:sp>
      <p:sp>
        <p:nvSpPr>
          <p:cNvPr id="42" name="Text 4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learn.microsoft.com/agent-framework/agents/observability  ·  +3 more in notes</a:t>
            </a:r>
            <a:endParaRPr lang="en-US" sz="940" dirty="0"/>
          </a:p>
        </p:txBody>
      </p:sp>
      <p:sp>
        <p:nvSpPr>
          <p:cNvPr id="43" name="Shape 41"/>
          <p:cNvSpPr/>
          <p:nvPr/>
        </p:nvSpPr>
        <p:spPr>
          <a:xfrm>
            <a:off x="0" y="6793992"/>
            <a:ext cx="12191695" cy="64008"/>
          </a:xfrm>
          <a:prstGeom prst="rect">
            <a:avLst/>
          </a:prstGeom>
          <a:solidFill>
            <a:srgbClr val="16C7E8"/>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Workflow causality is not always nesting</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05</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417320"/>
            <a:ext cx="5623560" cy="4645152"/>
          </a:xfrm>
          <a:prstGeom prst="roundRect">
            <a:avLst>
              <a:gd name="adj" fmla="val 1575"/>
            </a:avLst>
          </a:prstGeom>
          <a:solidFill>
            <a:srgbClr val="FFFFFF"/>
          </a:solidFill>
          <a:ln w="10160">
            <a:solidFill>
              <a:srgbClr val="E4F7FB"/>
            </a:solidFill>
            <a:prstDash val="solid"/>
          </a:ln>
        </p:spPr>
      </p:sp>
      <p:sp>
        <p:nvSpPr>
          <p:cNvPr id="18" name="Text 16"/>
          <p:cNvSpPr/>
          <p:nvPr/>
        </p:nvSpPr>
        <p:spPr>
          <a:xfrm>
            <a:off x="941832" y="1737360"/>
            <a:ext cx="3017520" cy="164592"/>
          </a:xfrm>
          <a:prstGeom prst="rect">
            <a:avLst/>
          </a:prstGeom>
          <a:noFill/>
          <a:ln/>
        </p:spPr>
        <p:txBody>
          <a:bodyPr wrap="square" lIns="0" tIns="0" rIns="0" bIns="0" rtlCol="0" anchor="ctr"/>
          <a:lstStyle/>
          <a:p>
            <a:pPr indent="0" marL="0">
              <a:buNone/>
            </a:pPr>
            <a:r>
              <a:rPr lang="en-US" sz="1000" b="1" spc="210" kern="0" dirty="0">
                <a:solidFill>
                  <a:srgbClr val="8B5CF6"/>
                </a:solidFill>
                <a:latin typeface="Aptos" pitchFamily="34" charset="0"/>
                <a:ea typeface="Aptos" pitchFamily="34" charset="-122"/>
                <a:cs typeface="Aptos" pitchFamily="34" charset="-120"/>
              </a:rPr>
              <a:t>EXECUTION RELATIONSHIPS</a:t>
            </a:r>
            <a:endParaRPr lang="en-US" sz="1000" dirty="0"/>
          </a:p>
        </p:txBody>
      </p:sp>
      <p:sp>
        <p:nvSpPr>
          <p:cNvPr id="19" name="Shape 17"/>
          <p:cNvSpPr/>
          <p:nvPr/>
        </p:nvSpPr>
        <p:spPr>
          <a:xfrm>
            <a:off x="987552" y="2103120"/>
            <a:ext cx="1444752" cy="713232"/>
          </a:xfrm>
          <a:prstGeom prst="roundRect">
            <a:avLst>
              <a:gd name="adj" fmla="val 10256"/>
            </a:avLst>
          </a:prstGeom>
          <a:solidFill>
            <a:srgbClr val="11162B"/>
          </a:solidFill>
          <a:ln/>
        </p:spPr>
      </p:sp>
      <p:sp>
        <p:nvSpPr>
          <p:cNvPr id="20" name="Text 18"/>
          <p:cNvSpPr/>
          <p:nvPr/>
        </p:nvSpPr>
        <p:spPr>
          <a:xfrm>
            <a:off x="1170432" y="2286000"/>
            <a:ext cx="10789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ptos" pitchFamily="34" charset="0"/>
                <a:ea typeface="Aptos" pitchFamily="34" charset="-122"/>
                <a:cs typeface="Aptos" pitchFamily="34" charset="-120"/>
              </a:rPr>
              <a:t>SENDING</a:t>
            </a:r>
            <a:endParaRPr lang="en-US" sz="1150" dirty="0"/>
          </a:p>
          <a:p>
            <a:pPr algn="ctr" indent="0" marL="0">
              <a:buNone/>
            </a:pPr>
            <a:r>
              <a:rPr lang="en-US" sz="1150" b="1" dirty="0">
                <a:solidFill>
                  <a:srgbClr val="FFFFFF"/>
                </a:solidFill>
                <a:latin typeface="Aptos" pitchFamily="34" charset="0"/>
                <a:ea typeface="Aptos" pitchFamily="34" charset="-122"/>
                <a:cs typeface="Aptos" pitchFamily="34" charset="-120"/>
              </a:rPr>
              <a:t>EXECUTOR</a:t>
            </a:r>
            <a:endParaRPr lang="en-US" sz="1150" dirty="0"/>
          </a:p>
        </p:txBody>
      </p:sp>
      <p:sp>
        <p:nvSpPr>
          <p:cNvPr id="21" name="Shape 19"/>
          <p:cNvSpPr/>
          <p:nvPr/>
        </p:nvSpPr>
        <p:spPr>
          <a:xfrm>
            <a:off x="2724912" y="2139696"/>
            <a:ext cx="1353312" cy="640080"/>
          </a:xfrm>
          <a:prstGeom prst="roundRect">
            <a:avLst>
              <a:gd name="adj" fmla="val 11429"/>
            </a:avLst>
          </a:prstGeom>
          <a:solidFill>
            <a:srgbClr val="E4F7FB"/>
          </a:solidFill>
          <a:ln/>
        </p:spPr>
      </p:sp>
      <p:sp>
        <p:nvSpPr>
          <p:cNvPr id="22" name="Text 20"/>
          <p:cNvSpPr/>
          <p:nvPr/>
        </p:nvSpPr>
        <p:spPr>
          <a:xfrm>
            <a:off x="2862072" y="2359152"/>
            <a:ext cx="1078992" cy="128016"/>
          </a:xfrm>
          <a:prstGeom prst="rect">
            <a:avLst/>
          </a:prstGeom>
          <a:noFill/>
          <a:ln/>
        </p:spPr>
        <p:txBody>
          <a:bodyPr wrap="square" lIns="0" tIns="0" rIns="0" bIns="0" rtlCol="0" anchor="ctr"/>
          <a:lstStyle/>
          <a:p>
            <a:pPr algn="ctr" indent="0" marL="0">
              <a:buNone/>
            </a:pPr>
            <a:r>
              <a:rPr lang="en-US" sz="950" b="1" dirty="0">
                <a:solidFill>
                  <a:srgbClr val="11162B"/>
                </a:solidFill>
                <a:latin typeface="Consolas" pitchFamily="34" charset="0"/>
                <a:ea typeface="Consolas" pitchFamily="34" charset="-122"/>
                <a:cs typeface="Consolas" pitchFamily="34" charset="-120"/>
              </a:rPr>
              <a:t>message.send</a:t>
            </a:r>
            <a:endParaRPr lang="en-US" sz="950" dirty="0"/>
          </a:p>
        </p:txBody>
      </p:sp>
      <p:sp>
        <p:nvSpPr>
          <p:cNvPr id="23" name="Shape 21"/>
          <p:cNvSpPr/>
          <p:nvPr/>
        </p:nvSpPr>
        <p:spPr>
          <a:xfrm>
            <a:off x="2432304" y="2450592"/>
            <a:ext cx="292608" cy="0"/>
          </a:xfrm>
          <a:prstGeom prst="line">
            <a:avLst/>
          </a:prstGeom>
          <a:noFill/>
          <a:ln w="25400">
            <a:solidFill>
              <a:srgbClr val="11162B"/>
            </a:solidFill>
            <a:prstDash val="solid"/>
          </a:ln>
        </p:spPr>
      </p:sp>
      <p:sp>
        <p:nvSpPr>
          <p:cNvPr id="24" name="Shape 22"/>
          <p:cNvSpPr/>
          <p:nvPr/>
        </p:nvSpPr>
        <p:spPr>
          <a:xfrm>
            <a:off x="4370832" y="2103120"/>
            <a:ext cx="1444752" cy="713232"/>
          </a:xfrm>
          <a:prstGeom prst="roundRect">
            <a:avLst>
              <a:gd name="adj" fmla="val 10256"/>
            </a:avLst>
          </a:prstGeom>
          <a:solidFill>
            <a:srgbClr val="EEE9FF"/>
          </a:solidFill>
          <a:ln/>
        </p:spPr>
      </p:sp>
      <p:sp>
        <p:nvSpPr>
          <p:cNvPr id="25" name="Text 23"/>
          <p:cNvSpPr/>
          <p:nvPr/>
        </p:nvSpPr>
        <p:spPr>
          <a:xfrm>
            <a:off x="4553712" y="2276856"/>
            <a:ext cx="1078992" cy="310896"/>
          </a:xfrm>
          <a:prstGeom prst="rect">
            <a:avLst/>
          </a:prstGeom>
          <a:noFill/>
          <a:ln/>
        </p:spPr>
        <p:txBody>
          <a:bodyPr wrap="square" lIns="0" tIns="0" rIns="0" bIns="0" rtlCol="0" anchor="ctr"/>
          <a:lstStyle/>
          <a:p>
            <a:pPr algn="ctr" indent="0" marL="0">
              <a:buNone/>
            </a:pPr>
            <a:r>
              <a:rPr lang="en-US" sz="1100" b="1" dirty="0">
                <a:solidFill>
                  <a:srgbClr val="11162B"/>
                </a:solidFill>
                <a:latin typeface="Aptos" pitchFamily="34" charset="0"/>
                <a:ea typeface="Aptos" pitchFamily="34" charset="-122"/>
                <a:cs typeface="Aptos" pitchFamily="34" charset="-120"/>
              </a:rPr>
              <a:t>RECEIVING</a:t>
            </a:r>
            <a:endParaRPr lang="en-US" sz="1100" dirty="0"/>
          </a:p>
          <a:p>
            <a:pPr algn="ctr" indent="0" marL="0">
              <a:buNone/>
            </a:pPr>
            <a:r>
              <a:rPr lang="en-US" sz="1100" b="1" dirty="0">
                <a:solidFill>
                  <a:srgbClr val="11162B"/>
                </a:solidFill>
                <a:latin typeface="Aptos" pitchFamily="34" charset="0"/>
                <a:ea typeface="Aptos" pitchFamily="34" charset="-122"/>
                <a:cs typeface="Aptos" pitchFamily="34" charset="-120"/>
              </a:rPr>
              <a:t>EXECUTOR</a:t>
            </a:r>
            <a:endParaRPr lang="en-US" sz="1100" dirty="0"/>
          </a:p>
        </p:txBody>
      </p:sp>
      <p:sp>
        <p:nvSpPr>
          <p:cNvPr id="26" name="Shape 24"/>
          <p:cNvSpPr/>
          <p:nvPr/>
        </p:nvSpPr>
        <p:spPr>
          <a:xfrm>
            <a:off x="4078224" y="2450592"/>
            <a:ext cx="292608" cy="0"/>
          </a:xfrm>
          <a:prstGeom prst="line">
            <a:avLst/>
          </a:prstGeom>
          <a:noFill/>
          <a:ln w="25400">
            <a:solidFill>
              <a:srgbClr val="8B5CF6"/>
            </a:solidFill>
            <a:prstDash val="dash"/>
          </a:ln>
        </p:spPr>
      </p:sp>
      <p:sp>
        <p:nvSpPr>
          <p:cNvPr id="27" name="Text 25"/>
          <p:cNvSpPr/>
          <p:nvPr/>
        </p:nvSpPr>
        <p:spPr>
          <a:xfrm>
            <a:off x="4005072" y="2194560"/>
            <a:ext cx="438912" cy="109728"/>
          </a:xfrm>
          <a:prstGeom prst="rect">
            <a:avLst/>
          </a:prstGeom>
          <a:noFill/>
          <a:ln/>
        </p:spPr>
        <p:txBody>
          <a:bodyPr wrap="square" lIns="0" tIns="0" rIns="0" bIns="0" rtlCol="0" anchor="ctr"/>
          <a:lstStyle/>
          <a:p>
            <a:pPr algn="ctr" indent="0" marL="0">
              <a:buNone/>
            </a:pPr>
            <a:r>
              <a:rPr lang="en-US" sz="800" b="1" dirty="0">
                <a:solidFill>
                  <a:srgbClr val="8B5CF6"/>
                </a:solidFill>
                <a:latin typeface="Aptos" pitchFamily="34" charset="0"/>
                <a:ea typeface="Aptos" pitchFamily="34" charset="-122"/>
                <a:cs typeface="Aptos" pitchFamily="34" charset="-120"/>
              </a:rPr>
              <a:t>LINK</a:t>
            </a:r>
            <a:endParaRPr lang="en-US" sz="800" dirty="0"/>
          </a:p>
        </p:txBody>
      </p:sp>
      <p:sp>
        <p:nvSpPr>
          <p:cNvPr id="28" name="Text 26"/>
          <p:cNvSpPr/>
          <p:nvPr/>
        </p:nvSpPr>
        <p:spPr>
          <a:xfrm>
            <a:off x="950976" y="3154680"/>
            <a:ext cx="4983480" cy="2240280"/>
          </a:xfrm>
          <a:prstGeom prst="rect">
            <a:avLst/>
          </a:prstGeom>
          <a:noFill/>
          <a:ln/>
        </p:spPr>
        <p:txBody>
          <a:bodyPr wrap="square" lIns="0" tIns="0" rIns="0" bIns="0" rtlCol="0" anchor="t">
            <a:normAutofit/>
          </a:bodyPr>
          <a:lstStyle/>
          <a:p>
            <a:pPr marL="342900" indent="-342900">
              <a:buSzPct val="100000"/>
              <a:buChar char="•"/>
            </a:pPr>
            <a:r>
              <a:rPr lang="en-US" sz="1300" dirty="0">
                <a:solidFill>
                  <a:srgbClr val="151B31"/>
                </a:solidFill>
                <a:latin typeface="Aptos" pitchFamily="34" charset="0"/>
                <a:ea typeface="Aptos" pitchFamily="34" charset="-122"/>
                <a:cs typeface="Aptos" pitchFamily="34" charset="-120"/>
              </a:rPr>
              <a:t>Parent/child means work is nested inside another operation</a:t>
            </a:r>
            <a:endParaRPr lang="en-US" sz="1300" dirty="0"/>
          </a:p>
          <a:p>
            <a:pPr marL="342900" indent="-342900">
              <a:buSzPct val="100000"/>
              <a:buChar char="•"/>
            </a:pPr>
            <a:r>
              <a:rPr lang="en-US" sz="1300" dirty="0">
                <a:solidFill>
                  <a:srgbClr val="151B31"/>
                </a:solidFill>
                <a:latin typeface="Aptos" pitchFamily="34" charset="0"/>
                <a:ea typeface="Aptos" pitchFamily="34" charset="-122"/>
                <a:cs typeface="Aptos" pitchFamily="34" charset="-120"/>
              </a:rPr>
              <a:t>OpenTelemetry links preserve causal handoffs and fan-in without claiming nesting</a:t>
            </a:r>
            <a:endParaRPr lang="en-US" sz="1300" dirty="0"/>
          </a:p>
          <a:p>
            <a:pPr marL="342900" indent="-342900">
              <a:buSzPct val="100000"/>
              <a:buChar char="•"/>
            </a:pPr>
            <a:r>
              <a:rPr lang="en-US" sz="1300" dirty="0">
                <a:solidFill>
                  <a:srgbClr val="151B31"/>
                </a:solidFill>
                <a:latin typeface="Aptos" pitchFamily="34" charset="0"/>
                <a:ea typeface="Aptos" pitchFamily="34" charset="-122"/>
                <a:cs typeface="Aptos" pitchFamily="34" charset="-120"/>
              </a:rPr>
              <a:t>Routing attributes can explain delivered, buffered, or dropped workflow messages</a:t>
            </a:r>
            <a:endParaRPr lang="en-US" sz="1300" dirty="0"/>
          </a:p>
        </p:txBody>
      </p:sp>
      <p:sp>
        <p:nvSpPr>
          <p:cNvPr id="29" name="Shape 27"/>
          <p:cNvSpPr/>
          <p:nvPr/>
        </p:nvSpPr>
        <p:spPr>
          <a:xfrm>
            <a:off x="6492240" y="1417320"/>
            <a:ext cx="5056632" cy="4645152"/>
          </a:xfrm>
          <a:prstGeom prst="roundRect">
            <a:avLst>
              <a:gd name="adj" fmla="val 1575"/>
            </a:avLst>
          </a:prstGeom>
          <a:solidFill>
            <a:srgbClr val="E4F7FB"/>
          </a:solidFill>
          <a:ln w="10160">
            <a:solidFill>
              <a:srgbClr val="16C7E8"/>
            </a:solidFill>
            <a:prstDash val="solid"/>
          </a:ln>
        </p:spPr>
      </p:sp>
      <p:sp>
        <p:nvSpPr>
          <p:cNvPr id="30" name="Text 28"/>
          <p:cNvSpPr/>
          <p:nvPr/>
        </p:nvSpPr>
        <p:spPr>
          <a:xfrm>
            <a:off x="6793992" y="1737360"/>
            <a:ext cx="3017520" cy="164592"/>
          </a:xfrm>
          <a:prstGeom prst="rect">
            <a:avLst/>
          </a:prstGeom>
          <a:noFill/>
          <a:ln/>
        </p:spPr>
        <p:txBody>
          <a:bodyPr wrap="square" lIns="0" tIns="0" rIns="0" bIns="0" rtlCol="0" anchor="ctr"/>
          <a:lstStyle/>
          <a:p>
            <a:pPr indent="0" marL="0">
              <a:buNone/>
            </a:pPr>
            <a:r>
              <a:rPr lang="en-US" sz="1000" b="1" spc="210" kern="0" dirty="0">
                <a:solidFill>
                  <a:srgbClr val="8B5CF6"/>
                </a:solidFill>
                <a:latin typeface="Aptos" pitchFamily="34" charset="0"/>
                <a:ea typeface="Aptos" pitchFamily="34" charset="-122"/>
                <a:cs typeface="Aptos" pitchFamily="34" charset="-120"/>
              </a:rPr>
              <a:t>IDENTIFIER BOUNDARIES</a:t>
            </a:r>
            <a:endParaRPr lang="en-US" sz="1000" dirty="0"/>
          </a:p>
        </p:txBody>
      </p:sp>
      <p:sp>
        <p:nvSpPr>
          <p:cNvPr id="31" name="Shape 29"/>
          <p:cNvSpPr/>
          <p:nvPr/>
        </p:nvSpPr>
        <p:spPr>
          <a:xfrm>
            <a:off x="6821424" y="2340864"/>
            <a:ext cx="438912" cy="438912"/>
          </a:xfrm>
          <a:prstGeom prst="ellipse">
            <a:avLst/>
          </a:prstGeom>
          <a:solidFill>
            <a:srgbClr val="16C7E8"/>
          </a:solidFill>
          <a:ln/>
        </p:spPr>
      </p:sp>
      <p:sp>
        <p:nvSpPr>
          <p:cNvPr id="32" name="Text 30"/>
          <p:cNvSpPr/>
          <p:nvPr/>
        </p:nvSpPr>
        <p:spPr>
          <a:xfrm>
            <a:off x="6821424" y="2478024"/>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1</a:t>
            </a:r>
            <a:endParaRPr lang="en-US" sz="900" dirty="0"/>
          </a:p>
        </p:txBody>
      </p:sp>
      <p:sp>
        <p:nvSpPr>
          <p:cNvPr id="33" name="Text 31"/>
          <p:cNvSpPr/>
          <p:nvPr/>
        </p:nvSpPr>
        <p:spPr>
          <a:xfrm>
            <a:off x="7498080" y="2176272"/>
            <a:ext cx="3611880" cy="749808"/>
          </a:xfrm>
          <a:prstGeom prst="rect">
            <a:avLst/>
          </a:prstGeom>
          <a:noFill/>
          <a:ln/>
        </p:spPr>
        <p:txBody>
          <a:bodyPr wrap="square" lIns="0" tIns="0" rIns="0" bIns="0" rtlCol="0" anchor="ctr">
            <a:normAutofit/>
          </a:bodyPr>
          <a:lstStyle/>
          <a:p>
            <a:pPr indent="0" marL="0">
              <a:buNone/>
            </a:pPr>
            <a:r>
              <a:rPr lang="en-US" sz="1360" dirty="0">
                <a:solidFill>
                  <a:srgbClr val="151B31"/>
                </a:solidFill>
                <a:latin typeface="Aptos" pitchFamily="34" charset="0"/>
                <a:ea typeface="Aptos" pitchFamily="34" charset="-122"/>
                <a:cs typeface="Aptos" pitchFamily="34" charset="-120"/>
              </a:rPr>
              <a:t>A conversation holds history across turns; it is not one trace</a:t>
            </a:r>
            <a:endParaRPr lang="en-US" sz="1360" dirty="0"/>
          </a:p>
        </p:txBody>
      </p:sp>
      <p:sp>
        <p:nvSpPr>
          <p:cNvPr id="34" name="Shape 32"/>
          <p:cNvSpPr/>
          <p:nvPr/>
        </p:nvSpPr>
        <p:spPr>
          <a:xfrm>
            <a:off x="6821424" y="3456432"/>
            <a:ext cx="438912" cy="438912"/>
          </a:xfrm>
          <a:prstGeom prst="ellipse">
            <a:avLst/>
          </a:prstGeom>
          <a:solidFill>
            <a:srgbClr val="8B5CF6"/>
          </a:solidFill>
          <a:ln/>
        </p:spPr>
      </p:sp>
      <p:sp>
        <p:nvSpPr>
          <p:cNvPr id="35" name="Text 33"/>
          <p:cNvSpPr/>
          <p:nvPr/>
        </p:nvSpPr>
        <p:spPr>
          <a:xfrm>
            <a:off x="6821424" y="3593592"/>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2</a:t>
            </a:r>
            <a:endParaRPr lang="en-US" sz="900" dirty="0"/>
          </a:p>
        </p:txBody>
      </p:sp>
      <p:sp>
        <p:nvSpPr>
          <p:cNvPr id="36" name="Text 34"/>
          <p:cNvSpPr/>
          <p:nvPr/>
        </p:nvSpPr>
        <p:spPr>
          <a:xfrm>
            <a:off x="7498080" y="3291840"/>
            <a:ext cx="3611880" cy="749808"/>
          </a:xfrm>
          <a:prstGeom prst="rect">
            <a:avLst/>
          </a:prstGeom>
          <a:noFill/>
          <a:ln/>
        </p:spPr>
        <p:txBody>
          <a:bodyPr wrap="square" lIns="0" tIns="0" rIns="0" bIns="0" rtlCol="0" anchor="ctr">
            <a:normAutofit/>
          </a:bodyPr>
          <a:lstStyle/>
          <a:p>
            <a:pPr indent="0" marL="0">
              <a:buNone/>
            </a:pPr>
            <a:r>
              <a:rPr lang="en-US" sz="1360" dirty="0">
                <a:solidFill>
                  <a:srgbClr val="151B31"/>
                </a:solidFill>
                <a:latin typeface="Aptos" pitchFamily="34" charset="0"/>
                <a:ea typeface="Aptos" pitchFamily="34" charset="-122"/>
                <a:cs typeface="Aptos" pitchFamily="34" charset="-120"/>
              </a:rPr>
              <a:t>A response ID is not a trace ID</a:t>
            </a:r>
            <a:endParaRPr lang="en-US" sz="1360" dirty="0"/>
          </a:p>
        </p:txBody>
      </p:sp>
      <p:sp>
        <p:nvSpPr>
          <p:cNvPr id="37" name="Shape 35"/>
          <p:cNvSpPr/>
          <p:nvPr/>
        </p:nvSpPr>
        <p:spPr>
          <a:xfrm>
            <a:off x="6821424" y="4572000"/>
            <a:ext cx="438912" cy="438912"/>
          </a:xfrm>
          <a:prstGeom prst="ellipse">
            <a:avLst/>
          </a:prstGeom>
          <a:solidFill>
            <a:srgbClr val="8B5CF6"/>
          </a:solidFill>
          <a:ln/>
        </p:spPr>
      </p:sp>
      <p:sp>
        <p:nvSpPr>
          <p:cNvPr id="38" name="Text 36"/>
          <p:cNvSpPr/>
          <p:nvPr/>
        </p:nvSpPr>
        <p:spPr>
          <a:xfrm>
            <a:off x="6821424" y="4709160"/>
            <a:ext cx="438912" cy="109728"/>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3</a:t>
            </a:r>
            <a:endParaRPr lang="en-US" sz="900" dirty="0"/>
          </a:p>
        </p:txBody>
      </p:sp>
      <p:sp>
        <p:nvSpPr>
          <p:cNvPr id="39" name="Text 37"/>
          <p:cNvSpPr/>
          <p:nvPr/>
        </p:nvSpPr>
        <p:spPr>
          <a:xfrm>
            <a:off x="7498080" y="4407408"/>
            <a:ext cx="3611880" cy="749808"/>
          </a:xfrm>
          <a:prstGeom prst="rect">
            <a:avLst/>
          </a:prstGeom>
          <a:noFill/>
          <a:ln/>
        </p:spPr>
        <p:txBody>
          <a:bodyPr wrap="square" lIns="0" tIns="0" rIns="0" bIns="0" rtlCol="0" anchor="ctr">
            <a:normAutofit/>
          </a:bodyPr>
          <a:lstStyle/>
          <a:p>
            <a:pPr indent="0" marL="0">
              <a:buNone/>
            </a:pPr>
            <a:r>
              <a:rPr lang="en-US" sz="1360" dirty="0">
                <a:solidFill>
                  <a:srgbClr val="151B31"/>
                </a:solidFill>
                <a:latin typeface="Aptos" pitchFamily="34" charset="0"/>
                <a:ea typeface="Aptos" pitchFamily="34" charset="-122"/>
                <a:cs typeface="Aptos" pitchFamily="34" charset="-120"/>
              </a:rPr>
              <a:t>First streamed output is not workflow completion; do not expect a span per token</a:t>
            </a:r>
            <a:endParaRPr lang="en-US" sz="1360" dirty="0"/>
          </a:p>
        </p:txBody>
      </p:sp>
      <p:sp>
        <p:nvSpPr>
          <p:cNvPr id="40" name="Text 38"/>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learn.microsoft.com/agent-framework/workflows/observability  ·  +2 more in notes</a:t>
            </a:r>
            <a:endParaRPr lang="en-US" sz="940" dirty="0"/>
          </a:p>
        </p:txBody>
      </p:sp>
      <p:sp>
        <p:nvSpPr>
          <p:cNvPr id="41" name="Shape 39"/>
          <p:cNvSpPr/>
          <p:nvPr/>
        </p:nvSpPr>
        <p:spPr>
          <a:xfrm>
            <a:off x="0" y="6793992"/>
            <a:ext cx="12191695" cy="64008"/>
          </a:xfrm>
          <a:prstGeom prst="rect">
            <a:avLst/>
          </a:prstGeom>
          <a:solidFill>
            <a:srgbClr val="16C7E8"/>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62B"/>
        </a:solidFill>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EEE9FF"/>
          </a:solidFill>
          <a:ln/>
        </p:spPr>
      </p:sp>
      <p:sp>
        <p:nvSpPr>
          <p:cNvPr id="3" name="Shape 1"/>
          <p:cNvSpPr/>
          <p:nvPr/>
        </p:nvSpPr>
        <p:spPr>
          <a:xfrm>
            <a:off x="457200" y="4681728"/>
            <a:ext cx="1024128" cy="1024128"/>
          </a:xfrm>
          <a:prstGeom prst="ellipse">
            <a:avLst/>
          </a:prstGeom>
          <a:solidFill>
            <a:srgbClr val="11162B"/>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16C7E8"/>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indent="0" marL="0">
              <a:buNone/>
            </a:pPr>
            <a:r>
              <a:rPr lang="en-US" sz="3900" b="1" dirty="0">
                <a:solidFill>
                  <a:srgbClr val="FFFFFF"/>
                </a:solidFill>
                <a:latin typeface="Aptos Display" pitchFamily="34" charset="0"/>
                <a:ea typeface="Aptos Display" pitchFamily="34" charset="-122"/>
                <a:cs typeface="Aptos Display" pitchFamily="34" charset="-120"/>
              </a:rPr>
              <a:t>Follow one request</a:t>
            </a:r>
            <a:endParaRPr lang="en-US" sz="39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dirty="0">
                <a:solidFill>
                  <a:srgbClr val="E5EBF0"/>
                </a:solidFill>
                <a:latin typeface="Aptos" pitchFamily="34" charset="0"/>
                <a:ea typeface="Aptos" pitchFamily="34" charset="-122"/>
                <a:cs typeface="Aptos" pitchFamily="34" charset="-120"/>
              </a:rPr>
              <a:t>Follow the same synthetic request through console events and an authentic exported trace.</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Find the retrieval operation, the recorded revision-or-stop decision, and the longest span.</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Then separate the latency finding from the reviewed or evaluated answer-quality evidence.</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16C7E8"/>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~6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11162B"/>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16C7E8"/>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151B31"/>
                </a:solidFill>
                <a:latin typeface="Aptos" pitchFamily="34" charset="0"/>
                <a:ea typeface="Aptos" pitchFamily="34" charset="-122"/>
                <a:cs typeface="Aptos" pitchFamily="34" charset="-120"/>
              </a:rPr>
              <a:t>Longest recorded span</a:t>
            </a:r>
            <a:endParaRPr lang="en-US" sz="1480" dirty="0"/>
          </a:p>
        </p:txBody>
      </p:sp>
      <p:sp>
        <p:nvSpPr>
          <p:cNvPr id="14" name="Shape 12"/>
          <p:cNvSpPr/>
          <p:nvPr/>
        </p:nvSpPr>
        <p:spPr>
          <a:xfrm>
            <a:off x="7772400" y="3127248"/>
            <a:ext cx="384048" cy="384048"/>
          </a:xfrm>
          <a:prstGeom prst="ellipse">
            <a:avLst/>
          </a:prstGeom>
          <a:solidFill>
            <a:srgbClr val="16C7E8"/>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151B31"/>
                </a:solidFill>
                <a:latin typeface="Aptos" pitchFamily="34" charset="0"/>
                <a:ea typeface="Aptos" pitchFamily="34" charset="-122"/>
                <a:cs typeface="Aptos" pitchFamily="34" charset="-120"/>
              </a:rPr>
              <a:t>Links versus nesting</a:t>
            </a:r>
            <a:endParaRPr lang="en-US" sz="1480" dirty="0"/>
          </a:p>
        </p:txBody>
      </p:sp>
      <p:sp>
        <p:nvSpPr>
          <p:cNvPr id="17" name="Shape 15"/>
          <p:cNvSpPr/>
          <p:nvPr/>
        </p:nvSpPr>
        <p:spPr>
          <a:xfrm>
            <a:off x="7772400" y="3913632"/>
            <a:ext cx="384048" cy="384048"/>
          </a:xfrm>
          <a:prstGeom prst="ellipse">
            <a:avLst/>
          </a:prstGeom>
          <a:solidFill>
            <a:srgbClr val="8B5CF6"/>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151B31"/>
                </a:solidFill>
                <a:latin typeface="Aptos" pitchFamily="34" charset="0"/>
                <a:ea typeface="Aptos" pitchFamily="34" charset="-122"/>
                <a:cs typeface="Aptos" pitchFamily="34" charset="-120"/>
              </a:rPr>
              <a:t>Quality needs separate evidence</a:t>
            </a:r>
            <a:endParaRPr lang="en-US" sz="1480" dirty="0"/>
          </a:p>
        </p:txBody>
      </p:sp>
      <p:sp>
        <p:nvSpPr>
          <p:cNvPr id="20" name="Shape 18"/>
          <p:cNvSpPr/>
          <p:nvPr/>
        </p:nvSpPr>
        <p:spPr>
          <a:xfrm>
            <a:off x="7726680" y="4882896"/>
            <a:ext cx="3401568" cy="566928"/>
          </a:xfrm>
          <a:prstGeom prst="roundRect">
            <a:avLst>
              <a:gd name="adj" fmla="val 12903"/>
            </a:avLst>
          </a:prstGeom>
          <a:solidFill>
            <a:srgbClr val="E4F7FB"/>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11162B"/>
                </a:solidFill>
                <a:latin typeface="Consolas" pitchFamily="34" charset="0"/>
                <a:ea typeface="Consolas" pitchFamily="34" charset="-122"/>
                <a:cs typeface="Consolas" pitchFamily="34" charset="-120"/>
              </a:rPr>
              <a:t>demos/day5/module-1-demo-1-follow-one-request.md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learn.microsoft.com/azure/foundry/observability/concepts/trace-agent-concept  ·  +2 more in notes</a:t>
            </a:r>
            <a:endParaRPr lang="en-US" sz="940" dirty="0"/>
          </a:p>
        </p:txBody>
      </p:sp>
      <p:sp>
        <p:nvSpPr>
          <p:cNvPr id="23" name="Shape 21"/>
          <p:cNvSpPr/>
          <p:nvPr/>
        </p:nvSpPr>
        <p:spPr>
          <a:xfrm>
            <a:off x="0" y="6793992"/>
            <a:ext cx="12191695" cy="64008"/>
          </a:xfrm>
          <a:prstGeom prst="rect">
            <a:avLst/>
          </a:prstGeom>
          <a:solidFill>
            <a:srgbClr val="16C7E8"/>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Telemetry is another data store</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07</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89888"/>
            <a:ext cx="1874520" cy="475488"/>
          </a:xfrm>
          <a:prstGeom prst="roundRect">
            <a:avLst>
              <a:gd name="adj" fmla="val 15385"/>
            </a:avLst>
          </a:prstGeom>
          <a:solidFill>
            <a:srgbClr val="11162B"/>
          </a:solidFill>
          <a:ln/>
        </p:spPr>
      </p:sp>
      <p:sp>
        <p:nvSpPr>
          <p:cNvPr id="18" name="Text 16"/>
          <p:cNvSpPr/>
          <p:nvPr/>
        </p:nvSpPr>
        <p:spPr>
          <a:xfrm>
            <a:off x="768096" y="1554480"/>
            <a:ext cx="1618488" cy="109728"/>
          </a:xfrm>
          <a:prstGeom prst="rect">
            <a:avLst/>
          </a:prstGeom>
          <a:noFill/>
          <a:ln/>
        </p:spPr>
        <p:txBody>
          <a:bodyPr wrap="square" lIns="0" tIns="0" rIns="0" bIns="0" rtlCol="0" anchor="ctr">
            <a:normAutofit/>
          </a:bodyPr>
          <a:lstStyle/>
          <a:p>
            <a:pPr indent="0" marL="0">
              <a:buNone/>
            </a:pPr>
            <a:r>
              <a:rPr lang="en-US" sz="940" b="1" spc="110" kern="0" dirty="0">
                <a:solidFill>
                  <a:srgbClr val="FFFFFF"/>
                </a:solidFill>
                <a:latin typeface="Aptos" pitchFamily="34" charset="0"/>
                <a:ea typeface="Aptos" pitchFamily="34" charset="-122"/>
                <a:cs typeface="Aptos" pitchFamily="34" charset="-120"/>
              </a:rPr>
              <a:t>DECISION</a:t>
            </a:r>
            <a:endParaRPr lang="en-US" sz="940" dirty="0"/>
          </a:p>
        </p:txBody>
      </p:sp>
      <p:sp>
        <p:nvSpPr>
          <p:cNvPr id="19" name="Shape 17"/>
          <p:cNvSpPr/>
          <p:nvPr/>
        </p:nvSpPr>
        <p:spPr>
          <a:xfrm>
            <a:off x="2560320" y="1389888"/>
            <a:ext cx="2743200" cy="475488"/>
          </a:xfrm>
          <a:prstGeom prst="roundRect">
            <a:avLst>
              <a:gd name="adj" fmla="val 15385"/>
            </a:avLst>
          </a:prstGeom>
          <a:solidFill>
            <a:srgbClr val="16C7E8"/>
          </a:solidFill>
          <a:ln/>
        </p:spPr>
      </p:sp>
      <p:sp>
        <p:nvSpPr>
          <p:cNvPr id="20" name="Text 18"/>
          <p:cNvSpPr/>
          <p:nvPr/>
        </p:nvSpPr>
        <p:spPr>
          <a:xfrm>
            <a:off x="2688336" y="1554480"/>
            <a:ext cx="2487168" cy="109728"/>
          </a:xfrm>
          <a:prstGeom prst="rect">
            <a:avLst/>
          </a:prstGeom>
          <a:noFill/>
          <a:ln/>
        </p:spPr>
        <p:txBody>
          <a:bodyPr wrap="square" lIns="0" tIns="0" rIns="0" bIns="0" rtlCol="0" anchor="ctr">
            <a:normAutofit/>
          </a:bodyPr>
          <a:lstStyle/>
          <a:p>
            <a:pPr indent="0" marL="0">
              <a:buNone/>
            </a:pPr>
            <a:r>
              <a:rPr lang="en-US" sz="940" b="1" spc="110" kern="0" dirty="0">
                <a:solidFill>
                  <a:srgbClr val="11162B"/>
                </a:solidFill>
                <a:latin typeface="Aptos" pitchFamily="34" charset="0"/>
                <a:ea typeface="Aptos" pitchFamily="34" charset="-122"/>
                <a:cs typeface="Aptos" pitchFamily="34" charset="-120"/>
              </a:rPr>
              <a:t>DEFAULT STANCE</a:t>
            </a:r>
            <a:endParaRPr lang="en-US" sz="940" dirty="0"/>
          </a:p>
        </p:txBody>
      </p:sp>
      <p:sp>
        <p:nvSpPr>
          <p:cNvPr id="21" name="Shape 19"/>
          <p:cNvSpPr/>
          <p:nvPr/>
        </p:nvSpPr>
        <p:spPr>
          <a:xfrm>
            <a:off x="5349240" y="1389888"/>
            <a:ext cx="6153912" cy="475488"/>
          </a:xfrm>
          <a:prstGeom prst="roundRect">
            <a:avLst>
              <a:gd name="adj" fmla="val 15385"/>
            </a:avLst>
          </a:prstGeom>
          <a:solidFill>
            <a:srgbClr val="16C7E8"/>
          </a:solidFill>
          <a:ln/>
        </p:spPr>
      </p:sp>
      <p:sp>
        <p:nvSpPr>
          <p:cNvPr id="22" name="Text 20"/>
          <p:cNvSpPr/>
          <p:nvPr/>
        </p:nvSpPr>
        <p:spPr>
          <a:xfrm>
            <a:off x="5477256" y="1554480"/>
            <a:ext cx="5897880" cy="109728"/>
          </a:xfrm>
          <a:prstGeom prst="rect">
            <a:avLst/>
          </a:prstGeom>
          <a:noFill/>
          <a:ln/>
        </p:spPr>
        <p:txBody>
          <a:bodyPr wrap="square" lIns="0" tIns="0" rIns="0" bIns="0" rtlCol="0" anchor="ctr">
            <a:normAutofit/>
          </a:bodyPr>
          <a:lstStyle/>
          <a:p>
            <a:pPr indent="0" marL="0">
              <a:buNone/>
            </a:pPr>
            <a:r>
              <a:rPr lang="en-US" sz="940" b="1" spc="110" kern="0" dirty="0">
                <a:solidFill>
                  <a:srgbClr val="11162B"/>
                </a:solidFill>
                <a:latin typeface="Aptos" pitchFamily="34" charset="0"/>
                <a:ea typeface="Aptos" pitchFamily="34" charset="-122"/>
                <a:cs typeface="Aptos" pitchFamily="34" charset="-120"/>
              </a:rPr>
              <a:t>REASON</a:t>
            </a:r>
            <a:endParaRPr lang="en-US" sz="940" dirty="0"/>
          </a:p>
        </p:txBody>
      </p:sp>
      <p:sp>
        <p:nvSpPr>
          <p:cNvPr id="23" name="Shape 21"/>
          <p:cNvSpPr/>
          <p:nvPr/>
        </p:nvSpPr>
        <p:spPr>
          <a:xfrm>
            <a:off x="640080" y="1993392"/>
            <a:ext cx="10908792" cy="1008126"/>
          </a:xfrm>
          <a:prstGeom prst="roundRect">
            <a:avLst>
              <a:gd name="adj" fmla="val 7256"/>
            </a:avLst>
          </a:prstGeom>
          <a:solidFill>
            <a:srgbClr val="E4F7FB"/>
          </a:solidFill>
          <a:ln w="10160">
            <a:solidFill>
              <a:srgbClr val="16C7E8"/>
            </a:solidFill>
            <a:prstDash val="solid"/>
          </a:ln>
        </p:spPr>
      </p:sp>
      <p:sp>
        <p:nvSpPr>
          <p:cNvPr id="24" name="Text 22"/>
          <p:cNvSpPr/>
          <p:nvPr/>
        </p:nvSpPr>
        <p:spPr>
          <a:xfrm>
            <a:off x="786384" y="2121408"/>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Payloads</a:t>
            </a:r>
            <a:endParaRPr lang="en-US" sz="1460" dirty="0"/>
          </a:p>
        </p:txBody>
      </p:sp>
      <p:sp>
        <p:nvSpPr>
          <p:cNvPr id="25" name="Shape 23"/>
          <p:cNvSpPr/>
          <p:nvPr/>
        </p:nvSpPr>
        <p:spPr>
          <a:xfrm>
            <a:off x="2560320" y="2139696"/>
            <a:ext cx="0" cy="715518"/>
          </a:xfrm>
          <a:prstGeom prst="line">
            <a:avLst/>
          </a:prstGeom>
          <a:noFill/>
          <a:ln w="10160">
            <a:solidFill>
              <a:srgbClr val="16C7E8"/>
            </a:solidFill>
            <a:prstDash val="solid"/>
          </a:ln>
        </p:spPr>
      </p:sp>
      <p:sp>
        <p:nvSpPr>
          <p:cNvPr id="26" name="Text 24"/>
          <p:cNvSpPr/>
          <p:nvPr/>
        </p:nvSpPr>
        <p:spPr>
          <a:xfrm>
            <a:off x="2706624" y="2121408"/>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Omit, redact, or minimize</a:t>
            </a:r>
            <a:endParaRPr lang="en-US" sz="1380" dirty="0"/>
          </a:p>
        </p:txBody>
      </p:sp>
      <p:sp>
        <p:nvSpPr>
          <p:cNvPr id="27" name="Shape 25"/>
          <p:cNvSpPr/>
          <p:nvPr/>
        </p:nvSpPr>
        <p:spPr>
          <a:xfrm>
            <a:off x="5349240" y="2139696"/>
            <a:ext cx="0" cy="715518"/>
          </a:xfrm>
          <a:prstGeom prst="line">
            <a:avLst/>
          </a:prstGeom>
          <a:noFill/>
          <a:ln w="10160">
            <a:solidFill>
              <a:srgbClr val="E4F7FB"/>
            </a:solidFill>
            <a:prstDash val="solid"/>
          </a:ln>
        </p:spPr>
      </p:sp>
      <p:sp>
        <p:nvSpPr>
          <p:cNvPr id="28" name="Text 26"/>
          <p:cNvSpPr/>
          <p:nvPr/>
        </p:nvSpPr>
        <p:spPr>
          <a:xfrm>
            <a:off x="5495544" y="2121408"/>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Prompts, outputs, tool arguments, and results can contain sensitive data</a:t>
            </a:r>
            <a:endParaRPr lang="en-US" sz="1380" dirty="0"/>
          </a:p>
        </p:txBody>
      </p:sp>
      <p:sp>
        <p:nvSpPr>
          <p:cNvPr id="29" name="Shape 27"/>
          <p:cNvSpPr/>
          <p:nvPr/>
        </p:nvSpPr>
        <p:spPr>
          <a:xfrm>
            <a:off x="640080" y="3074670"/>
            <a:ext cx="10908792" cy="1008126"/>
          </a:xfrm>
          <a:prstGeom prst="roundRect">
            <a:avLst>
              <a:gd name="adj" fmla="val 7256"/>
            </a:avLst>
          </a:prstGeom>
          <a:solidFill>
            <a:srgbClr val="FFFFFF"/>
          </a:solidFill>
          <a:ln w="10160">
            <a:solidFill>
              <a:srgbClr val="E4F7FB"/>
            </a:solidFill>
            <a:prstDash val="solid"/>
          </a:ln>
        </p:spPr>
      </p:sp>
      <p:sp>
        <p:nvSpPr>
          <p:cNvPr id="30" name="Text 28"/>
          <p:cNvSpPr/>
          <p:nvPr/>
        </p:nvSpPr>
        <p:spPr>
          <a:xfrm>
            <a:off x="786384" y="3202686"/>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Metadata</a:t>
            </a:r>
            <a:endParaRPr lang="en-US" sz="1460" dirty="0"/>
          </a:p>
        </p:txBody>
      </p:sp>
      <p:sp>
        <p:nvSpPr>
          <p:cNvPr id="31" name="Shape 29"/>
          <p:cNvSpPr/>
          <p:nvPr/>
        </p:nvSpPr>
        <p:spPr>
          <a:xfrm>
            <a:off x="2560320" y="3220974"/>
            <a:ext cx="0" cy="715518"/>
          </a:xfrm>
          <a:prstGeom prst="line">
            <a:avLst/>
          </a:prstGeom>
          <a:noFill/>
          <a:ln w="10160">
            <a:solidFill>
              <a:srgbClr val="16C7E8"/>
            </a:solidFill>
            <a:prstDash val="solid"/>
          </a:ln>
        </p:spPr>
      </p:sp>
      <p:sp>
        <p:nvSpPr>
          <p:cNvPr id="32" name="Text 30"/>
          <p:cNvSpPr/>
          <p:nvPr/>
        </p:nvSpPr>
        <p:spPr>
          <a:xfrm>
            <a:off x="2706624" y="3202686"/>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Keep only useful context</a:t>
            </a:r>
            <a:endParaRPr lang="en-US" sz="1380" dirty="0"/>
          </a:p>
        </p:txBody>
      </p:sp>
      <p:sp>
        <p:nvSpPr>
          <p:cNvPr id="33" name="Shape 31"/>
          <p:cNvSpPr/>
          <p:nvPr/>
        </p:nvSpPr>
        <p:spPr>
          <a:xfrm>
            <a:off x="5349240" y="3220974"/>
            <a:ext cx="0" cy="715518"/>
          </a:xfrm>
          <a:prstGeom prst="line">
            <a:avLst/>
          </a:prstGeom>
          <a:noFill/>
          <a:ln w="10160">
            <a:solidFill>
              <a:srgbClr val="E4F7FB"/>
            </a:solidFill>
            <a:prstDash val="solid"/>
          </a:ln>
        </p:spPr>
      </p:sp>
      <p:sp>
        <p:nvSpPr>
          <p:cNvPr id="34" name="Text 32"/>
          <p:cNvSpPr/>
          <p:nvPr/>
        </p:nvSpPr>
        <p:spPr>
          <a:xfrm>
            <a:off x="5495544" y="3202686"/>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Duration, status, operation type, and safe identifiers often answer the question</a:t>
            </a:r>
            <a:endParaRPr lang="en-US" sz="1380" dirty="0"/>
          </a:p>
        </p:txBody>
      </p:sp>
      <p:sp>
        <p:nvSpPr>
          <p:cNvPr id="35" name="Shape 33"/>
          <p:cNvSpPr/>
          <p:nvPr/>
        </p:nvSpPr>
        <p:spPr>
          <a:xfrm>
            <a:off x="640080" y="4155948"/>
            <a:ext cx="10908792" cy="1008126"/>
          </a:xfrm>
          <a:prstGeom prst="roundRect">
            <a:avLst>
              <a:gd name="adj" fmla="val 7256"/>
            </a:avLst>
          </a:prstGeom>
          <a:solidFill>
            <a:srgbClr val="E4F7FB"/>
          </a:solidFill>
          <a:ln w="10160">
            <a:solidFill>
              <a:srgbClr val="E4F7FB"/>
            </a:solidFill>
            <a:prstDash val="solid"/>
          </a:ln>
        </p:spPr>
      </p:sp>
      <p:sp>
        <p:nvSpPr>
          <p:cNvPr id="36" name="Text 34"/>
          <p:cNvSpPr/>
          <p:nvPr/>
        </p:nvSpPr>
        <p:spPr>
          <a:xfrm>
            <a:off x="786384" y="4283964"/>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Access + retention</a:t>
            </a:r>
            <a:endParaRPr lang="en-US" sz="1460" dirty="0"/>
          </a:p>
        </p:txBody>
      </p:sp>
      <p:sp>
        <p:nvSpPr>
          <p:cNvPr id="37" name="Shape 35"/>
          <p:cNvSpPr/>
          <p:nvPr/>
        </p:nvSpPr>
        <p:spPr>
          <a:xfrm>
            <a:off x="2560320" y="4302252"/>
            <a:ext cx="0" cy="715518"/>
          </a:xfrm>
          <a:prstGeom prst="line">
            <a:avLst/>
          </a:prstGeom>
          <a:noFill/>
          <a:ln w="10160">
            <a:solidFill>
              <a:srgbClr val="16C7E8"/>
            </a:solidFill>
            <a:prstDash val="solid"/>
          </a:ln>
        </p:spPr>
      </p:sp>
      <p:sp>
        <p:nvSpPr>
          <p:cNvPr id="38" name="Text 36"/>
          <p:cNvSpPr/>
          <p:nvPr/>
        </p:nvSpPr>
        <p:spPr>
          <a:xfrm>
            <a:off x="2706624" y="4283964"/>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Restrict, sample, and expire deliberately</a:t>
            </a:r>
            <a:endParaRPr lang="en-US" sz="1380" dirty="0"/>
          </a:p>
        </p:txBody>
      </p:sp>
      <p:sp>
        <p:nvSpPr>
          <p:cNvPr id="39" name="Shape 37"/>
          <p:cNvSpPr/>
          <p:nvPr/>
        </p:nvSpPr>
        <p:spPr>
          <a:xfrm>
            <a:off x="5349240" y="4302252"/>
            <a:ext cx="0" cy="715518"/>
          </a:xfrm>
          <a:prstGeom prst="line">
            <a:avLst/>
          </a:prstGeom>
          <a:noFill/>
          <a:ln w="10160">
            <a:solidFill>
              <a:srgbClr val="E4F7FB"/>
            </a:solidFill>
            <a:prstDash val="solid"/>
          </a:ln>
        </p:spPr>
      </p:sp>
      <p:sp>
        <p:nvSpPr>
          <p:cNvPr id="40" name="Text 38"/>
          <p:cNvSpPr/>
          <p:nvPr/>
        </p:nvSpPr>
        <p:spPr>
          <a:xfrm>
            <a:off x="5495544" y="4283964"/>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Trace storage follows Application Insights access, retention, and billing</a:t>
            </a:r>
            <a:endParaRPr lang="en-US" sz="1380" dirty="0"/>
          </a:p>
        </p:txBody>
      </p:sp>
      <p:sp>
        <p:nvSpPr>
          <p:cNvPr id="41" name="Shape 39"/>
          <p:cNvSpPr/>
          <p:nvPr/>
        </p:nvSpPr>
        <p:spPr>
          <a:xfrm>
            <a:off x="640080" y="5237226"/>
            <a:ext cx="10908792" cy="1008126"/>
          </a:xfrm>
          <a:prstGeom prst="roundRect">
            <a:avLst>
              <a:gd name="adj" fmla="val 7256"/>
            </a:avLst>
          </a:prstGeom>
          <a:solidFill>
            <a:srgbClr val="FFFFFF"/>
          </a:solidFill>
          <a:ln w="10160">
            <a:solidFill>
              <a:srgbClr val="E4F7FB"/>
            </a:solidFill>
            <a:prstDash val="solid"/>
          </a:ln>
        </p:spPr>
      </p:sp>
      <p:sp>
        <p:nvSpPr>
          <p:cNvPr id="42" name="Text 40"/>
          <p:cNvSpPr/>
          <p:nvPr/>
        </p:nvSpPr>
        <p:spPr>
          <a:xfrm>
            <a:off x="786384" y="5365242"/>
            <a:ext cx="1627632" cy="752094"/>
          </a:xfrm>
          <a:prstGeom prst="rect">
            <a:avLst/>
          </a:prstGeom>
          <a:noFill/>
          <a:ln/>
        </p:spPr>
        <p:txBody>
          <a:bodyPr wrap="square" lIns="0" tIns="0" rIns="0" bIns="0" rtlCol="0" anchor="ctr">
            <a:normAutofit/>
          </a:bodyPr>
          <a:lstStyle/>
          <a:p>
            <a:pPr indent="0" marL="0">
              <a:buNone/>
            </a:pPr>
            <a:r>
              <a:rPr lang="en-US" sz="1460" b="1" dirty="0">
                <a:solidFill>
                  <a:srgbClr val="11162B"/>
                </a:solidFill>
                <a:latin typeface="Aptos" pitchFamily="34" charset="0"/>
                <a:ea typeface="Aptos" pitchFamily="34" charset="-122"/>
                <a:cs typeface="Aptos" pitchFamily="34" charset="-120"/>
              </a:rPr>
              <a:t>Demo content</a:t>
            </a:r>
            <a:endParaRPr lang="en-US" sz="1460" dirty="0"/>
          </a:p>
        </p:txBody>
      </p:sp>
      <p:sp>
        <p:nvSpPr>
          <p:cNvPr id="43" name="Shape 41"/>
          <p:cNvSpPr/>
          <p:nvPr/>
        </p:nvSpPr>
        <p:spPr>
          <a:xfrm>
            <a:off x="2560320" y="5383530"/>
            <a:ext cx="0" cy="715518"/>
          </a:xfrm>
          <a:prstGeom prst="line">
            <a:avLst/>
          </a:prstGeom>
          <a:noFill/>
          <a:ln w="10160">
            <a:solidFill>
              <a:srgbClr val="16C7E8"/>
            </a:solidFill>
            <a:prstDash val="solid"/>
          </a:ln>
        </p:spPr>
      </p:sp>
      <p:sp>
        <p:nvSpPr>
          <p:cNvPr id="44" name="Text 42"/>
          <p:cNvSpPr/>
          <p:nvPr/>
        </p:nvSpPr>
        <p:spPr>
          <a:xfrm>
            <a:off x="2706624" y="5365242"/>
            <a:ext cx="2496312"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Use synthetic inputs</a:t>
            </a:r>
            <a:endParaRPr lang="en-US" sz="1380" dirty="0"/>
          </a:p>
        </p:txBody>
      </p:sp>
      <p:sp>
        <p:nvSpPr>
          <p:cNvPr id="45" name="Shape 43"/>
          <p:cNvSpPr/>
          <p:nvPr/>
        </p:nvSpPr>
        <p:spPr>
          <a:xfrm>
            <a:off x="5349240" y="5383530"/>
            <a:ext cx="0" cy="715518"/>
          </a:xfrm>
          <a:prstGeom prst="line">
            <a:avLst/>
          </a:prstGeom>
          <a:noFill/>
          <a:ln w="10160">
            <a:solidFill>
              <a:srgbClr val="E4F7FB"/>
            </a:solidFill>
            <a:prstDash val="solid"/>
          </a:ln>
        </p:spPr>
      </p:sp>
      <p:sp>
        <p:nvSpPr>
          <p:cNvPr id="46" name="Text 44"/>
          <p:cNvSpPr/>
          <p:nvPr/>
        </p:nvSpPr>
        <p:spPr>
          <a:xfrm>
            <a:off x="5495544" y="5365242"/>
            <a:ext cx="5907024" cy="752094"/>
          </a:xfrm>
          <a:prstGeom prst="rect">
            <a:avLst/>
          </a:prstGeom>
          <a:noFill/>
          <a:ln/>
        </p:spPr>
        <p:txBody>
          <a:bodyPr wrap="square" lIns="0" tIns="0" rIns="0" bIns="0" rtlCol="0" anchor="ctr">
            <a:normAutofit/>
          </a:bodyPr>
          <a:lstStyle/>
          <a:p>
            <a:pPr indent="0" marL="0">
              <a:buNone/>
            </a:pPr>
            <a:r>
              <a:rPr lang="en-US" sz="1380" dirty="0">
                <a:solidFill>
                  <a:srgbClr val="151B31"/>
                </a:solidFill>
                <a:latin typeface="Aptos" pitchFamily="34" charset="0"/>
                <a:ea typeface="Aptos" pitchFamily="34" charset="-122"/>
                <a:cs typeface="Aptos" pitchFamily="34" charset="-120"/>
              </a:rPr>
              <a:t>Troubleshooting value never justifies copying secrets or personal data</a:t>
            </a:r>
            <a:endParaRPr lang="en-US" sz="1380" dirty="0"/>
          </a:p>
        </p:txBody>
      </p:sp>
      <p:sp>
        <p:nvSpPr>
          <p:cNvPr id="47" name="Text 45"/>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learn.microsoft.com/agent-framework/agents/observability  ·  +3 more in notes</a:t>
            </a:r>
            <a:endParaRPr lang="en-US" sz="940" dirty="0"/>
          </a:p>
        </p:txBody>
      </p:sp>
      <p:sp>
        <p:nvSpPr>
          <p:cNvPr id="48" name="Shape 46"/>
          <p:cNvSpPr/>
          <p:nvPr/>
        </p:nvSpPr>
        <p:spPr>
          <a:xfrm>
            <a:off x="0" y="6793992"/>
            <a:ext cx="12191695" cy="64008"/>
          </a:xfrm>
          <a:prstGeom prst="rect">
            <a:avLst/>
          </a:prstGeom>
          <a:solidFill>
            <a:srgbClr val="16C7E8"/>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Checkpoint: slow is not the same as wrong</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08</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89888"/>
            <a:ext cx="5335524" cy="2308860"/>
          </a:xfrm>
          <a:prstGeom prst="roundRect">
            <a:avLst>
              <a:gd name="adj" fmla="val 3168"/>
            </a:avLst>
          </a:prstGeom>
          <a:solidFill>
            <a:srgbClr val="E4F7FB"/>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18" name="Shape 16"/>
          <p:cNvSpPr/>
          <p:nvPr/>
        </p:nvSpPr>
        <p:spPr>
          <a:xfrm>
            <a:off x="822960" y="1572768"/>
            <a:ext cx="384048" cy="384048"/>
          </a:xfrm>
          <a:prstGeom prst="ellipse">
            <a:avLst/>
          </a:prstGeom>
          <a:solidFill>
            <a:srgbClr val="16C7E8"/>
          </a:solidFill>
          <a:ln/>
        </p:spPr>
      </p:sp>
      <p:sp>
        <p:nvSpPr>
          <p:cNvPr id="19" name="Text 17"/>
          <p:cNvSpPr/>
          <p:nvPr/>
        </p:nvSpPr>
        <p:spPr>
          <a:xfrm>
            <a:off x="822960"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1</a:t>
            </a:r>
            <a:endParaRPr lang="en-US" sz="950" dirty="0"/>
          </a:p>
        </p:txBody>
      </p:sp>
      <p:sp>
        <p:nvSpPr>
          <p:cNvPr id="20" name="Text 18"/>
          <p:cNvSpPr/>
          <p:nvPr/>
        </p:nvSpPr>
        <p:spPr>
          <a:xfrm>
            <a:off x="1335024" y="1554480"/>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Where did time go?</a:t>
            </a:r>
            <a:endParaRPr lang="en-US" sz="1800" dirty="0"/>
          </a:p>
        </p:txBody>
      </p:sp>
      <p:sp>
        <p:nvSpPr>
          <p:cNvPr id="21" name="Text 19"/>
          <p:cNvSpPr/>
          <p:nvPr/>
        </p:nvSpPr>
        <p:spPr>
          <a:xfrm>
            <a:off x="896112" y="2194560"/>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Compare span durations and relationships; the supplied trace points to retrieval</a:t>
            </a:r>
            <a:endParaRPr lang="en-US" sz="1420" dirty="0"/>
          </a:p>
        </p:txBody>
      </p:sp>
      <p:sp>
        <p:nvSpPr>
          <p:cNvPr id="22" name="Shape 20"/>
          <p:cNvSpPr/>
          <p:nvPr/>
        </p:nvSpPr>
        <p:spPr>
          <a:xfrm>
            <a:off x="6213348" y="1389888"/>
            <a:ext cx="5335524" cy="2308860"/>
          </a:xfrm>
          <a:prstGeom prst="roundRect">
            <a:avLst>
              <a:gd name="adj" fmla="val 3168"/>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3" name="Shape 21"/>
          <p:cNvSpPr/>
          <p:nvPr/>
        </p:nvSpPr>
        <p:spPr>
          <a:xfrm>
            <a:off x="6396228" y="1572768"/>
            <a:ext cx="384048" cy="384048"/>
          </a:xfrm>
          <a:prstGeom prst="ellipse">
            <a:avLst/>
          </a:prstGeom>
          <a:solidFill>
            <a:srgbClr val="8B5CF6"/>
          </a:solidFill>
          <a:ln/>
        </p:spPr>
      </p:sp>
      <p:sp>
        <p:nvSpPr>
          <p:cNvPr id="24" name="Text 22"/>
          <p:cNvSpPr/>
          <p:nvPr/>
        </p:nvSpPr>
        <p:spPr>
          <a:xfrm>
            <a:off x="6396228" y="1682496"/>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2</a:t>
            </a:r>
            <a:endParaRPr lang="en-US" sz="950" dirty="0"/>
          </a:p>
        </p:txBody>
      </p:sp>
      <p:sp>
        <p:nvSpPr>
          <p:cNvPr id="25" name="Text 23"/>
          <p:cNvSpPr/>
          <p:nvPr/>
        </p:nvSpPr>
        <p:spPr>
          <a:xfrm>
            <a:off x="6908292" y="1554480"/>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Did anything fail?</a:t>
            </a:r>
            <a:endParaRPr lang="en-US" sz="1800" dirty="0"/>
          </a:p>
        </p:txBody>
      </p:sp>
      <p:sp>
        <p:nvSpPr>
          <p:cNvPr id="26" name="Text 24"/>
          <p:cNvSpPr/>
          <p:nvPr/>
        </p:nvSpPr>
        <p:spPr>
          <a:xfrm>
            <a:off x="6469380" y="2194560"/>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Check status and error attributes; a long operation can still succeed</a:t>
            </a:r>
            <a:endParaRPr lang="en-US" sz="1420" dirty="0"/>
          </a:p>
        </p:txBody>
      </p:sp>
      <p:sp>
        <p:nvSpPr>
          <p:cNvPr id="27" name="Shape 25"/>
          <p:cNvSpPr/>
          <p:nvPr/>
        </p:nvSpPr>
        <p:spPr>
          <a:xfrm>
            <a:off x="640080" y="3936492"/>
            <a:ext cx="5335524" cy="2308860"/>
          </a:xfrm>
          <a:prstGeom prst="roundRect">
            <a:avLst>
              <a:gd name="adj" fmla="val 3168"/>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28" name="Shape 26"/>
          <p:cNvSpPr/>
          <p:nvPr/>
        </p:nvSpPr>
        <p:spPr>
          <a:xfrm>
            <a:off x="822960" y="4119372"/>
            <a:ext cx="384048" cy="384048"/>
          </a:xfrm>
          <a:prstGeom prst="ellipse">
            <a:avLst/>
          </a:prstGeom>
          <a:solidFill>
            <a:srgbClr val="16C7E8"/>
          </a:solidFill>
          <a:ln/>
        </p:spPr>
      </p:sp>
      <p:sp>
        <p:nvSpPr>
          <p:cNvPr id="29" name="Text 27"/>
          <p:cNvSpPr/>
          <p:nvPr/>
        </p:nvSpPr>
        <p:spPr>
          <a:xfrm>
            <a:off x="822960" y="4229100"/>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3</a:t>
            </a:r>
            <a:endParaRPr lang="en-US" sz="950" dirty="0"/>
          </a:p>
        </p:txBody>
      </p:sp>
      <p:sp>
        <p:nvSpPr>
          <p:cNvPr id="30" name="Text 28"/>
          <p:cNvSpPr/>
          <p:nvPr/>
        </p:nvSpPr>
        <p:spPr>
          <a:xfrm>
            <a:off x="1335024" y="4101084"/>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Was the answer good?</a:t>
            </a:r>
            <a:endParaRPr lang="en-US" sz="1800" dirty="0"/>
          </a:p>
        </p:txBody>
      </p:sp>
      <p:sp>
        <p:nvSpPr>
          <p:cNvPr id="31" name="Text 29"/>
          <p:cNvSpPr/>
          <p:nvPr/>
        </p:nvSpPr>
        <p:spPr>
          <a:xfrm>
            <a:off x="896112" y="4741164"/>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Use an evaluator or reviewed answer against explicit criteria</a:t>
            </a:r>
            <a:endParaRPr lang="en-US" sz="1420" dirty="0"/>
          </a:p>
        </p:txBody>
      </p:sp>
      <p:sp>
        <p:nvSpPr>
          <p:cNvPr id="32" name="Shape 30"/>
          <p:cNvSpPr/>
          <p:nvPr/>
        </p:nvSpPr>
        <p:spPr>
          <a:xfrm>
            <a:off x="6213348" y="3936492"/>
            <a:ext cx="5335524" cy="2308860"/>
          </a:xfrm>
          <a:prstGeom prst="roundRect">
            <a:avLst>
              <a:gd name="adj" fmla="val 3168"/>
            </a:avLst>
          </a:prstGeom>
          <a:solidFill>
            <a:srgbClr val="FFFFFF"/>
          </a:solidFill>
          <a:ln w="10160">
            <a:solidFill>
              <a:srgbClr val="E4F7FB"/>
            </a:solidFill>
            <a:prstDash val="solid"/>
          </a:ln>
          <a:effectLst>
            <a:outerShdw sx="100000" sy="100000" kx="0" ky="0" algn="bl" rotWithShape="0" blurRad="50800" dist="19050" dir="8100000">
              <a:srgbClr val="111827">
                <a:alpha val="11000"/>
              </a:srgbClr>
            </a:outerShdw>
          </a:effectLst>
        </p:spPr>
      </p:sp>
      <p:sp>
        <p:nvSpPr>
          <p:cNvPr id="33" name="Shape 31"/>
          <p:cNvSpPr/>
          <p:nvPr/>
        </p:nvSpPr>
        <p:spPr>
          <a:xfrm>
            <a:off x="6396228" y="4119372"/>
            <a:ext cx="384048" cy="384048"/>
          </a:xfrm>
          <a:prstGeom prst="ellipse">
            <a:avLst/>
          </a:prstGeom>
          <a:solidFill>
            <a:srgbClr val="8B5CF6"/>
          </a:solidFill>
          <a:ln/>
        </p:spPr>
      </p:sp>
      <p:sp>
        <p:nvSpPr>
          <p:cNvPr id="34" name="Text 32"/>
          <p:cNvSpPr/>
          <p:nvPr/>
        </p:nvSpPr>
        <p:spPr>
          <a:xfrm>
            <a:off x="6396228" y="4229100"/>
            <a:ext cx="384048" cy="109728"/>
          </a:xfrm>
          <a:prstGeom prst="rect">
            <a:avLst/>
          </a:prstGeom>
          <a:noFill/>
          <a:ln/>
        </p:spPr>
        <p:txBody>
          <a:bodyPr wrap="square" lIns="0" tIns="0" rIns="0" bIns="0" rtlCol="0" anchor="ctr"/>
          <a:lstStyle/>
          <a:p>
            <a:pPr algn="ctr" indent="0" marL="0">
              <a:buNone/>
            </a:pPr>
            <a:r>
              <a:rPr lang="en-US" sz="950" b="1" dirty="0">
                <a:solidFill>
                  <a:srgbClr val="11162B"/>
                </a:solidFill>
                <a:latin typeface="Aptos" pitchFamily="34" charset="0"/>
                <a:ea typeface="Aptos" pitchFamily="34" charset="-122"/>
                <a:cs typeface="Aptos" pitchFamily="34" charset="-120"/>
              </a:rPr>
              <a:t>4</a:t>
            </a:r>
            <a:endParaRPr lang="en-US" sz="950" dirty="0"/>
          </a:p>
        </p:txBody>
      </p:sp>
      <p:sp>
        <p:nvSpPr>
          <p:cNvPr id="35" name="Text 33"/>
          <p:cNvSpPr/>
          <p:nvPr/>
        </p:nvSpPr>
        <p:spPr>
          <a:xfrm>
            <a:off x="6908292" y="4101084"/>
            <a:ext cx="4439412" cy="493776"/>
          </a:xfrm>
          <a:prstGeom prst="rect">
            <a:avLst/>
          </a:prstGeom>
          <a:noFill/>
          <a:ln/>
        </p:spPr>
        <p:txBody>
          <a:bodyPr wrap="square" lIns="0" tIns="0" rIns="0" bIns="0" rtlCol="0" anchor="ctr">
            <a:normAutofit/>
          </a:bodyPr>
          <a:lstStyle/>
          <a:p>
            <a:pPr indent="0" marL="0">
              <a:buNone/>
            </a:pPr>
            <a:r>
              <a:rPr lang="en-US" sz="1800" b="1" dirty="0">
                <a:solidFill>
                  <a:srgbClr val="11162B"/>
                </a:solidFill>
                <a:latin typeface="Aptos Display" pitchFamily="34" charset="0"/>
                <a:ea typeface="Aptos Display" pitchFamily="34" charset="-122"/>
                <a:cs typeface="Aptos Display" pitchFamily="34" charset="-120"/>
              </a:rPr>
              <a:t>What remains unknown?</a:t>
            </a:r>
            <a:endParaRPr lang="en-US" sz="1800" dirty="0"/>
          </a:p>
        </p:txBody>
      </p:sp>
      <p:sp>
        <p:nvSpPr>
          <p:cNvPr id="36" name="Text 34"/>
          <p:cNvSpPr/>
          <p:nvPr/>
        </p:nvSpPr>
        <p:spPr>
          <a:xfrm>
            <a:off x="6469380" y="4741164"/>
            <a:ext cx="4823460" cy="1321308"/>
          </a:xfrm>
          <a:prstGeom prst="rect">
            <a:avLst/>
          </a:prstGeom>
          <a:noFill/>
          <a:ln/>
        </p:spPr>
        <p:txBody>
          <a:bodyPr wrap="square" lIns="0" tIns="0" rIns="0" bIns="0" rtlCol="0" anchor="t">
            <a:normAutofit/>
          </a:bodyPr>
          <a:lstStyle/>
          <a:p>
            <a:pPr marL="342900" indent="-342900">
              <a:buSzPct val="100000"/>
              <a:buChar char="•"/>
            </a:pPr>
            <a:r>
              <a:rPr lang="en-US" sz="1420" dirty="0">
                <a:solidFill>
                  <a:srgbClr val="151B31"/>
                </a:solidFill>
                <a:latin typeface="Aptos" pitchFamily="34" charset="0"/>
                <a:ea typeface="Aptos" pitchFamily="34" charset="-122"/>
                <a:cs typeface="Aptos" pitchFamily="34" charset="-120"/>
              </a:rPr>
              <a:t>Unrecorded work and private model reasoning are not guaranteed trace evidence</a:t>
            </a:r>
            <a:endParaRPr lang="en-US" sz="1420" dirty="0"/>
          </a:p>
        </p:txBody>
      </p:sp>
      <p:sp>
        <p:nvSpPr>
          <p:cNvPr id="37" name="Text 35"/>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learn.microsoft.com/azure/foundry/observability/concepts/trace-agent-concept  ·  +1 more in notes</a:t>
            </a:r>
            <a:endParaRPr lang="en-US" sz="940" dirty="0"/>
          </a:p>
        </p:txBody>
      </p:sp>
      <p:sp>
        <p:nvSpPr>
          <p:cNvPr id="38" name="Shape 36"/>
          <p:cNvSpPr/>
          <p:nvPr/>
        </p:nvSpPr>
        <p:spPr>
          <a:xfrm>
            <a:off x="0" y="6793992"/>
            <a:ext cx="12191695" cy="64008"/>
          </a:xfrm>
          <a:prstGeom prst="rect">
            <a:avLst/>
          </a:prstGeom>
          <a:solidFill>
            <a:srgbClr val="16C7E8"/>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AFD"/>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11162B"/>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1  /  SIGNAL PATH</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11162B"/>
                </a:solidFill>
                <a:latin typeface="Aptos Display" pitchFamily="34" charset="0"/>
                <a:ea typeface="Aptos Display" pitchFamily="34" charset="-122"/>
                <a:cs typeface="Aptos Display" pitchFamily="34" charset="-120"/>
              </a:rPr>
              <a:t>Takeaways</a:t>
            </a:r>
            <a:endParaRPr lang="en-US" sz="3100" dirty="0"/>
          </a:p>
        </p:txBody>
      </p:sp>
      <p:sp>
        <p:nvSpPr>
          <p:cNvPr id="5" name="Shape 3"/>
          <p:cNvSpPr/>
          <p:nvPr/>
        </p:nvSpPr>
        <p:spPr>
          <a:xfrm>
            <a:off x="10857220" y="548640"/>
            <a:ext cx="164592" cy="197510"/>
          </a:xfrm>
          <a:prstGeom prst="line">
            <a:avLst/>
          </a:prstGeom>
          <a:noFill/>
          <a:ln w="25400">
            <a:solidFill>
              <a:srgbClr val="11162B"/>
            </a:solidFill>
            <a:prstDash val="solid"/>
          </a:ln>
        </p:spPr>
      </p:sp>
      <p:sp>
        <p:nvSpPr>
          <p:cNvPr id="6" name="Shape 4"/>
          <p:cNvSpPr/>
          <p:nvPr/>
        </p:nvSpPr>
        <p:spPr>
          <a:xfrm>
            <a:off x="11034979" y="542056"/>
            <a:ext cx="158008" cy="164592"/>
          </a:xfrm>
          <a:prstGeom prst="line">
            <a:avLst/>
          </a:prstGeom>
          <a:noFill/>
          <a:ln w="25400">
            <a:solidFill>
              <a:srgbClr val="11162B"/>
            </a:solidFill>
            <a:prstDash val="solid"/>
          </a:ln>
        </p:spPr>
      </p:sp>
      <p:sp>
        <p:nvSpPr>
          <p:cNvPr id="7" name="Shape 5"/>
          <p:cNvSpPr/>
          <p:nvPr/>
        </p:nvSpPr>
        <p:spPr>
          <a:xfrm>
            <a:off x="11199571" y="502554"/>
            <a:ext cx="158008" cy="197510"/>
          </a:xfrm>
          <a:prstGeom prst="line">
            <a:avLst/>
          </a:prstGeom>
          <a:noFill/>
          <a:ln w="25400">
            <a:solidFill>
              <a:srgbClr val="11162B"/>
            </a:solidFill>
            <a:prstDash val="solid"/>
          </a:ln>
        </p:spPr>
      </p:sp>
      <p:sp>
        <p:nvSpPr>
          <p:cNvPr id="8" name="Shape 6"/>
          <p:cNvSpPr/>
          <p:nvPr/>
        </p:nvSpPr>
        <p:spPr>
          <a:xfrm>
            <a:off x="11199571" y="713232"/>
            <a:ext cx="158008" cy="184343"/>
          </a:xfrm>
          <a:prstGeom prst="line">
            <a:avLst/>
          </a:prstGeom>
          <a:noFill/>
          <a:ln w="25400">
            <a:solidFill>
              <a:srgbClr val="11162B"/>
            </a:solidFill>
            <a:prstDash val="dash"/>
          </a:ln>
        </p:spPr>
      </p:sp>
      <p:sp>
        <p:nvSpPr>
          <p:cNvPr id="9" name="Shape 7"/>
          <p:cNvSpPr/>
          <p:nvPr/>
        </p:nvSpPr>
        <p:spPr>
          <a:xfrm>
            <a:off x="10824301" y="726399"/>
            <a:ext cx="98755" cy="98755"/>
          </a:xfrm>
          <a:prstGeom prst="ellipse">
            <a:avLst/>
          </a:prstGeom>
          <a:solidFill>
            <a:srgbClr val="E4F7FB"/>
          </a:solidFill>
          <a:ln w="10160">
            <a:solidFill>
              <a:srgbClr val="11162B"/>
            </a:solidFill>
            <a:prstDash val="solid"/>
          </a:ln>
        </p:spPr>
      </p:sp>
      <p:sp>
        <p:nvSpPr>
          <p:cNvPr id="10" name="Shape 8"/>
          <p:cNvSpPr/>
          <p:nvPr/>
        </p:nvSpPr>
        <p:spPr>
          <a:xfrm>
            <a:off x="11008644" y="502554"/>
            <a:ext cx="98755" cy="98755"/>
          </a:xfrm>
          <a:prstGeom prst="ellipse">
            <a:avLst/>
          </a:prstGeom>
          <a:solidFill>
            <a:srgbClr val="E4F7FB"/>
          </a:solidFill>
          <a:ln w="10160">
            <a:solidFill>
              <a:srgbClr val="11162B"/>
            </a:solidFill>
            <a:prstDash val="solid"/>
          </a:ln>
        </p:spPr>
      </p:sp>
      <p:sp>
        <p:nvSpPr>
          <p:cNvPr id="11" name="Shape 9"/>
          <p:cNvSpPr/>
          <p:nvPr/>
        </p:nvSpPr>
        <p:spPr>
          <a:xfrm>
            <a:off x="11179820" y="700065"/>
            <a:ext cx="98755" cy="98755"/>
          </a:xfrm>
          <a:prstGeom prst="ellipse">
            <a:avLst/>
          </a:prstGeom>
          <a:solidFill>
            <a:srgbClr val="16C7E8"/>
          </a:solidFill>
          <a:ln w="10160">
            <a:solidFill>
              <a:srgbClr val="11162B"/>
            </a:solidFill>
            <a:prstDash val="solid"/>
          </a:ln>
        </p:spPr>
      </p:sp>
      <p:sp>
        <p:nvSpPr>
          <p:cNvPr id="12" name="Shape 10"/>
          <p:cNvSpPr/>
          <p:nvPr/>
        </p:nvSpPr>
        <p:spPr>
          <a:xfrm>
            <a:off x="11350996" y="463052"/>
            <a:ext cx="98755" cy="98755"/>
          </a:xfrm>
          <a:prstGeom prst="ellipse">
            <a:avLst/>
          </a:prstGeom>
          <a:solidFill>
            <a:srgbClr val="E4F7FB"/>
          </a:solidFill>
          <a:ln w="10160">
            <a:solidFill>
              <a:srgbClr val="11162B"/>
            </a:solidFill>
            <a:prstDash val="solid"/>
          </a:ln>
        </p:spPr>
      </p:sp>
      <p:sp>
        <p:nvSpPr>
          <p:cNvPr id="13" name="Shape 11"/>
          <p:cNvSpPr/>
          <p:nvPr/>
        </p:nvSpPr>
        <p:spPr>
          <a:xfrm>
            <a:off x="11377331" y="923910"/>
            <a:ext cx="98755" cy="98755"/>
          </a:xfrm>
          <a:prstGeom prst="ellipse">
            <a:avLst/>
          </a:prstGeom>
          <a:solidFill>
            <a:srgbClr val="E4F7FB"/>
          </a:solidFill>
          <a:ln w="10160">
            <a:solidFill>
              <a:srgbClr val="11162B"/>
            </a:solidFill>
            <a:prstDash val="solid"/>
          </a:ln>
        </p:spPr>
      </p:sp>
      <p:sp>
        <p:nvSpPr>
          <p:cNvPr id="14" name="Shape 12"/>
          <p:cNvSpPr/>
          <p:nvPr/>
        </p:nvSpPr>
        <p:spPr>
          <a:xfrm>
            <a:off x="11612880" y="457200"/>
            <a:ext cx="329184" cy="329184"/>
          </a:xfrm>
          <a:prstGeom prst="ellipse">
            <a:avLst/>
          </a:prstGeom>
          <a:solidFill>
            <a:srgbClr val="16C7E8"/>
          </a:solidFill>
          <a:ln/>
        </p:spPr>
      </p:sp>
      <p:sp>
        <p:nvSpPr>
          <p:cNvPr id="15" name="Text 13"/>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11162B"/>
                </a:solidFill>
                <a:latin typeface="Aptos" pitchFamily="34" charset="0"/>
                <a:ea typeface="Aptos" pitchFamily="34" charset="-122"/>
                <a:cs typeface="Aptos" pitchFamily="34" charset="-120"/>
              </a:rPr>
              <a:t>09</a:t>
            </a:r>
            <a:endParaRPr lang="en-US" sz="850" dirty="0"/>
          </a:p>
        </p:txBody>
      </p:sp>
      <p:sp>
        <p:nvSpPr>
          <p:cNvPr id="16" name="Shape 14"/>
          <p:cNvSpPr/>
          <p:nvPr/>
        </p:nvSpPr>
        <p:spPr>
          <a:xfrm>
            <a:off x="9829800" y="1005840"/>
            <a:ext cx="2148840" cy="2148840"/>
          </a:xfrm>
          <a:prstGeom prst="ellipse">
            <a:avLst/>
          </a:prstGeom>
          <a:solidFill>
            <a:srgbClr val="E4F7FB"/>
          </a:solidFill>
          <a:ln/>
        </p:spPr>
      </p:sp>
      <p:sp>
        <p:nvSpPr>
          <p:cNvPr id="17" name="Shape 15"/>
          <p:cNvSpPr/>
          <p:nvPr/>
        </p:nvSpPr>
        <p:spPr>
          <a:xfrm>
            <a:off x="640080" y="1371600"/>
            <a:ext cx="2788920" cy="4736592"/>
          </a:xfrm>
          <a:prstGeom prst="roundRect">
            <a:avLst>
              <a:gd name="adj" fmla="val 2623"/>
            </a:avLst>
          </a:prstGeom>
          <a:solidFill>
            <a:srgbClr val="11162B"/>
          </a:solidFill>
          <a:ln/>
        </p:spPr>
      </p:sp>
      <p:sp>
        <p:nvSpPr>
          <p:cNvPr id="18" name="Text 16"/>
          <p:cNvSpPr/>
          <p:nvPr/>
        </p:nvSpPr>
        <p:spPr>
          <a:xfrm>
            <a:off x="941832" y="1828800"/>
            <a:ext cx="2103120" cy="1920240"/>
          </a:xfrm>
          <a:prstGeom prst="rect">
            <a:avLst/>
          </a:prstGeom>
          <a:noFill/>
          <a:ln/>
        </p:spPr>
        <p:txBody>
          <a:bodyPr wrap="square" lIns="0" tIns="0" rIns="0" bIns="0" rtlCol="0" anchor="ct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9" name="Shape 17"/>
          <p:cNvSpPr/>
          <p:nvPr/>
        </p:nvSpPr>
        <p:spPr>
          <a:xfrm>
            <a:off x="1458011" y="4537710"/>
            <a:ext cx="377190" cy="452628"/>
          </a:xfrm>
          <a:prstGeom prst="line">
            <a:avLst/>
          </a:prstGeom>
          <a:noFill/>
          <a:ln w="25400">
            <a:solidFill>
              <a:srgbClr val="FFFFFF"/>
            </a:solidFill>
            <a:prstDash val="solid"/>
          </a:ln>
        </p:spPr>
      </p:sp>
      <p:sp>
        <p:nvSpPr>
          <p:cNvPr id="20" name="Shape 18"/>
          <p:cNvSpPr/>
          <p:nvPr/>
        </p:nvSpPr>
        <p:spPr>
          <a:xfrm>
            <a:off x="1865376" y="4522622"/>
            <a:ext cx="362102" cy="377190"/>
          </a:xfrm>
          <a:prstGeom prst="line">
            <a:avLst/>
          </a:prstGeom>
          <a:noFill/>
          <a:ln w="25400">
            <a:solidFill>
              <a:srgbClr val="FFFFFF"/>
            </a:solidFill>
            <a:prstDash val="solid"/>
          </a:ln>
        </p:spPr>
      </p:sp>
      <p:sp>
        <p:nvSpPr>
          <p:cNvPr id="21" name="Shape 19"/>
          <p:cNvSpPr/>
          <p:nvPr/>
        </p:nvSpPr>
        <p:spPr>
          <a:xfrm>
            <a:off x="2242566" y="4432097"/>
            <a:ext cx="362102" cy="452628"/>
          </a:xfrm>
          <a:prstGeom prst="line">
            <a:avLst/>
          </a:prstGeom>
          <a:noFill/>
          <a:ln w="25400">
            <a:solidFill>
              <a:srgbClr val="FFFFFF"/>
            </a:solidFill>
            <a:prstDash val="solid"/>
          </a:ln>
        </p:spPr>
      </p:sp>
      <p:sp>
        <p:nvSpPr>
          <p:cNvPr id="22" name="Shape 20"/>
          <p:cNvSpPr/>
          <p:nvPr/>
        </p:nvSpPr>
        <p:spPr>
          <a:xfrm>
            <a:off x="2242566" y="4914900"/>
            <a:ext cx="362102" cy="422453"/>
          </a:xfrm>
          <a:prstGeom prst="line">
            <a:avLst/>
          </a:prstGeom>
          <a:noFill/>
          <a:ln w="25400">
            <a:solidFill>
              <a:srgbClr val="FFFFFF"/>
            </a:solidFill>
            <a:prstDash val="dash"/>
          </a:ln>
        </p:spPr>
      </p:sp>
      <p:sp>
        <p:nvSpPr>
          <p:cNvPr id="23" name="Shape 21"/>
          <p:cNvSpPr/>
          <p:nvPr/>
        </p:nvSpPr>
        <p:spPr>
          <a:xfrm>
            <a:off x="1382573" y="4945075"/>
            <a:ext cx="226314" cy="226314"/>
          </a:xfrm>
          <a:prstGeom prst="ellipse">
            <a:avLst/>
          </a:prstGeom>
          <a:solidFill>
            <a:srgbClr val="8B5CF6"/>
          </a:solidFill>
          <a:ln w="10160">
            <a:solidFill>
              <a:srgbClr val="FFFFFF"/>
            </a:solidFill>
            <a:prstDash val="solid"/>
          </a:ln>
        </p:spPr>
      </p:sp>
      <p:sp>
        <p:nvSpPr>
          <p:cNvPr id="24" name="Shape 22"/>
          <p:cNvSpPr/>
          <p:nvPr/>
        </p:nvSpPr>
        <p:spPr>
          <a:xfrm>
            <a:off x="1805026" y="4432097"/>
            <a:ext cx="226314" cy="226314"/>
          </a:xfrm>
          <a:prstGeom prst="ellipse">
            <a:avLst/>
          </a:prstGeom>
          <a:solidFill>
            <a:srgbClr val="8B5CF6"/>
          </a:solidFill>
          <a:ln w="10160">
            <a:solidFill>
              <a:srgbClr val="FFFFFF"/>
            </a:solidFill>
            <a:prstDash val="solid"/>
          </a:ln>
        </p:spPr>
      </p:sp>
      <p:sp>
        <p:nvSpPr>
          <p:cNvPr id="25" name="Shape 23"/>
          <p:cNvSpPr/>
          <p:nvPr/>
        </p:nvSpPr>
        <p:spPr>
          <a:xfrm>
            <a:off x="2197303" y="4884725"/>
            <a:ext cx="226314" cy="226314"/>
          </a:xfrm>
          <a:prstGeom prst="ellipse">
            <a:avLst/>
          </a:prstGeom>
          <a:solidFill>
            <a:srgbClr val="16C7E8"/>
          </a:solidFill>
          <a:ln w="10160">
            <a:solidFill>
              <a:srgbClr val="FFFFFF"/>
            </a:solidFill>
            <a:prstDash val="solid"/>
          </a:ln>
        </p:spPr>
      </p:sp>
      <p:sp>
        <p:nvSpPr>
          <p:cNvPr id="26" name="Shape 24"/>
          <p:cNvSpPr/>
          <p:nvPr/>
        </p:nvSpPr>
        <p:spPr>
          <a:xfrm>
            <a:off x="2589581" y="4341571"/>
            <a:ext cx="226314" cy="226314"/>
          </a:xfrm>
          <a:prstGeom prst="ellipse">
            <a:avLst/>
          </a:prstGeom>
          <a:solidFill>
            <a:srgbClr val="8B5CF6"/>
          </a:solidFill>
          <a:ln w="10160">
            <a:solidFill>
              <a:srgbClr val="FFFFFF"/>
            </a:solidFill>
            <a:prstDash val="solid"/>
          </a:ln>
        </p:spPr>
      </p:sp>
      <p:sp>
        <p:nvSpPr>
          <p:cNvPr id="27" name="Shape 25"/>
          <p:cNvSpPr/>
          <p:nvPr/>
        </p:nvSpPr>
        <p:spPr>
          <a:xfrm>
            <a:off x="2649931" y="5397703"/>
            <a:ext cx="226314" cy="226314"/>
          </a:xfrm>
          <a:prstGeom prst="ellipse">
            <a:avLst/>
          </a:prstGeom>
          <a:solidFill>
            <a:srgbClr val="8B5CF6"/>
          </a:solidFill>
          <a:ln w="10160">
            <a:solidFill>
              <a:srgbClr val="FFFFFF"/>
            </a:solidFill>
            <a:prstDash val="solid"/>
          </a:ln>
        </p:spPr>
      </p:sp>
      <p:sp>
        <p:nvSpPr>
          <p:cNvPr id="28" name="Shape 26"/>
          <p:cNvSpPr/>
          <p:nvPr/>
        </p:nvSpPr>
        <p:spPr>
          <a:xfrm>
            <a:off x="3712464" y="1371600"/>
            <a:ext cx="3799332" cy="1420368"/>
          </a:xfrm>
          <a:prstGeom prst="roundRect">
            <a:avLst>
              <a:gd name="adj" fmla="val 5150"/>
            </a:avLst>
          </a:prstGeom>
          <a:solidFill>
            <a:srgbClr val="FFFFFF"/>
          </a:solidFill>
          <a:ln w="10160">
            <a:solidFill>
              <a:srgbClr val="E4F7FB"/>
            </a:solidFill>
            <a:prstDash val="solid"/>
          </a:ln>
        </p:spPr>
      </p:sp>
      <p:sp>
        <p:nvSpPr>
          <p:cNvPr id="29" name="Shape 27"/>
          <p:cNvSpPr/>
          <p:nvPr/>
        </p:nvSpPr>
        <p:spPr>
          <a:xfrm>
            <a:off x="3895344" y="1880616"/>
            <a:ext cx="402336" cy="402336"/>
          </a:xfrm>
          <a:prstGeom prst="ellipse">
            <a:avLst/>
          </a:prstGeom>
          <a:solidFill>
            <a:srgbClr val="16C7E8"/>
          </a:solidFill>
          <a:ln/>
        </p:spPr>
      </p:sp>
      <p:sp>
        <p:nvSpPr>
          <p:cNvPr id="30" name="Text 28"/>
          <p:cNvSpPr/>
          <p:nvPr/>
        </p:nvSpPr>
        <p:spPr>
          <a:xfrm>
            <a:off x="3895344" y="2017776"/>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1</a:t>
            </a:r>
            <a:endParaRPr lang="en-US" sz="900" dirty="0"/>
          </a:p>
        </p:txBody>
      </p:sp>
      <p:sp>
        <p:nvSpPr>
          <p:cNvPr id="31" name="Text 29"/>
          <p:cNvSpPr/>
          <p:nvPr/>
        </p:nvSpPr>
        <p:spPr>
          <a:xfrm>
            <a:off x="4462272"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Observability explains behavior; monitoring watches signals over time; evaluation judges quality or safety.</a:t>
            </a:r>
            <a:endParaRPr lang="en-US" sz="1530" dirty="0"/>
          </a:p>
        </p:txBody>
      </p:sp>
      <p:sp>
        <p:nvSpPr>
          <p:cNvPr id="32" name="Shape 30"/>
          <p:cNvSpPr/>
          <p:nvPr/>
        </p:nvSpPr>
        <p:spPr>
          <a:xfrm>
            <a:off x="7749540" y="1371600"/>
            <a:ext cx="3799332" cy="1420368"/>
          </a:xfrm>
          <a:prstGeom prst="roundRect">
            <a:avLst>
              <a:gd name="adj" fmla="val 5150"/>
            </a:avLst>
          </a:prstGeom>
          <a:solidFill>
            <a:srgbClr val="FFFFFF"/>
          </a:solidFill>
          <a:ln w="10160">
            <a:solidFill>
              <a:srgbClr val="E4F7FB"/>
            </a:solidFill>
            <a:prstDash val="solid"/>
          </a:ln>
        </p:spPr>
      </p:sp>
      <p:sp>
        <p:nvSpPr>
          <p:cNvPr id="33" name="Shape 31"/>
          <p:cNvSpPr/>
          <p:nvPr/>
        </p:nvSpPr>
        <p:spPr>
          <a:xfrm>
            <a:off x="7932420" y="1880616"/>
            <a:ext cx="402336" cy="402336"/>
          </a:xfrm>
          <a:prstGeom prst="ellipse">
            <a:avLst/>
          </a:prstGeom>
          <a:solidFill>
            <a:srgbClr val="16C7E8"/>
          </a:solidFill>
          <a:ln/>
        </p:spPr>
      </p:sp>
      <p:sp>
        <p:nvSpPr>
          <p:cNvPr id="34" name="Text 32"/>
          <p:cNvSpPr/>
          <p:nvPr/>
        </p:nvSpPr>
        <p:spPr>
          <a:xfrm>
            <a:off x="7932420" y="2017776"/>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2</a:t>
            </a:r>
            <a:endParaRPr lang="en-US" sz="900" dirty="0"/>
          </a:p>
        </p:txBody>
      </p:sp>
      <p:sp>
        <p:nvSpPr>
          <p:cNvPr id="35" name="Text 33"/>
          <p:cNvSpPr/>
          <p:nvPr/>
        </p:nvSpPr>
        <p:spPr>
          <a:xfrm>
            <a:off x="8499348"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A trace contains spans, and spans carry attributes; console events are not automatically cloud traces.</a:t>
            </a:r>
            <a:endParaRPr lang="en-US" sz="1530" dirty="0"/>
          </a:p>
        </p:txBody>
      </p:sp>
      <p:sp>
        <p:nvSpPr>
          <p:cNvPr id="36" name="Shape 34"/>
          <p:cNvSpPr/>
          <p:nvPr/>
        </p:nvSpPr>
        <p:spPr>
          <a:xfrm>
            <a:off x="3712464" y="3029712"/>
            <a:ext cx="3799332" cy="1420368"/>
          </a:xfrm>
          <a:prstGeom prst="roundRect">
            <a:avLst>
              <a:gd name="adj" fmla="val 5150"/>
            </a:avLst>
          </a:prstGeom>
          <a:solidFill>
            <a:srgbClr val="FFFFFF"/>
          </a:solidFill>
          <a:ln w="10160">
            <a:solidFill>
              <a:srgbClr val="E4F7FB"/>
            </a:solidFill>
            <a:prstDash val="solid"/>
          </a:ln>
        </p:spPr>
      </p:sp>
      <p:sp>
        <p:nvSpPr>
          <p:cNvPr id="37" name="Shape 35"/>
          <p:cNvSpPr/>
          <p:nvPr/>
        </p:nvSpPr>
        <p:spPr>
          <a:xfrm>
            <a:off x="3895344" y="3538728"/>
            <a:ext cx="402336" cy="402336"/>
          </a:xfrm>
          <a:prstGeom prst="ellipse">
            <a:avLst/>
          </a:prstGeom>
          <a:solidFill>
            <a:srgbClr val="16C7E8"/>
          </a:solidFill>
          <a:ln/>
        </p:spPr>
      </p:sp>
      <p:sp>
        <p:nvSpPr>
          <p:cNvPr id="38" name="Text 36"/>
          <p:cNvSpPr/>
          <p:nvPr/>
        </p:nvSpPr>
        <p:spPr>
          <a:xfrm>
            <a:off x="3895344" y="3675888"/>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3</a:t>
            </a:r>
            <a:endParaRPr lang="en-US" sz="900" dirty="0"/>
          </a:p>
        </p:txBody>
      </p:sp>
      <p:sp>
        <p:nvSpPr>
          <p:cNvPr id="39" name="Text 37"/>
          <p:cNvSpPr/>
          <p:nvPr/>
        </p:nvSpPr>
        <p:spPr>
          <a:xfrm>
            <a:off x="4462272"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OpenTelemetry links express causal workflow handoffs without inventing parent/child nesting.</a:t>
            </a:r>
            <a:endParaRPr lang="en-US" sz="1530" dirty="0"/>
          </a:p>
        </p:txBody>
      </p:sp>
      <p:sp>
        <p:nvSpPr>
          <p:cNvPr id="40" name="Shape 38"/>
          <p:cNvSpPr/>
          <p:nvPr/>
        </p:nvSpPr>
        <p:spPr>
          <a:xfrm>
            <a:off x="7749540" y="3029712"/>
            <a:ext cx="3799332" cy="1420368"/>
          </a:xfrm>
          <a:prstGeom prst="roundRect">
            <a:avLst>
              <a:gd name="adj" fmla="val 5150"/>
            </a:avLst>
          </a:prstGeom>
          <a:solidFill>
            <a:srgbClr val="FFFFFF"/>
          </a:solidFill>
          <a:ln w="10160">
            <a:solidFill>
              <a:srgbClr val="E4F7FB"/>
            </a:solidFill>
            <a:prstDash val="solid"/>
          </a:ln>
        </p:spPr>
      </p:sp>
      <p:sp>
        <p:nvSpPr>
          <p:cNvPr id="41" name="Shape 39"/>
          <p:cNvSpPr/>
          <p:nvPr/>
        </p:nvSpPr>
        <p:spPr>
          <a:xfrm>
            <a:off x="7932420" y="3538728"/>
            <a:ext cx="402336" cy="402336"/>
          </a:xfrm>
          <a:prstGeom prst="ellipse">
            <a:avLst/>
          </a:prstGeom>
          <a:solidFill>
            <a:srgbClr val="16C7E8"/>
          </a:solidFill>
          <a:ln/>
        </p:spPr>
      </p:sp>
      <p:sp>
        <p:nvSpPr>
          <p:cNvPr id="42" name="Text 40"/>
          <p:cNvSpPr/>
          <p:nvPr/>
        </p:nvSpPr>
        <p:spPr>
          <a:xfrm>
            <a:off x="7932420" y="3675888"/>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4</a:t>
            </a:r>
            <a:endParaRPr lang="en-US" sz="900" dirty="0"/>
          </a:p>
        </p:txBody>
      </p:sp>
      <p:sp>
        <p:nvSpPr>
          <p:cNvPr id="43" name="Text 41"/>
          <p:cNvSpPr/>
          <p:nvPr/>
        </p:nvSpPr>
        <p:spPr>
          <a:xfrm>
            <a:off x="8499348"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151B31"/>
                </a:solidFill>
                <a:latin typeface="Aptos" pitchFamily="34" charset="0"/>
                <a:ea typeface="Aptos" pitchFamily="34" charset="-122"/>
                <a:cs typeface="Aptos" pitchFamily="34" charset="-120"/>
              </a:rPr>
              <a:t>Instrumentation, context propagation, and export are separate responsibilities.</a:t>
            </a:r>
            <a:endParaRPr lang="en-US" sz="1530" dirty="0"/>
          </a:p>
        </p:txBody>
      </p:sp>
      <p:sp>
        <p:nvSpPr>
          <p:cNvPr id="44" name="Shape 42"/>
          <p:cNvSpPr/>
          <p:nvPr/>
        </p:nvSpPr>
        <p:spPr>
          <a:xfrm>
            <a:off x="3712464" y="4687824"/>
            <a:ext cx="7836408" cy="1420368"/>
          </a:xfrm>
          <a:prstGeom prst="roundRect">
            <a:avLst>
              <a:gd name="adj" fmla="val 5150"/>
            </a:avLst>
          </a:prstGeom>
          <a:solidFill>
            <a:srgbClr val="EEE9FF"/>
          </a:solidFill>
          <a:ln w="10160">
            <a:solidFill>
              <a:srgbClr val="8B5CF6"/>
            </a:solidFill>
            <a:prstDash val="solid"/>
          </a:ln>
        </p:spPr>
      </p:sp>
      <p:sp>
        <p:nvSpPr>
          <p:cNvPr id="45" name="Shape 43"/>
          <p:cNvSpPr/>
          <p:nvPr/>
        </p:nvSpPr>
        <p:spPr>
          <a:xfrm>
            <a:off x="3895344" y="5196840"/>
            <a:ext cx="402336" cy="402336"/>
          </a:xfrm>
          <a:prstGeom prst="ellipse">
            <a:avLst/>
          </a:prstGeom>
          <a:solidFill>
            <a:srgbClr val="8B5CF6"/>
          </a:solidFill>
          <a:ln/>
        </p:spPr>
      </p:sp>
      <p:sp>
        <p:nvSpPr>
          <p:cNvPr id="46" name="Text 44"/>
          <p:cNvSpPr/>
          <p:nvPr/>
        </p:nvSpPr>
        <p:spPr>
          <a:xfrm>
            <a:off x="3895344" y="5334000"/>
            <a:ext cx="402336" cy="100584"/>
          </a:xfrm>
          <a:prstGeom prst="rect">
            <a:avLst/>
          </a:prstGeom>
          <a:noFill/>
          <a:ln/>
        </p:spPr>
        <p:txBody>
          <a:bodyPr wrap="square" lIns="0" tIns="0" rIns="0" bIns="0" rtlCol="0" anchor="ctr"/>
          <a:lstStyle/>
          <a:p>
            <a:pPr algn="ctr" indent="0" marL="0">
              <a:buNone/>
            </a:pPr>
            <a:r>
              <a:rPr lang="en-US" sz="900" b="1" dirty="0">
                <a:solidFill>
                  <a:srgbClr val="11162B"/>
                </a:solidFill>
                <a:latin typeface="Aptos" pitchFamily="34" charset="0"/>
                <a:ea typeface="Aptos" pitchFamily="34" charset="-122"/>
                <a:cs typeface="Aptos" pitchFamily="34" charset="-120"/>
              </a:rPr>
              <a:t>5</a:t>
            </a:r>
            <a:endParaRPr lang="en-US" sz="900" dirty="0"/>
          </a:p>
        </p:txBody>
      </p:sp>
      <p:sp>
        <p:nvSpPr>
          <p:cNvPr id="47" name="Text 45"/>
          <p:cNvSpPr/>
          <p:nvPr/>
        </p:nvSpPr>
        <p:spPr>
          <a:xfrm>
            <a:off x="4462272" y="4834128"/>
            <a:ext cx="6894576" cy="1127760"/>
          </a:xfrm>
          <a:prstGeom prst="rect">
            <a:avLst/>
          </a:prstGeom>
          <a:noFill/>
          <a:ln/>
        </p:spPr>
        <p:txBody>
          <a:bodyPr wrap="square" lIns="0" tIns="0" rIns="0" bIns="0" rtlCol="0" anchor="ctr">
            <a:normAutofit/>
          </a:bodyPr>
          <a:lstStyle/>
          <a:p>
            <a:pPr indent="0" marL="0">
              <a:buNone/>
            </a:pPr>
            <a:r>
              <a:rPr lang="en-US" sz="1530" b="1" dirty="0">
                <a:solidFill>
                  <a:srgbClr val="151B31"/>
                </a:solidFill>
                <a:latin typeface="Aptos" pitchFamily="34" charset="0"/>
                <a:ea typeface="Aptos" pitchFamily="34" charset="-122"/>
                <a:cs typeface="Aptos" pitchFamily="34" charset="-120"/>
              </a:rPr>
              <a:t>Minimize sensitive payloads, and govern telemetry access, sampling, retention, and cost.</a:t>
            </a:r>
            <a:endParaRPr lang="en-US" sz="1530" dirty="0"/>
          </a:p>
        </p:txBody>
      </p:sp>
      <p:sp>
        <p:nvSpPr>
          <p:cNvPr id="48" name="Text 4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526276"/>
                </a:solidFill>
                <a:latin typeface="Aptos" pitchFamily="34" charset="0"/>
                <a:ea typeface="Aptos" pitchFamily="34" charset="-122"/>
                <a:cs typeface="Aptos" pitchFamily="34" charset="-120"/>
              </a:rPr>
              <a:t>REFERENCE  learn.microsoft.com/azure/foundry/concepts/observability  ·  +2 more in notes</a:t>
            </a:r>
            <a:endParaRPr lang="en-US" sz="940" dirty="0"/>
          </a:p>
        </p:txBody>
      </p:sp>
      <p:sp>
        <p:nvSpPr>
          <p:cNvPr id="49" name="Shape 47"/>
          <p:cNvSpPr/>
          <p:nvPr/>
        </p:nvSpPr>
        <p:spPr>
          <a:xfrm>
            <a:off x="0" y="6793992"/>
            <a:ext cx="12191695" cy="64008"/>
          </a:xfrm>
          <a:prstGeom prst="rect">
            <a:avLst/>
          </a:prstGeom>
          <a:solidFill>
            <a:srgbClr val="16C7E8"/>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and Tracing</dc:title>
  <dc:subject>Day 5 — Production Readiness and Capstone</dc:subject>
  <dc:creator>Building AI Apps and Agents Workshop</dc:creator>
  <cp:lastModifiedBy>Building AI Apps and Agents Workshop</cp:lastModifiedBy>
  <cp:revision>1</cp:revision>
  <dcterms:created xsi:type="dcterms:W3CDTF">2026-09-18T21:01:13Z</dcterms:created>
  <dcterms:modified xsi:type="dcterms:W3CDTF">2026-09-18T21:01:13Z</dcterms:modified>
</cp:coreProperties>
</file>