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8" r:id="rId4"/>
    <p:sldId id="257" r:id="rId3"/>
    <p:sldId id="259" r:id="rId5"/>
    <p:sldId id="260" r:id="rId6"/>
    <p:sldId id="262" r:id="rId13"/>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7.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8.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1 minute. Position Toolkit as the current VS Code extension for discovering, building, testing, deploying, evaluating, and monitoring AI apps and agents across local and cloud resources. It supports Foundry, external-provider, and local models. Foundry Toolkit is the current name for AI Toolkit and includes capabilities previously provided by the separate Foundry extension. The presenter environment requires the .NET Runtime; validate Foundry Local prerequisites only if showing a local model, which this module does not require. The goal is surface selection, not a feature tour or deployment exercise. Continue with the presenter-prepared reference workflow; no attendee project, agent, or prior lab output is required.
• GROUNDING SOURCE: https://learn.microsoft.com/azure/foundry/how-to/develop/get-started-projects-visual-studio-code
• GROUNDING SOURCE: https://code.visualstudio.com/docs/intelligentapps/overview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2 minutes. Toolkit is the VS Code extension. Toolbox is a managed, reusable collection exposed through an MCP-compatible endpoint; browsing a tool or toolbox neither attaches it nor grants downstream authorization. A Foundry coding skill guides Copilot or another coding agent through development work; it is not automatically a tool or skill available to the customer-facing agent. Prompt-agent Toolbox attachment is preview and off by default.
• GROUNDING SOURCE: https://learn.microsoft.com/azure/foundry/how-to/develop/get-started-projects-visual-studio-code
• GROUNDING SOURCE: https://learn.microsoft.com/azure/foundry/agents/concepts/toolbox-overview
• GROUNDING SOURCE: https://learn.microsoft.com/azure/foundry/how-to/develop/use-microsoft-foundry-skill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2 minutes. Foundry Toolkit separates resources that you have from actions that you can take. My Resources groups Local Resources, Your Foundry Project, and Connected Resources. Developer Tools groups work into Discover, Build, and Monitor. Help and Feedback links to documentation, release information, issue reporting, and the community. Exact entries can change as the extension evolves, so use the installed Toolkit view as the authoritative inventory.
• GROUNDING SOURCE: https://learn.microsoft.com/en-us/azure/foundry/how-to/develop/get-started-projects-visual-studio-code#how-the-toolkit-workspace-is-organized
• GROUNDING SOURCE: https://code.visualstudio.com/docs/intelligentapps/overview#_explore-foundry-toolkit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2 minutes. Read the columns as capability boundaries, not a maturity ranking. A locally stored prompt can still use a cloud model, so storage location does not identify where inference runs. Local prompts have their own local-tool, structured-output, and dataset-evaluation paths. A saved Foundry agent creates immutable versions and enables version-linked conversations, tracing, generated client code, and service evaluation paths. Unsaved edits are drafts; save before relying on version evidence, and verify which version generated evaluation code actually targets.
• GROUNDING SOURCE: https://learn.microsoft.com/azure/foundry/how-to/develop/create-prompt-agent-visual-studio-code
• GROUNDING SOURCE: https://learn.microsoft.com/azure/foundry/agents/concepts/development-lifecycle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6 minutes. Agent Inspector is a preview, browser-based view of a presenter-prepared local HTTP/SSE agent. Show streaming response and tool activity, and show workflow visualization only if the rehearsed language and installed Toolkit version support it. The localhost target is not a deployed endpoint, and opening Inspector does not automatically export the cloud trace seen in Module 1.
• GROUNDING SOURCE: https://learn.microsoft.com/azure/foundry/agents/how-to/agent-inspector
• GROUNDING SOURCE: https://learn.microsoft.com/azure/foundry/agents/how-to/vs-code-agents-workflow-pro-code
• GROUNDING SOURCE: https://learn.microsoft.com/azure/foundry/how-to/develop/get-started-projects-visual-studio-code
• GROUNDING SOURCE: https://code.visualstudio.com/docs/intelligentapps/overview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2 minutes. Run the checkpoint: point to a locally stored prompt configured with an existing cloud model and ask whether its storage location proves that data and inference remain on the laptop or that its evaluation view matches a saved Foundry agent. Both answers are no; inspect the model endpoint and configuration type. Exact Toolkit features vary by installed version, so use the extension view as the inventory and do not promise unsupported workflow visualization.
• GROUNDING SOURCE: https://learn.microsoft.com/azure/foundry/how-to/develop/get-started-projects-visual-studio-code
• GROUNDING SOURCE: https://learn.microsoft.com/azure/foundry/agents/how-to/agent-inspector
• GROUNDING SOURCE: https://learn.microsoft.com/azure/foundry/how-to/develop/create-prompt-agent-visual-studio-code
• GROUNDING SOURCE: https://learn.microsoft.com/azure/foundry/how-to/develop/use-microsoft-foundry-skill
• GROUNDING SOURCE: https://code.visualstudio.com/docs/intelligentapps/overview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6 minutes. Open Developer Tools &gt; Monitor &gt; Tracing and start the Toolkit's local OTLP collector before running the prepared Agent Framework WeatherAgent sample. The sample exports to the collector on localhost:4317; refresh the trace list and inspect the Weather Agent Chat trace, automatic agent/model/tool spans, durations, status, and metadata. Content capture is enabled only for the synthetic weather prompts used in this controlled demonstration. Local trace storage is separate from Application Insights, and the configured Foundry model still performs inference remotely. Stop the collector and remove the local demo traces during cleanup.
• GROUNDING SOURCE: https://code.visualstudio.com/docs/intelligentapps/tracing
• GROUNDING SOURCE: https://learn.microsoft.com/agent-framework/agents/observability</a:t>
            </a:r>
            <a:endParaRPr lang="en-US" dirty="0"/>
          </a:p>
        </p:txBody>
      </p:sp>
      <p:sp>
        <p:nvSpPr>
          <p:cNvPr id="4" name="Slide Number Placeholder 3"/>
          <p:cNvSpPr>
            <a:spLocks noGrp="1"/>
          </p:cNvSpPr>
          <p:nvPr>
            <p:ph type="sldNum" sz="quarter" idx="10"/>
          </p:nvPr>
        </p:nvSpPr>
        <p:spPr/>
        <p:txBody>
          <a:bodyPr/>
          <a:lstStyle/>
          <a:p>
            <a:fld id="{A7E74D49-939B-4D12-99A8-33893F7A11E2}" type="slidenum">
              <a:rPr lang="en-US"/>
              <a:t>6</a:t>
            </a:fld>
            <a:endParaRPr lang="en-US"/>
          </a:p>
        </p:txBody>
      </p:sp>
    </p:spTree>
    <p:extLst>
      <p:ext uri="{BB962C8B-B14F-4D97-AF65-F5344CB8AC3E}">
        <p14:creationId xmlns:p14="http://schemas.microsoft.com/office/powerpoint/2010/main" val="1267992548"/>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8143F"/>
        </a:solidFill>
      </p:bgPr>
    </p:bg>
    <p:spTree>
      <p:nvGrpSpPr>
        <p:cNvPr id="1" name=""/>
        <p:cNvGrpSpPr/>
        <p:nvPr/>
      </p:nvGrpSpPr>
      <p:grpSpPr>
        <a:xfrm>
          <a:off x="0" y="0"/>
          <a:ext cx="0" cy="0"/>
          <a:chOff x="0" y="0"/>
          <a:chExt cx="0" cy="0"/>
        </a:xfrm>
      </p:grpSpPr>
      <p:sp>
        <p:nvSpPr>
          <p:cNvPr id="2" name="Shape 0"/>
          <p:cNvSpPr/>
          <p:nvPr/>
        </p:nvSpPr>
        <p:spPr>
          <a:xfrm>
            <a:off x="7973568" y="137160"/>
            <a:ext cx="3886200" cy="3886200"/>
          </a:xfrm>
          <a:prstGeom prst="ellipse">
            <a:avLst/>
          </a:prstGeom>
          <a:solidFill>
            <a:srgbClr val="FFF1D9"/>
          </a:solidFill>
          <a:ln/>
        </p:spPr>
      </p:sp>
      <p:sp>
        <p:nvSpPr>
          <p:cNvPr id="3" name="Shape 1"/>
          <p:cNvSpPr/>
          <p:nvPr/>
        </p:nvSpPr>
        <p:spPr>
          <a:xfrm>
            <a:off x="8394192" y="557784"/>
            <a:ext cx="3044952" cy="3044952"/>
          </a:xfrm>
          <a:prstGeom prst="ellipse">
            <a:avLst/>
          </a:prstGeom>
          <a:solidFill>
            <a:srgbClr val="28143F"/>
          </a:solidFill>
          <a:ln/>
        </p:spPr>
      </p:sp>
      <p:sp>
        <p:nvSpPr>
          <p:cNvPr id="4" name="Shape 2"/>
          <p:cNvSpPr/>
          <p:nvPr/>
        </p:nvSpPr>
        <p:spPr>
          <a:xfrm>
            <a:off x="9077706" y="680314"/>
            <a:ext cx="2921508" cy="2467051"/>
          </a:xfrm>
          <a:prstGeom prst="roundRect">
            <a:avLst>
              <a:gd name="adj" fmla="val 2965"/>
            </a:avLst>
          </a:prstGeom>
          <a:solidFill>
            <a:srgbClr val="34234A"/>
          </a:solidFill>
          <a:ln w="10160">
            <a:solidFill>
              <a:srgbClr val="FFFFFF"/>
            </a:solidFill>
            <a:prstDash val="solid"/>
          </a:ln>
        </p:spPr>
      </p:sp>
      <p:sp>
        <p:nvSpPr>
          <p:cNvPr id="5" name="Shape 3"/>
          <p:cNvSpPr/>
          <p:nvPr/>
        </p:nvSpPr>
        <p:spPr>
          <a:xfrm>
            <a:off x="9077706" y="680314"/>
            <a:ext cx="2921508" cy="519379"/>
          </a:xfrm>
          <a:prstGeom prst="rect">
            <a:avLst/>
          </a:prstGeom>
          <a:solidFill>
            <a:srgbClr val="B88AF7"/>
          </a:solidFill>
          <a:ln/>
        </p:spPr>
      </p:sp>
      <p:sp>
        <p:nvSpPr>
          <p:cNvPr id="6" name="Shape 4"/>
          <p:cNvSpPr/>
          <p:nvPr/>
        </p:nvSpPr>
        <p:spPr>
          <a:xfrm>
            <a:off x="9564624" y="1686611"/>
            <a:ext cx="1558138" cy="0"/>
          </a:xfrm>
          <a:prstGeom prst="line">
            <a:avLst/>
          </a:prstGeom>
          <a:noFill/>
          <a:ln w="25400">
            <a:solidFill>
              <a:srgbClr val="FFFFFF"/>
            </a:solidFill>
            <a:prstDash val="solid"/>
          </a:ln>
        </p:spPr>
      </p:sp>
      <p:sp>
        <p:nvSpPr>
          <p:cNvPr id="7" name="Shape 5"/>
          <p:cNvSpPr/>
          <p:nvPr/>
        </p:nvSpPr>
        <p:spPr>
          <a:xfrm>
            <a:off x="9889236" y="2205990"/>
            <a:ext cx="1460754" cy="0"/>
          </a:xfrm>
          <a:prstGeom prst="line">
            <a:avLst/>
          </a:prstGeom>
          <a:noFill/>
          <a:ln w="25400">
            <a:solidFill>
              <a:srgbClr val="B88AF7"/>
            </a:solidFill>
            <a:prstDash val="solid"/>
          </a:ln>
        </p:spPr>
      </p:sp>
      <p:sp>
        <p:nvSpPr>
          <p:cNvPr id="8" name="Shape 6"/>
          <p:cNvSpPr/>
          <p:nvPr/>
        </p:nvSpPr>
        <p:spPr>
          <a:xfrm>
            <a:off x="9499702" y="2692908"/>
            <a:ext cx="1006297" cy="0"/>
          </a:xfrm>
          <a:prstGeom prst="line">
            <a:avLst/>
          </a:prstGeom>
          <a:noFill/>
          <a:ln w="25400">
            <a:solidFill>
              <a:srgbClr val="FFFFFF"/>
            </a:solidFill>
            <a:prstDash val="solid"/>
          </a:ln>
        </p:spPr>
      </p:sp>
      <p:sp>
        <p:nvSpPr>
          <p:cNvPr id="9" name="Shape 7"/>
          <p:cNvSpPr/>
          <p:nvPr/>
        </p:nvSpPr>
        <p:spPr>
          <a:xfrm>
            <a:off x="713232" y="530352"/>
            <a:ext cx="2148840" cy="365760"/>
          </a:xfrm>
          <a:prstGeom prst="roundRect">
            <a:avLst>
              <a:gd name="adj" fmla="val 20000"/>
            </a:avLst>
          </a:prstGeom>
          <a:solidFill>
            <a:srgbClr val="B88AF7"/>
          </a:solidFill>
          <a:ln/>
        </p:spPr>
      </p:sp>
      <p:sp>
        <p:nvSpPr>
          <p:cNvPr id="10" name="Text 8"/>
          <p:cNvSpPr/>
          <p:nvPr/>
        </p:nvSpPr>
        <p:spPr>
          <a:xfrm>
            <a:off x="868680" y="658368"/>
            <a:ext cx="1828800" cy="109728"/>
          </a:xfrm>
          <a:prstGeom prst="rect">
            <a:avLst/>
          </a:prstGeom>
          <a:noFill/>
          <a:ln/>
        </p:spPr>
        <p:txBody>
          <a:bodyPr wrap="square" lIns="0" tIns="0" rIns="0" bIns="0" rtlCol="0" anchor="ctr"/>
          <a:lstStyle/>
          <a:p>
            <a:pPr algn="ctr" indent="0" marL="0">
              <a:buNone/>
            </a:pPr>
            <a:r>
              <a:rPr lang="en-US" sz="900" b="1" spc="160" kern="0" dirty="0">
                <a:solidFill>
                  <a:srgbClr val="28143F"/>
                </a:solidFill>
                <a:latin typeface="Aptos" pitchFamily="34" charset="0"/>
                <a:ea typeface="Aptos" pitchFamily="34" charset="-122"/>
                <a:cs typeface="Aptos" pitchFamily="34" charset="-120"/>
              </a:rPr>
              <a:t>DAY 5  ·  MODULE 6</a:t>
            </a:r>
            <a:endParaRPr lang="en-US" sz="900" dirty="0"/>
          </a:p>
        </p:txBody>
      </p:sp>
      <p:sp>
        <p:nvSpPr>
          <p:cNvPr id="11" name="Text 9"/>
          <p:cNvSpPr/>
          <p:nvPr/>
        </p:nvSpPr>
        <p:spPr>
          <a:xfrm>
            <a:off x="713232" y="1298448"/>
            <a:ext cx="7150608" cy="1143000"/>
          </a:xfrm>
          <a:prstGeom prst="rect">
            <a:avLst/>
          </a:prstGeom>
          <a:noFill/>
          <a:ln/>
        </p:spPr>
        <p:txBody>
          <a:bodyPr wrap="square" lIns="0" tIns="0" rIns="0" bIns="0" rtlCol="0" anchor="ctr">
            <a:normAutofit/>
          </a:bodyPr>
          <a:lstStyle/>
          <a:p>
            <a:pPr indent="0" marL="0">
              <a:buNone/>
            </a:pPr>
            <a:r>
              <a:rPr lang="en-US" sz="4700" b="1" dirty="0">
                <a:solidFill>
                  <a:srgbClr val="FFFFFF"/>
                </a:solidFill>
                <a:latin typeface="Aptos Display" pitchFamily="34" charset="0"/>
                <a:ea typeface="Aptos Display" pitchFamily="34" charset="-122"/>
                <a:cs typeface="Aptos Display" pitchFamily="34" charset="-120"/>
              </a:rPr>
              <a:t>Foundry Toolkit for VS Code</a:t>
            </a:r>
            <a:endParaRPr lang="en-US" sz="4700" dirty="0"/>
          </a:p>
        </p:txBody>
      </p:sp>
      <p:sp>
        <p:nvSpPr>
          <p:cNvPr id="12" name="Text 10"/>
          <p:cNvSpPr/>
          <p:nvPr/>
        </p:nvSpPr>
        <p:spPr>
          <a:xfrm>
            <a:off x="749808" y="2615184"/>
            <a:ext cx="6931152" cy="786384"/>
          </a:xfrm>
          <a:prstGeom prst="rect">
            <a:avLst/>
          </a:prstGeom>
          <a:noFill/>
          <a:ln/>
        </p:spPr>
        <p:txBody>
          <a:bodyPr wrap="square" lIns="0" tIns="0" rIns="0" bIns="0" rtlCol="0" anchor="ctr">
            <a:normAutofit/>
          </a:bodyPr>
          <a:lstStyle/>
          <a:p>
            <a:pPr indent="0" marL="0">
              <a:buNone/>
            </a:pPr>
            <a:r>
              <a:rPr lang="en-US" sz="1830" dirty="0">
                <a:solidFill>
                  <a:srgbClr val="E4EAF0"/>
                </a:solidFill>
                <a:latin typeface="Aptos" pitchFamily="34" charset="0"/>
                <a:ea typeface="Aptos" pitchFamily="34" charset="-122"/>
                <a:cs typeface="Aptos" pitchFamily="34" charset="-120"/>
              </a:rPr>
              <a:t>Pick the right development surface without confusing storage, inference, or runtime capabilities</a:t>
            </a:r>
            <a:endParaRPr lang="en-US" sz="1830" dirty="0"/>
          </a:p>
        </p:txBody>
      </p:sp>
      <p:sp>
        <p:nvSpPr>
          <p:cNvPr id="13" name="Shape 11"/>
          <p:cNvSpPr/>
          <p:nvPr/>
        </p:nvSpPr>
        <p:spPr>
          <a:xfrm>
            <a:off x="713232" y="4160520"/>
            <a:ext cx="6793992" cy="1097280"/>
          </a:xfrm>
          <a:prstGeom prst="roundRect">
            <a:avLst>
              <a:gd name="adj" fmla="val 6667"/>
            </a:avLst>
          </a:prstGeom>
          <a:solidFill>
            <a:srgbClr val="FFFFFF"/>
          </a:solidFill>
          <a:ln/>
        </p:spPr>
      </p:sp>
      <p:sp>
        <p:nvSpPr>
          <p:cNvPr id="14" name="Shape 12"/>
          <p:cNvSpPr/>
          <p:nvPr/>
        </p:nvSpPr>
        <p:spPr>
          <a:xfrm>
            <a:off x="713232" y="4160520"/>
            <a:ext cx="146304" cy="1097280"/>
          </a:xfrm>
          <a:prstGeom prst="rect">
            <a:avLst/>
          </a:prstGeom>
          <a:solidFill>
            <a:srgbClr val="B88AF7"/>
          </a:solidFill>
          <a:ln/>
        </p:spPr>
      </p:sp>
      <p:sp>
        <p:nvSpPr>
          <p:cNvPr id="15" name="Text 13"/>
          <p:cNvSpPr/>
          <p:nvPr/>
        </p:nvSpPr>
        <p:spPr>
          <a:xfrm>
            <a:off x="1078992" y="4407408"/>
            <a:ext cx="6080760" cy="603504"/>
          </a:xfrm>
          <a:prstGeom prst="rect">
            <a:avLst/>
          </a:prstGeom>
          <a:noFill/>
          <a:ln/>
        </p:spPr>
        <p:txBody>
          <a:bodyPr wrap="square" lIns="0" tIns="0" rIns="0" bIns="0" rtlCol="0" anchor="ctr">
            <a:normAutofit/>
          </a:bodyPr>
          <a:lstStyle/>
          <a:p>
            <a:pPr indent="0" marL="0">
              <a:buNone/>
            </a:pPr>
            <a:r>
              <a:rPr lang="en-US" sz="1700" b="1" dirty="0">
                <a:solidFill>
                  <a:srgbClr val="28143F"/>
                </a:solidFill>
                <a:latin typeface="Aptos" pitchFamily="34" charset="0"/>
                <a:ea typeface="Aptos" pitchFamily="34" charset="-122"/>
                <a:cs typeface="Aptos" pitchFamily="34" charset="-120"/>
              </a:rPr>
              <a:t>Discover, build, inspect, evaluate, deploy, and monitor in one workspace — then verify the target.</a:t>
            </a:r>
            <a:endParaRPr lang="en-US" sz="1700" dirty="0"/>
          </a:p>
        </p:txBody>
      </p:sp>
      <p:sp>
        <p:nvSpPr>
          <p:cNvPr id="16" name="Text 14"/>
          <p:cNvSpPr/>
          <p:nvPr/>
        </p:nvSpPr>
        <p:spPr>
          <a:xfrm>
            <a:off x="9546336" y="4261104"/>
            <a:ext cx="2011680" cy="914400"/>
          </a:xfrm>
          <a:prstGeom prst="rect">
            <a:avLst/>
          </a:prstGeom>
          <a:noFill/>
          <a:ln/>
        </p:spPr>
        <p:txBody>
          <a:bodyPr wrap="square" lIns="0" tIns="0" rIns="0" bIns="0" rtlCol="0" anchor="ctr"/>
          <a:lstStyle/>
          <a:p>
            <a:pPr algn="ctr" indent="0" marL="0">
              <a:buNone/>
            </a:pPr>
            <a:r>
              <a:rPr lang="en-US" sz="6800" b="1" dirty="0">
                <a:solidFill>
                  <a:srgbClr val="B88AF7"/>
                </a:solidFill>
                <a:latin typeface="Aptos Display" pitchFamily="34" charset="0"/>
                <a:ea typeface="Aptos Display" pitchFamily="34" charset="-122"/>
                <a:cs typeface="Aptos Display" pitchFamily="34" charset="-120"/>
              </a:rPr>
              <a:t>02</a:t>
            </a:r>
            <a:endParaRPr lang="en-US" sz="6800" dirty="0"/>
          </a:p>
        </p:txBody>
      </p:sp>
      <p:sp>
        <p:nvSpPr>
          <p:cNvPr id="17" name="Text 15"/>
          <p:cNvSpPr/>
          <p:nvPr/>
        </p:nvSpPr>
        <p:spPr>
          <a:xfrm>
            <a:off x="8732520" y="5239512"/>
            <a:ext cx="3611880" cy="182880"/>
          </a:xfrm>
          <a:prstGeom prst="rect">
            <a:avLst/>
          </a:prstGeom>
          <a:noFill/>
          <a:ln/>
        </p:spPr>
        <p:txBody>
          <a:bodyPr wrap="square" lIns="0" tIns="0" rIns="0" bIns="0" rtlCol="0" anchor="ctr"/>
          <a:lstStyle/>
          <a:p>
            <a:pPr algn="ctr" indent="0" marL="0">
              <a:buNone/>
            </a:pPr>
            <a:r>
              <a:rPr lang="en-US" sz="950" b="1" spc="240" kern="0" dirty="0">
                <a:solidFill>
                  <a:srgbClr val="FFFFFF"/>
                </a:solidFill>
                <a:latin typeface="Aptos" pitchFamily="34" charset="0"/>
                <a:ea typeface="Aptos" pitchFamily="34" charset="-122"/>
                <a:cs typeface="Aptos" pitchFamily="34" charset="-120"/>
              </a:rPr>
              <a:t>DEVELOPER SURFACES</a:t>
            </a:r>
            <a:endParaRPr lang="en-US" sz="950" dirty="0"/>
          </a:p>
        </p:txBody>
      </p:sp>
      <p:sp>
        <p:nvSpPr>
          <p:cNvPr id="18" name="Text 16"/>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DDE7EF"/>
                </a:solidFill>
                <a:latin typeface="Aptos" pitchFamily="34" charset="0"/>
                <a:ea typeface="Aptos" pitchFamily="34" charset="-122"/>
                <a:cs typeface="Aptos" pitchFamily="34" charset="-120"/>
              </a:rPr>
              <a:t>REFERENCE  learn.microsoft.com/azure/foundry/how-to/develop/get-started-projects-visual-studio-code  ·  +1 more in notes</a:t>
            </a:r>
            <a:endParaRPr lang="en-US" sz="940" dirty="0"/>
          </a:p>
        </p:txBody>
      </p:sp>
      <p:sp>
        <p:nvSpPr>
          <p:cNvPr id="19" name="Shape 17"/>
          <p:cNvSpPr/>
          <p:nvPr/>
        </p:nvSpPr>
        <p:spPr>
          <a:xfrm>
            <a:off x="0" y="6793992"/>
            <a:ext cx="12191695" cy="64008"/>
          </a:xfrm>
          <a:prstGeom prst="rect">
            <a:avLst/>
          </a:prstGeom>
          <a:solidFill>
            <a:srgbClr val="B88AF7"/>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CF8FF"/>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28143F"/>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6  /  DEVELOPER SURFACES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28143F"/>
                </a:solidFill>
                <a:latin typeface="Aptos Display" pitchFamily="34" charset="0"/>
                <a:ea typeface="Aptos Display" pitchFamily="34" charset="-122"/>
                <a:cs typeface="Aptos Display" pitchFamily="34" charset="-120"/>
              </a:rPr>
              <a:t>Toolkit, Toolbox, and coding skills</a:t>
            </a:r>
            <a:endParaRPr lang="en-US" sz="3100" dirty="0"/>
          </a:p>
        </p:txBody>
      </p:sp>
      <p:sp>
        <p:nvSpPr>
          <p:cNvPr id="5" name="Shape 3"/>
          <p:cNvSpPr/>
          <p:nvPr/>
        </p:nvSpPr>
        <p:spPr>
          <a:xfrm>
            <a:off x="10804550" y="436717"/>
            <a:ext cx="592531" cy="500360"/>
          </a:xfrm>
          <a:prstGeom prst="roundRect">
            <a:avLst>
              <a:gd name="adj" fmla="val 14620"/>
            </a:avLst>
          </a:prstGeom>
          <a:solidFill>
            <a:srgbClr val="FFFFFF"/>
          </a:solidFill>
          <a:ln w="10160">
            <a:solidFill>
              <a:srgbClr val="28143F"/>
            </a:solidFill>
            <a:prstDash val="solid"/>
          </a:ln>
        </p:spPr>
      </p:sp>
      <p:sp>
        <p:nvSpPr>
          <p:cNvPr id="6" name="Shape 4"/>
          <p:cNvSpPr/>
          <p:nvPr/>
        </p:nvSpPr>
        <p:spPr>
          <a:xfrm>
            <a:off x="10804550" y="436717"/>
            <a:ext cx="592531" cy="105339"/>
          </a:xfrm>
          <a:prstGeom prst="rect">
            <a:avLst/>
          </a:prstGeom>
          <a:solidFill>
            <a:srgbClr val="B88AF7"/>
          </a:solidFill>
          <a:ln/>
        </p:spPr>
      </p:sp>
      <p:sp>
        <p:nvSpPr>
          <p:cNvPr id="7" name="Shape 5"/>
          <p:cNvSpPr/>
          <p:nvPr/>
        </p:nvSpPr>
        <p:spPr>
          <a:xfrm>
            <a:off x="10903306" y="640812"/>
            <a:ext cx="316017" cy="0"/>
          </a:xfrm>
          <a:prstGeom prst="line">
            <a:avLst/>
          </a:prstGeom>
          <a:noFill/>
          <a:ln w="25400">
            <a:solidFill>
              <a:srgbClr val="28143F"/>
            </a:solidFill>
            <a:prstDash val="solid"/>
          </a:ln>
        </p:spPr>
      </p:sp>
      <p:sp>
        <p:nvSpPr>
          <p:cNvPr id="8" name="Shape 6"/>
          <p:cNvSpPr/>
          <p:nvPr/>
        </p:nvSpPr>
        <p:spPr>
          <a:xfrm>
            <a:off x="10969142" y="746150"/>
            <a:ext cx="296266" cy="0"/>
          </a:xfrm>
          <a:prstGeom prst="line">
            <a:avLst/>
          </a:prstGeom>
          <a:noFill/>
          <a:ln w="25400">
            <a:solidFill>
              <a:srgbClr val="B88AF7"/>
            </a:solidFill>
            <a:prstDash val="solid"/>
          </a:ln>
        </p:spPr>
      </p:sp>
      <p:sp>
        <p:nvSpPr>
          <p:cNvPr id="9" name="Shape 7"/>
          <p:cNvSpPr/>
          <p:nvPr/>
        </p:nvSpPr>
        <p:spPr>
          <a:xfrm>
            <a:off x="10890138" y="844906"/>
            <a:ext cx="204094" cy="0"/>
          </a:xfrm>
          <a:prstGeom prst="line">
            <a:avLst/>
          </a:prstGeom>
          <a:noFill/>
          <a:ln w="25400">
            <a:solidFill>
              <a:srgbClr val="28143F"/>
            </a:solidFill>
            <a:prstDash val="solid"/>
          </a:ln>
        </p:spPr>
      </p:sp>
      <p:sp>
        <p:nvSpPr>
          <p:cNvPr id="10" name="Shape 8"/>
          <p:cNvSpPr/>
          <p:nvPr/>
        </p:nvSpPr>
        <p:spPr>
          <a:xfrm>
            <a:off x="11612880" y="457200"/>
            <a:ext cx="329184" cy="329184"/>
          </a:xfrm>
          <a:prstGeom prst="ellipse">
            <a:avLst/>
          </a:prstGeom>
          <a:solidFill>
            <a:srgbClr val="B88AF7"/>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28143F"/>
                </a:solidFill>
                <a:latin typeface="Aptos" pitchFamily="34" charset="0"/>
                <a:ea typeface="Aptos" pitchFamily="34" charset="-122"/>
                <a:cs typeface="Aptos" pitchFamily="34" charset="-120"/>
              </a:rPr>
              <a:t>03</a:t>
            </a:r>
            <a:endParaRPr lang="en-US" sz="850" dirty="0"/>
          </a:p>
        </p:txBody>
      </p:sp>
      <p:sp>
        <p:nvSpPr>
          <p:cNvPr id="12" name="Shape 10"/>
          <p:cNvSpPr/>
          <p:nvPr/>
        </p:nvSpPr>
        <p:spPr>
          <a:xfrm>
            <a:off x="9829800" y="1005840"/>
            <a:ext cx="2148840" cy="2148840"/>
          </a:xfrm>
          <a:prstGeom prst="ellipse">
            <a:avLst/>
          </a:prstGeom>
          <a:solidFill>
            <a:srgbClr val="F1E8FD"/>
          </a:solidFill>
          <a:ln/>
        </p:spPr>
      </p:sp>
      <p:sp>
        <p:nvSpPr>
          <p:cNvPr id="13" name="Shape 11"/>
          <p:cNvSpPr/>
          <p:nvPr/>
        </p:nvSpPr>
        <p:spPr>
          <a:xfrm>
            <a:off x="640080" y="1417320"/>
            <a:ext cx="3453384" cy="3730752"/>
          </a:xfrm>
          <a:prstGeom prst="roundRect">
            <a:avLst>
              <a:gd name="adj" fmla="val 2118"/>
            </a:avLst>
          </a:prstGeom>
          <a:solidFill>
            <a:srgbClr val="FFFFFF"/>
          </a:solidFill>
          <a:ln w="10160">
            <a:solidFill>
              <a:srgbClr val="F1E8FD"/>
            </a:solidFill>
            <a:prstDash val="solid"/>
          </a:ln>
        </p:spPr>
      </p:sp>
      <p:sp>
        <p:nvSpPr>
          <p:cNvPr id="14" name="Shape 12"/>
          <p:cNvSpPr/>
          <p:nvPr/>
        </p:nvSpPr>
        <p:spPr>
          <a:xfrm>
            <a:off x="914400" y="1719072"/>
            <a:ext cx="475488" cy="475488"/>
          </a:xfrm>
          <a:prstGeom prst="ellipse">
            <a:avLst/>
          </a:prstGeom>
          <a:solidFill>
            <a:srgbClr val="B88AF7"/>
          </a:solidFill>
          <a:ln/>
        </p:spPr>
      </p:sp>
      <p:sp>
        <p:nvSpPr>
          <p:cNvPr id="15" name="Text 13"/>
          <p:cNvSpPr/>
          <p:nvPr/>
        </p:nvSpPr>
        <p:spPr>
          <a:xfrm>
            <a:off x="914400" y="1865376"/>
            <a:ext cx="475488" cy="118872"/>
          </a:xfrm>
          <a:prstGeom prst="rect">
            <a:avLst/>
          </a:prstGeom>
          <a:noFill/>
          <a:ln/>
        </p:spPr>
        <p:txBody>
          <a:bodyPr wrap="square" lIns="0" tIns="0" rIns="0" bIns="0" rtlCol="0" anchor="ctr"/>
          <a:lstStyle/>
          <a:p>
            <a:pPr algn="ctr" indent="0" marL="0">
              <a:buNone/>
            </a:pPr>
            <a:r>
              <a:rPr lang="en-US" sz="1000" b="1" dirty="0">
                <a:solidFill>
                  <a:srgbClr val="28143F"/>
                </a:solidFill>
                <a:latin typeface="Aptos" pitchFamily="34" charset="0"/>
                <a:ea typeface="Aptos" pitchFamily="34" charset="-122"/>
                <a:cs typeface="Aptos" pitchFamily="34" charset="-120"/>
              </a:rPr>
              <a:t>1</a:t>
            </a:r>
            <a:endParaRPr lang="en-US" sz="1000" dirty="0"/>
          </a:p>
        </p:txBody>
      </p:sp>
      <p:sp>
        <p:nvSpPr>
          <p:cNvPr id="16" name="Text 14"/>
          <p:cNvSpPr/>
          <p:nvPr/>
        </p:nvSpPr>
        <p:spPr>
          <a:xfrm>
            <a:off x="1572768" y="1728216"/>
            <a:ext cx="2246376" cy="438912"/>
          </a:xfrm>
          <a:prstGeom prst="rect">
            <a:avLst/>
          </a:prstGeom>
          <a:noFill/>
          <a:ln/>
        </p:spPr>
        <p:txBody>
          <a:bodyPr wrap="square" lIns="0" tIns="0" rIns="0" bIns="0" rtlCol="0" anchor="ctr">
            <a:normAutofit/>
          </a:bodyPr>
          <a:lstStyle/>
          <a:p>
            <a:pPr indent="0" marL="0">
              <a:buNone/>
            </a:pPr>
            <a:r>
              <a:rPr lang="en-US" sz="2000" b="1" dirty="0">
                <a:solidFill>
                  <a:srgbClr val="28143F"/>
                </a:solidFill>
                <a:latin typeface="Aptos Display" pitchFamily="34" charset="0"/>
                <a:ea typeface="Aptos Display" pitchFamily="34" charset="-122"/>
                <a:cs typeface="Aptos Display" pitchFamily="34" charset="-120"/>
              </a:rPr>
              <a:t>Toolkit</a:t>
            </a:r>
            <a:endParaRPr lang="en-US" sz="2000" dirty="0"/>
          </a:p>
        </p:txBody>
      </p:sp>
      <p:sp>
        <p:nvSpPr>
          <p:cNvPr id="17" name="Text 15"/>
          <p:cNvSpPr/>
          <p:nvPr/>
        </p:nvSpPr>
        <p:spPr>
          <a:xfrm>
            <a:off x="932688" y="2523744"/>
            <a:ext cx="2868168" cy="1609344"/>
          </a:xfrm>
          <a:prstGeom prst="rect">
            <a:avLst/>
          </a:prstGeom>
          <a:noFill/>
          <a:ln/>
        </p:spPr>
        <p:txBody>
          <a:bodyPr wrap="square" lIns="0" tIns="0" rIns="0" bIns="0" rtlCol="0" anchor="ctr">
            <a:normAutofit/>
          </a:bodyPr>
          <a:lstStyle/>
          <a:p>
            <a:pPr indent="0" marL="0">
              <a:buNone/>
            </a:pPr>
            <a:r>
              <a:rPr lang="en-US" sz="1520" dirty="0">
                <a:solidFill>
                  <a:srgbClr val="251B33"/>
                </a:solidFill>
                <a:latin typeface="Aptos" pitchFamily="34" charset="0"/>
                <a:ea typeface="Aptos" pitchFamily="34" charset="-122"/>
                <a:cs typeface="Aptos" pitchFamily="34" charset="-120"/>
              </a:rPr>
              <a:t>VS Code extension with My Resources and Developer Tools for the development workflow</a:t>
            </a:r>
            <a:endParaRPr lang="en-US" sz="1520" dirty="0"/>
          </a:p>
        </p:txBody>
      </p:sp>
      <p:sp>
        <p:nvSpPr>
          <p:cNvPr id="18" name="Shape 16"/>
          <p:cNvSpPr/>
          <p:nvPr/>
        </p:nvSpPr>
        <p:spPr>
          <a:xfrm>
            <a:off x="4367784" y="1417320"/>
            <a:ext cx="3453384" cy="3730752"/>
          </a:xfrm>
          <a:prstGeom prst="roundRect">
            <a:avLst>
              <a:gd name="adj" fmla="val 2118"/>
            </a:avLst>
          </a:prstGeom>
          <a:solidFill>
            <a:srgbClr val="FFFFFF"/>
          </a:solidFill>
          <a:ln w="10160">
            <a:solidFill>
              <a:srgbClr val="F1E8FD"/>
            </a:solidFill>
            <a:prstDash val="solid"/>
          </a:ln>
        </p:spPr>
      </p:sp>
      <p:sp>
        <p:nvSpPr>
          <p:cNvPr id="19" name="Shape 17"/>
          <p:cNvSpPr/>
          <p:nvPr/>
        </p:nvSpPr>
        <p:spPr>
          <a:xfrm>
            <a:off x="4642104" y="1719072"/>
            <a:ext cx="475488" cy="475488"/>
          </a:xfrm>
          <a:prstGeom prst="ellipse">
            <a:avLst/>
          </a:prstGeom>
          <a:solidFill>
            <a:srgbClr val="FFB454"/>
          </a:solidFill>
          <a:ln/>
        </p:spPr>
      </p:sp>
      <p:sp>
        <p:nvSpPr>
          <p:cNvPr id="20" name="Text 18"/>
          <p:cNvSpPr/>
          <p:nvPr/>
        </p:nvSpPr>
        <p:spPr>
          <a:xfrm>
            <a:off x="4642104" y="1865376"/>
            <a:ext cx="475488" cy="118872"/>
          </a:xfrm>
          <a:prstGeom prst="rect">
            <a:avLst/>
          </a:prstGeom>
          <a:noFill/>
          <a:ln/>
        </p:spPr>
        <p:txBody>
          <a:bodyPr wrap="square" lIns="0" tIns="0" rIns="0" bIns="0" rtlCol="0" anchor="ctr"/>
          <a:lstStyle/>
          <a:p>
            <a:pPr algn="ctr" indent="0" marL="0">
              <a:buNone/>
            </a:pPr>
            <a:r>
              <a:rPr lang="en-US" sz="1000" b="1" dirty="0">
                <a:solidFill>
                  <a:srgbClr val="28143F"/>
                </a:solidFill>
                <a:latin typeface="Aptos" pitchFamily="34" charset="0"/>
                <a:ea typeface="Aptos" pitchFamily="34" charset="-122"/>
                <a:cs typeface="Aptos" pitchFamily="34" charset="-120"/>
              </a:rPr>
              <a:t>2</a:t>
            </a:r>
            <a:endParaRPr lang="en-US" sz="1000" dirty="0"/>
          </a:p>
        </p:txBody>
      </p:sp>
      <p:sp>
        <p:nvSpPr>
          <p:cNvPr id="21" name="Text 19"/>
          <p:cNvSpPr/>
          <p:nvPr/>
        </p:nvSpPr>
        <p:spPr>
          <a:xfrm>
            <a:off x="5300472" y="1728216"/>
            <a:ext cx="2246376" cy="438912"/>
          </a:xfrm>
          <a:prstGeom prst="rect">
            <a:avLst/>
          </a:prstGeom>
          <a:noFill/>
          <a:ln/>
        </p:spPr>
        <p:txBody>
          <a:bodyPr wrap="square" lIns="0" tIns="0" rIns="0" bIns="0" rtlCol="0" anchor="ctr">
            <a:normAutofit/>
          </a:bodyPr>
          <a:lstStyle/>
          <a:p>
            <a:pPr indent="0" marL="0">
              <a:buNone/>
            </a:pPr>
            <a:r>
              <a:rPr lang="en-US" sz="2000" b="1" dirty="0">
                <a:solidFill>
                  <a:srgbClr val="28143F"/>
                </a:solidFill>
                <a:latin typeface="Aptos Display" pitchFamily="34" charset="0"/>
                <a:ea typeface="Aptos Display" pitchFamily="34" charset="-122"/>
                <a:cs typeface="Aptos Display" pitchFamily="34" charset="-120"/>
              </a:rPr>
              <a:t>Toolbox</a:t>
            </a:r>
            <a:endParaRPr lang="en-US" sz="2000" dirty="0"/>
          </a:p>
        </p:txBody>
      </p:sp>
      <p:sp>
        <p:nvSpPr>
          <p:cNvPr id="22" name="Text 20"/>
          <p:cNvSpPr/>
          <p:nvPr/>
        </p:nvSpPr>
        <p:spPr>
          <a:xfrm>
            <a:off x="4660392" y="2523744"/>
            <a:ext cx="2868168" cy="1609344"/>
          </a:xfrm>
          <a:prstGeom prst="rect">
            <a:avLst/>
          </a:prstGeom>
          <a:noFill/>
          <a:ln/>
        </p:spPr>
        <p:txBody>
          <a:bodyPr wrap="square" lIns="0" tIns="0" rIns="0" bIns="0" rtlCol="0" anchor="ctr">
            <a:normAutofit/>
          </a:bodyPr>
          <a:lstStyle/>
          <a:p>
            <a:pPr indent="0" marL="0">
              <a:buNone/>
            </a:pPr>
            <a:r>
              <a:rPr lang="en-US" sz="1520" dirty="0">
                <a:solidFill>
                  <a:srgbClr val="251B33"/>
                </a:solidFill>
                <a:latin typeface="Aptos" pitchFamily="34" charset="0"/>
                <a:ea typeface="Aptos" pitchFamily="34" charset="-122"/>
                <a:cs typeface="Aptos" pitchFamily="34" charset="-120"/>
              </a:rPr>
              <a:t>A managed reusable tool collection behind one MCP‑compatible endpoint</a:t>
            </a:r>
            <a:endParaRPr lang="en-US" sz="1520" dirty="0"/>
          </a:p>
        </p:txBody>
      </p:sp>
      <p:sp>
        <p:nvSpPr>
          <p:cNvPr id="23" name="Shape 21"/>
          <p:cNvSpPr/>
          <p:nvPr/>
        </p:nvSpPr>
        <p:spPr>
          <a:xfrm>
            <a:off x="8095488" y="1417320"/>
            <a:ext cx="3453384" cy="3730752"/>
          </a:xfrm>
          <a:prstGeom prst="roundRect">
            <a:avLst>
              <a:gd name="adj" fmla="val 2118"/>
            </a:avLst>
          </a:prstGeom>
          <a:solidFill>
            <a:srgbClr val="FFFFFF"/>
          </a:solidFill>
          <a:ln w="10160">
            <a:solidFill>
              <a:srgbClr val="F1E8FD"/>
            </a:solidFill>
            <a:prstDash val="solid"/>
          </a:ln>
        </p:spPr>
      </p:sp>
      <p:sp>
        <p:nvSpPr>
          <p:cNvPr id="24" name="Shape 22"/>
          <p:cNvSpPr/>
          <p:nvPr/>
        </p:nvSpPr>
        <p:spPr>
          <a:xfrm>
            <a:off x="8369808" y="1719072"/>
            <a:ext cx="475488" cy="475488"/>
          </a:xfrm>
          <a:prstGeom prst="ellipse">
            <a:avLst/>
          </a:prstGeom>
          <a:solidFill>
            <a:srgbClr val="B88AF7"/>
          </a:solidFill>
          <a:ln/>
        </p:spPr>
      </p:sp>
      <p:sp>
        <p:nvSpPr>
          <p:cNvPr id="25" name="Text 23"/>
          <p:cNvSpPr/>
          <p:nvPr/>
        </p:nvSpPr>
        <p:spPr>
          <a:xfrm>
            <a:off x="8369808" y="1865376"/>
            <a:ext cx="475488" cy="118872"/>
          </a:xfrm>
          <a:prstGeom prst="rect">
            <a:avLst/>
          </a:prstGeom>
          <a:noFill/>
          <a:ln/>
        </p:spPr>
        <p:txBody>
          <a:bodyPr wrap="square" lIns="0" tIns="0" rIns="0" bIns="0" rtlCol="0" anchor="ctr"/>
          <a:lstStyle/>
          <a:p>
            <a:pPr algn="ctr" indent="0" marL="0">
              <a:buNone/>
            </a:pPr>
            <a:r>
              <a:rPr lang="en-US" sz="1000" b="1" dirty="0">
                <a:solidFill>
                  <a:srgbClr val="28143F"/>
                </a:solidFill>
                <a:latin typeface="Aptos" pitchFamily="34" charset="0"/>
                <a:ea typeface="Aptos" pitchFamily="34" charset="-122"/>
                <a:cs typeface="Aptos" pitchFamily="34" charset="-120"/>
              </a:rPr>
              <a:t>3</a:t>
            </a:r>
            <a:endParaRPr lang="en-US" sz="1000" dirty="0"/>
          </a:p>
        </p:txBody>
      </p:sp>
      <p:sp>
        <p:nvSpPr>
          <p:cNvPr id="26" name="Text 24"/>
          <p:cNvSpPr/>
          <p:nvPr/>
        </p:nvSpPr>
        <p:spPr>
          <a:xfrm>
            <a:off x="9028176" y="1728216"/>
            <a:ext cx="2246376" cy="438912"/>
          </a:xfrm>
          <a:prstGeom prst="rect">
            <a:avLst/>
          </a:prstGeom>
          <a:noFill/>
          <a:ln/>
        </p:spPr>
        <p:txBody>
          <a:bodyPr wrap="square" lIns="0" tIns="0" rIns="0" bIns="0" rtlCol="0" anchor="ctr">
            <a:normAutofit/>
          </a:bodyPr>
          <a:lstStyle/>
          <a:p>
            <a:pPr indent="0" marL="0">
              <a:buNone/>
            </a:pPr>
            <a:r>
              <a:rPr lang="en-US" sz="2000" b="1" dirty="0">
                <a:solidFill>
                  <a:srgbClr val="28143F"/>
                </a:solidFill>
                <a:latin typeface="Aptos Display" pitchFamily="34" charset="0"/>
                <a:ea typeface="Aptos Display" pitchFamily="34" charset="-122"/>
                <a:cs typeface="Aptos Display" pitchFamily="34" charset="-120"/>
              </a:rPr>
              <a:t>Foundry coding skill</a:t>
            </a:r>
            <a:endParaRPr lang="en-US" sz="2000" dirty="0"/>
          </a:p>
        </p:txBody>
      </p:sp>
      <p:sp>
        <p:nvSpPr>
          <p:cNvPr id="27" name="Text 25"/>
          <p:cNvSpPr/>
          <p:nvPr/>
        </p:nvSpPr>
        <p:spPr>
          <a:xfrm>
            <a:off x="8388096" y="2523744"/>
            <a:ext cx="2868168" cy="1609344"/>
          </a:xfrm>
          <a:prstGeom prst="rect">
            <a:avLst/>
          </a:prstGeom>
          <a:noFill/>
          <a:ln/>
        </p:spPr>
        <p:txBody>
          <a:bodyPr wrap="square" lIns="0" tIns="0" rIns="0" bIns="0" rtlCol="0" anchor="ctr">
            <a:normAutofit/>
          </a:bodyPr>
          <a:lstStyle/>
          <a:p>
            <a:pPr indent="0" marL="0">
              <a:buNone/>
            </a:pPr>
            <a:r>
              <a:rPr lang="en-US" sz="1520" dirty="0">
                <a:solidFill>
                  <a:srgbClr val="251B33"/>
                </a:solidFill>
                <a:latin typeface="Aptos" pitchFamily="34" charset="0"/>
                <a:ea typeface="Aptos" pitchFamily="34" charset="-122"/>
                <a:cs typeface="Aptos" pitchFamily="34" charset="-120"/>
              </a:rPr>
              <a:t>Reusable guidance used by Copilot or another coding agent during development</a:t>
            </a:r>
            <a:endParaRPr lang="en-US" sz="1520" dirty="0"/>
          </a:p>
        </p:txBody>
      </p:sp>
      <p:sp>
        <p:nvSpPr>
          <p:cNvPr id="28" name="Shape 26"/>
          <p:cNvSpPr/>
          <p:nvPr/>
        </p:nvSpPr>
        <p:spPr>
          <a:xfrm>
            <a:off x="1024128" y="5376672"/>
            <a:ext cx="10104120" cy="621792"/>
          </a:xfrm>
          <a:prstGeom prst="roundRect">
            <a:avLst>
              <a:gd name="adj" fmla="val 11765"/>
            </a:avLst>
          </a:prstGeom>
          <a:solidFill>
            <a:srgbClr val="28143F"/>
          </a:solidFill>
          <a:ln/>
        </p:spPr>
      </p:sp>
      <p:sp>
        <p:nvSpPr>
          <p:cNvPr id="29" name="Text 27"/>
          <p:cNvSpPr/>
          <p:nvPr/>
        </p:nvSpPr>
        <p:spPr>
          <a:xfrm>
            <a:off x="1280160" y="5586984"/>
            <a:ext cx="1325880" cy="146304"/>
          </a:xfrm>
          <a:prstGeom prst="rect">
            <a:avLst/>
          </a:prstGeom>
          <a:noFill/>
          <a:ln/>
        </p:spPr>
        <p:txBody>
          <a:bodyPr wrap="square" lIns="0" tIns="0" rIns="0" bIns="0" rtlCol="0" anchor="ctr"/>
          <a:lstStyle/>
          <a:p>
            <a:pPr indent="0" marL="0">
              <a:buNone/>
            </a:pPr>
            <a:r>
              <a:rPr lang="en-US" sz="1000" b="1" spc="140" kern="0" dirty="0">
                <a:solidFill>
                  <a:srgbClr val="FFB454"/>
                </a:solidFill>
                <a:latin typeface="Aptos" pitchFamily="34" charset="0"/>
                <a:ea typeface="Aptos" pitchFamily="34" charset="-122"/>
                <a:cs typeface="Aptos" pitchFamily="34" charset="-120"/>
              </a:rPr>
              <a:t>BOUNDARY</a:t>
            </a:r>
            <a:endParaRPr lang="en-US" sz="1000" dirty="0"/>
          </a:p>
        </p:txBody>
      </p:sp>
      <p:sp>
        <p:nvSpPr>
          <p:cNvPr id="30" name="Text 28"/>
          <p:cNvSpPr/>
          <p:nvPr/>
        </p:nvSpPr>
        <p:spPr>
          <a:xfrm>
            <a:off x="2743200" y="5541264"/>
            <a:ext cx="8028432" cy="237744"/>
          </a:xfrm>
          <a:prstGeom prst="rect">
            <a:avLst/>
          </a:prstGeom>
          <a:noFill/>
          <a:ln/>
        </p:spPr>
        <p:txBody>
          <a:bodyPr wrap="square" lIns="0" tIns="0" rIns="0" bIns="0" rtlCol="0" anchor="ctr">
            <a:normAutofit/>
          </a:bodyPr>
          <a:lstStyle/>
          <a:p>
            <a:pPr indent="0" marL="0">
              <a:buNone/>
            </a:pPr>
            <a:r>
              <a:rPr lang="en-US" sz="1420" b="1" dirty="0">
                <a:solidFill>
                  <a:srgbClr val="FFFFFF"/>
                </a:solidFill>
                <a:latin typeface="Aptos" pitchFamily="34" charset="0"/>
                <a:ea typeface="Aptos" pitchFamily="34" charset="-122"/>
                <a:cs typeface="Aptos" pitchFamily="34" charset="-120"/>
              </a:rPr>
              <a:t>Discovery is not attachment, approval, authorization, or a runtime capability</a:t>
            </a:r>
            <a:endParaRPr lang="en-US" sz="1420" dirty="0"/>
          </a:p>
        </p:txBody>
      </p:sp>
      <p:sp>
        <p:nvSpPr>
          <p:cNvPr id="31" name="Text 29"/>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6D5A78"/>
                </a:solidFill>
                <a:latin typeface="Aptos" pitchFamily="34" charset="0"/>
                <a:ea typeface="Aptos" pitchFamily="34" charset="-122"/>
                <a:cs typeface="Aptos" pitchFamily="34" charset="-120"/>
              </a:rPr>
              <a:t>REFERENCE  learn.microsoft.com/azure/foundry/how-to/develop/get-started-projects-visual-studio-code  ·  +2 more in notes</a:t>
            </a:r>
            <a:endParaRPr lang="en-US" sz="940" dirty="0"/>
          </a:p>
        </p:txBody>
      </p:sp>
      <p:sp>
        <p:nvSpPr>
          <p:cNvPr id="32" name="Shape 30"/>
          <p:cNvSpPr/>
          <p:nvPr/>
        </p:nvSpPr>
        <p:spPr>
          <a:xfrm>
            <a:off x="0" y="6793992"/>
            <a:ext cx="12191695" cy="64008"/>
          </a:xfrm>
          <a:prstGeom prst="rect">
            <a:avLst/>
          </a:prstGeom>
          <a:solidFill>
            <a:srgbClr val="B88AF7"/>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8FF"/>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28143F"/>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6  /  DEVELOPER SURFACES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28143F"/>
                </a:solidFill>
                <a:latin typeface="Aptos Display" pitchFamily="34" charset="0"/>
                <a:ea typeface="Aptos Display" pitchFamily="34" charset="-122"/>
                <a:cs typeface="Aptos Display" pitchFamily="34" charset="-120"/>
              </a:rPr>
              <a:t>Local prompt versus saved Foundry agent</a:t>
            </a:r>
            <a:endParaRPr lang="en-US" sz="3100" dirty="0"/>
          </a:p>
        </p:txBody>
      </p:sp>
      <p:sp>
        <p:nvSpPr>
          <p:cNvPr id="5" name="Shape 3"/>
          <p:cNvSpPr/>
          <p:nvPr/>
        </p:nvSpPr>
        <p:spPr>
          <a:xfrm>
            <a:off x="10804550" y="436717"/>
            <a:ext cx="592531" cy="500360"/>
          </a:xfrm>
          <a:prstGeom prst="roundRect">
            <a:avLst>
              <a:gd name="adj" fmla="val 14620"/>
            </a:avLst>
          </a:prstGeom>
          <a:solidFill>
            <a:srgbClr val="FFFFFF"/>
          </a:solidFill>
          <a:ln w="10160">
            <a:solidFill>
              <a:srgbClr val="28143F"/>
            </a:solidFill>
            <a:prstDash val="solid"/>
          </a:ln>
        </p:spPr>
      </p:sp>
      <p:sp>
        <p:nvSpPr>
          <p:cNvPr id="6" name="Shape 4"/>
          <p:cNvSpPr/>
          <p:nvPr/>
        </p:nvSpPr>
        <p:spPr>
          <a:xfrm>
            <a:off x="10804550" y="436717"/>
            <a:ext cx="592531" cy="105339"/>
          </a:xfrm>
          <a:prstGeom prst="rect">
            <a:avLst/>
          </a:prstGeom>
          <a:solidFill>
            <a:srgbClr val="B88AF7"/>
          </a:solidFill>
          <a:ln/>
        </p:spPr>
      </p:sp>
      <p:sp>
        <p:nvSpPr>
          <p:cNvPr id="7" name="Shape 5"/>
          <p:cNvSpPr/>
          <p:nvPr/>
        </p:nvSpPr>
        <p:spPr>
          <a:xfrm>
            <a:off x="10903306" y="640812"/>
            <a:ext cx="316017" cy="0"/>
          </a:xfrm>
          <a:prstGeom prst="line">
            <a:avLst/>
          </a:prstGeom>
          <a:noFill/>
          <a:ln w="25400">
            <a:solidFill>
              <a:srgbClr val="28143F"/>
            </a:solidFill>
            <a:prstDash val="solid"/>
          </a:ln>
        </p:spPr>
      </p:sp>
      <p:sp>
        <p:nvSpPr>
          <p:cNvPr id="8" name="Shape 6"/>
          <p:cNvSpPr/>
          <p:nvPr/>
        </p:nvSpPr>
        <p:spPr>
          <a:xfrm>
            <a:off x="10969142" y="746150"/>
            <a:ext cx="296266" cy="0"/>
          </a:xfrm>
          <a:prstGeom prst="line">
            <a:avLst/>
          </a:prstGeom>
          <a:noFill/>
          <a:ln w="25400">
            <a:solidFill>
              <a:srgbClr val="B88AF7"/>
            </a:solidFill>
            <a:prstDash val="solid"/>
          </a:ln>
        </p:spPr>
      </p:sp>
      <p:sp>
        <p:nvSpPr>
          <p:cNvPr id="9" name="Shape 7"/>
          <p:cNvSpPr/>
          <p:nvPr/>
        </p:nvSpPr>
        <p:spPr>
          <a:xfrm>
            <a:off x="10890138" y="844906"/>
            <a:ext cx="204094" cy="0"/>
          </a:xfrm>
          <a:prstGeom prst="line">
            <a:avLst/>
          </a:prstGeom>
          <a:noFill/>
          <a:ln w="25400">
            <a:solidFill>
              <a:srgbClr val="28143F"/>
            </a:solidFill>
            <a:prstDash val="solid"/>
          </a:ln>
        </p:spPr>
      </p:sp>
      <p:sp>
        <p:nvSpPr>
          <p:cNvPr id="10" name="Shape 8"/>
          <p:cNvSpPr/>
          <p:nvPr/>
        </p:nvSpPr>
        <p:spPr>
          <a:xfrm>
            <a:off x="11612880" y="457200"/>
            <a:ext cx="329184" cy="329184"/>
          </a:xfrm>
          <a:prstGeom prst="ellipse">
            <a:avLst/>
          </a:prstGeom>
          <a:solidFill>
            <a:srgbClr val="B88AF7"/>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28143F"/>
                </a:solidFill>
                <a:latin typeface="Aptos" pitchFamily="34" charset="0"/>
                <a:ea typeface="Aptos" pitchFamily="34" charset="-122"/>
                <a:cs typeface="Aptos" pitchFamily="34" charset="-120"/>
              </a:rPr>
              <a:t>04</a:t>
            </a:r>
            <a:endParaRPr lang="en-US" sz="850" dirty="0"/>
          </a:p>
        </p:txBody>
      </p:sp>
      <p:sp>
        <p:nvSpPr>
          <p:cNvPr id="12" name="Shape 10"/>
          <p:cNvSpPr/>
          <p:nvPr/>
        </p:nvSpPr>
        <p:spPr>
          <a:xfrm>
            <a:off x="9829800" y="1005840"/>
            <a:ext cx="2148840" cy="2148840"/>
          </a:xfrm>
          <a:prstGeom prst="ellipse">
            <a:avLst/>
          </a:prstGeom>
          <a:solidFill>
            <a:srgbClr val="F1E8FD"/>
          </a:solidFill>
          <a:ln/>
        </p:spPr>
      </p:sp>
      <p:sp>
        <p:nvSpPr>
          <p:cNvPr id="13" name="Shape 11"/>
          <p:cNvSpPr/>
          <p:nvPr/>
        </p:nvSpPr>
        <p:spPr>
          <a:xfrm>
            <a:off x="640080" y="1417320"/>
            <a:ext cx="5248656" cy="4626864"/>
          </a:xfrm>
          <a:prstGeom prst="roundRect">
            <a:avLst>
              <a:gd name="adj" fmla="val 1779"/>
            </a:avLst>
          </a:prstGeom>
          <a:solidFill>
            <a:srgbClr val="FFFFFF"/>
          </a:solidFill>
          <a:ln w="15240">
            <a:solidFill>
              <a:srgbClr val="F1E8FD"/>
            </a:solidFill>
            <a:prstDash val="solid"/>
          </a:ln>
          <a:effectLst>
            <a:outerShdw sx="100000" sy="100000" kx="0" ky="0" algn="bl" rotWithShape="0" blurRad="50800" dist="19050" dir="8100000">
              <a:srgbClr val="111827">
                <a:alpha val="11000"/>
              </a:srgbClr>
            </a:outerShdw>
          </a:effectLst>
        </p:spPr>
      </p:sp>
      <p:sp>
        <p:nvSpPr>
          <p:cNvPr id="14" name="Shape 12"/>
          <p:cNvSpPr/>
          <p:nvPr/>
        </p:nvSpPr>
        <p:spPr>
          <a:xfrm>
            <a:off x="896112" y="1673352"/>
            <a:ext cx="1572768" cy="310896"/>
          </a:xfrm>
          <a:prstGeom prst="roundRect">
            <a:avLst>
              <a:gd name="adj" fmla="val 23529"/>
            </a:avLst>
          </a:prstGeom>
          <a:solidFill>
            <a:srgbClr val="28143F"/>
          </a:solidFill>
          <a:ln/>
        </p:spPr>
      </p:sp>
      <p:sp>
        <p:nvSpPr>
          <p:cNvPr id="15" name="Text 13"/>
          <p:cNvSpPr/>
          <p:nvPr/>
        </p:nvSpPr>
        <p:spPr>
          <a:xfrm>
            <a:off x="1005840" y="1773936"/>
            <a:ext cx="1353312" cy="91440"/>
          </a:xfrm>
          <a:prstGeom prst="rect">
            <a:avLst/>
          </a:prstGeom>
          <a:noFill/>
          <a:ln/>
        </p:spPr>
        <p:txBody>
          <a:bodyPr wrap="square" lIns="0" tIns="0" rIns="0" bIns="0" rtlCol="0" anchor="ctr"/>
          <a:lstStyle/>
          <a:p>
            <a:pPr algn="ctr" indent="0" marL="0">
              <a:buNone/>
            </a:pPr>
            <a:r>
              <a:rPr lang="en-US" sz="830" b="1" spc="110" kern="0" dirty="0">
                <a:solidFill>
                  <a:srgbClr val="FFFFFF"/>
                </a:solidFill>
                <a:latin typeface="Aptos" pitchFamily="34" charset="0"/>
                <a:ea typeface="Aptos" pitchFamily="34" charset="-122"/>
                <a:cs typeface="Aptos" pitchFamily="34" charset="-120"/>
              </a:rPr>
              <a:t>LOCAL PROMPT</a:t>
            </a:r>
            <a:endParaRPr lang="en-US" sz="830" dirty="0"/>
          </a:p>
        </p:txBody>
      </p:sp>
      <p:sp>
        <p:nvSpPr>
          <p:cNvPr id="16" name="Text 14"/>
          <p:cNvSpPr/>
          <p:nvPr/>
        </p:nvSpPr>
        <p:spPr>
          <a:xfrm>
            <a:off x="932688" y="2148840"/>
            <a:ext cx="4663440" cy="621792"/>
          </a:xfrm>
          <a:prstGeom prst="rect">
            <a:avLst/>
          </a:prstGeom>
          <a:noFill/>
          <a:ln/>
        </p:spPr>
        <p:txBody>
          <a:bodyPr wrap="square" lIns="0" tIns="0" rIns="0" bIns="0" rtlCol="0" anchor="ctr">
            <a:normAutofit/>
          </a:bodyPr>
          <a:lstStyle/>
          <a:p>
            <a:pPr indent="0" marL="0">
              <a:buNone/>
            </a:pPr>
            <a:r>
              <a:rPr lang="en-US" sz="2200" b="1" dirty="0">
                <a:solidFill>
                  <a:srgbClr val="28143F"/>
                </a:solidFill>
                <a:latin typeface="Aptos Display" pitchFamily="34" charset="0"/>
                <a:ea typeface="Aptos Display" pitchFamily="34" charset="-122"/>
                <a:cs typeface="Aptos Display" pitchFamily="34" charset="-120"/>
              </a:rPr>
              <a:t>Locally stored prompt</a:t>
            </a:r>
            <a:endParaRPr lang="en-US" sz="2200" dirty="0"/>
          </a:p>
        </p:txBody>
      </p:sp>
      <p:sp>
        <p:nvSpPr>
          <p:cNvPr id="17" name="Text 15"/>
          <p:cNvSpPr/>
          <p:nvPr/>
        </p:nvSpPr>
        <p:spPr>
          <a:xfrm>
            <a:off x="987552"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251B33"/>
                </a:solidFill>
                <a:latin typeface="Aptos" pitchFamily="34" charset="0"/>
                <a:ea typeface="Aptos" pitchFamily="34" charset="-122"/>
                <a:cs typeface="Aptos" pitchFamily="34" charset="-120"/>
              </a:rPr>
              <a:t>May still call a cloud model; local storage is not local inference</a:t>
            </a:r>
            <a:endParaRPr lang="en-US" sz="1600" dirty="0"/>
          </a:p>
          <a:p>
            <a:pPr marL="342900" indent="-342900">
              <a:buSzPct val="100000"/>
              <a:buChar char="•"/>
            </a:pPr>
            <a:r>
              <a:rPr lang="en-US" sz="1600" dirty="0">
                <a:solidFill>
                  <a:srgbClr val="251B33"/>
                </a:solidFill>
                <a:latin typeface="Aptos" pitchFamily="34" charset="0"/>
                <a:ea typeface="Aptos" pitchFamily="34" charset="-122"/>
                <a:cs typeface="Aptos" pitchFamily="34" charset="-120"/>
              </a:rPr>
              <a:t>Local tools, structured output, and dataset evaluation follow local-prompt paths</a:t>
            </a:r>
            <a:endParaRPr lang="en-US" sz="1600" dirty="0"/>
          </a:p>
          <a:p>
            <a:pPr marL="342900" indent="-342900">
              <a:buSzPct val="100000"/>
              <a:buChar char="•"/>
            </a:pPr>
            <a:r>
              <a:rPr lang="en-US" sz="1600" dirty="0">
                <a:solidFill>
                  <a:srgbClr val="251B33"/>
                </a:solidFill>
                <a:latin typeface="Aptos" pitchFamily="34" charset="0"/>
                <a:ea typeface="Aptos" pitchFamily="34" charset="-122"/>
                <a:cs typeface="Aptos" pitchFamily="34" charset="-120"/>
              </a:rPr>
              <a:t>No Foundry agent version or Foundry conversation-history record</a:t>
            </a:r>
            <a:endParaRPr lang="en-US" sz="1600" dirty="0"/>
          </a:p>
        </p:txBody>
      </p:sp>
      <p:sp>
        <p:nvSpPr>
          <p:cNvPr id="18" name="Shape 16"/>
          <p:cNvSpPr/>
          <p:nvPr/>
        </p:nvSpPr>
        <p:spPr>
          <a:xfrm>
            <a:off x="5020056" y="1609344"/>
            <a:ext cx="493776" cy="493776"/>
          </a:xfrm>
          <a:prstGeom prst="ellipse">
            <a:avLst/>
          </a:prstGeom>
          <a:solidFill>
            <a:srgbClr val="F1E8FD"/>
          </a:solidFill>
          <a:ln/>
        </p:spPr>
      </p:sp>
      <p:sp>
        <p:nvSpPr>
          <p:cNvPr id="19" name="Text 17"/>
          <p:cNvSpPr/>
          <p:nvPr/>
        </p:nvSpPr>
        <p:spPr>
          <a:xfrm>
            <a:off x="5020056" y="1755648"/>
            <a:ext cx="493776" cy="118872"/>
          </a:xfrm>
          <a:prstGeom prst="rect">
            <a:avLst/>
          </a:prstGeom>
          <a:noFill/>
          <a:ln/>
        </p:spPr>
        <p:txBody>
          <a:bodyPr wrap="square" lIns="0" tIns="0" rIns="0" bIns="0" rtlCol="0" anchor="ctr"/>
          <a:lstStyle/>
          <a:p>
            <a:pPr algn="ctr" indent="0" marL="0">
              <a:buNone/>
            </a:pPr>
            <a:r>
              <a:rPr lang="en-US" sz="1000" b="1" dirty="0">
                <a:solidFill>
                  <a:srgbClr val="28143F"/>
                </a:solidFill>
                <a:latin typeface="Aptos" pitchFamily="34" charset="0"/>
                <a:ea typeface="Aptos" pitchFamily="34" charset="-122"/>
                <a:cs typeface="Aptos" pitchFamily="34" charset="-120"/>
              </a:rPr>
              <a:t>1</a:t>
            </a:r>
            <a:endParaRPr lang="en-US" sz="1000" dirty="0"/>
          </a:p>
        </p:txBody>
      </p:sp>
      <p:sp>
        <p:nvSpPr>
          <p:cNvPr id="20" name="Shape 18"/>
          <p:cNvSpPr/>
          <p:nvPr/>
        </p:nvSpPr>
        <p:spPr>
          <a:xfrm>
            <a:off x="6300216" y="1417320"/>
            <a:ext cx="5248656" cy="4626864"/>
          </a:xfrm>
          <a:prstGeom prst="roundRect">
            <a:avLst>
              <a:gd name="adj" fmla="val 1779"/>
            </a:avLst>
          </a:prstGeom>
          <a:solidFill>
            <a:srgbClr val="F1E8FD"/>
          </a:solidFill>
          <a:ln w="15240">
            <a:solidFill>
              <a:srgbClr val="B88AF7"/>
            </a:solidFill>
            <a:prstDash val="solid"/>
          </a:ln>
          <a:effectLst>
            <a:outerShdw sx="100000" sy="100000" kx="0" ky="0" algn="bl" rotWithShape="0" blurRad="50800" dist="19050" dir="8100000">
              <a:srgbClr val="111827">
                <a:alpha val="11000"/>
              </a:srgbClr>
            </a:outerShdw>
          </a:effectLst>
        </p:spPr>
      </p:sp>
      <p:sp>
        <p:nvSpPr>
          <p:cNvPr id="21" name="Shape 19"/>
          <p:cNvSpPr/>
          <p:nvPr/>
        </p:nvSpPr>
        <p:spPr>
          <a:xfrm>
            <a:off x="6556248" y="1673352"/>
            <a:ext cx="1572768" cy="310896"/>
          </a:xfrm>
          <a:prstGeom prst="roundRect">
            <a:avLst>
              <a:gd name="adj" fmla="val 23529"/>
            </a:avLst>
          </a:prstGeom>
          <a:solidFill>
            <a:srgbClr val="B88AF7"/>
          </a:solidFill>
          <a:ln/>
        </p:spPr>
      </p:sp>
      <p:sp>
        <p:nvSpPr>
          <p:cNvPr id="22" name="Text 20"/>
          <p:cNvSpPr/>
          <p:nvPr/>
        </p:nvSpPr>
        <p:spPr>
          <a:xfrm>
            <a:off x="6665976" y="1773936"/>
            <a:ext cx="1353312" cy="91440"/>
          </a:xfrm>
          <a:prstGeom prst="rect">
            <a:avLst/>
          </a:prstGeom>
          <a:noFill/>
          <a:ln/>
        </p:spPr>
        <p:txBody>
          <a:bodyPr wrap="square" lIns="0" tIns="0" rIns="0" bIns="0" rtlCol="0" anchor="ctr"/>
          <a:lstStyle/>
          <a:p>
            <a:pPr algn="ctr" indent="0" marL="0">
              <a:buNone/>
            </a:pPr>
            <a:r>
              <a:rPr lang="en-US" sz="830" b="1" spc="110" kern="0" dirty="0">
                <a:solidFill>
                  <a:srgbClr val="28143F"/>
                </a:solidFill>
                <a:latin typeface="Aptos" pitchFamily="34" charset="0"/>
                <a:ea typeface="Aptos" pitchFamily="34" charset="-122"/>
                <a:cs typeface="Aptos" pitchFamily="34" charset="-120"/>
              </a:rPr>
              <a:t>FOUNDRY AGENT</a:t>
            </a:r>
            <a:endParaRPr lang="en-US" sz="830" dirty="0"/>
          </a:p>
        </p:txBody>
      </p:sp>
      <p:sp>
        <p:nvSpPr>
          <p:cNvPr id="23" name="Text 21"/>
          <p:cNvSpPr/>
          <p:nvPr/>
        </p:nvSpPr>
        <p:spPr>
          <a:xfrm>
            <a:off x="6592824" y="2148840"/>
            <a:ext cx="4663440" cy="621792"/>
          </a:xfrm>
          <a:prstGeom prst="rect">
            <a:avLst/>
          </a:prstGeom>
          <a:noFill/>
          <a:ln/>
        </p:spPr>
        <p:txBody>
          <a:bodyPr wrap="square" lIns="0" tIns="0" rIns="0" bIns="0" rtlCol="0" anchor="ctr">
            <a:normAutofit/>
          </a:bodyPr>
          <a:lstStyle/>
          <a:p>
            <a:pPr indent="0" marL="0">
              <a:buNone/>
            </a:pPr>
            <a:r>
              <a:rPr lang="en-US" sz="2200" b="1" dirty="0">
                <a:solidFill>
                  <a:srgbClr val="28143F"/>
                </a:solidFill>
                <a:latin typeface="Aptos Display" pitchFamily="34" charset="0"/>
                <a:ea typeface="Aptos Display" pitchFamily="34" charset="-122"/>
                <a:cs typeface="Aptos Display" pitchFamily="34" charset="-120"/>
              </a:rPr>
              <a:t>Saved Foundry agent</a:t>
            </a:r>
            <a:endParaRPr lang="en-US" sz="2200" dirty="0"/>
          </a:p>
        </p:txBody>
      </p:sp>
      <p:sp>
        <p:nvSpPr>
          <p:cNvPr id="24" name="Text 22"/>
          <p:cNvSpPr/>
          <p:nvPr/>
        </p:nvSpPr>
        <p:spPr>
          <a:xfrm>
            <a:off x="6647688"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251B33"/>
                </a:solidFill>
                <a:latin typeface="Aptos" pitchFamily="34" charset="0"/>
                <a:ea typeface="Aptos" pitchFamily="34" charset="-122"/>
                <a:cs typeface="Aptos" pitchFamily="34" charset="-120"/>
              </a:rPr>
              <a:t>Save creates an immutable version; unsaved edits remain a draft</a:t>
            </a:r>
            <a:endParaRPr lang="en-US" sz="1600" dirty="0"/>
          </a:p>
          <a:p>
            <a:pPr marL="342900" indent="-342900">
              <a:buSzPct val="100000"/>
              <a:buChar char="•"/>
            </a:pPr>
            <a:r>
              <a:rPr lang="en-US" sz="1600" dirty="0">
                <a:solidFill>
                  <a:srgbClr val="251B33"/>
                </a:solidFill>
                <a:latin typeface="Aptos" pitchFamily="34" charset="0"/>
                <a:ea typeface="Aptos" pitchFamily="34" charset="-122"/>
                <a:cs typeface="Aptos" pitchFamily="34" charset="-120"/>
              </a:rPr>
              <a:t>Tools and evaluation options follow Foundry-agent capabilities</a:t>
            </a:r>
            <a:endParaRPr lang="en-US" sz="1600" dirty="0"/>
          </a:p>
          <a:p>
            <a:pPr marL="342900" indent="-342900">
              <a:buSzPct val="100000"/>
              <a:buChar char="•"/>
            </a:pPr>
            <a:r>
              <a:rPr lang="en-US" sz="1600" dirty="0">
                <a:solidFill>
                  <a:srgbClr val="251B33"/>
                </a:solidFill>
                <a:latin typeface="Aptos" pitchFamily="34" charset="0"/>
                <a:ea typeface="Aptos" pitchFamily="34" charset="-122"/>
                <a:cs typeface="Aptos" pitchFamily="34" charset="-120"/>
              </a:rPr>
              <a:t>Save before version-linked conversations, tracing, evaluation, or generated client code</a:t>
            </a:r>
            <a:endParaRPr lang="en-US" sz="1600" dirty="0"/>
          </a:p>
        </p:txBody>
      </p:sp>
      <p:sp>
        <p:nvSpPr>
          <p:cNvPr id="25" name="Shape 23"/>
          <p:cNvSpPr/>
          <p:nvPr/>
        </p:nvSpPr>
        <p:spPr>
          <a:xfrm>
            <a:off x="10680192" y="1609344"/>
            <a:ext cx="493776" cy="493776"/>
          </a:xfrm>
          <a:prstGeom prst="ellipse">
            <a:avLst/>
          </a:prstGeom>
          <a:solidFill>
            <a:srgbClr val="FFB454"/>
          </a:solidFill>
          <a:ln/>
        </p:spPr>
      </p:sp>
      <p:sp>
        <p:nvSpPr>
          <p:cNvPr id="26" name="Text 24"/>
          <p:cNvSpPr/>
          <p:nvPr/>
        </p:nvSpPr>
        <p:spPr>
          <a:xfrm>
            <a:off x="10680192" y="1755648"/>
            <a:ext cx="493776" cy="118872"/>
          </a:xfrm>
          <a:prstGeom prst="rect">
            <a:avLst/>
          </a:prstGeom>
          <a:noFill/>
          <a:ln/>
        </p:spPr>
        <p:txBody>
          <a:bodyPr wrap="square" lIns="0" tIns="0" rIns="0" bIns="0" rtlCol="0" anchor="ctr"/>
          <a:lstStyle/>
          <a:p>
            <a:pPr algn="ctr" indent="0" marL="0">
              <a:buNone/>
            </a:pPr>
            <a:r>
              <a:rPr lang="en-US" sz="1000" b="1" dirty="0">
                <a:solidFill>
                  <a:srgbClr val="28143F"/>
                </a:solidFill>
                <a:latin typeface="Aptos" pitchFamily="34" charset="0"/>
                <a:ea typeface="Aptos" pitchFamily="34" charset="-122"/>
                <a:cs typeface="Aptos" pitchFamily="34" charset="-120"/>
              </a:rPr>
              <a:t>2</a:t>
            </a:r>
            <a:endParaRPr lang="en-US" sz="1000" dirty="0"/>
          </a:p>
        </p:txBody>
      </p:sp>
      <p:sp>
        <p:nvSpPr>
          <p:cNvPr id="27" name="Shape 25"/>
          <p:cNvSpPr/>
          <p:nvPr/>
        </p:nvSpPr>
        <p:spPr>
          <a:xfrm>
            <a:off x="5916168" y="3236976"/>
            <a:ext cx="365760" cy="365760"/>
          </a:xfrm>
          <a:prstGeom prst="ellipse">
            <a:avLst/>
          </a:prstGeom>
          <a:solidFill>
            <a:srgbClr val="28143F"/>
          </a:solidFill>
          <a:ln/>
        </p:spPr>
      </p:sp>
      <p:sp>
        <p:nvSpPr>
          <p:cNvPr id="28" name="Text 26"/>
          <p:cNvSpPr/>
          <p:nvPr/>
        </p:nvSpPr>
        <p:spPr>
          <a:xfrm>
            <a:off x="5916168" y="3328416"/>
            <a:ext cx="365760" cy="164592"/>
          </a:xfrm>
          <a:prstGeom prst="rect">
            <a:avLst/>
          </a:prstGeom>
          <a:noFill/>
          <a:ln/>
        </p:spPr>
        <p:txBody>
          <a:bodyPr wrap="square" lIns="0" tIns="0" rIns="0" bIns="0" rtlCol="0" anchor="ctr"/>
          <a:lstStyle/>
          <a:p>
            <a:pPr algn="ctr" indent="0" marL="0">
              <a:buNone/>
            </a:pPr>
            <a:r>
              <a:rPr lang="en-US" sz="1400" b="1" dirty="0">
                <a:solidFill>
                  <a:srgbClr val="FFFFFF"/>
                </a:solidFill>
                <a:latin typeface="Aptos" pitchFamily="34" charset="0"/>
                <a:ea typeface="Aptos" pitchFamily="34" charset="-122"/>
                <a:cs typeface="Aptos" pitchFamily="34" charset="-120"/>
              </a:rPr>
              <a:t>≠</a:t>
            </a:r>
            <a:endParaRPr lang="en-US" sz="1400" dirty="0"/>
          </a:p>
        </p:txBody>
      </p:sp>
      <p:sp>
        <p:nvSpPr>
          <p:cNvPr id="29" name="Text 27"/>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6D5A78"/>
                </a:solidFill>
                <a:latin typeface="Aptos" pitchFamily="34" charset="0"/>
                <a:ea typeface="Aptos" pitchFamily="34" charset="-122"/>
                <a:cs typeface="Aptos" pitchFamily="34" charset="-120"/>
              </a:rPr>
              <a:t>REFERENCE  learn.microsoft.com/azure/foundry/how-to/develop/create-prompt-agent-visual-studio-code  ·  +1 more in notes</a:t>
            </a:r>
            <a:endParaRPr lang="en-US" sz="940" dirty="0"/>
          </a:p>
        </p:txBody>
      </p:sp>
      <p:sp>
        <p:nvSpPr>
          <p:cNvPr id="30" name="Shape 28"/>
          <p:cNvSpPr/>
          <p:nvPr/>
        </p:nvSpPr>
        <p:spPr>
          <a:xfrm>
            <a:off x="0" y="6793992"/>
            <a:ext cx="12191695" cy="64008"/>
          </a:xfrm>
          <a:prstGeom prst="rect">
            <a:avLst/>
          </a:prstGeom>
          <a:solidFill>
            <a:srgbClr val="B88AF7"/>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8143F"/>
        </a:solidFill>
      </p:bgPr>
    </p:bg>
    <p:spTree>
      <p:nvGrpSpPr>
        <p:cNvPr id="1" name=""/>
        <p:cNvGrpSpPr/>
        <p:nvPr/>
      </p:nvGrpSpPr>
      <p:grpSpPr>
        <a:xfrm>
          <a:off x="0" y="0"/>
          <a:ext cx="0" cy="0"/>
          <a:chOff x="0" y="0"/>
          <a:chExt cx="0" cy="0"/>
        </a:xfrm>
      </p:grpSpPr>
      <p:sp>
        <p:nvSpPr>
          <p:cNvPr id="2" name="Shape 0"/>
          <p:cNvSpPr/>
          <p:nvPr/>
        </p:nvSpPr>
        <p:spPr>
          <a:xfrm>
            <a:off x="182880" y="4407408"/>
            <a:ext cx="1572768" cy="1572768"/>
          </a:xfrm>
          <a:prstGeom prst="ellipse">
            <a:avLst/>
          </a:prstGeom>
          <a:solidFill>
            <a:srgbClr val="FFF1D9"/>
          </a:solidFill>
          <a:ln/>
        </p:spPr>
      </p:sp>
      <p:sp>
        <p:nvSpPr>
          <p:cNvPr id="3" name="Shape 1"/>
          <p:cNvSpPr/>
          <p:nvPr/>
        </p:nvSpPr>
        <p:spPr>
          <a:xfrm>
            <a:off x="457200" y="4681728"/>
            <a:ext cx="1024128" cy="1024128"/>
          </a:xfrm>
          <a:prstGeom prst="ellipse">
            <a:avLst/>
          </a:prstGeom>
          <a:solidFill>
            <a:srgbClr val="28143F"/>
          </a:solidFill>
          <a:ln/>
        </p:spPr>
      </p:sp>
      <p:sp>
        <p:nvSpPr>
          <p:cNvPr id="4" name="Text 2"/>
          <p:cNvSpPr/>
          <p:nvPr/>
        </p:nvSpPr>
        <p:spPr>
          <a:xfrm>
            <a:off x="713232" y="530352"/>
            <a:ext cx="2560320" cy="256032"/>
          </a:xfrm>
          <a:prstGeom prst="rect">
            <a:avLst/>
          </a:prstGeom>
          <a:noFill/>
          <a:ln/>
        </p:spPr>
        <p:txBody>
          <a:bodyPr wrap="square" lIns="0" tIns="0" rIns="0" bIns="0" rtlCol="0" anchor="ctr"/>
          <a:lstStyle/>
          <a:p>
            <a:pPr indent="0" marL="0">
              <a:buNone/>
            </a:pPr>
            <a:r>
              <a:rPr lang="en-US" sz="1200" b="1" spc="350" kern="0" dirty="0">
                <a:solidFill>
                  <a:srgbClr val="B88AF7"/>
                </a:solidFill>
                <a:latin typeface="Aptos" pitchFamily="34" charset="0"/>
                <a:ea typeface="Aptos" pitchFamily="34" charset="-122"/>
                <a:cs typeface="Aptos" pitchFamily="34" charset="-120"/>
              </a:rPr>
              <a:t>LIVE DEMO</a:t>
            </a:r>
            <a:endParaRPr lang="en-US" sz="1200" dirty="0"/>
          </a:p>
        </p:txBody>
      </p:sp>
      <p:sp>
        <p:nvSpPr>
          <p:cNvPr id="5" name="Text 3"/>
          <p:cNvSpPr/>
          <p:nvPr/>
        </p:nvSpPr>
        <p:spPr>
          <a:xfrm>
            <a:off x="713232" y="1143000"/>
            <a:ext cx="6199632" cy="914400"/>
          </a:xfrm>
          <a:prstGeom prst="rect">
            <a:avLst/>
          </a:prstGeom>
          <a:noFill/>
          <a:ln/>
        </p:spPr>
        <p:txBody>
          <a:bodyPr wrap="square" lIns="0" tIns="0" rIns="0" bIns="0" rtlCol="0" anchor="ctr">
            <a:normAutofit/>
          </a:bodyPr>
          <a:lstStyle/>
          <a:p>
            <a:pPr indent="0" marL="0">
              <a:buNone/>
            </a:pPr>
            <a:r>
              <a:rPr lang="en-US" sz="3500" b="1" dirty="0">
                <a:solidFill>
                  <a:srgbClr val="FFFFFF"/>
                </a:solidFill>
                <a:latin typeface="Aptos Display" pitchFamily="34" charset="0"/>
                <a:ea typeface="Aptos Display" pitchFamily="34" charset="-122"/>
                <a:cs typeface="Aptos Display" pitchFamily="34" charset="-120"/>
              </a:rPr>
              <a:t>Inspect the reference</a:t>
            </a:r>
            <a:endParaRPr lang="en-US" sz="3500" dirty="0"/>
          </a:p>
          <a:p>
            <a:pPr indent="0" marL="0">
              <a:buNone/>
            </a:pPr>
            <a:r>
              <a:rPr lang="en-US" sz="3500" b="1" dirty="0">
                <a:solidFill>
                  <a:srgbClr val="FFFFFF"/>
                </a:solidFill>
                <a:latin typeface="Aptos Display" pitchFamily="34" charset="0"/>
                <a:ea typeface="Aptos Display" pitchFamily="34" charset="-122"/>
                <a:cs typeface="Aptos Display" pitchFamily="34" charset="-120"/>
              </a:rPr>
              <a:t>workflow locally</a:t>
            </a:r>
            <a:endParaRPr lang="en-US" sz="3500" dirty="0"/>
          </a:p>
        </p:txBody>
      </p:sp>
      <p:sp>
        <p:nvSpPr>
          <p:cNvPr id="6" name="Text 4"/>
          <p:cNvSpPr/>
          <p:nvPr/>
        </p:nvSpPr>
        <p:spPr>
          <a:xfrm>
            <a:off x="749808" y="2395728"/>
            <a:ext cx="6473952" cy="2057400"/>
          </a:xfrm>
          <a:prstGeom prst="rect">
            <a:avLst/>
          </a:prstGeom>
          <a:noFill/>
          <a:ln/>
        </p:spPr>
        <p:txBody>
          <a:bodyPr wrap="square" lIns="0" tIns="0" rIns="0" bIns="0" rtlCol="0" anchor="t">
            <a:normAutofit/>
          </a:bodyPr>
          <a:lstStyle/>
          <a:p>
            <a:pPr indent="0" marL="0">
              <a:buNone/>
            </a:pPr>
            <a:r>
              <a:rPr lang="en-US" sz="1540" dirty="0">
                <a:solidFill>
                  <a:srgbClr val="E5EBF0"/>
                </a:solidFill>
                <a:latin typeface="Aptos" pitchFamily="34" charset="0"/>
                <a:ea typeface="Aptos" pitchFamily="34" charset="-122"/>
                <a:cs typeface="Aptos" pitchFamily="34" charset="-120"/>
              </a:rPr>
              <a:t>Open the preview Agent Inspector against the prepared agent on localhost.</a:t>
            </a:r>
            <a:endParaRPr lang="en-US" sz="1540" dirty="0"/>
          </a:p>
          <a:p>
            <a:pPr indent="0" marL="0">
              <a:buNone/>
            </a:pPr>
            <a:r>
              <a:rPr lang="en-US" sz="1540" dirty="0">
                <a:solidFill>
                  <a:srgbClr val="E5EBF0"/>
                </a:solidFill>
                <a:latin typeface="Aptos" pitchFamily="34" charset="0"/>
                <a:ea typeface="Aptos" pitchFamily="34" charset="-122"/>
                <a:cs typeface="Aptos" pitchFamily="34" charset="-120"/>
              </a:rPr>
              <a:t>Send the same synthetic scenario, inspect streaming and tool activity, and show workflow visualization only where rehearsed support exists.</a:t>
            </a:r>
            <a:endParaRPr lang="en-US" sz="1540" dirty="0"/>
          </a:p>
          <a:p>
            <a:pPr indent="0" marL="0">
              <a:buNone/>
            </a:pPr>
            <a:r>
              <a:rPr lang="en-US" sz="1540" dirty="0">
                <a:solidFill>
                  <a:srgbClr val="E5EBF0"/>
                </a:solidFill>
                <a:latin typeface="Aptos" pitchFamily="34" charset="0"/>
                <a:ea typeface="Aptos" pitchFamily="34" charset="-122"/>
                <a:cs typeface="Aptos" pitchFamily="34" charset="-120"/>
              </a:rPr>
              <a:t>Keep the boundary explicit: local HTTP/SSE inspection is not a deployed Foundry endpoint or automatic cloud trace export.</a:t>
            </a:r>
            <a:endParaRPr lang="en-US" sz="1540" dirty="0"/>
          </a:p>
        </p:txBody>
      </p:sp>
      <p:sp>
        <p:nvSpPr>
          <p:cNvPr id="7" name="Shape 5"/>
          <p:cNvSpPr/>
          <p:nvPr/>
        </p:nvSpPr>
        <p:spPr>
          <a:xfrm>
            <a:off x="7452360" y="749808"/>
            <a:ext cx="4041648" cy="5074920"/>
          </a:xfrm>
          <a:prstGeom prst="roundRect">
            <a:avLst>
              <a:gd name="adj" fmla="val 1810"/>
            </a:avLst>
          </a:prstGeom>
          <a:solidFill>
            <a:srgbClr val="FFFFFF"/>
          </a:solidFill>
          <a:ln/>
        </p:spPr>
      </p:sp>
      <p:sp>
        <p:nvSpPr>
          <p:cNvPr id="8" name="Shape 6"/>
          <p:cNvSpPr/>
          <p:nvPr/>
        </p:nvSpPr>
        <p:spPr>
          <a:xfrm>
            <a:off x="7726680" y="1060704"/>
            <a:ext cx="1225296" cy="347472"/>
          </a:xfrm>
          <a:prstGeom prst="roundRect">
            <a:avLst>
              <a:gd name="adj" fmla="val 21053"/>
            </a:avLst>
          </a:prstGeom>
          <a:solidFill>
            <a:srgbClr val="B88AF7"/>
          </a:solidFill>
          <a:ln/>
        </p:spPr>
      </p:sp>
      <p:sp>
        <p:nvSpPr>
          <p:cNvPr id="9" name="Text 7"/>
          <p:cNvSpPr/>
          <p:nvPr/>
        </p:nvSpPr>
        <p:spPr>
          <a:xfrm>
            <a:off x="7836408" y="1170432"/>
            <a:ext cx="1005840" cy="109728"/>
          </a:xfrm>
          <a:prstGeom prst="rect">
            <a:avLst/>
          </a:prstGeom>
          <a:noFill/>
          <a:ln/>
        </p:spPr>
        <p:txBody>
          <a:bodyPr wrap="square" lIns="0" tIns="0" rIns="0" bIns="0" rtlCol="0" anchor="ctr"/>
          <a:lstStyle/>
          <a:p>
            <a:pPr algn="ctr" indent="0" marL="0">
              <a:buNone/>
            </a:pPr>
            <a:r>
              <a:rPr lang="en-US" sz="950" b="1" dirty="0">
                <a:solidFill>
                  <a:srgbClr val="28143F"/>
                </a:solidFill>
                <a:latin typeface="Aptos" pitchFamily="34" charset="0"/>
                <a:ea typeface="Aptos" pitchFamily="34" charset="-122"/>
                <a:cs typeface="Aptos" pitchFamily="34" charset="-120"/>
              </a:rPr>
              <a:t>~6 min</a:t>
            </a:r>
            <a:endParaRPr lang="en-US" sz="950" dirty="0"/>
          </a:p>
        </p:txBody>
      </p:sp>
      <p:sp>
        <p:nvSpPr>
          <p:cNvPr id="10" name="Text 8"/>
          <p:cNvSpPr/>
          <p:nvPr/>
        </p:nvSpPr>
        <p:spPr>
          <a:xfrm>
            <a:off x="7726680" y="1719072"/>
            <a:ext cx="2971800" cy="274320"/>
          </a:xfrm>
          <a:prstGeom prst="rect">
            <a:avLst/>
          </a:prstGeom>
          <a:noFill/>
          <a:ln/>
        </p:spPr>
        <p:txBody>
          <a:bodyPr wrap="square" lIns="0" tIns="0" rIns="0" bIns="0" rtlCol="0" anchor="ctr"/>
          <a:lstStyle/>
          <a:p>
            <a:pPr indent="0" marL="0">
              <a:buNone/>
            </a:pPr>
            <a:r>
              <a:rPr lang="en-US" sz="2100" b="1" dirty="0">
                <a:solidFill>
                  <a:srgbClr val="28143F"/>
                </a:solidFill>
                <a:latin typeface="Aptos Display" pitchFamily="34" charset="0"/>
                <a:ea typeface="Aptos Display" pitchFamily="34" charset="-122"/>
                <a:cs typeface="Aptos Display" pitchFamily="34" charset="-120"/>
              </a:rPr>
              <a:t>WATCH FOR</a:t>
            </a:r>
            <a:endParaRPr lang="en-US" sz="2100" dirty="0"/>
          </a:p>
        </p:txBody>
      </p:sp>
      <p:sp>
        <p:nvSpPr>
          <p:cNvPr id="11" name="Shape 9"/>
          <p:cNvSpPr/>
          <p:nvPr/>
        </p:nvSpPr>
        <p:spPr>
          <a:xfrm>
            <a:off x="7772400" y="2340864"/>
            <a:ext cx="384048" cy="384048"/>
          </a:xfrm>
          <a:prstGeom prst="ellipse">
            <a:avLst/>
          </a:prstGeom>
          <a:solidFill>
            <a:srgbClr val="B88AF7"/>
          </a:solidFill>
          <a:ln/>
        </p:spPr>
      </p:sp>
      <p:sp>
        <p:nvSpPr>
          <p:cNvPr id="12" name="Text 10"/>
          <p:cNvSpPr/>
          <p:nvPr/>
        </p:nvSpPr>
        <p:spPr>
          <a:xfrm>
            <a:off x="7772400" y="2459736"/>
            <a:ext cx="384048"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1</a:t>
            </a:r>
            <a:endParaRPr lang="en-US" sz="900" dirty="0"/>
          </a:p>
        </p:txBody>
      </p:sp>
      <p:sp>
        <p:nvSpPr>
          <p:cNvPr id="13" name="Text 11"/>
          <p:cNvSpPr/>
          <p:nvPr/>
        </p:nvSpPr>
        <p:spPr>
          <a:xfrm>
            <a:off x="8339328" y="2286000"/>
            <a:ext cx="2889504" cy="512064"/>
          </a:xfrm>
          <a:prstGeom prst="rect">
            <a:avLst/>
          </a:prstGeom>
          <a:noFill/>
          <a:ln/>
        </p:spPr>
        <p:txBody>
          <a:bodyPr wrap="square" lIns="0" tIns="0" rIns="0" bIns="0" rtlCol="0" anchor="ctr">
            <a:normAutofit/>
          </a:bodyPr>
          <a:lstStyle/>
          <a:p>
            <a:pPr indent="0" marL="0">
              <a:buNone/>
            </a:pPr>
            <a:r>
              <a:rPr lang="en-US" sz="1480" b="1" dirty="0">
                <a:solidFill>
                  <a:srgbClr val="251B33"/>
                </a:solidFill>
                <a:latin typeface="Aptos" pitchFamily="34" charset="0"/>
                <a:ea typeface="Aptos" pitchFamily="34" charset="-122"/>
                <a:cs typeface="Aptos" pitchFamily="34" charset="-120"/>
              </a:rPr>
              <a:t>Local storage ≠ local inference</a:t>
            </a:r>
            <a:endParaRPr lang="en-US" sz="1480" dirty="0"/>
          </a:p>
        </p:txBody>
      </p:sp>
      <p:sp>
        <p:nvSpPr>
          <p:cNvPr id="14" name="Shape 12"/>
          <p:cNvSpPr/>
          <p:nvPr/>
        </p:nvSpPr>
        <p:spPr>
          <a:xfrm>
            <a:off x="7772400" y="3127248"/>
            <a:ext cx="384048" cy="384048"/>
          </a:xfrm>
          <a:prstGeom prst="ellipse">
            <a:avLst/>
          </a:prstGeom>
          <a:solidFill>
            <a:srgbClr val="B88AF7"/>
          </a:solidFill>
          <a:ln/>
        </p:spPr>
      </p:sp>
      <p:sp>
        <p:nvSpPr>
          <p:cNvPr id="15" name="Text 13"/>
          <p:cNvSpPr/>
          <p:nvPr/>
        </p:nvSpPr>
        <p:spPr>
          <a:xfrm>
            <a:off x="7772400" y="3246120"/>
            <a:ext cx="384048"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2</a:t>
            </a:r>
            <a:endParaRPr lang="en-US" sz="900" dirty="0"/>
          </a:p>
        </p:txBody>
      </p:sp>
      <p:sp>
        <p:nvSpPr>
          <p:cNvPr id="16" name="Text 14"/>
          <p:cNvSpPr/>
          <p:nvPr/>
        </p:nvSpPr>
        <p:spPr>
          <a:xfrm>
            <a:off x="8339328" y="3072384"/>
            <a:ext cx="2889504" cy="512064"/>
          </a:xfrm>
          <a:prstGeom prst="rect">
            <a:avLst/>
          </a:prstGeom>
          <a:noFill/>
          <a:ln/>
        </p:spPr>
        <p:txBody>
          <a:bodyPr wrap="square" lIns="0" tIns="0" rIns="0" bIns="0" rtlCol="0" anchor="ctr">
            <a:normAutofit/>
          </a:bodyPr>
          <a:lstStyle/>
          <a:p>
            <a:pPr indent="0" marL="0">
              <a:buNone/>
            </a:pPr>
            <a:r>
              <a:rPr lang="en-US" sz="1480" b="1" dirty="0">
                <a:solidFill>
                  <a:srgbClr val="251B33"/>
                </a:solidFill>
                <a:latin typeface="Aptos" pitchFamily="34" charset="0"/>
                <a:ea typeface="Aptos" pitchFamily="34" charset="-122"/>
                <a:cs typeface="Aptos" pitchFamily="34" charset="-120"/>
              </a:rPr>
              <a:t>Verify the selected target</a:t>
            </a:r>
            <a:endParaRPr lang="en-US" sz="1480" dirty="0"/>
          </a:p>
        </p:txBody>
      </p:sp>
      <p:sp>
        <p:nvSpPr>
          <p:cNvPr id="17" name="Shape 15"/>
          <p:cNvSpPr/>
          <p:nvPr/>
        </p:nvSpPr>
        <p:spPr>
          <a:xfrm>
            <a:off x="7772400" y="3913632"/>
            <a:ext cx="384048" cy="384048"/>
          </a:xfrm>
          <a:prstGeom prst="ellipse">
            <a:avLst/>
          </a:prstGeom>
          <a:solidFill>
            <a:srgbClr val="FFB454"/>
          </a:solidFill>
          <a:ln/>
        </p:spPr>
      </p:sp>
      <p:sp>
        <p:nvSpPr>
          <p:cNvPr id="18" name="Text 16"/>
          <p:cNvSpPr/>
          <p:nvPr/>
        </p:nvSpPr>
        <p:spPr>
          <a:xfrm>
            <a:off x="7772400" y="4032504"/>
            <a:ext cx="384048"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3</a:t>
            </a:r>
            <a:endParaRPr lang="en-US" sz="900" dirty="0"/>
          </a:p>
        </p:txBody>
      </p:sp>
      <p:sp>
        <p:nvSpPr>
          <p:cNvPr id="19" name="Text 17"/>
          <p:cNvSpPr/>
          <p:nvPr/>
        </p:nvSpPr>
        <p:spPr>
          <a:xfrm>
            <a:off x="8339328" y="3858768"/>
            <a:ext cx="2889504" cy="512064"/>
          </a:xfrm>
          <a:prstGeom prst="rect">
            <a:avLst/>
          </a:prstGeom>
          <a:noFill/>
          <a:ln/>
        </p:spPr>
        <p:txBody>
          <a:bodyPr wrap="square" lIns="0" tIns="0" rIns="0" bIns="0" rtlCol="0" anchor="ctr">
            <a:normAutofit/>
          </a:bodyPr>
          <a:lstStyle/>
          <a:p>
            <a:pPr indent="0" marL="0">
              <a:buNone/>
            </a:pPr>
            <a:r>
              <a:rPr lang="en-US" sz="1480" b="1" dirty="0">
                <a:solidFill>
                  <a:srgbClr val="251B33"/>
                </a:solidFill>
                <a:latin typeface="Aptos" pitchFamily="34" charset="0"/>
                <a:ea typeface="Aptos" pitchFamily="34" charset="-122"/>
                <a:cs typeface="Aptos" pitchFamily="34" charset="-120"/>
              </a:rPr>
              <a:t>Preview boundaries stay visible</a:t>
            </a:r>
            <a:endParaRPr lang="en-US" sz="1480" dirty="0"/>
          </a:p>
        </p:txBody>
      </p:sp>
      <p:sp>
        <p:nvSpPr>
          <p:cNvPr id="20" name="Shape 18"/>
          <p:cNvSpPr/>
          <p:nvPr/>
        </p:nvSpPr>
        <p:spPr>
          <a:xfrm>
            <a:off x="7726680" y="4882896"/>
            <a:ext cx="3401568" cy="566928"/>
          </a:xfrm>
          <a:prstGeom prst="roundRect">
            <a:avLst>
              <a:gd name="adj" fmla="val 12903"/>
            </a:avLst>
          </a:prstGeom>
          <a:solidFill>
            <a:srgbClr val="F1E8FD"/>
          </a:solidFill>
          <a:ln/>
        </p:spPr>
      </p:sp>
      <p:sp>
        <p:nvSpPr>
          <p:cNvPr id="21" name="Text 19"/>
          <p:cNvSpPr/>
          <p:nvPr/>
        </p:nvSpPr>
        <p:spPr>
          <a:xfrm>
            <a:off x="7882128" y="5029200"/>
            <a:ext cx="3090672" cy="201168"/>
          </a:xfrm>
          <a:prstGeom prst="rect">
            <a:avLst/>
          </a:prstGeom>
          <a:noFill/>
          <a:ln/>
        </p:spPr>
        <p:txBody>
          <a:bodyPr wrap="square" lIns="0" tIns="0" rIns="0" bIns="0" rtlCol="0" anchor="ctr">
            <a:normAutofit/>
          </a:bodyPr>
          <a:lstStyle/>
          <a:p>
            <a:pPr indent="0" marL="0">
              <a:buNone/>
            </a:pPr>
            <a:r>
              <a:rPr lang="en-US" sz="1100" dirty="0">
                <a:solidFill>
                  <a:srgbClr val="28143F"/>
                </a:solidFill>
                <a:latin typeface="Consolas" pitchFamily="34" charset="0"/>
                <a:ea typeface="Consolas" pitchFamily="34" charset="-122"/>
                <a:cs typeface="Consolas" pitchFamily="34" charset="-120"/>
              </a:rPr>
              <a:t>demos/day5/module-6-demo-1-inspect-locally.md</a:t>
            </a:r>
            <a:endParaRPr lang="en-US" sz="1100" dirty="0"/>
          </a:p>
        </p:txBody>
      </p:sp>
      <p:sp>
        <p:nvSpPr>
          <p:cNvPr id="22" name="Text 20"/>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DDE7EF"/>
                </a:solidFill>
                <a:latin typeface="Aptos" pitchFamily="34" charset="0"/>
                <a:ea typeface="Aptos" pitchFamily="34" charset="-122"/>
                <a:cs typeface="Aptos" pitchFamily="34" charset="-120"/>
              </a:rPr>
              <a:t>REFERENCE  learn.microsoft.com/azure/foundry/agents/how-to/agent-inspector  ·  +3 more in notes</a:t>
            </a:r>
            <a:endParaRPr lang="en-US" sz="940" dirty="0"/>
          </a:p>
        </p:txBody>
      </p:sp>
      <p:sp>
        <p:nvSpPr>
          <p:cNvPr id="23" name="Shape 21"/>
          <p:cNvSpPr/>
          <p:nvPr/>
        </p:nvSpPr>
        <p:spPr>
          <a:xfrm>
            <a:off x="0" y="6793992"/>
            <a:ext cx="12191695" cy="64008"/>
          </a:xfrm>
          <a:prstGeom prst="rect">
            <a:avLst/>
          </a:prstGeom>
          <a:solidFill>
            <a:srgbClr val="B88AF7"/>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8FF"/>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28143F"/>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6  /  DEVELOPER SURFACES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28143F"/>
                </a:solidFill>
                <a:latin typeface="Aptos Display" pitchFamily="34" charset="0"/>
                <a:ea typeface="Aptos Display" pitchFamily="34" charset="-122"/>
                <a:cs typeface="Aptos Display" pitchFamily="34" charset="-120"/>
              </a:rPr>
              <a:t>Foundry Toolkit: Foundry Features in VS Code</a:t>
            </a:r>
            <a:endParaRPr lang="en-US" sz="3100" dirty="0"/>
          </a:p>
        </p:txBody>
      </p:sp>
      <p:sp>
        <p:nvSpPr>
          <p:cNvPr id="5" name="Shape 3"/>
          <p:cNvSpPr/>
          <p:nvPr/>
        </p:nvSpPr>
        <p:spPr>
          <a:xfrm>
            <a:off x="10804550" y="436717"/>
            <a:ext cx="592531" cy="500360"/>
          </a:xfrm>
          <a:prstGeom prst="roundRect">
            <a:avLst>
              <a:gd name="adj" fmla="val 14620"/>
            </a:avLst>
          </a:prstGeom>
          <a:solidFill>
            <a:srgbClr val="FFFFFF"/>
          </a:solidFill>
          <a:ln w="10160">
            <a:solidFill>
              <a:srgbClr val="28143F"/>
            </a:solidFill>
            <a:prstDash val="solid"/>
          </a:ln>
        </p:spPr>
      </p:sp>
      <p:sp>
        <p:nvSpPr>
          <p:cNvPr id="6" name="Shape 4"/>
          <p:cNvSpPr/>
          <p:nvPr/>
        </p:nvSpPr>
        <p:spPr>
          <a:xfrm>
            <a:off x="10804550" y="436717"/>
            <a:ext cx="592531" cy="105339"/>
          </a:xfrm>
          <a:prstGeom prst="rect">
            <a:avLst/>
          </a:prstGeom>
          <a:solidFill>
            <a:srgbClr val="B88AF7"/>
          </a:solidFill>
          <a:ln/>
        </p:spPr>
      </p:sp>
      <p:sp>
        <p:nvSpPr>
          <p:cNvPr id="7" name="Shape 5"/>
          <p:cNvSpPr/>
          <p:nvPr/>
        </p:nvSpPr>
        <p:spPr>
          <a:xfrm>
            <a:off x="10903306" y="640812"/>
            <a:ext cx="316017" cy="0"/>
          </a:xfrm>
          <a:prstGeom prst="line">
            <a:avLst/>
          </a:prstGeom>
          <a:noFill/>
          <a:ln w="25400">
            <a:solidFill>
              <a:srgbClr val="28143F"/>
            </a:solidFill>
            <a:prstDash val="solid"/>
          </a:ln>
        </p:spPr>
      </p:sp>
      <p:sp>
        <p:nvSpPr>
          <p:cNvPr id="8" name="Shape 6"/>
          <p:cNvSpPr/>
          <p:nvPr/>
        </p:nvSpPr>
        <p:spPr>
          <a:xfrm>
            <a:off x="10969142" y="746150"/>
            <a:ext cx="296266" cy="0"/>
          </a:xfrm>
          <a:prstGeom prst="line">
            <a:avLst/>
          </a:prstGeom>
          <a:noFill/>
          <a:ln w="25400">
            <a:solidFill>
              <a:srgbClr val="B88AF7"/>
            </a:solidFill>
            <a:prstDash val="solid"/>
          </a:ln>
        </p:spPr>
      </p:sp>
      <p:sp>
        <p:nvSpPr>
          <p:cNvPr id="9" name="Shape 7"/>
          <p:cNvSpPr/>
          <p:nvPr/>
        </p:nvSpPr>
        <p:spPr>
          <a:xfrm>
            <a:off x="10890138" y="844906"/>
            <a:ext cx="204094" cy="0"/>
          </a:xfrm>
          <a:prstGeom prst="line">
            <a:avLst/>
          </a:prstGeom>
          <a:noFill/>
          <a:ln w="25400">
            <a:solidFill>
              <a:srgbClr val="28143F"/>
            </a:solidFill>
            <a:prstDash val="solid"/>
          </a:ln>
        </p:spPr>
      </p:sp>
      <p:sp>
        <p:nvSpPr>
          <p:cNvPr id="10" name="Shape 8"/>
          <p:cNvSpPr/>
          <p:nvPr/>
        </p:nvSpPr>
        <p:spPr>
          <a:xfrm>
            <a:off x="11612880" y="457200"/>
            <a:ext cx="329184" cy="329184"/>
          </a:xfrm>
          <a:prstGeom prst="ellipse">
            <a:avLst/>
          </a:prstGeom>
          <a:solidFill>
            <a:srgbClr val="B88AF7"/>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28143F"/>
                </a:solidFill>
                <a:latin typeface="Aptos" pitchFamily="34" charset="0"/>
                <a:ea typeface="Aptos" pitchFamily="34" charset="-122"/>
                <a:cs typeface="Aptos" pitchFamily="34" charset="-120"/>
              </a:rPr>
              <a:t>07</a:t>
            </a:r>
            <a:endParaRPr lang="en-US" sz="850" dirty="0"/>
          </a:p>
        </p:txBody>
      </p:sp>
      <p:sp>
        <p:nvSpPr>
          <p:cNvPr id="12" name="Shape 10"/>
          <p:cNvSpPr/>
          <p:nvPr/>
        </p:nvSpPr>
        <p:spPr>
          <a:xfrm>
            <a:off x="9829800" y="1005840"/>
            <a:ext cx="2148840" cy="2148840"/>
          </a:xfrm>
          <a:prstGeom prst="ellipse">
            <a:avLst/>
          </a:prstGeom>
          <a:solidFill>
            <a:srgbClr val="F1E8FD"/>
          </a:solidFill>
          <a:ln/>
        </p:spPr>
      </p:sp>
      <p:sp>
        <p:nvSpPr>
          <p:cNvPr id="13" name="Shape 11"/>
          <p:cNvSpPr/>
          <p:nvPr/>
        </p:nvSpPr>
        <p:spPr>
          <a:xfrm>
            <a:off x="640080" y="1371600"/>
            <a:ext cx="2788920" cy="4736592"/>
          </a:xfrm>
          <a:prstGeom prst="roundRect">
            <a:avLst>
              <a:gd name="adj" fmla="val 2623"/>
            </a:avLst>
          </a:prstGeom>
          <a:solidFill>
            <a:srgbClr val="28143F"/>
          </a:solidFill>
          <a:ln/>
        </p:spPr>
      </p:sp>
      <p:sp>
        <p:nvSpPr>
          <p:cNvPr id="14" name="Text 12"/>
          <p:cNvSpPr/>
          <p:nvPr/>
        </p:nvSpPr>
        <p:spPr>
          <a:xfrm>
            <a:off x="941832" y="1828800"/>
            <a:ext cx="2103120" cy="1920240"/>
          </a:xfrm>
          <a:prstGeom prst="rect">
            <a:avLst/>
          </a:prstGeom>
          <a:noFill/>
          <a:ln/>
        </p:spPr>
        <p:txBody>
          <a:bodyPr wrap="square" lIns="0" tIns="0" rIns="0" bIns="0" rtlCol="0" anchor="ct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WHAT TO</a:t>
            </a:r>
            <a:endParaRPr lang="en-US" sz="2900" dirty="0"/>
          </a:p>
          <a:p>
            <a:pPr indent="0" marL="0">
              <a:buNone/>
            </a:pPr>
            <a:r>
              <a:rPr lang="en-US" sz="2900" b="1" dirty="0">
                <a:solidFill>
                  <a:srgbClr val="FFFFFF"/>
                </a:solidFill>
                <a:latin typeface="Aptos Display" pitchFamily="34" charset="0"/>
                <a:ea typeface="Aptos Display" pitchFamily="34" charset="-122"/>
                <a:cs typeface="Aptos Display" pitchFamily="34" charset="-120"/>
              </a:rPr>
              <a:t>CARRY</a:t>
            </a:r>
            <a:endParaRPr lang="en-US" sz="2900" dirty="0"/>
          </a:p>
          <a:p>
            <a:pPr indent="0" marL="0">
              <a:buNone/>
            </a:pPr>
            <a:r>
              <a:rPr lang="en-US" sz="2900" b="1" dirty="0">
                <a:solidFill>
                  <a:srgbClr val="FFFFFF"/>
                </a:solidFill>
                <a:latin typeface="Aptos Display" pitchFamily="34" charset="0"/>
                <a:ea typeface="Aptos Display" pitchFamily="34" charset="-122"/>
                <a:cs typeface="Aptos Display" pitchFamily="34" charset="-120"/>
              </a:rPr>
              <a:t>FORWARD</a:t>
            </a:r>
            <a:endParaRPr lang="en-US" sz="2900" dirty="0"/>
          </a:p>
        </p:txBody>
      </p:sp>
      <p:sp>
        <p:nvSpPr>
          <p:cNvPr id="15" name="Shape 13"/>
          <p:cNvSpPr/>
          <p:nvPr/>
        </p:nvSpPr>
        <p:spPr>
          <a:xfrm>
            <a:off x="1337310" y="4281221"/>
            <a:ext cx="1357884" cy="1146658"/>
          </a:xfrm>
          <a:prstGeom prst="roundRect">
            <a:avLst>
              <a:gd name="adj" fmla="val 6380"/>
            </a:avLst>
          </a:prstGeom>
          <a:solidFill>
            <a:srgbClr val="34234A"/>
          </a:solidFill>
          <a:ln w="10160">
            <a:solidFill>
              <a:srgbClr val="FFFFFF"/>
            </a:solidFill>
            <a:prstDash val="solid"/>
          </a:ln>
        </p:spPr>
      </p:sp>
      <p:sp>
        <p:nvSpPr>
          <p:cNvPr id="16" name="Shape 14"/>
          <p:cNvSpPr/>
          <p:nvPr/>
        </p:nvSpPr>
        <p:spPr>
          <a:xfrm>
            <a:off x="1337310" y="4281221"/>
            <a:ext cx="1357884" cy="241402"/>
          </a:xfrm>
          <a:prstGeom prst="rect">
            <a:avLst/>
          </a:prstGeom>
          <a:solidFill>
            <a:srgbClr val="B88AF7"/>
          </a:solidFill>
          <a:ln/>
        </p:spPr>
      </p:sp>
      <p:sp>
        <p:nvSpPr>
          <p:cNvPr id="17" name="Shape 15"/>
          <p:cNvSpPr/>
          <p:nvPr/>
        </p:nvSpPr>
        <p:spPr>
          <a:xfrm>
            <a:off x="1563624" y="4748936"/>
            <a:ext cx="724205" cy="0"/>
          </a:xfrm>
          <a:prstGeom prst="line">
            <a:avLst/>
          </a:prstGeom>
          <a:noFill/>
          <a:ln w="25400">
            <a:solidFill>
              <a:srgbClr val="FFFFFF"/>
            </a:solidFill>
            <a:prstDash val="solid"/>
          </a:ln>
        </p:spPr>
      </p:sp>
      <p:sp>
        <p:nvSpPr>
          <p:cNvPr id="18" name="Shape 16"/>
          <p:cNvSpPr/>
          <p:nvPr/>
        </p:nvSpPr>
        <p:spPr>
          <a:xfrm>
            <a:off x="1714500" y="4990338"/>
            <a:ext cx="678942" cy="0"/>
          </a:xfrm>
          <a:prstGeom prst="line">
            <a:avLst/>
          </a:prstGeom>
          <a:noFill/>
          <a:ln w="25400">
            <a:solidFill>
              <a:srgbClr val="B88AF7"/>
            </a:solidFill>
            <a:prstDash val="solid"/>
          </a:ln>
        </p:spPr>
      </p:sp>
      <p:sp>
        <p:nvSpPr>
          <p:cNvPr id="19" name="Shape 17"/>
          <p:cNvSpPr/>
          <p:nvPr/>
        </p:nvSpPr>
        <p:spPr>
          <a:xfrm>
            <a:off x="1533449" y="5216652"/>
            <a:ext cx="467716" cy="0"/>
          </a:xfrm>
          <a:prstGeom prst="line">
            <a:avLst/>
          </a:prstGeom>
          <a:noFill/>
          <a:ln w="25400">
            <a:solidFill>
              <a:srgbClr val="FFFFFF"/>
            </a:solidFill>
            <a:prstDash val="solid"/>
          </a:ln>
        </p:spPr>
      </p:sp>
      <p:sp>
        <p:nvSpPr>
          <p:cNvPr id="20" name="Shape 18"/>
          <p:cNvSpPr/>
          <p:nvPr/>
        </p:nvSpPr>
        <p:spPr>
          <a:xfrm>
            <a:off x="3712464" y="1371600"/>
            <a:ext cx="3799332" cy="1420368"/>
          </a:xfrm>
          <a:prstGeom prst="roundRect">
            <a:avLst>
              <a:gd name="adj" fmla="val 5150"/>
            </a:avLst>
          </a:prstGeom>
          <a:solidFill>
            <a:srgbClr val="FFFFFF"/>
          </a:solidFill>
          <a:ln w="10160">
            <a:solidFill>
              <a:srgbClr val="F1E8FD"/>
            </a:solidFill>
            <a:prstDash val="solid"/>
          </a:ln>
        </p:spPr>
      </p:sp>
      <p:sp>
        <p:nvSpPr>
          <p:cNvPr id="21" name="Shape 19"/>
          <p:cNvSpPr/>
          <p:nvPr/>
        </p:nvSpPr>
        <p:spPr>
          <a:xfrm>
            <a:off x="3895344" y="1880616"/>
            <a:ext cx="402336" cy="402336"/>
          </a:xfrm>
          <a:prstGeom prst="ellipse">
            <a:avLst/>
          </a:prstGeom>
          <a:solidFill>
            <a:srgbClr val="B88AF7"/>
          </a:solidFill>
          <a:ln/>
        </p:spPr>
      </p:sp>
      <p:sp>
        <p:nvSpPr>
          <p:cNvPr id="22" name="Text 20"/>
          <p:cNvSpPr/>
          <p:nvPr/>
        </p:nvSpPr>
        <p:spPr>
          <a:xfrm>
            <a:off x="3895344" y="2017776"/>
            <a:ext cx="402336"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1</a:t>
            </a:r>
            <a:endParaRPr lang="en-US" sz="900" dirty="0"/>
          </a:p>
        </p:txBody>
      </p:sp>
      <p:sp>
        <p:nvSpPr>
          <p:cNvPr id="23" name="Text 21"/>
          <p:cNvSpPr/>
          <p:nvPr/>
        </p:nvSpPr>
        <p:spPr>
          <a:xfrm>
            <a:off x="4462272" y="1517904"/>
            <a:ext cx="2857500" cy="1127760"/>
          </a:xfrm>
          <a:prstGeom prst="rect">
            <a:avLst/>
          </a:prstGeom>
          <a:noFill/>
          <a:ln/>
        </p:spPr>
        <p:txBody>
          <a:bodyPr wrap="square" lIns="0" tIns="0" rIns="0" bIns="0" rtlCol="0" anchor="ctr">
            <a:normAutofit/>
          </a:bodyPr>
          <a:lstStyle/>
          <a:p>
            <a:pPr indent="0" marL="0">
              <a:buNone/>
            </a:pPr>
            <a:r>
              <a:rPr lang="en-US" sz="1530" dirty="0">
                <a:solidFill>
                  <a:srgbClr val="251B33"/>
                </a:solidFill>
                <a:latin typeface="Aptos" pitchFamily="34" charset="0"/>
                <a:ea typeface="Aptos" pitchFamily="34" charset="-122"/>
                <a:cs typeface="Aptos" pitchFamily="34" charset="-120"/>
              </a:rPr>
              <a:t>DISCOVER — Compare models in Model Catalog and find MCP servers or toolboxes in Tool Catalog.</a:t>
            </a:r>
            <a:endParaRPr lang="en-US" sz="1530" dirty="0"/>
          </a:p>
        </p:txBody>
      </p:sp>
      <p:sp>
        <p:nvSpPr>
          <p:cNvPr id="24" name="Shape 22"/>
          <p:cNvSpPr/>
          <p:nvPr/>
        </p:nvSpPr>
        <p:spPr>
          <a:xfrm>
            <a:off x="7749540" y="1371600"/>
            <a:ext cx="3799332" cy="1420368"/>
          </a:xfrm>
          <a:prstGeom prst="roundRect">
            <a:avLst>
              <a:gd name="adj" fmla="val 5150"/>
            </a:avLst>
          </a:prstGeom>
          <a:solidFill>
            <a:srgbClr val="FFFFFF"/>
          </a:solidFill>
          <a:ln w="10160">
            <a:solidFill>
              <a:srgbClr val="F1E8FD"/>
            </a:solidFill>
            <a:prstDash val="solid"/>
          </a:ln>
        </p:spPr>
      </p:sp>
      <p:sp>
        <p:nvSpPr>
          <p:cNvPr id="25" name="Shape 23"/>
          <p:cNvSpPr/>
          <p:nvPr/>
        </p:nvSpPr>
        <p:spPr>
          <a:xfrm>
            <a:off x="7932420" y="1880616"/>
            <a:ext cx="402336" cy="402336"/>
          </a:xfrm>
          <a:prstGeom prst="ellipse">
            <a:avLst/>
          </a:prstGeom>
          <a:solidFill>
            <a:srgbClr val="B88AF7"/>
          </a:solidFill>
          <a:ln/>
        </p:spPr>
      </p:sp>
      <p:sp>
        <p:nvSpPr>
          <p:cNvPr id="26" name="Text 24"/>
          <p:cNvSpPr/>
          <p:nvPr/>
        </p:nvSpPr>
        <p:spPr>
          <a:xfrm>
            <a:off x="7932420" y="2017776"/>
            <a:ext cx="402336"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2</a:t>
            </a:r>
            <a:endParaRPr lang="en-US" sz="900" dirty="0"/>
          </a:p>
        </p:txBody>
      </p:sp>
      <p:sp>
        <p:nvSpPr>
          <p:cNvPr id="27" name="Text 25"/>
          <p:cNvSpPr/>
          <p:nvPr/>
        </p:nvSpPr>
        <p:spPr>
          <a:xfrm>
            <a:off x="8499348" y="1517904"/>
            <a:ext cx="2857500" cy="1127760"/>
          </a:xfrm>
          <a:prstGeom prst="rect">
            <a:avLst/>
          </a:prstGeom>
          <a:noFill/>
          <a:ln/>
        </p:spPr>
        <p:txBody>
          <a:bodyPr wrap="square" lIns="0" tIns="0" rIns="0" bIns="0" rtlCol="0" anchor="ctr">
            <a:normAutofit/>
          </a:bodyPr>
          <a:lstStyle/>
          <a:p>
            <a:pPr indent="0" marL="0">
              <a:buNone/>
            </a:pPr>
            <a:r>
              <a:rPr lang="en-US" sz="1530" dirty="0">
                <a:solidFill>
                  <a:srgbClr val="251B33"/>
                </a:solidFill>
                <a:latin typeface="Aptos" pitchFamily="34" charset="0"/>
                <a:ea typeface="Aptos" pitchFamily="34" charset="-122"/>
                <a:cs typeface="Aptos" pitchFamily="34" charset="-120"/>
              </a:rPr>
              <a:t>BUILD — Configure prompt agents, inspect local runtimes, and deploy through the intended Foundry path.</a:t>
            </a:r>
            <a:endParaRPr lang="en-US" sz="1530" dirty="0"/>
          </a:p>
        </p:txBody>
      </p:sp>
      <p:sp>
        <p:nvSpPr>
          <p:cNvPr id="28" name="Shape 26"/>
          <p:cNvSpPr/>
          <p:nvPr/>
        </p:nvSpPr>
        <p:spPr>
          <a:xfrm>
            <a:off x="3712464" y="3029712"/>
            <a:ext cx="3799332" cy="1420368"/>
          </a:xfrm>
          <a:prstGeom prst="roundRect">
            <a:avLst>
              <a:gd name="adj" fmla="val 5150"/>
            </a:avLst>
          </a:prstGeom>
          <a:solidFill>
            <a:srgbClr val="FFFFFF"/>
          </a:solidFill>
          <a:ln w="10160">
            <a:solidFill>
              <a:srgbClr val="F1E8FD"/>
            </a:solidFill>
            <a:prstDash val="solid"/>
          </a:ln>
        </p:spPr>
      </p:sp>
      <p:sp>
        <p:nvSpPr>
          <p:cNvPr id="29" name="Shape 27"/>
          <p:cNvSpPr/>
          <p:nvPr/>
        </p:nvSpPr>
        <p:spPr>
          <a:xfrm>
            <a:off x="3895344" y="3538728"/>
            <a:ext cx="402336" cy="402336"/>
          </a:xfrm>
          <a:prstGeom prst="ellipse">
            <a:avLst/>
          </a:prstGeom>
          <a:solidFill>
            <a:srgbClr val="B88AF7"/>
          </a:solidFill>
          <a:ln/>
        </p:spPr>
      </p:sp>
      <p:sp>
        <p:nvSpPr>
          <p:cNvPr id="30" name="Text 28"/>
          <p:cNvSpPr/>
          <p:nvPr/>
        </p:nvSpPr>
        <p:spPr>
          <a:xfrm>
            <a:off x="3895344" y="3675888"/>
            <a:ext cx="402336"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3</a:t>
            </a:r>
            <a:endParaRPr lang="en-US" sz="900" dirty="0"/>
          </a:p>
        </p:txBody>
      </p:sp>
      <p:sp>
        <p:nvSpPr>
          <p:cNvPr id="31" name="Text 29"/>
          <p:cNvSpPr/>
          <p:nvPr/>
        </p:nvSpPr>
        <p:spPr>
          <a:xfrm>
            <a:off x="4462272" y="3176016"/>
            <a:ext cx="2857500" cy="1127760"/>
          </a:xfrm>
          <a:prstGeom prst="rect">
            <a:avLst/>
          </a:prstGeom>
          <a:noFill/>
          <a:ln/>
        </p:spPr>
        <p:txBody>
          <a:bodyPr wrap="square" lIns="0" tIns="0" rIns="0" bIns="0" rtlCol="0" anchor="ctr">
            <a:normAutofit/>
          </a:bodyPr>
          <a:lstStyle/>
          <a:p>
            <a:pPr indent="0" marL="0">
              <a:buNone/>
            </a:pPr>
            <a:r>
              <a:rPr lang="en-US" sz="1530" dirty="0">
                <a:solidFill>
                  <a:srgbClr val="251B33"/>
                </a:solidFill>
                <a:latin typeface="Aptos" pitchFamily="34" charset="0"/>
                <a:ea typeface="Aptos" pitchFamily="34" charset="-122"/>
                <a:cs typeface="Aptos" pitchFamily="34" charset="-120"/>
              </a:rPr>
              <a:t>MONITOR — Use tracing and evaluation as observed evidence, not proof of runtime quality.</a:t>
            </a:r>
            <a:endParaRPr lang="en-US" sz="1530" dirty="0"/>
          </a:p>
        </p:txBody>
      </p:sp>
      <p:sp>
        <p:nvSpPr>
          <p:cNvPr id="32" name="Shape 30"/>
          <p:cNvSpPr/>
          <p:nvPr/>
        </p:nvSpPr>
        <p:spPr>
          <a:xfrm>
            <a:off x="7749540" y="3029712"/>
            <a:ext cx="3799332" cy="1420368"/>
          </a:xfrm>
          <a:prstGeom prst="roundRect">
            <a:avLst>
              <a:gd name="adj" fmla="val 5150"/>
            </a:avLst>
          </a:prstGeom>
          <a:solidFill>
            <a:srgbClr val="FFFFFF"/>
          </a:solidFill>
          <a:ln w="10160">
            <a:solidFill>
              <a:srgbClr val="F1E8FD"/>
            </a:solidFill>
            <a:prstDash val="solid"/>
          </a:ln>
        </p:spPr>
      </p:sp>
      <p:sp>
        <p:nvSpPr>
          <p:cNvPr id="33" name="Shape 31"/>
          <p:cNvSpPr/>
          <p:nvPr/>
        </p:nvSpPr>
        <p:spPr>
          <a:xfrm>
            <a:off x="7932420" y="3538728"/>
            <a:ext cx="402336" cy="402336"/>
          </a:xfrm>
          <a:prstGeom prst="ellipse">
            <a:avLst/>
          </a:prstGeom>
          <a:solidFill>
            <a:srgbClr val="B88AF7"/>
          </a:solidFill>
          <a:ln/>
        </p:spPr>
      </p:sp>
      <p:sp>
        <p:nvSpPr>
          <p:cNvPr id="34" name="Text 32"/>
          <p:cNvSpPr/>
          <p:nvPr/>
        </p:nvSpPr>
        <p:spPr>
          <a:xfrm>
            <a:off x="7932420" y="3675888"/>
            <a:ext cx="402336"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4</a:t>
            </a:r>
            <a:endParaRPr lang="en-US" sz="900" dirty="0"/>
          </a:p>
        </p:txBody>
      </p:sp>
      <p:sp>
        <p:nvSpPr>
          <p:cNvPr id="35" name="Text 33"/>
          <p:cNvSpPr/>
          <p:nvPr/>
        </p:nvSpPr>
        <p:spPr>
          <a:xfrm>
            <a:off x="8499348" y="3176016"/>
            <a:ext cx="2857500" cy="1127760"/>
          </a:xfrm>
          <a:prstGeom prst="rect">
            <a:avLst/>
          </a:prstGeom>
          <a:noFill/>
          <a:ln/>
        </p:spPr>
        <p:txBody>
          <a:bodyPr wrap="square" lIns="0" tIns="0" rIns="0" bIns="0" rtlCol="0" anchor="ctr">
            <a:normAutofit/>
          </a:bodyPr>
          <a:lstStyle/>
          <a:p>
            <a:pPr indent="0" marL="0">
              <a:buNone/>
            </a:pPr>
            <a:r>
              <a:rPr lang="en-US" sz="1420" dirty="0">
                <a:solidFill>
                  <a:srgbClr val="251B33"/>
                </a:solidFill>
                <a:latin typeface="Aptos" pitchFamily="34" charset="0"/>
                <a:ea typeface="Aptos" pitchFamily="34" charset="-122"/>
                <a:cs typeface="Aptos" pitchFamily="34" charset="-120"/>
              </a:rPr>
              <a:t>MY RESOURCES — Reopen project evaluations, conversations, logs, traces, models, and agents.</a:t>
            </a:r>
            <a:endParaRPr lang="en-US" sz="1420" dirty="0"/>
          </a:p>
        </p:txBody>
      </p:sp>
      <p:sp>
        <p:nvSpPr>
          <p:cNvPr id="36" name="Shape 34"/>
          <p:cNvSpPr/>
          <p:nvPr/>
        </p:nvSpPr>
        <p:spPr>
          <a:xfrm>
            <a:off x="3712464" y="4687824"/>
            <a:ext cx="7836408" cy="1420368"/>
          </a:xfrm>
          <a:prstGeom prst="roundRect">
            <a:avLst>
              <a:gd name="adj" fmla="val 5150"/>
            </a:avLst>
          </a:prstGeom>
          <a:solidFill>
            <a:srgbClr val="FFF1D9"/>
          </a:solidFill>
          <a:ln w="10160">
            <a:solidFill>
              <a:srgbClr val="FFB454"/>
            </a:solidFill>
            <a:prstDash val="solid"/>
          </a:ln>
        </p:spPr>
      </p:sp>
      <p:sp>
        <p:nvSpPr>
          <p:cNvPr id="37" name="Shape 35"/>
          <p:cNvSpPr/>
          <p:nvPr/>
        </p:nvSpPr>
        <p:spPr>
          <a:xfrm>
            <a:off x="3895344" y="5196840"/>
            <a:ext cx="402336" cy="402336"/>
          </a:xfrm>
          <a:prstGeom prst="ellipse">
            <a:avLst/>
          </a:prstGeom>
          <a:solidFill>
            <a:srgbClr val="FFB454"/>
          </a:solidFill>
          <a:ln/>
        </p:spPr>
      </p:sp>
      <p:sp>
        <p:nvSpPr>
          <p:cNvPr id="38" name="Text 36"/>
          <p:cNvSpPr/>
          <p:nvPr/>
        </p:nvSpPr>
        <p:spPr>
          <a:xfrm>
            <a:off x="3895344" y="5334000"/>
            <a:ext cx="402336"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5</a:t>
            </a:r>
            <a:endParaRPr lang="en-US" sz="900" dirty="0"/>
          </a:p>
        </p:txBody>
      </p:sp>
      <p:sp>
        <p:nvSpPr>
          <p:cNvPr id="39" name="Text 37"/>
          <p:cNvSpPr/>
          <p:nvPr/>
        </p:nvSpPr>
        <p:spPr>
          <a:xfrm>
            <a:off x="4462272" y="4834128"/>
            <a:ext cx="6894576" cy="1127760"/>
          </a:xfrm>
          <a:prstGeom prst="rect">
            <a:avLst/>
          </a:prstGeom>
          <a:noFill/>
          <a:ln/>
        </p:spPr>
        <p:txBody>
          <a:bodyPr wrap="square" lIns="0" tIns="0" rIns="0" bIns="0" rtlCol="0" anchor="ctr">
            <a:normAutofit/>
          </a:bodyPr>
          <a:lstStyle/>
          <a:p>
            <a:pPr indent="0" marL="0">
              <a:buNone/>
            </a:pPr>
            <a:r>
              <a:rPr lang="en-US" sz="1530" b="1" dirty="0">
                <a:solidFill>
                  <a:srgbClr val="251B33"/>
                </a:solidFill>
                <a:latin typeface="Aptos" pitchFamily="34" charset="0"/>
                <a:ea typeface="Aptos" pitchFamily="34" charset="-122"/>
                <a:cs typeface="Aptos" pitchFamily="34" charset="-120"/>
              </a:rPr>
              <a:t>VERIFY THE TARGET — Check storage, endpoint, version, tools, authorization, and telemetry destination.</a:t>
            </a:r>
            <a:endParaRPr lang="en-US" sz="1530" dirty="0"/>
          </a:p>
        </p:txBody>
      </p:sp>
      <p:sp>
        <p:nvSpPr>
          <p:cNvPr id="40" name="Text 38"/>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6D5A78"/>
                </a:solidFill>
                <a:latin typeface="Aptos" pitchFamily="34" charset="0"/>
                <a:ea typeface="Aptos" pitchFamily="34" charset="-122"/>
                <a:cs typeface="Aptos" pitchFamily="34" charset="-120"/>
              </a:rPr>
              <a:t>REFERENCE  learn.microsoft.com/azure/foundry/how-to/develop/get-started-projects-visual-studio-code  ·  +4 more in notes</a:t>
            </a:r>
            <a:endParaRPr lang="en-US" sz="940" dirty="0"/>
          </a:p>
        </p:txBody>
      </p:sp>
      <p:sp>
        <p:nvSpPr>
          <p:cNvPr id="41" name="Shape 39"/>
          <p:cNvSpPr/>
          <p:nvPr/>
        </p:nvSpPr>
        <p:spPr>
          <a:xfrm>
            <a:off x="0" y="6793992"/>
            <a:ext cx="12191695" cy="64008"/>
          </a:xfrm>
          <a:prstGeom prst="rect">
            <a:avLst/>
          </a:prstGeom>
          <a:solidFill>
            <a:srgbClr val="B88AF7"/>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FCF8FF"/>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28143F"/>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6  /  DEVELOPER SURFACES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28143F"/>
                </a:solidFill>
                <a:latin typeface="Aptos Display" pitchFamily="34" charset="0"/>
                <a:ea typeface="Aptos Display" pitchFamily="34" charset="-122"/>
                <a:cs typeface="Aptos Display" pitchFamily="34" charset="-120"/>
              </a:rPr>
              <a:t>How the Toolkit workspace is organized</a:t>
            </a:r>
            <a:endParaRPr lang="en-US" sz="3100" dirty="0"/>
          </a:p>
        </p:txBody>
      </p:sp>
      <p:sp>
        <p:nvSpPr>
          <p:cNvPr id="5" name="Shape 3"/>
          <p:cNvSpPr/>
          <p:nvPr/>
        </p:nvSpPr>
        <p:spPr>
          <a:xfrm>
            <a:off x="10804550" y="436717"/>
            <a:ext cx="592531" cy="500360"/>
          </a:xfrm>
          <a:prstGeom prst="roundRect">
            <a:avLst>
              <a:gd name="adj" fmla="val 14620"/>
            </a:avLst>
          </a:prstGeom>
          <a:solidFill>
            <a:srgbClr val="FFFFFF"/>
          </a:solidFill>
          <a:ln w="10160">
            <a:solidFill>
              <a:srgbClr val="28143F"/>
            </a:solidFill>
            <a:prstDash val="solid"/>
          </a:ln>
        </p:spPr>
      </p:sp>
      <p:sp>
        <p:nvSpPr>
          <p:cNvPr id="6" name="Shape 4"/>
          <p:cNvSpPr/>
          <p:nvPr/>
        </p:nvSpPr>
        <p:spPr>
          <a:xfrm>
            <a:off x="10804550" y="436717"/>
            <a:ext cx="592531" cy="105339"/>
          </a:xfrm>
          <a:prstGeom prst="rect">
            <a:avLst/>
          </a:prstGeom>
          <a:solidFill>
            <a:srgbClr val="B88AF7"/>
          </a:solidFill>
          <a:ln/>
        </p:spPr>
      </p:sp>
      <p:sp>
        <p:nvSpPr>
          <p:cNvPr id="7" name="Shape 5"/>
          <p:cNvSpPr/>
          <p:nvPr/>
        </p:nvSpPr>
        <p:spPr>
          <a:xfrm>
            <a:off x="10903306" y="640812"/>
            <a:ext cx="316017" cy="0"/>
          </a:xfrm>
          <a:prstGeom prst="line">
            <a:avLst/>
          </a:prstGeom>
          <a:noFill/>
          <a:ln w="25400">
            <a:solidFill>
              <a:srgbClr val="28143F"/>
            </a:solidFill>
            <a:prstDash val="solid"/>
          </a:ln>
        </p:spPr>
      </p:sp>
      <p:sp>
        <p:nvSpPr>
          <p:cNvPr id="8" name="Shape 6"/>
          <p:cNvSpPr/>
          <p:nvPr/>
        </p:nvSpPr>
        <p:spPr>
          <a:xfrm>
            <a:off x="10969142" y="746150"/>
            <a:ext cx="296266" cy="0"/>
          </a:xfrm>
          <a:prstGeom prst="line">
            <a:avLst/>
          </a:prstGeom>
          <a:noFill/>
          <a:ln w="25400">
            <a:solidFill>
              <a:srgbClr val="B88AF7"/>
            </a:solidFill>
            <a:prstDash val="solid"/>
          </a:ln>
        </p:spPr>
      </p:sp>
      <p:sp>
        <p:nvSpPr>
          <p:cNvPr id="9" name="Shape 7"/>
          <p:cNvSpPr/>
          <p:nvPr/>
        </p:nvSpPr>
        <p:spPr>
          <a:xfrm>
            <a:off x="10890138" y="844906"/>
            <a:ext cx="204094" cy="0"/>
          </a:xfrm>
          <a:prstGeom prst="line">
            <a:avLst/>
          </a:prstGeom>
          <a:noFill/>
          <a:ln w="25400">
            <a:solidFill>
              <a:srgbClr val="28143F"/>
            </a:solidFill>
            <a:prstDash val="solid"/>
          </a:ln>
        </p:spPr>
      </p:sp>
      <p:sp>
        <p:nvSpPr>
          <p:cNvPr id="10" name="Shape 8"/>
          <p:cNvSpPr/>
          <p:nvPr/>
        </p:nvSpPr>
        <p:spPr>
          <a:xfrm>
            <a:off x="11612880" y="457200"/>
            <a:ext cx="329184" cy="329184"/>
          </a:xfrm>
          <a:prstGeom prst="ellipse">
            <a:avLst/>
          </a:prstGeom>
          <a:solidFill>
            <a:srgbClr val="B88AF7"/>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28143F"/>
                </a:solidFill>
                <a:latin typeface="Aptos" pitchFamily="34" charset="0"/>
                <a:ea typeface="Aptos" pitchFamily="34" charset="-122"/>
                <a:cs typeface="Aptos" pitchFamily="34" charset="-120"/>
              </a:rPr>
              <a:t>02</a:t>
            </a:r>
            <a:endParaRPr lang="en-US" sz="850" dirty="0"/>
          </a:p>
        </p:txBody>
      </p:sp>
      <p:sp>
        <p:nvSpPr>
          <p:cNvPr id="12" name="Shape 10"/>
          <p:cNvSpPr/>
          <p:nvPr/>
        </p:nvSpPr>
        <p:spPr>
          <a:xfrm>
            <a:off x="9829800" y="1005840"/>
            <a:ext cx="2148840" cy="2148840"/>
          </a:xfrm>
          <a:prstGeom prst="ellipse">
            <a:avLst/>
          </a:prstGeom>
          <a:solidFill>
            <a:srgbClr val="F1E8FD"/>
          </a:solidFill>
          <a:ln/>
        </p:spPr>
      </p:sp>
      <p:sp>
        <p:nvSpPr>
          <p:cNvPr id="13" name="Shape 11"/>
          <p:cNvSpPr/>
          <p:nvPr/>
        </p:nvSpPr>
        <p:spPr>
          <a:xfrm>
            <a:off x="640080" y="1417320"/>
            <a:ext cx="3453384" cy="3730752"/>
          </a:xfrm>
          <a:prstGeom prst="roundRect">
            <a:avLst>
              <a:gd name="adj" fmla="val 2118"/>
            </a:avLst>
          </a:prstGeom>
          <a:solidFill>
            <a:srgbClr val="FFFFFF"/>
          </a:solidFill>
          <a:ln w="10160">
            <a:solidFill>
              <a:srgbClr val="F1E8FD"/>
            </a:solidFill>
            <a:prstDash val="solid"/>
          </a:ln>
        </p:spPr>
      </p:sp>
      <p:sp>
        <p:nvSpPr>
          <p:cNvPr id="14" name="Shape 12"/>
          <p:cNvSpPr/>
          <p:nvPr/>
        </p:nvSpPr>
        <p:spPr>
          <a:xfrm>
            <a:off x="914400" y="1719072"/>
            <a:ext cx="475488" cy="475488"/>
          </a:xfrm>
          <a:prstGeom prst="ellipse">
            <a:avLst/>
          </a:prstGeom>
          <a:solidFill>
            <a:srgbClr val="B88AF7"/>
          </a:solidFill>
          <a:ln/>
        </p:spPr>
      </p:sp>
      <p:sp>
        <p:nvSpPr>
          <p:cNvPr id="15" name="Text 13"/>
          <p:cNvSpPr/>
          <p:nvPr/>
        </p:nvSpPr>
        <p:spPr>
          <a:xfrm>
            <a:off x="914400" y="1865376"/>
            <a:ext cx="475488" cy="118872"/>
          </a:xfrm>
          <a:prstGeom prst="rect">
            <a:avLst/>
          </a:prstGeom>
          <a:noFill/>
          <a:ln/>
        </p:spPr>
        <p:txBody>
          <a:bodyPr wrap="square" lIns="0" tIns="0" rIns="0" bIns="0" rtlCol="0" anchor="ctr"/>
          <a:lstStyle/>
          <a:p>
            <a:pPr algn="ctr" indent="0" marL="0">
              <a:buNone/>
            </a:pPr>
            <a:r>
              <a:rPr lang="en-US" sz="1000" b="1" dirty="0">
                <a:solidFill>
                  <a:srgbClr val="28143F"/>
                </a:solidFill>
                <a:latin typeface="Aptos" pitchFamily="34" charset="0"/>
                <a:ea typeface="Aptos" pitchFamily="34" charset="-122"/>
                <a:cs typeface="Aptos" pitchFamily="34" charset="-120"/>
              </a:rPr>
              <a:t>1</a:t>
            </a:r>
            <a:endParaRPr lang="en-US" sz="1000" dirty="0"/>
          </a:p>
        </p:txBody>
      </p:sp>
      <p:sp>
        <p:nvSpPr>
          <p:cNvPr id="16" name="Text 14"/>
          <p:cNvSpPr/>
          <p:nvPr/>
        </p:nvSpPr>
        <p:spPr>
          <a:xfrm>
            <a:off x="1572768" y="1728216"/>
            <a:ext cx="2246376" cy="438912"/>
          </a:xfrm>
          <a:prstGeom prst="rect">
            <a:avLst/>
          </a:prstGeom>
          <a:noFill/>
          <a:ln/>
        </p:spPr>
        <p:txBody>
          <a:bodyPr wrap="square" lIns="0" tIns="0" rIns="0" bIns="0" rtlCol="0" anchor="ctr">
            <a:normAutofit/>
          </a:bodyPr>
          <a:lstStyle/>
          <a:p>
            <a:pPr indent="0" marL="0">
              <a:buNone/>
            </a:pPr>
            <a:r>
              <a:rPr lang="en-US" sz="2000" b="1" dirty="0">
                <a:solidFill>
                  <a:srgbClr val="28143F"/>
                </a:solidFill>
                <a:latin typeface="Aptos Display" pitchFamily="34" charset="0"/>
                <a:ea typeface="Aptos Display" pitchFamily="34" charset="-122"/>
                <a:cs typeface="Aptos Display" pitchFamily="34" charset="-120"/>
              </a:rPr>
              <a:t>My Resources</a:t>
            </a:r>
            <a:endParaRPr lang="en-US" sz="2000" dirty="0"/>
          </a:p>
        </p:txBody>
      </p:sp>
      <p:sp>
        <p:nvSpPr>
          <p:cNvPr id="17" name="Text 15"/>
          <p:cNvSpPr/>
          <p:nvPr/>
        </p:nvSpPr>
        <p:spPr>
          <a:xfrm>
            <a:off x="932688" y="2523744"/>
            <a:ext cx="2868168" cy="1609344"/>
          </a:xfrm>
          <a:prstGeom prst="rect">
            <a:avLst/>
          </a:prstGeom>
          <a:noFill/>
          <a:ln/>
        </p:spPr>
        <p:txBody>
          <a:bodyPr wrap="square" lIns="0" tIns="0" rIns="0" bIns="0" rtlCol="0" anchor="ctr">
            <a:normAutofit/>
          </a:bodyPr>
          <a:lstStyle/>
          <a:p>
            <a:pPr marL="228600" indent="-171450">
              <a:buChar char="•"/>
            </a:pPr>
            <a:r>
              <a:rPr lang="en-US" sz="1520" dirty="0">
                <a:solidFill>
                  <a:srgbClr val="251B33"/>
                </a:solidFill>
                <a:latin typeface="Aptos" pitchFamily="34" charset="0"/>
                <a:ea typeface="Aptos" pitchFamily="34" charset="-122"/>
                <a:cs typeface="Aptos" pitchFamily="34" charset="-120"/>
              </a:rPr>
              <a:t>Local Resources</a:t>
            </a:r>
            <a:endParaRPr lang="en-US" sz="1520" dirty="0"/>
          </a:p>
          <a:p>
            <a:pPr marL="228600" indent="-171450">
              <a:buChar char="•"/>
            </a:pPr>
            <a:r>
              <a:rPr lang="en-US" sz="1520" dirty="0">
                <a:solidFill>
                  <a:srgbClr val="251B33"/>
                </a:solidFill>
                <a:latin typeface="Aptos" pitchFamily="34" charset="0"/>
                <a:ea typeface="Aptos" pitchFamily="34" charset="-122"/>
                <a:cs typeface="Aptos" pitchFamily="34" charset="-120"/>
              </a:rPr>
              <a:t>Your Foundry Project</a:t>
            </a:r>
            <a:endParaRPr lang="en-US" sz="1520" dirty="0"/>
          </a:p>
          <a:p>
            <a:pPr marL="228600" indent="-171450">
              <a:buChar char="•"/>
            </a:pPr>
            <a:r>
              <a:rPr lang="en-US" sz="1520" dirty="0">
                <a:solidFill>
                  <a:srgbClr val="251B33"/>
                </a:solidFill>
                <a:latin typeface="Aptos" pitchFamily="34" charset="0"/>
                <a:ea typeface="Aptos" pitchFamily="34" charset="-122"/>
                <a:cs typeface="Aptos" pitchFamily="34" charset="-120"/>
              </a:rPr>
              <a:t>Connected Resources</a:t>
            </a:r>
            <a:endParaRPr lang="en-US" sz="1520" dirty="0"/>
          </a:p>
        </p:txBody>
      </p:sp>
      <p:sp>
        <p:nvSpPr>
          <p:cNvPr id="18" name="Shape 16"/>
          <p:cNvSpPr/>
          <p:nvPr/>
        </p:nvSpPr>
        <p:spPr>
          <a:xfrm>
            <a:off x="4367784" y="1417320"/>
            <a:ext cx="3453384" cy="3730752"/>
          </a:xfrm>
          <a:prstGeom prst="roundRect">
            <a:avLst>
              <a:gd name="adj" fmla="val 2118"/>
            </a:avLst>
          </a:prstGeom>
          <a:solidFill>
            <a:srgbClr val="FFFFFF"/>
          </a:solidFill>
          <a:ln w="10160">
            <a:solidFill>
              <a:srgbClr val="F1E8FD"/>
            </a:solidFill>
            <a:prstDash val="solid"/>
          </a:ln>
        </p:spPr>
      </p:sp>
      <p:sp>
        <p:nvSpPr>
          <p:cNvPr id="19" name="Shape 17"/>
          <p:cNvSpPr/>
          <p:nvPr/>
        </p:nvSpPr>
        <p:spPr>
          <a:xfrm>
            <a:off x="4642104" y="1719072"/>
            <a:ext cx="475488" cy="475488"/>
          </a:xfrm>
          <a:prstGeom prst="ellipse">
            <a:avLst/>
          </a:prstGeom>
          <a:solidFill>
            <a:srgbClr val="FFB454"/>
          </a:solidFill>
          <a:ln/>
        </p:spPr>
      </p:sp>
      <p:sp>
        <p:nvSpPr>
          <p:cNvPr id="20" name="Text 18"/>
          <p:cNvSpPr/>
          <p:nvPr/>
        </p:nvSpPr>
        <p:spPr>
          <a:xfrm>
            <a:off x="4642104" y="1865376"/>
            <a:ext cx="475488" cy="118872"/>
          </a:xfrm>
          <a:prstGeom prst="rect">
            <a:avLst/>
          </a:prstGeom>
          <a:noFill/>
          <a:ln/>
        </p:spPr>
        <p:txBody>
          <a:bodyPr wrap="square" lIns="0" tIns="0" rIns="0" bIns="0" rtlCol="0" anchor="ctr"/>
          <a:lstStyle/>
          <a:p>
            <a:pPr algn="ctr" indent="0" marL="0">
              <a:buNone/>
            </a:pPr>
            <a:r>
              <a:rPr lang="en-US" sz="1000" b="1" dirty="0">
                <a:solidFill>
                  <a:srgbClr val="28143F"/>
                </a:solidFill>
                <a:latin typeface="Aptos" pitchFamily="34" charset="0"/>
                <a:ea typeface="Aptos" pitchFamily="34" charset="-122"/>
                <a:cs typeface="Aptos" pitchFamily="34" charset="-120"/>
              </a:rPr>
              <a:t>2</a:t>
            </a:r>
            <a:endParaRPr lang="en-US" sz="1000" dirty="0"/>
          </a:p>
        </p:txBody>
      </p:sp>
      <p:sp>
        <p:nvSpPr>
          <p:cNvPr id="21" name="Text 19"/>
          <p:cNvSpPr/>
          <p:nvPr/>
        </p:nvSpPr>
        <p:spPr>
          <a:xfrm>
            <a:off x="5300472" y="1728216"/>
            <a:ext cx="2246376" cy="438912"/>
          </a:xfrm>
          <a:prstGeom prst="rect">
            <a:avLst/>
          </a:prstGeom>
          <a:noFill/>
          <a:ln/>
        </p:spPr>
        <p:txBody>
          <a:bodyPr wrap="square" lIns="0" tIns="0" rIns="0" bIns="0" rtlCol="0" anchor="ctr">
            <a:normAutofit/>
          </a:bodyPr>
          <a:lstStyle/>
          <a:p>
            <a:pPr indent="0" marL="0">
              <a:buNone/>
            </a:pPr>
            <a:r>
              <a:rPr lang="en-US" sz="2000" b="1" dirty="0">
                <a:solidFill>
                  <a:srgbClr val="28143F"/>
                </a:solidFill>
                <a:latin typeface="Aptos Display" pitchFamily="34" charset="0"/>
                <a:ea typeface="Aptos Display" pitchFamily="34" charset="-122"/>
                <a:cs typeface="Aptos Display" pitchFamily="34" charset="-120"/>
              </a:rPr>
              <a:t>Developer Tools</a:t>
            </a:r>
            <a:endParaRPr lang="en-US" sz="2000" dirty="0"/>
          </a:p>
        </p:txBody>
      </p:sp>
      <p:sp>
        <p:nvSpPr>
          <p:cNvPr id="22" name="Text 20"/>
          <p:cNvSpPr/>
          <p:nvPr/>
        </p:nvSpPr>
        <p:spPr>
          <a:xfrm>
            <a:off x="4660392" y="2523744"/>
            <a:ext cx="2868168" cy="1609344"/>
          </a:xfrm>
          <a:prstGeom prst="rect">
            <a:avLst/>
          </a:prstGeom>
          <a:noFill/>
          <a:ln/>
        </p:spPr>
        <p:txBody>
          <a:bodyPr wrap="square" lIns="0" tIns="0" rIns="0" bIns="0" rtlCol="0" anchor="ctr">
            <a:normAutofit/>
          </a:bodyPr>
          <a:lstStyle/>
          <a:p>
            <a:pPr marL="228600" indent="-171450">
              <a:buChar char="•"/>
            </a:pPr>
            <a:r>
              <a:rPr lang="en-US" sz="1520" dirty="0">
                <a:solidFill>
                  <a:srgbClr val="251B33"/>
                </a:solidFill>
                <a:latin typeface="Aptos" pitchFamily="34" charset="0"/>
                <a:ea typeface="Aptos" pitchFamily="34" charset="-122"/>
                <a:cs typeface="Aptos" pitchFamily="34" charset="-120"/>
              </a:rPr>
              <a:t>Discover</a:t>
            </a:r>
            <a:endParaRPr lang="en-US" sz="1520" dirty="0"/>
          </a:p>
          <a:p>
            <a:pPr marL="228600" indent="-171450">
              <a:buChar char="•"/>
            </a:pPr>
            <a:r>
              <a:rPr lang="en-US" sz="1520" dirty="0">
                <a:solidFill>
                  <a:srgbClr val="251B33"/>
                </a:solidFill>
                <a:latin typeface="Aptos" pitchFamily="34" charset="0"/>
                <a:ea typeface="Aptos" pitchFamily="34" charset="-122"/>
                <a:cs typeface="Aptos" pitchFamily="34" charset="-120"/>
              </a:rPr>
              <a:t>Build</a:t>
            </a:r>
            <a:endParaRPr lang="en-US" sz="1520" dirty="0"/>
          </a:p>
          <a:p>
            <a:pPr marL="228600" indent="-171450">
              <a:buChar char="•"/>
            </a:pPr>
            <a:r>
              <a:rPr lang="en-US" sz="1520" dirty="0">
                <a:solidFill>
                  <a:srgbClr val="251B33"/>
                </a:solidFill>
                <a:latin typeface="Aptos" pitchFamily="34" charset="0"/>
                <a:ea typeface="Aptos" pitchFamily="34" charset="-122"/>
                <a:cs typeface="Aptos" pitchFamily="34" charset="-120"/>
              </a:rPr>
              <a:t>Monitor</a:t>
            </a:r>
            <a:endParaRPr lang="en-US" sz="1520" dirty="0"/>
          </a:p>
        </p:txBody>
      </p:sp>
      <p:sp>
        <p:nvSpPr>
          <p:cNvPr id="23" name="Shape 21"/>
          <p:cNvSpPr/>
          <p:nvPr/>
        </p:nvSpPr>
        <p:spPr>
          <a:xfrm>
            <a:off x="8095488" y="1417320"/>
            <a:ext cx="3453384" cy="3730752"/>
          </a:xfrm>
          <a:prstGeom prst="roundRect">
            <a:avLst>
              <a:gd name="adj" fmla="val 2118"/>
            </a:avLst>
          </a:prstGeom>
          <a:solidFill>
            <a:srgbClr val="FFFFFF"/>
          </a:solidFill>
          <a:ln w="10160">
            <a:solidFill>
              <a:srgbClr val="F1E8FD"/>
            </a:solidFill>
            <a:prstDash val="solid"/>
          </a:ln>
        </p:spPr>
      </p:sp>
      <p:sp>
        <p:nvSpPr>
          <p:cNvPr id="24" name="Shape 22"/>
          <p:cNvSpPr/>
          <p:nvPr/>
        </p:nvSpPr>
        <p:spPr>
          <a:xfrm>
            <a:off x="8369808" y="1719072"/>
            <a:ext cx="475488" cy="475488"/>
          </a:xfrm>
          <a:prstGeom prst="ellipse">
            <a:avLst/>
          </a:prstGeom>
          <a:solidFill>
            <a:srgbClr val="B88AF7"/>
          </a:solidFill>
          <a:ln/>
        </p:spPr>
      </p:sp>
      <p:sp>
        <p:nvSpPr>
          <p:cNvPr id="25" name="Text 23"/>
          <p:cNvSpPr/>
          <p:nvPr/>
        </p:nvSpPr>
        <p:spPr>
          <a:xfrm>
            <a:off x="8369808" y="1865376"/>
            <a:ext cx="475488" cy="118872"/>
          </a:xfrm>
          <a:prstGeom prst="rect">
            <a:avLst/>
          </a:prstGeom>
          <a:noFill/>
          <a:ln/>
        </p:spPr>
        <p:txBody>
          <a:bodyPr wrap="square" lIns="0" tIns="0" rIns="0" bIns="0" rtlCol="0" anchor="ctr"/>
          <a:lstStyle/>
          <a:p>
            <a:pPr algn="ctr" indent="0" marL="0">
              <a:buNone/>
            </a:pPr>
            <a:r>
              <a:rPr lang="en-US" sz="1000" b="1" dirty="0">
                <a:solidFill>
                  <a:srgbClr val="28143F"/>
                </a:solidFill>
                <a:latin typeface="Aptos" pitchFamily="34" charset="0"/>
                <a:ea typeface="Aptos" pitchFamily="34" charset="-122"/>
                <a:cs typeface="Aptos" pitchFamily="34" charset="-120"/>
              </a:rPr>
              <a:t>3</a:t>
            </a:r>
            <a:endParaRPr lang="en-US" sz="1000" dirty="0"/>
          </a:p>
        </p:txBody>
      </p:sp>
      <p:sp>
        <p:nvSpPr>
          <p:cNvPr id="26" name="Text 24"/>
          <p:cNvSpPr/>
          <p:nvPr/>
        </p:nvSpPr>
        <p:spPr>
          <a:xfrm>
            <a:off x="9028176" y="1728216"/>
            <a:ext cx="2246376" cy="438912"/>
          </a:xfrm>
          <a:prstGeom prst="rect">
            <a:avLst/>
          </a:prstGeom>
          <a:noFill/>
          <a:ln/>
        </p:spPr>
        <p:txBody>
          <a:bodyPr wrap="square" lIns="0" tIns="0" rIns="0" bIns="0" rtlCol="0" anchor="ctr">
            <a:normAutofit/>
          </a:bodyPr>
          <a:lstStyle/>
          <a:p>
            <a:pPr indent="0" marL="0">
              <a:buNone/>
            </a:pPr>
            <a:r>
              <a:rPr lang="en-US" sz="2000" b="1" dirty="0">
                <a:solidFill>
                  <a:srgbClr val="28143F"/>
                </a:solidFill>
                <a:latin typeface="Aptos Display" pitchFamily="34" charset="0"/>
                <a:ea typeface="Aptos Display" pitchFamily="34" charset="-122"/>
                <a:cs typeface="Aptos Display" pitchFamily="34" charset="-120"/>
              </a:rPr>
              <a:t>Help and Feedback</a:t>
            </a:r>
            <a:endParaRPr lang="en-US" sz="2000" dirty="0"/>
          </a:p>
        </p:txBody>
      </p:sp>
      <p:sp>
        <p:nvSpPr>
          <p:cNvPr id="27" name="Text 25"/>
          <p:cNvSpPr/>
          <p:nvPr/>
        </p:nvSpPr>
        <p:spPr>
          <a:xfrm>
            <a:off x="8388096" y="2523744"/>
            <a:ext cx="2868168" cy="1609344"/>
          </a:xfrm>
          <a:prstGeom prst="rect">
            <a:avLst/>
          </a:prstGeom>
          <a:noFill/>
          <a:ln/>
        </p:spPr>
        <p:txBody>
          <a:bodyPr wrap="square" lIns="0" tIns="0" rIns="0" bIns="0" rtlCol="0" anchor="ctr">
            <a:normAutofit/>
          </a:bodyPr>
          <a:lstStyle/>
          <a:p>
            <a:pPr marL="228600" indent="-171450">
              <a:buChar char="•"/>
            </a:pPr>
            <a:r>
              <a:rPr lang="en-US" sz="1520" dirty="0">
                <a:solidFill>
                  <a:srgbClr val="251B33"/>
                </a:solidFill>
                <a:latin typeface="Aptos" pitchFamily="34" charset="0"/>
                <a:ea typeface="Aptos" pitchFamily="34" charset="-122"/>
                <a:cs typeface="Aptos" pitchFamily="34" charset="-120"/>
              </a:rPr>
              <a:t>Documentation + What’s New</a:t>
            </a:r>
            <a:endParaRPr lang="en-US" sz="1520" dirty="0"/>
          </a:p>
          <a:p>
            <a:pPr marL="228600" indent="-171450">
              <a:buChar char="•"/>
            </a:pPr>
            <a:r>
              <a:rPr lang="en-US" sz="1520" dirty="0">
                <a:solidFill>
                  <a:srgbClr val="251B33"/>
                </a:solidFill>
                <a:latin typeface="Aptos" pitchFamily="34" charset="0"/>
                <a:ea typeface="Aptos" pitchFamily="34" charset="-122"/>
                <a:cs typeface="Aptos" pitchFamily="34" charset="-120"/>
              </a:rPr>
              <a:t>Report Issues</a:t>
            </a:r>
            <a:endParaRPr lang="en-US" sz="1520" dirty="0"/>
          </a:p>
          <a:p>
            <a:pPr marL="228600" indent="-171450">
              <a:buChar char="•"/>
            </a:pPr>
            <a:r>
              <a:rPr lang="en-US" sz="1520" dirty="0">
                <a:solidFill>
                  <a:srgbClr val="251B33"/>
                </a:solidFill>
                <a:latin typeface="Aptos" pitchFamily="34" charset="0"/>
                <a:ea typeface="Aptos" pitchFamily="34" charset="-122"/>
                <a:cs typeface="Aptos" pitchFamily="34" charset="-120"/>
              </a:rPr>
              <a:t>Join Community</a:t>
            </a:r>
            <a:endParaRPr lang="en-US" sz="1520" dirty="0"/>
          </a:p>
        </p:txBody>
      </p:sp>
      <p:sp>
        <p:nvSpPr>
          <p:cNvPr id="28" name="Shape 26"/>
          <p:cNvSpPr/>
          <p:nvPr/>
        </p:nvSpPr>
        <p:spPr>
          <a:xfrm>
            <a:off x="1024128" y="5376672"/>
            <a:ext cx="10104120" cy="621792"/>
          </a:xfrm>
          <a:prstGeom prst="roundRect">
            <a:avLst>
              <a:gd name="adj" fmla="val 11765"/>
            </a:avLst>
          </a:prstGeom>
          <a:solidFill>
            <a:srgbClr val="28143F"/>
          </a:solidFill>
          <a:ln/>
        </p:spPr>
      </p:sp>
      <p:sp>
        <p:nvSpPr>
          <p:cNvPr id="29" name="Text 27"/>
          <p:cNvSpPr/>
          <p:nvPr/>
        </p:nvSpPr>
        <p:spPr>
          <a:xfrm>
            <a:off x="1280160" y="5586984"/>
            <a:ext cx="1325880" cy="146304"/>
          </a:xfrm>
          <a:prstGeom prst="rect">
            <a:avLst/>
          </a:prstGeom>
          <a:noFill/>
          <a:ln/>
        </p:spPr>
        <p:txBody>
          <a:bodyPr wrap="square" lIns="0" tIns="0" rIns="0" bIns="0" rtlCol="0" anchor="ctr"/>
          <a:lstStyle/>
          <a:p>
            <a:pPr indent="0" marL="0">
              <a:buNone/>
            </a:pPr>
            <a:r>
              <a:rPr lang="en-US" sz="1000" b="1" spc="140" kern="0" dirty="0">
                <a:solidFill>
                  <a:srgbClr val="FFB454"/>
                </a:solidFill>
                <a:latin typeface="Aptos" pitchFamily="34" charset="0"/>
                <a:ea typeface="Aptos" pitchFamily="34" charset="-122"/>
                <a:cs typeface="Aptos" pitchFamily="34" charset="-120"/>
              </a:rPr>
              <a:t>WORKSPACE</a:t>
            </a:r>
            <a:endParaRPr lang="en-US" sz="1000" dirty="0"/>
          </a:p>
        </p:txBody>
      </p:sp>
      <p:sp>
        <p:nvSpPr>
          <p:cNvPr id="30" name="Text 28"/>
          <p:cNvSpPr/>
          <p:nvPr/>
        </p:nvSpPr>
        <p:spPr>
          <a:xfrm>
            <a:off x="2743200" y="5541264"/>
            <a:ext cx="8028432" cy="237744"/>
          </a:xfrm>
          <a:prstGeom prst="rect">
            <a:avLst/>
          </a:prstGeom>
          <a:noFill/>
          <a:ln/>
        </p:spPr>
        <p:txBody>
          <a:bodyPr wrap="square" lIns="0" tIns="0" rIns="0" bIns="0" rtlCol="0" anchor="ctr">
            <a:normAutofit/>
          </a:bodyPr>
          <a:lstStyle/>
          <a:p>
            <a:pPr indent="0" marL="0">
              <a:buNone/>
            </a:pPr>
            <a:r>
              <a:rPr lang="en-US" sz="1420" b="1" dirty="0">
                <a:solidFill>
                  <a:srgbClr val="FFFFFF"/>
                </a:solidFill>
                <a:latin typeface="Aptos" pitchFamily="34" charset="0"/>
                <a:ea typeface="Aptos" pitchFamily="34" charset="-122"/>
                <a:cs typeface="Aptos" pitchFamily="34" charset="-120"/>
              </a:rPr>
              <a:t>My Resources shows what you have; Developer Tools groups actions as Discover, Build, and Monitor.</a:t>
            </a:r>
            <a:endParaRPr lang="en-US" sz="1420" dirty="0"/>
          </a:p>
        </p:txBody>
      </p:sp>
      <p:sp>
        <p:nvSpPr>
          <p:cNvPr id="31" name="Text 29"/>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6D5A78"/>
                </a:solidFill>
                <a:latin typeface="Aptos" pitchFamily="34" charset="0"/>
                <a:ea typeface="Aptos" pitchFamily="34" charset="-122"/>
                <a:cs typeface="Aptos" pitchFamily="34" charset="-120"/>
              </a:rPr>
              <a:t>REFERENCE  learn.microsoft.com/azure/foundry/how-to/develop/get-started-projects-visual-studio-code  ·  +1 more in notes</a:t>
            </a:r>
            <a:endParaRPr lang="en-US" sz="940" dirty="0"/>
          </a:p>
        </p:txBody>
      </p:sp>
      <p:sp>
        <p:nvSpPr>
          <p:cNvPr id="32" name="Shape 30"/>
          <p:cNvSpPr/>
          <p:nvPr/>
        </p:nvSpPr>
        <p:spPr>
          <a:xfrm>
            <a:off x="0" y="6793992"/>
            <a:ext cx="12191695" cy="64008"/>
          </a:xfrm>
          <a:prstGeom prst="rect">
            <a:avLst/>
          </a:prstGeom>
          <a:solidFill>
            <a:srgbClr val="B88AF7"/>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28143F"/>
        </a:solidFill>
      </p:bgPr>
    </p:bg>
    <p:spTree>
      <p:nvGrpSpPr>
        <p:cNvPr id="1" name=""/>
        <p:cNvGrpSpPr/>
        <p:nvPr/>
      </p:nvGrpSpPr>
      <p:grpSpPr>
        <a:xfrm>
          <a:off x="0" y="0"/>
          <a:ext cx="0" cy="0"/>
          <a:chOff x="0" y="0"/>
          <a:chExt cx="0" cy="0"/>
        </a:xfrm>
      </p:grpSpPr>
      <p:sp>
        <p:nvSpPr>
          <p:cNvPr id="2" name="Shape 0"/>
          <p:cNvSpPr/>
          <p:nvPr/>
        </p:nvSpPr>
        <p:spPr>
          <a:xfrm>
            <a:off x="182880" y="4407408"/>
            <a:ext cx="1572768" cy="1572768"/>
          </a:xfrm>
          <a:prstGeom prst="ellipse">
            <a:avLst/>
          </a:prstGeom>
          <a:solidFill>
            <a:srgbClr val="FFF1D9"/>
          </a:solidFill>
          <a:ln/>
        </p:spPr>
      </p:sp>
      <p:sp>
        <p:nvSpPr>
          <p:cNvPr id="3" name="Shape 1"/>
          <p:cNvSpPr/>
          <p:nvPr/>
        </p:nvSpPr>
        <p:spPr>
          <a:xfrm>
            <a:off x="457200" y="4681728"/>
            <a:ext cx="1024128" cy="1024128"/>
          </a:xfrm>
          <a:prstGeom prst="ellipse">
            <a:avLst/>
          </a:prstGeom>
          <a:solidFill>
            <a:srgbClr val="28143F"/>
          </a:solidFill>
          <a:ln/>
        </p:spPr>
      </p:sp>
      <p:sp>
        <p:nvSpPr>
          <p:cNvPr id="4" name="Text 2"/>
          <p:cNvSpPr/>
          <p:nvPr/>
        </p:nvSpPr>
        <p:spPr>
          <a:xfrm>
            <a:off x="713232" y="530352"/>
            <a:ext cx="2560320" cy="256032"/>
          </a:xfrm>
          <a:prstGeom prst="rect">
            <a:avLst/>
          </a:prstGeom>
          <a:noFill/>
          <a:ln/>
        </p:spPr>
        <p:txBody>
          <a:bodyPr wrap="square" lIns="0" tIns="0" rIns="0" bIns="0" rtlCol="0" anchor="ctr"/>
          <a:lstStyle/>
          <a:p>
            <a:pPr indent="0" marL="0">
              <a:buNone/>
            </a:pPr>
            <a:r>
              <a:rPr lang="en-US" sz="1200" b="1" spc="350" kern="0" dirty="0">
                <a:solidFill>
                  <a:srgbClr val="B88AF7"/>
                </a:solidFill>
                <a:latin typeface="Aptos" pitchFamily="34" charset="0"/>
                <a:ea typeface="Aptos" pitchFamily="34" charset="-122"/>
                <a:cs typeface="Aptos" pitchFamily="34" charset="-120"/>
              </a:rPr>
              <a:t>LIVE DEMO</a:t>
            </a:r>
            <a:endParaRPr lang="en-US" sz="1200" dirty="0"/>
          </a:p>
        </p:txBody>
      </p:sp>
      <p:sp>
        <p:nvSpPr>
          <p:cNvPr id="5" name="Text 3"/>
          <p:cNvSpPr/>
          <p:nvPr/>
        </p:nvSpPr>
        <p:spPr>
          <a:xfrm>
            <a:off x="713232" y="1143000"/>
            <a:ext cx="6199632" cy="914400"/>
          </a:xfrm>
          <a:prstGeom prst="rect">
            <a:avLst/>
          </a:prstGeom>
          <a:noFill/>
          <a:ln/>
        </p:spPr>
        <p:txBody>
          <a:bodyPr wrap="square" lIns="0" tIns="0" rIns="0" bIns="0" rtlCol="0" anchor="ctr">
            <a:normAutofit/>
          </a:bodyPr>
          <a:lstStyle/>
          <a:p>
            <a:pPr indent="0" marL="0">
              <a:buNone/>
            </a:pPr>
            <a:r>
              <a:rPr lang="en-US" sz="3500" b="1" dirty="0">
                <a:solidFill>
                  <a:srgbClr val="FFFFFF"/>
                </a:solidFill>
                <a:latin typeface="Aptos Display" pitchFamily="34" charset="0"/>
                <a:ea typeface="Aptos Display" pitchFamily="34" charset="-122"/>
                <a:cs typeface="Aptos Display" pitchFamily="34" charset="-120"/>
              </a:rPr>
              <a:t>Trace local code in</a:t>
            </a:r>
            <a:endParaRPr lang="en-US" sz="3500" dirty="0"/>
          </a:p>
          <a:p>
            <a:pPr indent="0" marL="0">
              <a:buNone/>
            </a:pPr>
            <a:r>
              <a:rPr lang="en-US" sz="3500" b="1" dirty="0">
                <a:solidFill>
                  <a:srgbClr val="FFFFFF"/>
                </a:solidFill>
                <a:latin typeface="Aptos Display" pitchFamily="34" charset="0"/>
                <a:ea typeface="Aptos Display" pitchFamily="34" charset="-122"/>
                <a:cs typeface="Aptos Display" pitchFamily="34" charset="-120"/>
              </a:rPr>
              <a:t>Toolkit Tracing</a:t>
            </a:r>
            <a:endParaRPr lang="en-US" sz="3500" dirty="0"/>
          </a:p>
        </p:txBody>
      </p:sp>
      <p:sp>
        <p:nvSpPr>
          <p:cNvPr id="6" name="Text 4"/>
          <p:cNvSpPr/>
          <p:nvPr/>
        </p:nvSpPr>
        <p:spPr>
          <a:xfrm>
            <a:off x="749808" y="2395728"/>
            <a:ext cx="6473952" cy="2057400"/>
          </a:xfrm>
          <a:prstGeom prst="rect">
            <a:avLst/>
          </a:prstGeom>
          <a:noFill/>
          <a:ln/>
        </p:spPr>
        <p:txBody>
          <a:bodyPr wrap="square" lIns="0" tIns="0" rIns="0" bIns="0" rtlCol="0" anchor="t">
            <a:normAutofit/>
          </a:bodyPr>
          <a:lstStyle/>
          <a:p>
            <a:pPr indent="0" marL="0">
              <a:buNone/>
            </a:pPr>
            <a:r>
              <a:rPr lang="en-US" sz="1540" dirty="0">
                <a:solidFill>
                  <a:srgbClr val="E5EBF0"/>
                </a:solidFill>
                <a:latin typeface="Aptos" pitchFamily="34" charset="0"/>
                <a:ea typeface="Aptos" pitchFamily="34" charset="-122"/>
                <a:cs typeface="Aptos" pitchFamily="34" charset="-120"/>
              </a:rPr>
              <a:t>Start the local OTLP collector in the Toolkit Tracing view.</a:t>
            </a:r>
            <a:endParaRPr lang="en-US" sz="1540" dirty="0"/>
          </a:p>
          <a:p>
            <a:pPr indent="0" marL="0">
              <a:buNone/>
            </a:pPr>
            <a:r>
              <a:rPr lang="en-US" sz="1540" dirty="0">
                <a:solidFill>
                  <a:srgbClr val="E5EBF0"/>
                </a:solidFill>
                <a:latin typeface="Aptos" pitchFamily="34" charset="0"/>
                <a:ea typeface="Aptos" pitchFamily="34" charset="-122"/>
                <a:cs typeface="Aptos" pitchFamily="34" charset="-120"/>
              </a:rPr>
              <a:t>Run the prepared Agent Framework WeatherAgent sample, then refresh the trace list.</a:t>
            </a:r>
            <a:endParaRPr lang="en-US" sz="1540" dirty="0"/>
          </a:p>
          <a:p>
            <a:pPr indent="0" marL="0">
              <a:buNone/>
            </a:pPr>
            <a:r>
              <a:rPr lang="en-US" sz="1540" dirty="0">
                <a:solidFill>
                  <a:srgbClr val="E5EBF0"/>
                </a:solidFill>
                <a:latin typeface="Aptos" pitchFamily="34" charset="0"/>
                <a:ea typeface="Aptos" pitchFamily="34" charset="-122"/>
                <a:cs typeface="Aptos" pitchFamily="34" charset="-120"/>
              </a:rPr>
              <a:t>Open Weather Agent Chat and inspect the recorded agent, model, and tool spans.</a:t>
            </a:r>
            <a:endParaRPr lang="en-US" sz="1540" dirty="0"/>
          </a:p>
        </p:txBody>
      </p:sp>
      <p:sp>
        <p:nvSpPr>
          <p:cNvPr id="7" name="Shape 5"/>
          <p:cNvSpPr/>
          <p:nvPr/>
        </p:nvSpPr>
        <p:spPr>
          <a:xfrm>
            <a:off x="7452360" y="749808"/>
            <a:ext cx="4041648" cy="5074920"/>
          </a:xfrm>
          <a:prstGeom prst="roundRect">
            <a:avLst>
              <a:gd name="adj" fmla="val 1810"/>
            </a:avLst>
          </a:prstGeom>
          <a:solidFill>
            <a:srgbClr val="FFFFFF"/>
          </a:solidFill>
          <a:ln/>
        </p:spPr>
      </p:sp>
      <p:sp>
        <p:nvSpPr>
          <p:cNvPr id="8" name="Shape 6"/>
          <p:cNvSpPr/>
          <p:nvPr/>
        </p:nvSpPr>
        <p:spPr>
          <a:xfrm>
            <a:off x="7726680" y="1060704"/>
            <a:ext cx="1225296" cy="347472"/>
          </a:xfrm>
          <a:prstGeom prst="roundRect">
            <a:avLst>
              <a:gd name="adj" fmla="val 21053"/>
            </a:avLst>
          </a:prstGeom>
          <a:solidFill>
            <a:srgbClr val="B88AF7"/>
          </a:solidFill>
          <a:ln/>
        </p:spPr>
      </p:sp>
      <p:sp>
        <p:nvSpPr>
          <p:cNvPr id="9" name="Text 7"/>
          <p:cNvSpPr/>
          <p:nvPr/>
        </p:nvSpPr>
        <p:spPr>
          <a:xfrm>
            <a:off x="7836408" y="1170432"/>
            <a:ext cx="1005840" cy="109728"/>
          </a:xfrm>
          <a:prstGeom prst="rect">
            <a:avLst/>
          </a:prstGeom>
          <a:noFill/>
          <a:ln/>
        </p:spPr>
        <p:txBody>
          <a:bodyPr wrap="square" lIns="0" tIns="0" rIns="0" bIns="0" rtlCol="0" anchor="ctr"/>
          <a:lstStyle/>
          <a:p>
            <a:pPr algn="ctr" indent="0" marL="0">
              <a:buNone/>
            </a:pPr>
            <a:r>
              <a:rPr lang="en-US" sz="950" b="1" dirty="0">
                <a:solidFill>
                  <a:srgbClr val="28143F"/>
                </a:solidFill>
                <a:latin typeface="Aptos" pitchFamily="34" charset="0"/>
                <a:ea typeface="Aptos" pitchFamily="34" charset="-122"/>
                <a:cs typeface="Aptos" pitchFamily="34" charset="-120"/>
              </a:rPr>
              <a:t>~6 min</a:t>
            </a:r>
            <a:endParaRPr lang="en-US" sz="950" dirty="0"/>
          </a:p>
        </p:txBody>
      </p:sp>
      <p:sp>
        <p:nvSpPr>
          <p:cNvPr id="10" name="Text 8"/>
          <p:cNvSpPr/>
          <p:nvPr/>
        </p:nvSpPr>
        <p:spPr>
          <a:xfrm>
            <a:off x="7726680" y="1719072"/>
            <a:ext cx="2971800" cy="274320"/>
          </a:xfrm>
          <a:prstGeom prst="rect">
            <a:avLst/>
          </a:prstGeom>
          <a:noFill/>
          <a:ln/>
        </p:spPr>
        <p:txBody>
          <a:bodyPr wrap="square" lIns="0" tIns="0" rIns="0" bIns="0" rtlCol="0" anchor="ctr"/>
          <a:lstStyle/>
          <a:p>
            <a:pPr indent="0" marL="0">
              <a:buNone/>
            </a:pPr>
            <a:r>
              <a:rPr lang="en-US" sz="2100" b="1" dirty="0">
                <a:solidFill>
                  <a:srgbClr val="28143F"/>
                </a:solidFill>
                <a:latin typeface="Aptos Display" pitchFamily="34" charset="0"/>
                <a:ea typeface="Aptos Display" pitchFamily="34" charset="-122"/>
                <a:cs typeface="Aptos Display" pitchFamily="34" charset="-120"/>
              </a:rPr>
              <a:t>WATCH FOR</a:t>
            </a:r>
            <a:endParaRPr lang="en-US" sz="2100" dirty="0"/>
          </a:p>
        </p:txBody>
      </p:sp>
      <p:sp>
        <p:nvSpPr>
          <p:cNvPr id="11" name="Shape 9"/>
          <p:cNvSpPr/>
          <p:nvPr/>
        </p:nvSpPr>
        <p:spPr>
          <a:xfrm>
            <a:off x="7772400" y="2340864"/>
            <a:ext cx="384048" cy="384048"/>
          </a:xfrm>
          <a:prstGeom prst="ellipse">
            <a:avLst/>
          </a:prstGeom>
          <a:solidFill>
            <a:srgbClr val="B88AF7"/>
          </a:solidFill>
          <a:ln/>
        </p:spPr>
      </p:sp>
      <p:sp>
        <p:nvSpPr>
          <p:cNvPr id="12" name="Text 10"/>
          <p:cNvSpPr/>
          <p:nvPr/>
        </p:nvSpPr>
        <p:spPr>
          <a:xfrm>
            <a:off x="7772400" y="2459736"/>
            <a:ext cx="384048"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1</a:t>
            </a:r>
            <a:endParaRPr lang="en-US" sz="900" dirty="0"/>
          </a:p>
        </p:txBody>
      </p:sp>
      <p:sp>
        <p:nvSpPr>
          <p:cNvPr id="13" name="Text 11"/>
          <p:cNvSpPr/>
          <p:nvPr/>
        </p:nvSpPr>
        <p:spPr>
          <a:xfrm>
            <a:off x="8339328" y="2286000"/>
            <a:ext cx="2889504" cy="512064"/>
          </a:xfrm>
          <a:prstGeom prst="rect">
            <a:avLst/>
          </a:prstGeom>
          <a:noFill/>
          <a:ln/>
        </p:spPr>
        <p:txBody>
          <a:bodyPr wrap="square" lIns="0" tIns="0" rIns="0" bIns="0" rtlCol="0" anchor="ctr">
            <a:normAutofit/>
          </a:bodyPr>
          <a:lstStyle/>
          <a:p>
            <a:pPr indent="0" marL="0">
              <a:buNone/>
            </a:pPr>
            <a:r>
              <a:rPr lang="en-US" sz="1480" b="1" dirty="0">
                <a:solidFill>
                  <a:srgbClr val="251B33"/>
                </a:solidFill>
                <a:latin typeface="Aptos" pitchFamily="34" charset="0"/>
                <a:ea typeface="Aptos" pitchFamily="34" charset="-122"/>
                <a:cs typeface="Aptos" pitchFamily="34" charset="-120"/>
              </a:rPr>
              <a:t>Collector listens on localhost:4317</a:t>
            </a:r>
            <a:endParaRPr lang="en-US" sz="1480" dirty="0"/>
          </a:p>
        </p:txBody>
      </p:sp>
      <p:sp>
        <p:nvSpPr>
          <p:cNvPr id="14" name="Shape 12"/>
          <p:cNvSpPr/>
          <p:nvPr/>
        </p:nvSpPr>
        <p:spPr>
          <a:xfrm>
            <a:off x="7772400" y="3127248"/>
            <a:ext cx="384048" cy="384048"/>
          </a:xfrm>
          <a:prstGeom prst="ellipse">
            <a:avLst/>
          </a:prstGeom>
          <a:solidFill>
            <a:srgbClr val="B88AF7"/>
          </a:solidFill>
          <a:ln/>
        </p:spPr>
      </p:sp>
      <p:sp>
        <p:nvSpPr>
          <p:cNvPr id="15" name="Text 13"/>
          <p:cNvSpPr/>
          <p:nvPr/>
        </p:nvSpPr>
        <p:spPr>
          <a:xfrm>
            <a:off x="7772400" y="3246120"/>
            <a:ext cx="384048"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2</a:t>
            </a:r>
            <a:endParaRPr lang="en-US" sz="900" dirty="0"/>
          </a:p>
        </p:txBody>
      </p:sp>
      <p:sp>
        <p:nvSpPr>
          <p:cNvPr id="16" name="Text 14"/>
          <p:cNvSpPr/>
          <p:nvPr/>
        </p:nvSpPr>
        <p:spPr>
          <a:xfrm>
            <a:off x="8339328" y="3072384"/>
            <a:ext cx="2889504" cy="512064"/>
          </a:xfrm>
          <a:prstGeom prst="rect">
            <a:avLst/>
          </a:prstGeom>
          <a:noFill/>
          <a:ln/>
        </p:spPr>
        <p:txBody>
          <a:bodyPr wrap="square" lIns="0" tIns="0" rIns="0" bIns="0" rtlCol="0" anchor="ctr">
            <a:normAutofit/>
          </a:bodyPr>
          <a:lstStyle/>
          <a:p>
            <a:pPr indent="0" marL="0">
              <a:buNone/>
            </a:pPr>
            <a:r>
              <a:rPr lang="en-US" sz="1480" b="1" dirty="0">
                <a:solidFill>
                  <a:srgbClr val="251B33"/>
                </a:solidFill>
                <a:latin typeface="Aptos" pitchFamily="34" charset="0"/>
                <a:ea typeface="Aptos" pitchFamily="34" charset="-122"/>
                <a:cs typeface="Aptos" pitchFamily="34" charset="-120"/>
              </a:rPr>
              <a:t>Local trace storage ≠ local inference</a:t>
            </a:r>
            <a:endParaRPr lang="en-US" sz="1480" dirty="0"/>
          </a:p>
        </p:txBody>
      </p:sp>
      <p:sp>
        <p:nvSpPr>
          <p:cNvPr id="17" name="Shape 15"/>
          <p:cNvSpPr/>
          <p:nvPr/>
        </p:nvSpPr>
        <p:spPr>
          <a:xfrm>
            <a:off x="7772400" y="3913632"/>
            <a:ext cx="384048" cy="384048"/>
          </a:xfrm>
          <a:prstGeom prst="ellipse">
            <a:avLst/>
          </a:prstGeom>
          <a:solidFill>
            <a:srgbClr val="FFB454"/>
          </a:solidFill>
          <a:ln/>
        </p:spPr>
      </p:sp>
      <p:sp>
        <p:nvSpPr>
          <p:cNvPr id="18" name="Text 16"/>
          <p:cNvSpPr/>
          <p:nvPr/>
        </p:nvSpPr>
        <p:spPr>
          <a:xfrm>
            <a:off x="7772400" y="4032504"/>
            <a:ext cx="384048"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3</a:t>
            </a:r>
            <a:endParaRPr lang="en-US" sz="900" dirty="0"/>
          </a:p>
        </p:txBody>
      </p:sp>
      <p:sp>
        <p:nvSpPr>
          <p:cNvPr id="19" name="Text 17"/>
          <p:cNvSpPr/>
          <p:nvPr/>
        </p:nvSpPr>
        <p:spPr>
          <a:xfrm>
            <a:off x="8339328" y="3858768"/>
            <a:ext cx="2889504" cy="512064"/>
          </a:xfrm>
          <a:prstGeom prst="rect">
            <a:avLst/>
          </a:prstGeom>
          <a:noFill/>
          <a:ln/>
        </p:spPr>
        <p:txBody>
          <a:bodyPr wrap="square" lIns="0" tIns="0" rIns="0" bIns="0" rtlCol="0" anchor="ctr">
            <a:normAutofit/>
          </a:bodyPr>
          <a:lstStyle/>
          <a:p>
            <a:pPr indent="0" marL="0">
              <a:buNone/>
            </a:pPr>
            <a:r>
              <a:rPr lang="en-US" sz="1480" b="1" dirty="0">
                <a:solidFill>
                  <a:srgbClr val="251B33"/>
                </a:solidFill>
                <a:latin typeface="Aptos" pitchFamily="34" charset="0"/>
                <a:ea typeface="Aptos" pitchFamily="34" charset="-122"/>
                <a:cs typeface="Aptos" pitchFamily="34" charset="-120"/>
              </a:rPr>
              <a:t>Synthetic content capture only</a:t>
            </a:r>
            <a:endParaRPr lang="en-US" sz="1480" dirty="0"/>
          </a:p>
        </p:txBody>
      </p:sp>
      <p:sp>
        <p:nvSpPr>
          <p:cNvPr id="20" name="Shape 18"/>
          <p:cNvSpPr/>
          <p:nvPr/>
        </p:nvSpPr>
        <p:spPr>
          <a:xfrm>
            <a:off x="7726680" y="4882896"/>
            <a:ext cx="3401568" cy="566928"/>
          </a:xfrm>
          <a:prstGeom prst="roundRect">
            <a:avLst>
              <a:gd name="adj" fmla="val 12903"/>
            </a:avLst>
          </a:prstGeom>
          <a:solidFill>
            <a:srgbClr val="F1E8FD"/>
          </a:solidFill>
          <a:ln/>
        </p:spPr>
      </p:sp>
      <p:sp>
        <p:nvSpPr>
          <p:cNvPr id="21" name="Text 19"/>
          <p:cNvSpPr/>
          <p:nvPr/>
        </p:nvSpPr>
        <p:spPr>
          <a:xfrm>
            <a:off x="7882128" y="5029200"/>
            <a:ext cx="3090672" cy="201168"/>
          </a:xfrm>
          <a:prstGeom prst="rect">
            <a:avLst/>
          </a:prstGeom>
          <a:noFill/>
          <a:ln/>
        </p:spPr>
        <p:txBody>
          <a:bodyPr wrap="square" lIns="0" tIns="0" rIns="0" bIns="0" rtlCol="0" anchor="ctr">
            <a:normAutofit/>
          </a:bodyPr>
          <a:lstStyle/>
          <a:p>
            <a:pPr indent="0" marL="0">
              <a:buNone/>
            </a:pPr>
            <a:r>
              <a:rPr lang="en-US" sz="1100" dirty="0">
                <a:solidFill>
                  <a:srgbClr val="28143F"/>
                </a:solidFill>
                <a:latin typeface="Consolas" pitchFamily="34" charset="0"/>
                <a:ea typeface="Consolas" pitchFamily="34" charset="-122"/>
                <a:cs typeface="Consolas" pitchFamily="34" charset="-120"/>
              </a:rPr>
              <a:t>demos/day5/module-6-demo-2-trace-local-code.md</a:t>
            </a:r>
            <a:endParaRPr lang="en-US" sz="1100" dirty="0"/>
          </a:p>
        </p:txBody>
      </p:sp>
      <p:sp>
        <p:nvSpPr>
          <p:cNvPr id="22" name="Text 20"/>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DDE7EF"/>
                </a:solidFill>
                <a:latin typeface="Aptos" pitchFamily="34" charset="0"/>
                <a:ea typeface="Aptos" pitchFamily="34" charset="-122"/>
                <a:cs typeface="Aptos" pitchFamily="34" charset="-120"/>
              </a:rPr>
              <a:t>REFERENCE  code.visualstudio.com/docs/intelligentapps/tracing  ·  +1 more in notes</a:t>
            </a:r>
            <a:endParaRPr lang="en-US" sz="940" dirty="0"/>
          </a:p>
        </p:txBody>
      </p:sp>
      <p:sp>
        <p:nvSpPr>
          <p:cNvPr id="23" name="Shape 21"/>
          <p:cNvSpPr/>
          <p:nvPr/>
        </p:nvSpPr>
        <p:spPr>
          <a:xfrm>
            <a:off x="0" y="6793992"/>
            <a:ext cx="12191695" cy="64008"/>
          </a:xfrm>
          <a:prstGeom prst="rect">
            <a:avLst/>
          </a:prstGeom>
          <a:solidFill>
            <a:srgbClr val="B88AF7"/>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Foundry Toolkit for VS Code</dc:title>
  <dc:subject>Day 5 — Production Readiness and Capstone</dc:subject>
  <dc:creator>Building AI Apps and Agents Workshop</dc:creator>
  <cp:lastModifiedBy>Building AI Apps and Agents Workshop</cp:lastModifiedBy>
  <cp:revision>1</cp:revision>
  <dcterms:created xsi:type="dcterms:W3CDTF">2026-09-18T20:55:30Z</dcterms:created>
  <dcterms:modified xsi:type="dcterms:W3CDTF">2026-09-18T20:55:30Z</dcterms:modified>
</cp:coreProperties>
</file>