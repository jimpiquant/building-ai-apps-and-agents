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module turns evaluation into an operating loop rather than a one-time score. Use the presenter-prepared ten-case evidence; attendees do not need to have completed Day 4 or produced a harness result. Emphasize that monitoring, tracing, and evaluation answer related but different questions.
• GROUNDING SOURCE: https://learn.microsoft.com/azure/foundry/concepts/observability
• GROUNDING SOURCE: https://learn.microsoft.com/agent-framework/agents/evaluation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Define every noun before discussing dashboards. A dataset is a reusable collection; each test case contains an input and relevant context; ground truth is a reviewed expected answer or action where required. An evaluator produces a score or label, and a threshold turns that result into an application decision—none of those objects is automatically interchangeable with another.
• GROUNDING SOURCE: https://learn.microsoft.com/azure/foundry/observability/how-to/evaluation-datasets
• GROUNDING SOURCE: https://learn.microsoft.com/azure/foundry/concepts/built-in-evaluators
• GROUNDING SOURCE: https://learn.microsoft.com/azure/foundry/concepts/evaluation-evaluators/agent-evaluators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Deterministic checks are fast and repeatable for facts, schemas, exact tool paths, and policy rules. Judge-based checks can assess nuanced quality but introduce model, prompt, scale, threshold, cost, and variance considerations. Do not average unlike raw scales: preserve each evaluator's score, threshold, version, and pass rule before aggregating pass rates.
• GROUNDING SOURCE: https://learn.microsoft.com/agent-framework/agents/evaluation
• GROUNDING SOURCE: https://learn.microsoft.com/azure/foundry/concepts/built-in-evaluators
• GROUNDING SOURCE: https://learn.microsoft.com/azure/foundry/concepts/evaluation-evaluators/agent-evaluators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System versus process identifies what aspect is judged; turn versus conversation identifies how much interaction is scored. They are independent axes, so a conversation-level system evaluator and a turn-level process evaluator can both be useful when supported. Successful tool execution does not prove that the final answer completed the task, and a good final answer does not prove the path was safe or efficient.
• GROUNDING SOURCE: https://learn.microsoft.com/azure/foundry/concepts/evaluation-evaluators/agent-evaluators
• GROUNDING SOURCE: https://learn.microsoft.com/azure/foundry/concepts/built-in-evaluators
• GROUNDING SOURCE: https://learn.microsoft.com/azure/foundry/observability/how-to/cloud-evaluation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Offline evaluation reruns a stable set around a proposed change. Continuous evaluation samples eligible production interactions, while scheduled evaluation reruns selected data over time; sampling can miss traffic and is not an inline safety gate. Call a change relative to a baseline a regression; call a distribution or behavior change observed over time drift, then segment the evidence before attributing a cause.
• GROUNDING SOURCE: https://learn.microsoft.com/azure/foundry/concepts/observability
• GROUNDING SOURCE: https://learn.microsoft.com/azure/foundry/observability/how-to/evaluation-datasets
• GROUNDING SOURCE: https://learn.microsoft.com/agent-framework/agents/evaluation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acceptance table is workshop gate logic built on documented outputs, not a Microsoft-provided universal CI policy. Only a completed required result that satisfies its own evaluator-specific threshold can contribute a pass. Preflight evaluator/data mapping, turn-or-conversation level, target, and tool compatibility; missing, errored, or unsupported evidence blocks acceptance rather than disappearing from the denominator.
• GROUNDING SOURCE: https://learn.microsoft.com/azure/foundry/observability/how-to/cloud-evaluation
• GROUNDING SOURCE: https://learn.microsoft.com/azure/foundry/concepts/built-in-evaluators
• GROUNDING SOURCE: https://learn.microsoft.com/azure/foundry/concepts/evaluation-evaluators/agent-evaluators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Run the self-contained local workshop gate over the runbook's presenter-prepared synthetic snapshot; there is no cloud wait and no Day 4 dependency. First show a candidate whose tools succeed but one required answer fact regresses, then show missing/error/unsupported evidence blocking a second candidate. State plainly that the wrapper is workshop logic interpreting evaluation outputs, not a built-in certification gate.
• GROUNDING SOURCE: https://learn.microsoft.com/agent-framework/agents/evaluation
• GROUNDING SOURCE: https://learn.microsoft.com/azure/foundry/observability/how-to/cloud-evaluation
• GROUNDING SOURCE: https://learn.microsoft.com/azure/foundry/observability/how-to/evaluation-datasets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Ask who owns triage, who can change the prompt/model/tool, and who accepts residual risk. Retain dataset version, target version, evaluator configuration, raw results, normalized decision, and failing cases; then change one thing and rerun. The capstone's ten cases are a workshop minimum for starting this discipline—not Microsoft certification, statistical sufficiency, or production-readiness proof.
• GROUNDING SOURCE: https://learn.microsoft.com/azure/foundry/concepts/observability
• GROUNDING SOURCE: https://learn.microsoft.com/azure/foundry/observability/how-to/evaluation-datasets
• GROUNDING SOURCE: https://learn.microsoft.com/azure/foundry/concepts/evaluation-evaluators/agent-evaluators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73568" y="137160"/>
            <a:ext cx="3886200" cy="3886200"/>
          </a:xfrm>
          <a:prstGeom prst="ellipse">
            <a:avLst/>
          </a:prstGeom>
          <a:solidFill>
            <a:srgbClr val="DFFAF5"/>
          </a:solidFill>
          <a:ln/>
        </p:spPr>
      </p:sp>
      <p:sp>
        <p:nvSpPr>
          <p:cNvPr id="3" name="Shape 1"/>
          <p:cNvSpPr/>
          <p:nvPr/>
        </p:nvSpPr>
        <p:spPr>
          <a:xfrm>
            <a:off x="8394192" y="557784"/>
            <a:ext cx="3044952" cy="3044952"/>
          </a:xfrm>
          <a:prstGeom prst="ellipse">
            <a:avLst/>
          </a:prstGeom>
          <a:solidFill>
            <a:srgbClr val="171D3B"/>
          </a:solidFill>
          <a:ln/>
        </p:spPr>
      </p:sp>
      <p:sp>
        <p:nvSpPr>
          <p:cNvPr id="4" name="Shape 2"/>
          <p:cNvSpPr/>
          <p:nvPr/>
        </p:nvSpPr>
        <p:spPr>
          <a:xfrm>
            <a:off x="9175090" y="680314"/>
            <a:ext cx="1168603" cy="1168603"/>
          </a:xfrm>
          <a:prstGeom prst="roundRect">
            <a:avLst>
              <a:gd name="adj" fmla="val 6260"/>
            </a:avLst>
          </a:prstGeom>
          <a:solidFill>
            <a:srgbClr val="2DD4B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75090" y="940003"/>
            <a:ext cx="1168603" cy="5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4260" dirty="0"/>
          </a:p>
        </p:txBody>
      </p:sp>
      <p:sp>
        <p:nvSpPr>
          <p:cNvPr id="6" name="Shape 4"/>
          <p:cNvSpPr/>
          <p:nvPr/>
        </p:nvSpPr>
        <p:spPr>
          <a:xfrm>
            <a:off x="10668305" y="680314"/>
            <a:ext cx="1168603" cy="1168603"/>
          </a:xfrm>
          <a:prstGeom prst="roundRect">
            <a:avLst>
              <a:gd name="adj" fmla="val 6260"/>
            </a:avLst>
          </a:prstGeom>
          <a:solidFill>
            <a:srgbClr val="2DD4B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68305" y="940003"/>
            <a:ext cx="1168603" cy="5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4260" dirty="0"/>
          </a:p>
        </p:txBody>
      </p:sp>
      <p:sp>
        <p:nvSpPr>
          <p:cNvPr id="8" name="Shape 6"/>
          <p:cNvSpPr/>
          <p:nvPr/>
        </p:nvSpPr>
        <p:spPr>
          <a:xfrm>
            <a:off x="9175090" y="2173529"/>
            <a:ext cx="1168603" cy="1168603"/>
          </a:xfrm>
          <a:prstGeom prst="roundRect">
            <a:avLst>
              <a:gd name="adj" fmla="val 6260"/>
            </a:avLst>
          </a:prstGeom>
          <a:solidFill>
            <a:srgbClr val="2DD4B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75090" y="2433218"/>
            <a:ext cx="1168603" cy="5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4260" dirty="0"/>
          </a:p>
        </p:txBody>
      </p:sp>
      <p:sp>
        <p:nvSpPr>
          <p:cNvPr id="10" name="Shape 8"/>
          <p:cNvSpPr/>
          <p:nvPr/>
        </p:nvSpPr>
        <p:spPr>
          <a:xfrm>
            <a:off x="10668305" y="2173529"/>
            <a:ext cx="1168603" cy="1168603"/>
          </a:xfrm>
          <a:prstGeom prst="roundRect">
            <a:avLst>
              <a:gd name="adj" fmla="val 6260"/>
            </a:avLst>
          </a:prstGeom>
          <a:solidFill>
            <a:srgbClr val="8B5CF6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68305" y="2433218"/>
            <a:ext cx="1168603" cy="5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60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4260" dirty="0"/>
          </a:p>
        </p:txBody>
      </p:sp>
      <p:sp>
        <p:nvSpPr>
          <p:cNvPr id="12" name="Shape 10"/>
          <p:cNvSpPr/>
          <p:nvPr/>
        </p:nvSpPr>
        <p:spPr>
          <a:xfrm>
            <a:off x="713232" y="530352"/>
            <a:ext cx="2148840" cy="36576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658368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60" kern="0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5  ·  MODULE 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3232" y="1298448"/>
            <a:ext cx="7150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in Production</a:t>
            </a:r>
            <a:endParaRPr lang="en-US" sz="4700" dirty="0"/>
          </a:p>
        </p:txBody>
      </p:sp>
      <p:sp>
        <p:nvSpPr>
          <p:cNvPr id="15" name="Text 13"/>
          <p:cNvSpPr/>
          <p:nvPr/>
        </p:nvSpPr>
        <p:spPr>
          <a:xfrm>
            <a:off x="749808" y="2615184"/>
            <a:ext cx="69311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30" dirty="0">
                <a:solidFill>
                  <a:srgbClr val="E4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curated tests, sampled traffic, scheduled checks, and accountable gates</a:t>
            </a:r>
            <a:endParaRPr lang="en-US" sz="1830" dirty="0"/>
          </a:p>
        </p:txBody>
      </p:sp>
      <p:sp>
        <p:nvSpPr>
          <p:cNvPr id="16" name="Shape 14"/>
          <p:cNvSpPr/>
          <p:nvPr/>
        </p:nvSpPr>
        <p:spPr>
          <a:xfrm>
            <a:off x="713232" y="4160520"/>
            <a:ext cx="679399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4160520"/>
            <a:ext cx="146304" cy="10972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1078992" y="4407408"/>
            <a:ext cx="6080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confidence comes from repeatable evidence, explicit decisions, and an owner for what happens next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546336" y="4261104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6800" dirty="0"/>
          </a:p>
        </p:txBody>
      </p:sp>
      <p:sp>
        <p:nvSpPr>
          <p:cNvPr id="20" name="Text 18"/>
          <p:cNvSpPr/>
          <p:nvPr/>
        </p:nvSpPr>
        <p:spPr>
          <a:xfrm>
            <a:off x="8732520" y="523951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4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LOOPS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8368" y="6318504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DE7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 learn.microsoft.com/azure/foundry/concepts/observability  ·  +1 more in notes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171D3B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30352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5  /  MODULE 6  /  EVIDENCE LOOPS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012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evaluation contract: six nouns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10824301" y="436717"/>
            <a:ext cx="237012" cy="237012"/>
          </a:xfrm>
          <a:prstGeom prst="roundRect">
            <a:avLst>
              <a:gd name="adj" fmla="val 30864"/>
            </a:avLst>
          </a:prstGeom>
          <a:solidFill>
            <a:srgbClr val="EEE9FF"/>
          </a:solidFill>
          <a:ln w="10160">
            <a:solidFill>
              <a:srgbClr val="171D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24301" y="489387"/>
            <a:ext cx="237012" cy="111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64" dirty="0"/>
          </a:p>
        </p:txBody>
      </p:sp>
      <p:sp>
        <p:nvSpPr>
          <p:cNvPr id="7" name="Shape 5"/>
          <p:cNvSpPr/>
          <p:nvPr/>
        </p:nvSpPr>
        <p:spPr>
          <a:xfrm>
            <a:off x="11127151" y="436717"/>
            <a:ext cx="237012" cy="237012"/>
          </a:xfrm>
          <a:prstGeom prst="roundRect">
            <a:avLst>
              <a:gd name="adj" fmla="val 30864"/>
            </a:avLst>
          </a:prstGeom>
          <a:solidFill>
            <a:srgbClr val="EEE9FF"/>
          </a:solidFill>
          <a:ln w="10160">
            <a:solidFill>
              <a:srgbClr val="171D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27151" y="489387"/>
            <a:ext cx="237012" cy="111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64" dirty="0"/>
          </a:p>
        </p:txBody>
      </p:sp>
      <p:sp>
        <p:nvSpPr>
          <p:cNvPr id="9" name="Shape 7"/>
          <p:cNvSpPr/>
          <p:nvPr/>
        </p:nvSpPr>
        <p:spPr>
          <a:xfrm>
            <a:off x="10824301" y="739567"/>
            <a:ext cx="237012" cy="237012"/>
          </a:xfrm>
          <a:prstGeom prst="roundRect">
            <a:avLst>
              <a:gd name="adj" fmla="val 30864"/>
            </a:avLst>
          </a:prstGeom>
          <a:solidFill>
            <a:srgbClr val="EEE9FF"/>
          </a:solidFill>
          <a:ln w="10160">
            <a:solidFill>
              <a:srgbClr val="171D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24301" y="792236"/>
            <a:ext cx="237012" cy="111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64" dirty="0"/>
          </a:p>
        </p:txBody>
      </p:sp>
      <p:sp>
        <p:nvSpPr>
          <p:cNvPr id="11" name="Shape 9"/>
          <p:cNvSpPr/>
          <p:nvPr/>
        </p:nvSpPr>
        <p:spPr>
          <a:xfrm>
            <a:off x="11127151" y="739567"/>
            <a:ext cx="237012" cy="237012"/>
          </a:xfrm>
          <a:prstGeom prst="roundRect">
            <a:avLst>
              <a:gd name="adj" fmla="val 30864"/>
            </a:avLst>
          </a:prstGeom>
          <a:solidFill>
            <a:srgbClr val="8B5CF6"/>
          </a:solidFill>
          <a:ln w="10160">
            <a:solidFill>
              <a:srgbClr val="171D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27151" y="792236"/>
            <a:ext cx="237012" cy="111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64" dirty="0"/>
          </a:p>
        </p:txBody>
      </p:sp>
      <p:sp>
        <p:nvSpPr>
          <p:cNvPr id="13" name="Shape 11"/>
          <p:cNvSpPr/>
          <p:nvPr/>
        </p:nvSpPr>
        <p:spPr>
          <a:xfrm>
            <a:off x="11612880" y="457200"/>
            <a:ext cx="329184" cy="3291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11612880" y="553212"/>
            <a:ext cx="3291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829800" y="1005840"/>
            <a:ext cx="2148840" cy="2148840"/>
          </a:xfrm>
          <a:prstGeom prst="ellipse">
            <a:avLst/>
          </a:prstGeom>
          <a:solidFill>
            <a:srgbClr val="EEE9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252728" y="2157984"/>
            <a:ext cx="969264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2728" y="4581144"/>
            <a:ext cx="9692640" cy="0"/>
          </a:xfrm>
          <a:prstGeom prst="line">
            <a:avLst/>
          </a:prstGeom>
          <a:noFill/>
          <a:ln w="38100">
            <a:solidFill>
              <a:srgbClr val="2DD4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1481328"/>
            <a:ext cx="3438144" cy="1920240"/>
          </a:xfrm>
          <a:prstGeom prst="roundRect">
            <a:avLst>
              <a:gd name="adj" fmla="val 3810"/>
            </a:avLst>
          </a:prstGeom>
          <a:solidFill>
            <a:srgbClr val="EEE9FF"/>
          </a:solidFill>
          <a:ln w="10160">
            <a:solidFill>
              <a:srgbClr val="EEE9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9536" y="1709928"/>
            <a:ext cx="493776" cy="49377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859536" y="1865376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08760" y="170992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05256" y="2377440"/>
            <a:ext cx="2907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1D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collection of representative cases</a:t>
            </a:r>
            <a:endParaRPr lang="en-US" sz="1360" dirty="0"/>
          </a:p>
        </p:txBody>
      </p:sp>
      <p:sp>
        <p:nvSpPr>
          <p:cNvPr id="23" name="Shape 21"/>
          <p:cNvSpPr/>
          <p:nvPr/>
        </p:nvSpPr>
        <p:spPr>
          <a:xfrm>
            <a:off x="4352544" y="1481328"/>
            <a:ext cx="3438144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EEE9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1709928"/>
            <a:ext cx="493776" cy="49377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1865376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21224" y="170992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case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4617720" y="2377440"/>
            <a:ext cx="2907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1D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input, context, and expected behavior</a:t>
            </a:r>
            <a:endParaRPr lang="en-US" sz="1360" dirty="0"/>
          </a:p>
        </p:txBody>
      </p:sp>
      <p:sp>
        <p:nvSpPr>
          <p:cNvPr id="28" name="Shape 26"/>
          <p:cNvSpPr/>
          <p:nvPr/>
        </p:nvSpPr>
        <p:spPr>
          <a:xfrm>
            <a:off x="8065008" y="1481328"/>
            <a:ext cx="3438144" cy="1920240"/>
          </a:xfrm>
          <a:prstGeom prst="roundRect">
            <a:avLst>
              <a:gd name="adj" fmla="val 3810"/>
            </a:avLst>
          </a:prstGeom>
          <a:solidFill>
            <a:srgbClr val="EEE9FF"/>
          </a:solidFill>
          <a:ln w="10160">
            <a:solidFill>
              <a:srgbClr val="EEE9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84464" y="1709928"/>
            <a:ext cx="493776" cy="49377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8284464" y="1865376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933688" y="170992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Ground truth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8330184" y="2377440"/>
            <a:ext cx="2907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1D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Reviewed expected answer or action when required</a:t>
            </a:r>
            <a:endParaRPr lang="en-US" sz="1360" dirty="0"/>
          </a:p>
        </p:txBody>
      </p:sp>
      <p:sp>
        <p:nvSpPr>
          <p:cNvPr id="33" name="Shape 31"/>
          <p:cNvSpPr/>
          <p:nvPr/>
        </p:nvSpPr>
        <p:spPr>
          <a:xfrm>
            <a:off x="640080" y="3904488"/>
            <a:ext cx="3438144" cy="1920240"/>
          </a:xfrm>
          <a:prstGeom prst="roundRect">
            <a:avLst>
              <a:gd name="adj" fmla="val 3810"/>
            </a:avLst>
          </a:prstGeom>
          <a:solidFill>
            <a:srgbClr val="DFFAF5"/>
          </a:solidFill>
          <a:ln w="10160">
            <a:solidFill>
              <a:srgbClr val="2DD4B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9536" y="4133088"/>
            <a:ext cx="493776" cy="49377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5" name="Text 33"/>
          <p:cNvSpPr/>
          <p:nvPr/>
        </p:nvSpPr>
        <p:spPr>
          <a:xfrm>
            <a:off x="859536" y="4288536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508760" y="413308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Evaluator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905256" y="4800600"/>
            <a:ext cx="2907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1D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Criteria applied to compatible data</a:t>
            </a:r>
            <a:endParaRPr lang="en-US" sz="1360" dirty="0"/>
          </a:p>
        </p:txBody>
      </p:sp>
      <p:sp>
        <p:nvSpPr>
          <p:cNvPr id="38" name="Shape 36"/>
          <p:cNvSpPr/>
          <p:nvPr/>
        </p:nvSpPr>
        <p:spPr>
          <a:xfrm>
            <a:off x="4352544" y="3904488"/>
            <a:ext cx="3438144" cy="1920240"/>
          </a:xfrm>
          <a:prstGeom prst="roundRect">
            <a:avLst>
              <a:gd name="adj" fmla="val 3810"/>
            </a:avLst>
          </a:prstGeom>
          <a:solidFill>
            <a:srgbClr val="DFFAF5"/>
          </a:solidFill>
          <a:ln w="10160">
            <a:solidFill>
              <a:srgbClr val="2DD4B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4133088"/>
            <a:ext cx="493776" cy="49377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0" y="4288536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21224" y="413308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Score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4617720" y="4800600"/>
            <a:ext cx="2907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1D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on that evaluator's documented scale</a:t>
            </a:r>
            <a:endParaRPr lang="en-US" sz="1360" dirty="0"/>
          </a:p>
        </p:txBody>
      </p:sp>
      <p:sp>
        <p:nvSpPr>
          <p:cNvPr id="43" name="Shape 41"/>
          <p:cNvSpPr/>
          <p:nvPr/>
        </p:nvSpPr>
        <p:spPr>
          <a:xfrm>
            <a:off x="8065008" y="3904488"/>
            <a:ext cx="3438144" cy="1920240"/>
          </a:xfrm>
          <a:prstGeom prst="roundRect">
            <a:avLst>
              <a:gd name="adj" fmla="val 3810"/>
            </a:avLst>
          </a:prstGeom>
          <a:solidFill>
            <a:srgbClr val="DFFAF5"/>
          </a:solidFill>
          <a:ln w="10160">
            <a:solidFill>
              <a:srgbClr val="2DD4B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84464" y="4133088"/>
            <a:ext cx="493776" cy="49377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45" name="Text 43"/>
          <p:cNvSpPr/>
          <p:nvPr/>
        </p:nvSpPr>
        <p:spPr>
          <a:xfrm>
            <a:off x="8284464" y="4288536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933688" y="413308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Threshold</a:t>
            </a:r>
            <a:endParaRPr lang="en-US" sz="1900" dirty="0"/>
          </a:p>
        </p:txBody>
      </p:sp>
      <p:sp>
        <p:nvSpPr>
          <p:cNvPr id="47" name="Text 45"/>
          <p:cNvSpPr/>
          <p:nvPr/>
        </p:nvSpPr>
        <p:spPr>
          <a:xfrm>
            <a:off x="8330184" y="4800600"/>
            <a:ext cx="2907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1D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 rule that maps evidence to a decision</a:t>
            </a:r>
            <a:endParaRPr lang="en-US" sz="1360" dirty="0"/>
          </a:p>
        </p:txBody>
      </p:sp>
      <p:sp>
        <p:nvSpPr>
          <p:cNvPr id="48" name="Text 46"/>
          <p:cNvSpPr/>
          <p:nvPr/>
        </p:nvSpPr>
        <p:spPr>
          <a:xfrm>
            <a:off x="658368" y="6318504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B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 learn.microsoft.com/azure/foundry/observability/how-to/evaluation-datasets  ·  +2 more in notes</a:t>
            </a:r>
            <a:endParaRPr lang="en-US" sz="940" dirty="0"/>
          </a:p>
        </p:txBody>
      </p:sp>
      <p:sp>
        <p:nvSpPr>
          <p:cNvPr id="49" name="Shape 47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171D3B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30352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5  /  MODULE 6  /  EVIDENCE LOOPS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012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Deterministic and judge checks complement each other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824301" y="436717"/>
            <a:ext cx="237012" cy="237012"/>
          </a:xfrm>
          <a:prstGeom prst="roundRect">
            <a:avLst>
              <a:gd name="adj" fmla="val 30864"/>
            </a:avLst>
          </a:prstGeom>
          <a:solidFill>
            <a:srgbClr val="EEE9FF"/>
          </a:solidFill>
          <a:ln w="10160">
            <a:solidFill>
              <a:srgbClr val="171D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24301" y="489387"/>
            <a:ext cx="237012" cy="111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64" dirty="0"/>
          </a:p>
        </p:txBody>
      </p:sp>
      <p:sp>
        <p:nvSpPr>
          <p:cNvPr id="7" name="Shape 5"/>
          <p:cNvSpPr/>
          <p:nvPr/>
        </p:nvSpPr>
        <p:spPr>
          <a:xfrm>
            <a:off x="11127151" y="436717"/>
            <a:ext cx="237012" cy="237012"/>
          </a:xfrm>
          <a:prstGeom prst="roundRect">
            <a:avLst>
              <a:gd name="adj" fmla="val 30864"/>
            </a:avLst>
          </a:prstGeom>
          <a:solidFill>
            <a:srgbClr val="EEE9FF"/>
          </a:solidFill>
          <a:ln w="10160">
            <a:solidFill>
              <a:srgbClr val="171D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27151" y="489387"/>
            <a:ext cx="237012" cy="111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64" dirty="0"/>
          </a:p>
        </p:txBody>
      </p:sp>
      <p:sp>
        <p:nvSpPr>
          <p:cNvPr id="9" name="Shape 7"/>
          <p:cNvSpPr/>
          <p:nvPr/>
        </p:nvSpPr>
        <p:spPr>
          <a:xfrm>
            <a:off x="10824301" y="739567"/>
            <a:ext cx="237012" cy="237012"/>
          </a:xfrm>
          <a:prstGeom prst="roundRect">
            <a:avLst>
              <a:gd name="adj" fmla="val 30864"/>
            </a:avLst>
          </a:prstGeom>
          <a:solidFill>
            <a:srgbClr val="EEE9FF"/>
          </a:solidFill>
          <a:ln w="10160">
            <a:solidFill>
              <a:srgbClr val="171D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24301" y="792236"/>
            <a:ext cx="237012" cy="111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64" dirty="0"/>
          </a:p>
        </p:txBody>
      </p:sp>
      <p:sp>
        <p:nvSpPr>
          <p:cNvPr id="11" name="Shape 9"/>
          <p:cNvSpPr/>
          <p:nvPr/>
        </p:nvSpPr>
        <p:spPr>
          <a:xfrm>
            <a:off x="11127151" y="739567"/>
            <a:ext cx="237012" cy="237012"/>
          </a:xfrm>
          <a:prstGeom prst="roundRect">
            <a:avLst>
              <a:gd name="adj" fmla="val 30864"/>
            </a:avLst>
          </a:prstGeom>
          <a:solidFill>
            <a:srgbClr val="8B5CF6"/>
          </a:solidFill>
          <a:ln w="10160">
            <a:solidFill>
              <a:srgbClr val="171D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27151" y="792236"/>
            <a:ext cx="237012" cy="111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64" dirty="0"/>
          </a:p>
        </p:txBody>
      </p:sp>
      <p:sp>
        <p:nvSpPr>
          <p:cNvPr id="13" name="Shape 11"/>
          <p:cNvSpPr/>
          <p:nvPr/>
        </p:nvSpPr>
        <p:spPr>
          <a:xfrm>
            <a:off x="11612880" y="457200"/>
            <a:ext cx="329184" cy="3291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11612880" y="553212"/>
            <a:ext cx="3291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829800" y="1005840"/>
            <a:ext cx="2148840" cy="2148840"/>
          </a:xfrm>
          <a:prstGeom prst="ellipse">
            <a:avLst/>
          </a:prstGeom>
          <a:solidFill>
            <a:srgbClr val="EEE9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1417320"/>
            <a:ext cx="5248656" cy="4626864"/>
          </a:xfrm>
          <a:prstGeom prst="roundRect">
            <a:avLst>
              <a:gd name="adj" fmla="val 1779"/>
            </a:avLst>
          </a:prstGeom>
          <a:solidFill>
            <a:srgbClr val="FFFFFF"/>
          </a:solidFill>
          <a:ln w="15240">
            <a:solidFill>
              <a:srgbClr val="EEE9FF"/>
            </a:solidFill>
            <a:prstDash val="solid"/>
          </a:ln>
          <a:effectLst>
            <a:outerShdw sx="100000" sy="100000" kx="0" ky="0" algn="bl" rotWithShape="0" blurRad="50800" dist="19050" dir="8100000">
              <a:srgbClr val="111827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6112" y="1673352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171D3B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1773936"/>
            <a:ext cx="1353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spc="11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932688" y="214884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Deterministic checks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87552" y="2944368"/>
            <a:ext cx="4553712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20" dirty="0">
                <a:solidFill>
                  <a:srgbClr val="1D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fields, required facts, schemas, and expected actions</a:t>
            </a:r>
            <a:endParaRPr lang="en-US" sz="1520" dirty="0"/>
          </a:p>
          <a:p>
            <a:pPr marL="342900" indent="-342900">
              <a:buSzPct val="100000"/>
              <a:buChar char="•"/>
            </a:pPr>
            <a:r>
              <a:rPr lang="en-US" sz="1520" dirty="0">
                <a:solidFill>
                  <a:srgbClr val="1D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Repeatable and inexpensive; checks encoded behavior</a:t>
            </a:r>
            <a:endParaRPr lang="en-US" sz="1520" dirty="0"/>
          </a:p>
          <a:p>
            <a:pPr marL="342900" indent="-342900">
              <a:buSzPct val="100000"/>
              <a:buChar char="•"/>
            </a:pPr>
            <a:r>
              <a:rPr lang="en-US" sz="1520" dirty="0">
                <a:solidFill>
                  <a:srgbClr val="1D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 clearly when required data is absent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5020056" y="1609344"/>
            <a:ext cx="493776" cy="493776"/>
          </a:xfrm>
          <a:prstGeom prst="ellipse">
            <a:avLst/>
          </a:prstGeom>
          <a:solidFill>
            <a:srgbClr val="EEE9FF"/>
          </a:solidFill>
          <a:ln/>
        </p:spPr>
      </p:sp>
      <p:sp>
        <p:nvSpPr>
          <p:cNvPr id="22" name="Text 20"/>
          <p:cNvSpPr/>
          <p:nvPr/>
        </p:nvSpPr>
        <p:spPr>
          <a:xfrm>
            <a:off x="5020056" y="1755648"/>
            <a:ext cx="493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00216" y="1417320"/>
            <a:ext cx="5248656" cy="4626864"/>
          </a:xfrm>
          <a:prstGeom prst="roundRect">
            <a:avLst>
              <a:gd name="adj" fmla="val 1779"/>
            </a:avLst>
          </a:prstGeom>
          <a:solidFill>
            <a:srgbClr val="EEE9FF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50800" dist="19050" dir="8100000">
              <a:srgbClr val="111827">
                <a:alpha val="11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56248" y="1673352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6665976" y="1773936"/>
            <a:ext cx="1353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spc="110" kern="0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JUDGE-BASED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6592824" y="214884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Judge-based checks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647688" y="2944368"/>
            <a:ext cx="4553712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20" dirty="0">
                <a:solidFill>
                  <a:srgbClr val="1D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Nuanced relevance, completeness, adherence, and satisfaction</a:t>
            </a:r>
            <a:endParaRPr lang="en-US" sz="1520" dirty="0"/>
          </a:p>
          <a:p>
            <a:pPr marL="342900" indent="-342900">
              <a:buSzPct val="100000"/>
              <a:buChar char="•"/>
            </a:pPr>
            <a:r>
              <a:rPr lang="en-US" sz="1520" dirty="0">
                <a:solidFill>
                  <a:srgbClr val="1D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Model-assisted; record judge, prompt/rubric, scale, and threshold</a:t>
            </a:r>
            <a:endParaRPr lang="en-US" sz="1520" dirty="0"/>
          </a:p>
          <a:p>
            <a:pPr marL="342900" indent="-342900">
              <a:buSzPct val="100000"/>
              <a:buChar char="•"/>
            </a:pPr>
            <a:r>
              <a:rPr lang="en-US" sz="1520" dirty="0">
                <a:solidFill>
                  <a:srgbClr val="1D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evaluators can use binary, 1–5, 0–1, or custom scales</a:t>
            </a:r>
            <a:endParaRPr lang="en-US" sz="1520" dirty="0"/>
          </a:p>
        </p:txBody>
      </p:sp>
      <p:sp>
        <p:nvSpPr>
          <p:cNvPr id="28" name="Shape 26"/>
          <p:cNvSpPr/>
          <p:nvPr/>
        </p:nvSpPr>
        <p:spPr>
          <a:xfrm>
            <a:off x="10680192" y="1609344"/>
            <a:ext cx="493776" cy="49377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9" name="Text 27"/>
          <p:cNvSpPr/>
          <p:nvPr/>
        </p:nvSpPr>
        <p:spPr>
          <a:xfrm>
            <a:off x="10680192" y="1755648"/>
            <a:ext cx="493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16168" y="3236976"/>
            <a:ext cx="365760" cy="365760"/>
          </a:xfrm>
          <a:prstGeom prst="ellipse">
            <a:avLst/>
          </a:prstGeom>
          <a:solidFill>
            <a:srgbClr val="171D3B"/>
          </a:solidFill>
          <a:ln/>
        </p:spPr>
      </p:sp>
      <p:sp>
        <p:nvSpPr>
          <p:cNvPr id="31" name="Text 29"/>
          <p:cNvSpPr/>
          <p:nvPr/>
        </p:nvSpPr>
        <p:spPr>
          <a:xfrm>
            <a:off x="5916168" y="332841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≠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8368" y="6318504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B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 learn.microsoft.com/agent-framework/agents/evaluation  ·  +2 more in notes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171D3B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30352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5  /  MODULE 6  /  EVIDENCE LOOPS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012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independent evaluation axes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10824301" y="436717"/>
            <a:ext cx="237012" cy="237012"/>
          </a:xfrm>
          <a:prstGeom prst="roundRect">
            <a:avLst>
              <a:gd name="adj" fmla="val 30864"/>
            </a:avLst>
          </a:prstGeom>
          <a:solidFill>
            <a:srgbClr val="EEE9FF"/>
          </a:solidFill>
          <a:ln w="10160">
            <a:solidFill>
              <a:srgbClr val="171D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24301" y="489387"/>
            <a:ext cx="237012" cy="111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64" dirty="0"/>
          </a:p>
        </p:txBody>
      </p:sp>
      <p:sp>
        <p:nvSpPr>
          <p:cNvPr id="7" name="Shape 5"/>
          <p:cNvSpPr/>
          <p:nvPr/>
        </p:nvSpPr>
        <p:spPr>
          <a:xfrm>
            <a:off x="11127151" y="436717"/>
            <a:ext cx="237012" cy="237012"/>
          </a:xfrm>
          <a:prstGeom prst="roundRect">
            <a:avLst>
              <a:gd name="adj" fmla="val 30864"/>
            </a:avLst>
          </a:prstGeom>
          <a:solidFill>
            <a:srgbClr val="EEE9FF"/>
          </a:solidFill>
          <a:ln w="10160">
            <a:solidFill>
              <a:srgbClr val="171D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27151" y="489387"/>
            <a:ext cx="237012" cy="111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64" dirty="0"/>
          </a:p>
        </p:txBody>
      </p:sp>
      <p:sp>
        <p:nvSpPr>
          <p:cNvPr id="9" name="Shape 7"/>
          <p:cNvSpPr/>
          <p:nvPr/>
        </p:nvSpPr>
        <p:spPr>
          <a:xfrm>
            <a:off x="10824301" y="739567"/>
            <a:ext cx="237012" cy="237012"/>
          </a:xfrm>
          <a:prstGeom prst="roundRect">
            <a:avLst>
              <a:gd name="adj" fmla="val 30864"/>
            </a:avLst>
          </a:prstGeom>
          <a:solidFill>
            <a:srgbClr val="EEE9FF"/>
          </a:solidFill>
          <a:ln w="10160">
            <a:solidFill>
              <a:srgbClr val="171D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24301" y="792236"/>
            <a:ext cx="237012" cy="111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64" dirty="0"/>
          </a:p>
        </p:txBody>
      </p:sp>
      <p:sp>
        <p:nvSpPr>
          <p:cNvPr id="11" name="Shape 9"/>
          <p:cNvSpPr/>
          <p:nvPr/>
        </p:nvSpPr>
        <p:spPr>
          <a:xfrm>
            <a:off x="11127151" y="739567"/>
            <a:ext cx="237012" cy="237012"/>
          </a:xfrm>
          <a:prstGeom prst="roundRect">
            <a:avLst>
              <a:gd name="adj" fmla="val 30864"/>
            </a:avLst>
          </a:prstGeom>
          <a:solidFill>
            <a:srgbClr val="8B5CF6"/>
          </a:solidFill>
          <a:ln w="10160">
            <a:solidFill>
              <a:srgbClr val="171D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27151" y="792236"/>
            <a:ext cx="237012" cy="111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64" dirty="0"/>
          </a:p>
        </p:txBody>
      </p:sp>
      <p:sp>
        <p:nvSpPr>
          <p:cNvPr id="13" name="Shape 11"/>
          <p:cNvSpPr/>
          <p:nvPr/>
        </p:nvSpPr>
        <p:spPr>
          <a:xfrm>
            <a:off x="11612880" y="457200"/>
            <a:ext cx="329184" cy="3291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11612880" y="553212"/>
            <a:ext cx="3291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829800" y="1005840"/>
            <a:ext cx="2148840" cy="2148840"/>
          </a:xfrm>
          <a:prstGeom prst="ellipse">
            <a:avLst/>
          </a:prstGeom>
          <a:solidFill>
            <a:srgbClr val="EEE9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1417320"/>
            <a:ext cx="5312664" cy="4626864"/>
          </a:xfrm>
          <a:prstGeom prst="roundRect">
            <a:avLst>
              <a:gd name="adj" fmla="val 1581"/>
            </a:avLst>
          </a:prstGeom>
          <a:solidFill>
            <a:srgbClr val="EEE9FF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173736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AXIS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2148840"/>
            <a:ext cx="4663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judged?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78992" y="2862072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90" kern="0" dirty="0">
                <a:solidFill>
                  <a:srgbClr val="5B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CHOICE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01568" y="2862072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90" kern="0" dirty="0">
                <a:solidFill>
                  <a:srgbClr val="5B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 CHOICE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87552" y="3072384"/>
            <a:ext cx="2084832" cy="9144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1197864" y="3374136"/>
            <a:ext cx="1664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outcome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310128" y="3072384"/>
            <a:ext cx="2084832" cy="914400"/>
          </a:xfrm>
          <a:prstGeom prst="roundRect">
            <a:avLst>
              <a:gd name="adj" fmla="val 8000"/>
            </a:avLst>
          </a:prstGeom>
          <a:solidFill>
            <a:srgbClr val="2DD4BF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3374136"/>
            <a:ext cx="1664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steps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07008" y="4224528"/>
            <a:ext cx="41788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90" kern="0" dirty="0">
                <a:solidFill>
                  <a:srgbClr val="5B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ANSWERED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87552" y="4434840"/>
            <a:ext cx="4617720" cy="987552"/>
          </a:xfrm>
          <a:prstGeom prst="roundRect">
            <a:avLst>
              <a:gd name="adj" fmla="val 7407"/>
            </a:avLst>
          </a:prstGeom>
          <a:solidFill>
            <a:srgbClr val="171D3B"/>
          </a:solidFill>
          <a:ln/>
        </p:spPr>
      </p:sp>
      <p:sp>
        <p:nvSpPr>
          <p:cNvPr id="27" name="Text 25"/>
          <p:cNvSpPr/>
          <p:nvPr/>
        </p:nvSpPr>
        <p:spPr>
          <a:xfrm>
            <a:off x="1298448" y="4727448"/>
            <a:ext cx="3995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it finish well, and did it act well?</a:t>
            </a:r>
            <a:endParaRPr lang="en-US" sz="1520" dirty="0"/>
          </a:p>
        </p:txBody>
      </p:sp>
      <p:sp>
        <p:nvSpPr>
          <p:cNvPr id="28" name="Shape 26"/>
          <p:cNvSpPr/>
          <p:nvPr/>
        </p:nvSpPr>
        <p:spPr>
          <a:xfrm>
            <a:off x="6236208" y="1417320"/>
            <a:ext cx="5312664" cy="4626864"/>
          </a:xfrm>
          <a:prstGeom prst="roundRect">
            <a:avLst>
              <a:gd name="adj" fmla="val 1581"/>
            </a:avLst>
          </a:prstGeom>
          <a:solidFill>
            <a:srgbClr val="FFFFFF"/>
          </a:solidFill>
          <a:ln w="10160">
            <a:solidFill>
              <a:srgbClr val="EEE9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56248" y="173736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AXIS 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56248" y="2148840"/>
            <a:ext cx="4663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much is scored?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675120" y="2862072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90" kern="0" dirty="0">
                <a:solidFill>
                  <a:srgbClr val="5B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CHOICE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997696" y="2862072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90" kern="0" dirty="0">
                <a:solidFill>
                  <a:srgbClr val="5B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 CHOICE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583680" y="3072384"/>
            <a:ext cx="2084832" cy="9144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/>
        </p:spPr>
      </p:sp>
      <p:sp>
        <p:nvSpPr>
          <p:cNvPr id="34" name="Text 32"/>
          <p:cNvSpPr/>
          <p:nvPr/>
        </p:nvSpPr>
        <p:spPr>
          <a:xfrm>
            <a:off x="6793992" y="3374136"/>
            <a:ext cx="1664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turn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906256" y="3072384"/>
            <a:ext cx="2084832" cy="914400"/>
          </a:xfrm>
          <a:prstGeom prst="roundRect">
            <a:avLst>
              <a:gd name="adj" fmla="val 8000"/>
            </a:avLst>
          </a:prstGeom>
          <a:solidFill>
            <a:srgbClr val="2DD4BF"/>
          </a:solidFill>
          <a:ln/>
        </p:spPr>
      </p:sp>
      <p:sp>
        <p:nvSpPr>
          <p:cNvPr id="36" name="Text 34"/>
          <p:cNvSpPr/>
          <p:nvPr/>
        </p:nvSpPr>
        <p:spPr>
          <a:xfrm>
            <a:off x="9116568" y="3374136"/>
            <a:ext cx="1664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Whole conversation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03136" y="4224528"/>
            <a:ext cx="41788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90" kern="0" dirty="0">
                <a:solidFill>
                  <a:srgbClr val="5B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ANSWERED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583680" y="4434840"/>
            <a:ext cx="4617720" cy="987552"/>
          </a:xfrm>
          <a:prstGeom prst="roundRect">
            <a:avLst>
              <a:gd name="adj" fmla="val 7407"/>
            </a:avLst>
          </a:prstGeom>
          <a:solidFill>
            <a:srgbClr val="171D3B"/>
          </a:solidFill>
          <a:ln/>
        </p:spPr>
      </p:sp>
      <p:sp>
        <p:nvSpPr>
          <p:cNvPr id="39" name="Text 37"/>
          <p:cNvSpPr/>
          <p:nvPr/>
        </p:nvSpPr>
        <p:spPr>
          <a:xfrm>
            <a:off x="6894576" y="4727448"/>
            <a:ext cx="3995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response, or the multi-turn interaction?</a:t>
            </a:r>
            <a:endParaRPr lang="en-US" sz="1520" dirty="0"/>
          </a:p>
        </p:txBody>
      </p:sp>
      <p:sp>
        <p:nvSpPr>
          <p:cNvPr id="40" name="Text 38"/>
          <p:cNvSpPr/>
          <p:nvPr/>
        </p:nvSpPr>
        <p:spPr>
          <a:xfrm>
            <a:off x="658368" y="6318504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B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 learn.microsoft.com/azure/foundry/concepts/evaluation-evaluators/agent-evaluators  ·  +2 more in notes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171D3B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30352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5  /  MODULE 6  /  EVIDENCE LOOPS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012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loops; two kinds of change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10824301" y="436717"/>
            <a:ext cx="237012" cy="237012"/>
          </a:xfrm>
          <a:prstGeom prst="roundRect">
            <a:avLst>
              <a:gd name="adj" fmla="val 30864"/>
            </a:avLst>
          </a:prstGeom>
          <a:solidFill>
            <a:srgbClr val="EEE9FF"/>
          </a:solidFill>
          <a:ln w="10160">
            <a:solidFill>
              <a:srgbClr val="171D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24301" y="489387"/>
            <a:ext cx="237012" cy="111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64" dirty="0"/>
          </a:p>
        </p:txBody>
      </p:sp>
      <p:sp>
        <p:nvSpPr>
          <p:cNvPr id="7" name="Shape 5"/>
          <p:cNvSpPr/>
          <p:nvPr/>
        </p:nvSpPr>
        <p:spPr>
          <a:xfrm>
            <a:off x="11127151" y="436717"/>
            <a:ext cx="237012" cy="237012"/>
          </a:xfrm>
          <a:prstGeom prst="roundRect">
            <a:avLst>
              <a:gd name="adj" fmla="val 30864"/>
            </a:avLst>
          </a:prstGeom>
          <a:solidFill>
            <a:srgbClr val="EEE9FF"/>
          </a:solidFill>
          <a:ln w="10160">
            <a:solidFill>
              <a:srgbClr val="171D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27151" y="489387"/>
            <a:ext cx="237012" cy="111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64" dirty="0"/>
          </a:p>
        </p:txBody>
      </p:sp>
      <p:sp>
        <p:nvSpPr>
          <p:cNvPr id="9" name="Shape 7"/>
          <p:cNvSpPr/>
          <p:nvPr/>
        </p:nvSpPr>
        <p:spPr>
          <a:xfrm>
            <a:off x="10824301" y="739567"/>
            <a:ext cx="237012" cy="237012"/>
          </a:xfrm>
          <a:prstGeom prst="roundRect">
            <a:avLst>
              <a:gd name="adj" fmla="val 30864"/>
            </a:avLst>
          </a:prstGeom>
          <a:solidFill>
            <a:srgbClr val="EEE9FF"/>
          </a:solidFill>
          <a:ln w="10160">
            <a:solidFill>
              <a:srgbClr val="171D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24301" y="792236"/>
            <a:ext cx="237012" cy="111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64" dirty="0"/>
          </a:p>
        </p:txBody>
      </p:sp>
      <p:sp>
        <p:nvSpPr>
          <p:cNvPr id="11" name="Shape 9"/>
          <p:cNvSpPr/>
          <p:nvPr/>
        </p:nvSpPr>
        <p:spPr>
          <a:xfrm>
            <a:off x="11127151" y="739567"/>
            <a:ext cx="237012" cy="237012"/>
          </a:xfrm>
          <a:prstGeom prst="roundRect">
            <a:avLst>
              <a:gd name="adj" fmla="val 30864"/>
            </a:avLst>
          </a:prstGeom>
          <a:solidFill>
            <a:srgbClr val="8B5CF6"/>
          </a:solidFill>
          <a:ln w="10160">
            <a:solidFill>
              <a:srgbClr val="171D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27151" y="792236"/>
            <a:ext cx="237012" cy="111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64" dirty="0"/>
          </a:p>
        </p:txBody>
      </p:sp>
      <p:sp>
        <p:nvSpPr>
          <p:cNvPr id="13" name="Shape 11"/>
          <p:cNvSpPr/>
          <p:nvPr/>
        </p:nvSpPr>
        <p:spPr>
          <a:xfrm>
            <a:off x="11612880" y="457200"/>
            <a:ext cx="329184" cy="3291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11612880" y="553212"/>
            <a:ext cx="3291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829800" y="1005840"/>
            <a:ext cx="2148840" cy="2148840"/>
          </a:xfrm>
          <a:prstGeom prst="ellipse">
            <a:avLst/>
          </a:prstGeom>
          <a:solidFill>
            <a:srgbClr val="EEE9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1417320"/>
            <a:ext cx="3438144" cy="3035808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0160">
            <a:solidFill>
              <a:srgbClr val="EEE9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64792" y="1783080"/>
            <a:ext cx="1188720" cy="1188720"/>
          </a:xfrm>
          <a:prstGeom prst="ellipse">
            <a:avLst/>
          </a:prstGeom>
          <a:solidFill>
            <a:srgbClr val="DFFAF5"/>
          </a:solidFill>
          <a:ln w="10160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64792" y="206654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↻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77824" y="3191256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Offline loop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23544" y="370332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dirty="0">
                <a:solidFill>
                  <a:srgbClr val="1D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a candidate with a stable dataset and baseline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4352544" y="1417320"/>
            <a:ext cx="3438144" cy="3035808"/>
          </a:xfrm>
          <a:prstGeom prst="roundRect">
            <a:avLst>
              <a:gd name="adj" fmla="val 2410"/>
            </a:avLst>
          </a:prstGeom>
          <a:solidFill>
            <a:srgbClr val="EEE9FF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77256" y="1783080"/>
            <a:ext cx="1188720" cy="1188720"/>
          </a:xfrm>
          <a:prstGeom prst="ellipse">
            <a:avLst/>
          </a:prstGeom>
          <a:solidFill>
            <a:srgbClr val="DFFAF5"/>
          </a:solidFill>
          <a:ln w="10160">
            <a:solidFill>
              <a:srgbClr val="2DD4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77256" y="206654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↻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590288" y="3191256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Sampled loop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636008" y="370332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dirty="0">
                <a:solidFill>
                  <a:srgbClr val="1D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an eligible subset of production interactions</a:t>
            </a:r>
            <a:endParaRPr lang="en-US" sz="1340" dirty="0"/>
          </a:p>
        </p:txBody>
      </p:sp>
      <p:sp>
        <p:nvSpPr>
          <p:cNvPr id="26" name="Shape 24"/>
          <p:cNvSpPr/>
          <p:nvPr/>
        </p:nvSpPr>
        <p:spPr>
          <a:xfrm>
            <a:off x="8065008" y="1417320"/>
            <a:ext cx="3438144" cy="3035808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0160">
            <a:solidFill>
              <a:srgbClr val="EEE9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89720" y="1783080"/>
            <a:ext cx="1188720" cy="1188720"/>
          </a:xfrm>
          <a:prstGeom prst="ellipse">
            <a:avLst/>
          </a:prstGeom>
          <a:solidFill>
            <a:srgbClr val="DFFAF5"/>
          </a:solidFill>
          <a:ln w="10160">
            <a:solidFill>
              <a:srgbClr val="2DD4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89720" y="206654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↻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302752" y="3191256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Scheduled loop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348472" y="370332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dirty="0">
                <a:solidFill>
                  <a:srgbClr val="1D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Rerun a dataset over time to expose change</a:t>
            </a:r>
            <a:endParaRPr lang="en-US" sz="1340" dirty="0"/>
          </a:p>
        </p:txBody>
      </p:sp>
      <p:sp>
        <p:nvSpPr>
          <p:cNvPr id="31" name="Shape 29"/>
          <p:cNvSpPr/>
          <p:nvPr/>
        </p:nvSpPr>
        <p:spPr>
          <a:xfrm>
            <a:off x="1417320" y="4800600"/>
            <a:ext cx="4443984" cy="1261872"/>
          </a:xfrm>
          <a:prstGeom prst="roundRect">
            <a:avLst>
              <a:gd name="adj" fmla="val 5797"/>
            </a:avLst>
          </a:prstGeom>
          <a:solidFill>
            <a:srgbClr val="DFFAF5"/>
          </a:solidFill>
          <a:ln w="10160">
            <a:solidFill>
              <a:srgbClr val="2DD4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73352" y="5074920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008376" y="498348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Worse behavior relative to an accepted baseline or change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327648" y="4800600"/>
            <a:ext cx="4443984" cy="1261872"/>
          </a:xfrm>
          <a:prstGeom prst="roundRect">
            <a:avLst>
              <a:gd name="adj" fmla="val 5797"/>
            </a:avLst>
          </a:prstGeom>
          <a:solidFill>
            <a:srgbClr val="EEE9FF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5074920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DRIFT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918704" y="498348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Traffic, data, or behavior changes over time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58368" y="6318504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B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 learn.microsoft.com/azure/foundry/concepts/observability  ·  +2 more in notes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171D3B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30352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5  /  MODULE 6  /  EVIDENCE LOOPS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012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Required evidence fails closed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10824301" y="436717"/>
            <a:ext cx="237012" cy="237012"/>
          </a:xfrm>
          <a:prstGeom prst="roundRect">
            <a:avLst>
              <a:gd name="adj" fmla="val 30864"/>
            </a:avLst>
          </a:prstGeom>
          <a:solidFill>
            <a:srgbClr val="EEE9FF"/>
          </a:solidFill>
          <a:ln w="10160">
            <a:solidFill>
              <a:srgbClr val="171D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24301" y="489387"/>
            <a:ext cx="237012" cy="111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64" dirty="0"/>
          </a:p>
        </p:txBody>
      </p:sp>
      <p:sp>
        <p:nvSpPr>
          <p:cNvPr id="7" name="Shape 5"/>
          <p:cNvSpPr/>
          <p:nvPr/>
        </p:nvSpPr>
        <p:spPr>
          <a:xfrm>
            <a:off x="11127151" y="436717"/>
            <a:ext cx="237012" cy="237012"/>
          </a:xfrm>
          <a:prstGeom prst="roundRect">
            <a:avLst>
              <a:gd name="adj" fmla="val 30864"/>
            </a:avLst>
          </a:prstGeom>
          <a:solidFill>
            <a:srgbClr val="EEE9FF"/>
          </a:solidFill>
          <a:ln w="10160">
            <a:solidFill>
              <a:srgbClr val="171D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27151" y="489387"/>
            <a:ext cx="237012" cy="111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64" dirty="0"/>
          </a:p>
        </p:txBody>
      </p:sp>
      <p:sp>
        <p:nvSpPr>
          <p:cNvPr id="9" name="Shape 7"/>
          <p:cNvSpPr/>
          <p:nvPr/>
        </p:nvSpPr>
        <p:spPr>
          <a:xfrm>
            <a:off x="10824301" y="739567"/>
            <a:ext cx="237012" cy="237012"/>
          </a:xfrm>
          <a:prstGeom prst="roundRect">
            <a:avLst>
              <a:gd name="adj" fmla="val 30864"/>
            </a:avLst>
          </a:prstGeom>
          <a:solidFill>
            <a:srgbClr val="EEE9FF"/>
          </a:solidFill>
          <a:ln w="10160">
            <a:solidFill>
              <a:srgbClr val="171D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24301" y="792236"/>
            <a:ext cx="237012" cy="111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64" dirty="0"/>
          </a:p>
        </p:txBody>
      </p:sp>
      <p:sp>
        <p:nvSpPr>
          <p:cNvPr id="11" name="Shape 9"/>
          <p:cNvSpPr/>
          <p:nvPr/>
        </p:nvSpPr>
        <p:spPr>
          <a:xfrm>
            <a:off x="11127151" y="739567"/>
            <a:ext cx="237012" cy="237012"/>
          </a:xfrm>
          <a:prstGeom prst="roundRect">
            <a:avLst>
              <a:gd name="adj" fmla="val 30864"/>
            </a:avLst>
          </a:prstGeom>
          <a:solidFill>
            <a:srgbClr val="8B5CF6"/>
          </a:solidFill>
          <a:ln w="10160">
            <a:solidFill>
              <a:srgbClr val="171D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27151" y="792236"/>
            <a:ext cx="237012" cy="111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64" dirty="0"/>
          </a:p>
        </p:txBody>
      </p:sp>
      <p:sp>
        <p:nvSpPr>
          <p:cNvPr id="13" name="Shape 11"/>
          <p:cNvSpPr/>
          <p:nvPr/>
        </p:nvSpPr>
        <p:spPr>
          <a:xfrm>
            <a:off x="11612880" y="457200"/>
            <a:ext cx="329184" cy="3291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11612880" y="553212"/>
            <a:ext cx="3291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829800" y="1005840"/>
            <a:ext cx="2148840" cy="2148840"/>
          </a:xfrm>
          <a:prstGeom prst="ellipse">
            <a:avLst/>
          </a:prstGeom>
          <a:solidFill>
            <a:srgbClr val="EEE9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1417320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DFFAF5"/>
          </a:solidFill>
          <a:ln w="10160">
            <a:solidFill>
              <a:srgbClr val="2DD4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" y="1627632"/>
            <a:ext cx="530352" cy="53035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8" name="Text 16"/>
          <p:cNvSpPr/>
          <p:nvPr/>
        </p:nvSpPr>
        <p:spPr>
          <a:xfrm>
            <a:off x="941832" y="176479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09928" y="1508760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5B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RESULT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1709928" y="181051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7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Complete + meets its own threshold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4754880" y="1554480"/>
            <a:ext cx="2514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80" kern="0" dirty="0">
                <a:solidFill>
                  <a:srgbClr val="5B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 GATE TREATMENT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7562088" y="1554480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80" kern="0" dirty="0">
                <a:solidFill>
                  <a:srgbClr val="5B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4754880" y="17556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D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Eligible to pass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7562088" y="17556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D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evidence exists</a:t>
            </a:r>
            <a:endParaRPr lang="en-US" sz="1420" dirty="0"/>
          </a:p>
        </p:txBody>
      </p:sp>
      <p:sp>
        <p:nvSpPr>
          <p:cNvPr id="25" name="Shape 23"/>
          <p:cNvSpPr/>
          <p:nvPr/>
        </p:nvSpPr>
        <p:spPr>
          <a:xfrm>
            <a:off x="640080" y="26974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EE9FF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7824" y="2971800"/>
            <a:ext cx="493776" cy="49377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877824" y="3108960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81912" y="29352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Complete + below threshold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980944" y="29260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105656" y="2898648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D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requirement failed</a:t>
            </a:r>
            <a:endParaRPr lang="en-US" sz="1270" dirty="0"/>
          </a:p>
        </p:txBody>
      </p:sp>
      <p:sp>
        <p:nvSpPr>
          <p:cNvPr id="31" name="Shape 29"/>
          <p:cNvSpPr/>
          <p:nvPr/>
        </p:nvSpPr>
        <p:spPr>
          <a:xfrm>
            <a:off x="6199632" y="26974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37376" y="2971800"/>
            <a:ext cx="493776" cy="49377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6437376" y="3108960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41464" y="29352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Missing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540496" y="29260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665208" y="2898648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D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decision evidence</a:t>
            </a:r>
            <a:endParaRPr lang="en-US" sz="1270" dirty="0"/>
          </a:p>
        </p:txBody>
      </p:sp>
      <p:sp>
        <p:nvSpPr>
          <p:cNvPr id="37" name="Shape 35"/>
          <p:cNvSpPr/>
          <p:nvPr/>
        </p:nvSpPr>
        <p:spPr>
          <a:xfrm>
            <a:off x="640080" y="4361688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EE9FF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7824" y="4636008"/>
            <a:ext cx="493776" cy="49377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9" name="Text 37"/>
          <p:cNvSpPr/>
          <p:nvPr/>
        </p:nvSpPr>
        <p:spPr>
          <a:xfrm>
            <a:off x="877824" y="4773168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581912" y="45994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2980944" y="459028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105656" y="4562856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D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did not complete</a:t>
            </a:r>
            <a:endParaRPr lang="en-US" sz="1270" dirty="0"/>
          </a:p>
        </p:txBody>
      </p:sp>
      <p:sp>
        <p:nvSpPr>
          <p:cNvPr id="43" name="Shape 41"/>
          <p:cNvSpPr/>
          <p:nvPr/>
        </p:nvSpPr>
        <p:spPr>
          <a:xfrm>
            <a:off x="6199632" y="4361688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37376" y="4636008"/>
            <a:ext cx="493776" cy="49377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5" name="Text 43"/>
          <p:cNvSpPr/>
          <p:nvPr/>
        </p:nvSpPr>
        <p:spPr>
          <a:xfrm>
            <a:off x="6437376" y="4773168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141464" y="45994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Unsupported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8540496" y="459028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665208" y="4562856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D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Evaluator/data/tool combination is invalid</a:t>
            </a:r>
            <a:endParaRPr lang="en-US" sz="1270" dirty="0"/>
          </a:p>
        </p:txBody>
      </p:sp>
      <p:sp>
        <p:nvSpPr>
          <p:cNvPr id="49" name="Text 47"/>
          <p:cNvSpPr/>
          <p:nvPr/>
        </p:nvSpPr>
        <p:spPr>
          <a:xfrm>
            <a:off x="658368" y="6318504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B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 learn.microsoft.com/azure/foundry/observability/how-to/cloud-evaluation  ·  +2 more in notes</a:t>
            </a:r>
            <a:endParaRPr lang="en-US" sz="940" dirty="0"/>
          </a:p>
        </p:txBody>
      </p:sp>
      <p:sp>
        <p:nvSpPr>
          <p:cNvPr id="50" name="Shape 48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4407408"/>
            <a:ext cx="1572768" cy="1572768"/>
          </a:xfrm>
          <a:prstGeom prst="ellipse">
            <a:avLst/>
          </a:prstGeom>
          <a:solidFill>
            <a:srgbClr val="DFFAF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681728"/>
            <a:ext cx="1024128" cy="1024128"/>
          </a:xfrm>
          <a:prstGeom prst="ellipse">
            <a:avLst/>
          </a:prstGeom>
          <a:solidFill>
            <a:srgbClr val="171D3B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5303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50" kern="0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143000"/>
            <a:ext cx="6199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regression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blocks acceptance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749808" y="2395728"/>
            <a:ext cx="647395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E5EB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a local acceptance rule to a ten-case synthetic baseline and candidate.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E5EB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required-fact regression blocks one candidate despite passing process checks.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E5EB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Missing, errored, or unsupported required evidence blocks the other.</a:t>
            </a:r>
            <a:endParaRPr lang="en-US" sz="1480" dirty="0"/>
          </a:p>
        </p:txBody>
      </p:sp>
      <p:sp>
        <p:nvSpPr>
          <p:cNvPr id="7" name="Shape 5"/>
          <p:cNvSpPr/>
          <p:nvPr/>
        </p:nvSpPr>
        <p:spPr>
          <a:xfrm>
            <a:off x="7452360" y="749808"/>
            <a:ext cx="4041648" cy="5074920"/>
          </a:xfrm>
          <a:prstGeom prst="roundRect">
            <a:avLst>
              <a:gd name="adj" fmla="val 1810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726680" y="1060704"/>
            <a:ext cx="1225296" cy="347472"/>
          </a:xfrm>
          <a:prstGeom prst="roundRect">
            <a:avLst>
              <a:gd name="adj" fmla="val 21053"/>
            </a:avLst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7836408" y="1170432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~5 min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26680" y="17190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WATCH FOR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772400" y="2340864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2459736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39328" y="2286000"/>
            <a:ext cx="2889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1D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fact regresses</a:t>
            </a:r>
            <a:endParaRPr lang="en-US" sz="1480" dirty="0"/>
          </a:p>
        </p:txBody>
      </p:sp>
      <p:sp>
        <p:nvSpPr>
          <p:cNvPr id="14" name="Shape 12"/>
          <p:cNvSpPr/>
          <p:nvPr/>
        </p:nvSpPr>
        <p:spPr>
          <a:xfrm>
            <a:off x="7772400" y="3127248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3246120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39328" y="3072384"/>
            <a:ext cx="2889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1D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evidence blocks</a:t>
            </a:r>
            <a:endParaRPr lang="en-US" sz="1480" dirty="0"/>
          </a:p>
        </p:txBody>
      </p:sp>
      <p:sp>
        <p:nvSpPr>
          <p:cNvPr id="17" name="Shape 15"/>
          <p:cNvSpPr/>
          <p:nvPr/>
        </p:nvSpPr>
        <p:spPr>
          <a:xfrm>
            <a:off x="7772400" y="3913632"/>
            <a:ext cx="384048" cy="38404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4032504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39328" y="3858768"/>
            <a:ext cx="2889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1D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logic is workshop policy</a:t>
            </a:r>
            <a:endParaRPr lang="en-US" sz="1480" dirty="0"/>
          </a:p>
        </p:txBody>
      </p:sp>
      <p:sp>
        <p:nvSpPr>
          <p:cNvPr id="20" name="Shape 18"/>
          <p:cNvSpPr/>
          <p:nvPr/>
        </p:nvSpPr>
        <p:spPr>
          <a:xfrm>
            <a:off x="7726680" y="4882896"/>
            <a:ext cx="3401568" cy="566928"/>
          </a:xfrm>
          <a:prstGeom prst="roundRect">
            <a:avLst>
              <a:gd name="adj" fmla="val 12903"/>
            </a:avLst>
          </a:prstGeom>
          <a:solidFill>
            <a:srgbClr val="EEE9FF"/>
          </a:solidFill>
          <a:ln/>
        </p:spPr>
      </p:sp>
      <p:sp>
        <p:nvSpPr>
          <p:cNvPr id="21" name="Text 19"/>
          <p:cNvSpPr/>
          <p:nvPr/>
        </p:nvSpPr>
        <p:spPr>
          <a:xfrm>
            <a:off x="7882128" y="5029200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D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demos/day5/module-6-demo-1-regression-gate.md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" y="6318504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DE7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 learn.microsoft.com/agent-framework/agents/evaluation  ·  +2 more in notes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171D3B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30352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5  /  MODULE 6  /  EVIDENCE LOOPS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012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Close the loop with compatible evidence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10824301" y="436717"/>
            <a:ext cx="237012" cy="237012"/>
          </a:xfrm>
          <a:prstGeom prst="roundRect">
            <a:avLst>
              <a:gd name="adj" fmla="val 30864"/>
            </a:avLst>
          </a:prstGeom>
          <a:solidFill>
            <a:srgbClr val="EEE9FF"/>
          </a:solidFill>
          <a:ln w="10160">
            <a:solidFill>
              <a:srgbClr val="171D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24301" y="489387"/>
            <a:ext cx="237012" cy="111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64" dirty="0"/>
          </a:p>
        </p:txBody>
      </p:sp>
      <p:sp>
        <p:nvSpPr>
          <p:cNvPr id="7" name="Shape 5"/>
          <p:cNvSpPr/>
          <p:nvPr/>
        </p:nvSpPr>
        <p:spPr>
          <a:xfrm>
            <a:off x="11127151" y="436717"/>
            <a:ext cx="237012" cy="237012"/>
          </a:xfrm>
          <a:prstGeom prst="roundRect">
            <a:avLst>
              <a:gd name="adj" fmla="val 30864"/>
            </a:avLst>
          </a:prstGeom>
          <a:solidFill>
            <a:srgbClr val="EEE9FF"/>
          </a:solidFill>
          <a:ln w="10160">
            <a:solidFill>
              <a:srgbClr val="171D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27151" y="489387"/>
            <a:ext cx="237012" cy="111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64" dirty="0"/>
          </a:p>
        </p:txBody>
      </p:sp>
      <p:sp>
        <p:nvSpPr>
          <p:cNvPr id="9" name="Shape 7"/>
          <p:cNvSpPr/>
          <p:nvPr/>
        </p:nvSpPr>
        <p:spPr>
          <a:xfrm>
            <a:off x="10824301" y="739567"/>
            <a:ext cx="237012" cy="237012"/>
          </a:xfrm>
          <a:prstGeom prst="roundRect">
            <a:avLst>
              <a:gd name="adj" fmla="val 30864"/>
            </a:avLst>
          </a:prstGeom>
          <a:solidFill>
            <a:srgbClr val="EEE9FF"/>
          </a:solidFill>
          <a:ln w="10160">
            <a:solidFill>
              <a:srgbClr val="171D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24301" y="792236"/>
            <a:ext cx="237012" cy="111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64" dirty="0"/>
          </a:p>
        </p:txBody>
      </p:sp>
      <p:sp>
        <p:nvSpPr>
          <p:cNvPr id="11" name="Shape 9"/>
          <p:cNvSpPr/>
          <p:nvPr/>
        </p:nvSpPr>
        <p:spPr>
          <a:xfrm>
            <a:off x="11127151" y="739567"/>
            <a:ext cx="237012" cy="237012"/>
          </a:xfrm>
          <a:prstGeom prst="roundRect">
            <a:avLst>
              <a:gd name="adj" fmla="val 30864"/>
            </a:avLst>
          </a:prstGeom>
          <a:solidFill>
            <a:srgbClr val="8B5CF6"/>
          </a:solidFill>
          <a:ln w="10160">
            <a:solidFill>
              <a:srgbClr val="171D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27151" y="792236"/>
            <a:ext cx="237012" cy="111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64" dirty="0"/>
          </a:p>
        </p:txBody>
      </p:sp>
      <p:sp>
        <p:nvSpPr>
          <p:cNvPr id="13" name="Shape 11"/>
          <p:cNvSpPr/>
          <p:nvPr/>
        </p:nvSpPr>
        <p:spPr>
          <a:xfrm>
            <a:off x="11612880" y="457200"/>
            <a:ext cx="329184" cy="3291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11612880" y="553212"/>
            <a:ext cx="3291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829800" y="1005840"/>
            <a:ext cx="2148840" cy="2148840"/>
          </a:xfrm>
          <a:prstGeom prst="ellipse">
            <a:avLst/>
          </a:prstGeom>
          <a:solidFill>
            <a:srgbClr val="EEE9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1371600"/>
            <a:ext cx="2788920" cy="4736592"/>
          </a:xfrm>
          <a:prstGeom prst="roundRect">
            <a:avLst>
              <a:gd name="adj" fmla="val 2623"/>
            </a:avLst>
          </a:prstGeom>
          <a:solidFill>
            <a:srgbClr val="171D3B"/>
          </a:solidFill>
          <a:ln/>
        </p:spPr>
      </p:sp>
      <p:sp>
        <p:nvSpPr>
          <p:cNvPr id="17" name="Text 15"/>
          <p:cNvSpPr/>
          <p:nvPr/>
        </p:nvSpPr>
        <p:spPr>
          <a:xfrm>
            <a:off x="941832" y="182880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TO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CARRY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FORWARD</a:t>
            </a:r>
            <a:endParaRPr lang="en-US" sz="2900" dirty="0"/>
          </a:p>
        </p:txBody>
      </p:sp>
      <p:sp>
        <p:nvSpPr>
          <p:cNvPr id="18" name="Shape 16"/>
          <p:cNvSpPr/>
          <p:nvPr/>
        </p:nvSpPr>
        <p:spPr>
          <a:xfrm>
            <a:off x="1382573" y="4281221"/>
            <a:ext cx="543154" cy="543154"/>
          </a:xfrm>
          <a:prstGeom prst="roundRect">
            <a:avLst>
              <a:gd name="adj" fmla="val 13468"/>
            </a:avLst>
          </a:prstGeom>
          <a:solidFill>
            <a:srgbClr val="2DD4B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82573" y="4401922"/>
            <a:ext cx="543154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80" dirty="0"/>
          </a:p>
        </p:txBody>
      </p:sp>
      <p:sp>
        <p:nvSpPr>
          <p:cNvPr id="20" name="Shape 18"/>
          <p:cNvSpPr/>
          <p:nvPr/>
        </p:nvSpPr>
        <p:spPr>
          <a:xfrm>
            <a:off x="2076602" y="4281221"/>
            <a:ext cx="543154" cy="543154"/>
          </a:xfrm>
          <a:prstGeom prst="roundRect">
            <a:avLst>
              <a:gd name="adj" fmla="val 13468"/>
            </a:avLst>
          </a:prstGeom>
          <a:solidFill>
            <a:srgbClr val="2DD4B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76602" y="4401922"/>
            <a:ext cx="543154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80" dirty="0"/>
          </a:p>
        </p:txBody>
      </p:sp>
      <p:sp>
        <p:nvSpPr>
          <p:cNvPr id="22" name="Shape 20"/>
          <p:cNvSpPr/>
          <p:nvPr/>
        </p:nvSpPr>
        <p:spPr>
          <a:xfrm>
            <a:off x="1382573" y="4975250"/>
            <a:ext cx="543154" cy="543154"/>
          </a:xfrm>
          <a:prstGeom prst="roundRect">
            <a:avLst>
              <a:gd name="adj" fmla="val 13468"/>
            </a:avLst>
          </a:prstGeom>
          <a:solidFill>
            <a:srgbClr val="2DD4B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82573" y="5095951"/>
            <a:ext cx="543154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80" dirty="0"/>
          </a:p>
        </p:txBody>
      </p:sp>
      <p:sp>
        <p:nvSpPr>
          <p:cNvPr id="24" name="Shape 22"/>
          <p:cNvSpPr/>
          <p:nvPr/>
        </p:nvSpPr>
        <p:spPr>
          <a:xfrm>
            <a:off x="2076602" y="4975250"/>
            <a:ext cx="543154" cy="543154"/>
          </a:xfrm>
          <a:prstGeom prst="roundRect">
            <a:avLst>
              <a:gd name="adj" fmla="val 13468"/>
            </a:avLst>
          </a:prstGeom>
          <a:solidFill>
            <a:srgbClr val="8B5CF6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76602" y="5095951"/>
            <a:ext cx="543154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980" dirty="0"/>
          </a:p>
        </p:txBody>
      </p:sp>
      <p:sp>
        <p:nvSpPr>
          <p:cNvPr id="26" name="Shape 24"/>
          <p:cNvSpPr/>
          <p:nvPr/>
        </p:nvSpPr>
        <p:spPr>
          <a:xfrm>
            <a:off x="3712464" y="1371600"/>
            <a:ext cx="3799332" cy="1420368"/>
          </a:xfrm>
          <a:prstGeom prst="roundRect">
            <a:avLst>
              <a:gd name="adj" fmla="val 5150"/>
            </a:avLst>
          </a:prstGeom>
          <a:solidFill>
            <a:srgbClr val="FFFFFF"/>
          </a:solidFill>
          <a:ln w="10160">
            <a:solidFill>
              <a:srgbClr val="EEE9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95344" y="1880616"/>
            <a:ext cx="402336" cy="40233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3895344" y="2017776"/>
            <a:ext cx="4023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62272" y="1517904"/>
            <a:ext cx="28575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1D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evaluator requirements to the data shape, evaluation level, target, and tool types before running.</a:t>
            </a:r>
            <a:endParaRPr lang="en-US" sz="1530" dirty="0"/>
          </a:p>
        </p:txBody>
      </p:sp>
      <p:sp>
        <p:nvSpPr>
          <p:cNvPr id="30" name="Shape 28"/>
          <p:cNvSpPr/>
          <p:nvPr/>
        </p:nvSpPr>
        <p:spPr>
          <a:xfrm>
            <a:off x="7749540" y="1371600"/>
            <a:ext cx="3799332" cy="1420368"/>
          </a:xfrm>
          <a:prstGeom prst="roundRect">
            <a:avLst>
              <a:gd name="adj" fmla="val 5150"/>
            </a:avLst>
          </a:prstGeom>
          <a:solidFill>
            <a:srgbClr val="FFFFFF"/>
          </a:solidFill>
          <a:ln w="10160">
            <a:solidFill>
              <a:srgbClr val="EEE9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32420" y="1880616"/>
            <a:ext cx="402336" cy="40233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7932420" y="2017776"/>
            <a:ext cx="4023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499348" y="1517904"/>
            <a:ext cx="28575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1D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offline regression, sampled production evaluation, and scheduled drift checks as complementary loops.</a:t>
            </a:r>
            <a:endParaRPr lang="en-US" sz="1530" dirty="0"/>
          </a:p>
        </p:txBody>
      </p:sp>
      <p:sp>
        <p:nvSpPr>
          <p:cNvPr id="34" name="Shape 32"/>
          <p:cNvSpPr/>
          <p:nvPr/>
        </p:nvSpPr>
        <p:spPr>
          <a:xfrm>
            <a:off x="3712464" y="3029712"/>
            <a:ext cx="3799332" cy="1420368"/>
          </a:xfrm>
          <a:prstGeom prst="roundRect">
            <a:avLst>
              <a:gd name="adj" fmla="val 5150"/>
            </a:avLst>
          </a:prstGeom>
          <a:solidFill>
            <a:srgbClr val="FFFFFF"/>
          </a:solidFill>
          <a:ln w="10160">
            <a:solidFill>
              <a:srgbClr val="EEE9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95344" y="3538728"/>
            <a:ext cx="402336" cy="40233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6" name="Text 34"/>
          <p:cNvSpPr/>
          <p:nvPr/>
        </p:nvSpPr>
        <p:spPr>
          <a:xfrm>
            <a:off x="3895344" y="3675888"/>
            <a:ext cx="4023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462272" y="3176016"/>
            <a:ext cx="28575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1D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raw scores and evaluator-specific thresholds; aggregate decisions only after normalization.</a:t>
            </a:r>
            <a:endParaRPr lang="en-US" sz="1530" dirty="0"/>
          </a:p>
        </p:txBody>
      </p:sp>
      <p:sp>
        <p:nvSpPr>
          <p:cNvPr id="38" name="Shape 36"/>
          <p:cNvSpPr/>
          <p:nvPr/>
        </p:nvSpPr>
        <p:spPr>
          <a:xfrm>
            <a:off x="7749540" y="3029712"/>
            <a:ext cx="3799332" cy="1420368"/>
          </a:xfrm>
          <a:prstGeom prst="roundRect">
            <a:avLst>
              <a:gd name="adj" fmla="val 5150"/>
            </a:avLst>
          </a:prstGeom>
          <a:solidFill>
            <a:srgbClr val="FFFFFF"/>
          </a:solidFill>
          <a:ln w="10160">
            <a:solidFill>
              <a:srgbClr val="EEE9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932420" y="3538728"/>
            <a:ext cx="402336" cy="40233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0" name="Text 38"/>
          <p:cNvSpPr/>
          <p:nvPr/>
        </p:nvSpPr>
        <p:spPr>
          <a:xfrm>
            <a:off x="7932420" y="3675888"/>
            <a:ext cx="4023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499348" y="3176016"/>
            <a:ext cx="28575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1D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missing, errored, and unsupported required evidence as blockers—not passes.</a:t>
            </a:r>
            <a:endParaRPr lang="en-US" sz="1530" dirty="0"/>
          </a:p>
        </p:txBody>
      </p:sp>
      <p:sp>
        <p:nvSpPr>
          <p:cNvPr id="42" name="Shape 40"/>
          <p:cNvSpPr/>
          <p:nvPr/>
        </p:nvSpPr>
        <p:spPr>
          <a:xfrm>
            <a:off x="3712464" y="4687824"/>
            <a:ext cx="7836408" cy="1420368"/>
          </a:xfrm>
          <a:prstGeom prst="roundRect">
            <a:avLst>
              <a:gd name="adj" fmla="val 5150"/>
            </a:avLst>
          </a:prstGeom>
          <a:solidFill>
            <a:srgbClr val="DFFAF5"/>
          </a:solidFill>
          <a:ln w="10160">
            <a:solidFill>
              <a:srgbClr val="2DD4B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95344" y="5196840"/>
            <a:ext cx="402336" cy="40233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44" name="Text 42"/>
          <p:cNvSpPr/>
          <p:nvPr/>
        </p:nvSpPr>
        <p:spPr>
          <a:xfrm>
            <a:off x="3895344" y="5334000"/>
            <a:ext cx="4023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462272" y="4834128"/>
            <a:ext cx="6894576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D23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 capstone cases are a workshop minimum, not certification or proof of production readiness.</a:t>
            </a:r>
            <a:endParaRPr lang="en-US" sz="1530" dirty="0"/>
          </a:p>
        </p:txBody>
      </p:sp>
      <p:sp>
        <p:nvSpPr>
          <p:cNvPr id="46" name="Text 44"/>
          <p:cNvSpPr/>
          <p:nvPr/>
        </p:nvSpPr>
        <p:spPr>
          <a:xfrm>
            <a:off x="658368" y="6318504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B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 learn.microsoft.com/azure/foundry/concepts/observability  ·  +2 more in notes</a:t>
            </a:r>
            <a:endParaRPr lang="en-US" sz="940" dirty="0"/>
          </a:p>
        </p:txBody>
      </p:sp>
      <p:sp>
        <p:nvSpPr>
          <p:cNvPr id="47" name="Shape 45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Building AI Apps and Agents Workshop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Evaluation in Production</dc:title>
  <dc:subject>Day 5 — Production Readiness and Capstone</dc:subject>
  <dc:creator>Building AI Apps and Agents Workshop</dc:creator>
  <cp:lastModifiedBy>Building AI Apps and Agents Workshop</cp:lastModifiedBy>
  <cp:revision>1</cp:revision>
  <dcterms:created xsi:type="dcterms:W3CDTF">2026-09-18T21:04:30Z</dcterms:created>
  <dcterms:modified xsi:type="dcterms:W3CDTF">2026-09-18T21:04:30Z</dcterms:modified>
</cp:coreProperties>
</file>