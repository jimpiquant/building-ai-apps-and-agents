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Say: this module is a compass, not code
• Audience: senior devs + solution architects — respect their experience
• Set expectation: decisions first, code starts Module 4
• Time: 25 min total — keep it moving
• Nothing in this module needs a demo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Frame the whole module in one sentence: 'before you write a line of code, decide which surface to build on'
• Reassure: this module is short (25 min), light on code
• Ask: who's already been sold on a specific approach?
• If hands go up, promise you'll cover fit vs. their situation
• Move quickly — the payoff slides come next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NEW 2026-08-19: Module 1 previously used 'agent' without defining it
• This slide defines it before we build with it
• The definition is a direct quote from Learn — 'agent wraps an LLM with the structure...'
• Left column of the trade-off table = MAF's docs 'raw LLM call' side
• Right column = what MAF gives you (which the NEXT slide diagrams)
• Anchor: 'you're not here to write raw LLM calls; the workshop teaches how to compose the right side of that table'
• Source: aka.ms/agent-framework/journey/from-llms-to-agents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Diagram + table adapted verbatim from Learn — From LLMs to Agents
• Walk each layer aloud (this is what the audience needs to leave with):
•   Instructions — persona, constraints, output format. Set once, applied to every call.
•   Tools — the ability to act (call APIs, query databases, run code). Framework handles the tool-call loop.
•   Session — conversation history and multi-turn state. Agent remembers what happened before.
•   Middleware — intercept requests/responses for logging, guardrails, caching, behavioral overrides.
•   LLM Provider — swappable backend. Foundry, OpenAI, Anthropic — without rewriting agent code.
• Say: 'this week you'll write code that composes each of these boxes'
• Day 4 covers middleware in depth; Day 3 covers tools + session; Day 5 covers guardrails + providers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DEMO 1.2 · ~4 min
• Split terminal, both panes ready
• Left = raw_llm.py, right = agent_with_context.py
• Question in both: 'What time is it right now, and remember I asked you this.'
• Left Turn 1: model hedges (no real-time info); Turn 2: forgets
• Right Turn 1: calls get_current_time, prints real ISO timestamp; Turn 2: recalls specific earlier question
• Point at the diff: same-size code, different capability
• Fallback: pre-recorded video at demos/day1/recordings/module1-demo2-agent-diff.mp4
• Payoff line: 'Every layer on the previous slide is doing real work in the right pane.'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three surfaces are complementary, not competitive
• Copilot Studio → makers, business analysts, M365 destinations
• Foundry → developer platform on Azure
• MAF → the SDK your code uses on top of Foundry
• Be explicit: 'if your target audience is makers, this is not your workshop'
• Do not disparage Copilot Studio — it's the right tool for a different job
• This workshop is for the developer audience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Anchor slide — the payoff for the whole module
• Every agent needs three things: Model, Instructions, Tools
• That's true whether you're in Copilot Studio, Foundry, or writing raw MAF code
• What changes across surfaces: how much code you write, who owns the runtime
• Sets up the next slide's IaaS/PaaS/SaaS spectrum
• Pause for questions here — this is where the mental model clicks or doesn't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Piggyback on vocabulary attendees already know
• IaaS = OSS frameworks + containers you run
• PaaS = Foundry Agent Service + MAF (this workshop)
• SaaS = Copilot Studio
• Say clearly: 'this workshop lives in PaaS territory'
• PaaS = you write real code, you don't run the infrastructure
• This slide replaces a bullet list — the visual lands harder, let it breathe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Prevents the #1 anti-pattern: 'everything must be an agent'
• Match complexity to need — not every LLM problem needs orchestration
• Direct LLM call: summarize this doc — cheap, easy to eval
• Single agent w/ tools: iterative work that needs to *do* something
• Multi-agent workflow: distinct roles, hand-offs — costly, new failure modes
• Rule: reach for the leftmost pattern that solves the problem
• Ask 2–3 attendees: 'what pattern does your current use case actually need?'
• This connects directly to Day 4 (multi-agent) — plant the flag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Preview only — resist the urge to teach any of these
• Prompt agents / Hosted agents → Module 6 today
• Toolbox → Day 2 (Actions layer)
• Foundry IQ → Day 2 (Knowledge layer)
• Responses API → Module 6 today, deeper in Days 2–3
• Evaluators / tracing → Day 4 and Day 5
• This slide's job: land the vocabulary once so nothing feels new later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One vocabulary is the key selling point of MAF
• Same primitives (agent, session, tool, run) in Python and C#
• For attendees coming from SK or AutoGen: acknowledge the lineage
• Say: 'SK is still supported, not the forward path for new work'
• Say: 'AutoGen was the research predecessor to MAF'
• Don't disparage — attendees have shipped code with both
• MAF absorbed the lessons; the surface is cleaner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Set explicit expectations about scope
• If someone came expecting Copilot Studio depth: not this workshop
• If someone came expecting fine-tuning or model training: not this workshop
• Copilot Studio, SK, AutoGen, LangChain, CrewAI — all out of scope
• Explain why: MAF is the forward direction for production agent code
• Redirect anyone who needs the excluded topics to appropriate resources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Preview the 5-day arc in 60 seconds
• Days 1–3 build on the same 'docs assistant' reference project
• Day 4 turns the single agent into a multi-agent workflow
• Day 5 covers production + capstone kickoff
• Every day maps to the four-layer stack (Module 5)
• Post-workshop: capstone project reviewed 1:1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 in 60 seconds. Take one or two questions max, then transition.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 · 25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AI Landscape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MAF, Foundry, and Copilot Studio fit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module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this workshop you'll be building agents. Before writing code, you need to know which surface to build on — and when. Today's decisions have outsized impact on cost, control, and portability.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an agent?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raw LLM call is stateless. Every request starts from scratch — no memory of prior turns, no tools wired up, no persistent identity, no guardrails.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196596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fine for a single question. For anything real, you'd be reinventing the same plumbing for every application:</a:t>
            </a:r>
            <a:endParaRPr lang="en-US" sz="13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438912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Raw LLM call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control over every API parameter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Opinionated abstractions that handle common patterns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memory, no tools, no identity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Persistent identity + tools + session + middleware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wire up state, tool dispatch, retry logic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Framework handles the loop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Tightly coupled to one provider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Swap providers without changing app code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365760" y="461772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wraps an LLM with the structure needed to build real applications — persistent identity, instructions, tools, memory, and a runtime loop that orchestrates it all.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an agent adds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914400" y="1097280"/>
            <a:ext cx="7315200" cy="3474720"/>
          </a:xfrm>
          <a:prstGeom prst="rect">
            <a:avLst/>
          </a:prstGeom>
          <a:solidFill>
            <a:srgbClr val="FFFFFF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14300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1188720" y="1554480"/>
            <a:ext cx="2133600" cy="822960"/>
          </a:xfrm>
          <a:prstGeom prst="rect">
            <a:avLst/>
          </a:prstGeom>
          <a:solidFill>
            <a:srgbClr val="CADCFC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0" y="1554480"/>
            <a:ext cx="213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505200" y="1554480"/>
            <a:ext cx="2133600" cy="822960"/>
          </a:xfrm>
          <a:prstGeom prst="rect">
            <a:avLst/>
          </a:prstGeom>
          <a:solidFill>
            <a:srgbClr val="CADCFC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05200" y="1554480"/>
            <a:ext cx="213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821680" y="1554480"/>
            <a:ext cx="2133600" cy="822960"/>
          </a:xfrm>
          <a:prstGeom prst="rect">
            <a:avLst/>
          </a:prstGeom>
          <a:solidFill>
            <a:srgbClr val="CADCFC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821680" y="1554480"/>
            <a:ext cx="213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1188720" y="2606040"/>
            <a:ext cx="6766560" cy="640080"/>
          </a:xfrm>
          <a:prstGeom prst="rect">
            <a:avLst/>
          </a:prstGeom>
          <a:solidFill>
            <a:srgbClr val="CADCFC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88720" y="260604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Middleware Pipeline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1188720" y="3474720"/>
            <a:ext cx="6766560" cy="640080"/>
          </a:xfrm>
          <a:prstGeom prst="rect">
            <a:avLst/>
          </a:prstGeom>
          <a:solidFill>
            <a:srgbClr val="CADCFC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88720" y="347472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Provider (swappable)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65760" y="466344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rest of the workshop works with one or more of these layers directly.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65760" y="502920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Diagram: Microsoft Learn · aka.ms/agent-framework/journey/from-llms-to-agents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AD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 ·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8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an agent adds — live diff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583680" y="10515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 min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78892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terminal panes, same question. Left: raw LLM call — no tool, no session, no memory. Right: MAF Agent with get_current_time tool + explicit session. Left says it can't get the time and forgets Turn 1; right calls the tool, gets the real time, and recalls the earlier question. Makes the 'agent wraps LLM' diagram tangible.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434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Runbook: demos/day1/module-1-demo-2-agent-diff.md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surfaces you can build on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560320"/>
                <a:gridCol w="310896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Surface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Audience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Sweet spot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Copilot Studio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Makers, business analysts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Low-code agents for M365, Teams, Power Platform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 Foundry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Developers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model + agent platform on Azure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 Agent Framework (MAF)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Developers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SDK your app code uses to build agents on top of Foundry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three ingredients across every surface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26517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3258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Studio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18745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SaaS · low-code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46120" y="1188720"/>
            <a:ext cx="26517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7560" y="13258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Agent Service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337560" y="18745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PaaS · managed runtime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126480" y="1188720"/>
            <a:ext cx="26517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17920" y="13258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+ containers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217920" y="18745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IaaS · you own everything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65760" y="278892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need: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85800" y="3200400"/>
            <a:ext cx="2377440" cy="731520"/>
          </a:xfrm>
          <a:prstGeom prst="roundRect">
            <a:avLst>
              <a:gd name="adj" fmla="val 18750"/>
            </a:avLst>
          </a:prstGeom>
          <a:solidFill>
            <a:srgbClr val="1E2761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" y="320040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3383280" y="3200400"/>
            <a:ext cx="2377440" cy="731520"/>
          </a:xfrm>
          <a:prstGeom prst="roundRect">
            <a:avLst>
              <a:gd name="adj" fmla="val 18750"/>
            </a:avLst>
          </a:prstGeom>
          <a:solidFill>
            <a:srgbClr val="1E2761"/>
          </a:solidFill>
          <a:ln/>
        </p:spPr>
      </p:sp>
      <p:sp>
        <p:nvSpPr>
          <p:cNvPr id="18" name="Text 16"/>
          <p:cNvSpPr/>
          <p:nvPr/>
        </p:nvSpPr>
        <p:spPr>
          <a:xfrm>
            <a:off x="3383280" y="320040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080760" y="3200400"/>
            <a:ext cx="2377440" cy="731520"/>
          </a:xfrm>
          <a:prstGeom prst="roundRect">
            <a:avLst>
              <a:gd name="adj" fmla="val 18750"/>
            </a:avLst>
          </a:prstGeom>
          <a:solidFill>
            <a:srgbClr val="1E2761"/>
          </a:solidFill>
          <a:ln/>
        </p:spPr>
      </p:sp>
      <p:sp>
        <p:nvSpPr>
          <p:cNvPr id="20" name="Text 18"/>
          <p:cNvSpPr/>
          <p:nvPr/>
        </p:nvSpPr>
        <p:spPr>
          <a:xfrm>
            <a:off x="6080760" y="320040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365760" y="42976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ingredients everywhere. What changes is how much code you write and who owns the runtime.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decision framework, visualized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14300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control, more code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754880" y="114300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to build, less customization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1645920"/>
            <a:ext cx="2682240" cy="640080"/>
          </a:xfrm>
          <a:prstGeom prst="rect">
            <a:avLst/>
          </a:prstGeom>
          <a:solidFill>
            <a:srgbClr val="0F1A4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645920"/>
            <a:ext cx="268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IaaS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3230880" y="1645920"/>
            <a:ext cx="2682240" cy="640080"/>
          </a:xfrm>
          <a:prstGeom prst="rect">
            <a:avLst/>
          </a:prstGeom>
          <a:solidFill>
            <a:srgbClr val="1E276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0880" y="1645920"/>
            <a:ext cx="268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PaaS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913120" y="1645920"/>
            <a:ext cx="2682240" cy="640080"/>
          </a:xfrm>
          <a:prstGeom prst="rect">
            <a:avLst/>
          </a:prstGeom>
          <a:solidFill>
            <a:srgbClr val="6B7BB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13120" y="1645920"/>
            <a:ext cx="268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SaaS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548640" y="2377440"/>
            <a:ext cx="268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Containers + OSS frameworks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230880" y="2377440"/>
            <a:ext cx="268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Agent Service + MAF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913120" y="2377440"/>
            <a:ext cx="268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Studio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2788920"/>
            <a:ext cx="2499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own everything. Not covered.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322320" y="2788920"/>
            <a:ext cx="2499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runtime; you own the agent code. This workshop.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004560" y="2788920"/>
            <a:ext cx="2499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Portal-first, low-code. Not covered.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workshop lives in PaaS territory. </a:t>
            </a:r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write real code; you don't run the infrastructure.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is an agent the right answer?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every LLM problem needs an agent. Match complexity to need.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4160520"/>
            <a:ext cx="786384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7" name="Text 5"/>
          <p:cNvSpPr/>
          <p:nvPr/>
        </p:nvSpPr>
        <p:spPr>
          <a:xfrm>
            <a:off x="365760" y="438912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for the leftmost pattern that actually solves your problem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1737360"/>
            <a:ext cx="26517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8745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LLM call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02920" y="24231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"Summarize this document."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33375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tools · no iteration · cheap · easy to eval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46120" y="1737360"/>
            <a:ext cx="26517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383280" y="18745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agent with tools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383280" y="24231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"Answer with sources; open a ticket if needed."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383280" y="33375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Iteration · tool calls · harder to eval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126480" y="1737360"/>
            <a:ext cx="26517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63640" y="18745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workflow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263640" y="24231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"Plan → retrieve → verify → act."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263640" y="33375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roles · costly · new failure modes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Foundry gives you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deployments (frontier and open models)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Playgrounds — chat, agent, evaluation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Agent Service — runtime for Prompt agents (portal-authored, no code) and Hosted agents (your code, containerized, Foundry-run)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Responses API — the single model + tools entry point; call it from your own code running anywhere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Toolbox — curated tool/connector catalog, exposed via MCP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IQ — enterprise knowledge and grounding layer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Evaluators, tracing, and safety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MAF gives you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SDK for authoring agents — Python and C#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vocabulary: agents, sessions, tools, runs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First-class streaming, memory, structured outputs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orchestration primitives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Consumes Foundry Toolbox and MCP servers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successor to Semantic Kernel and AutoGen patterns (both out of scope)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will and won't cover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7091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 scope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(portal, deployments, connections)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— two hosting families (Foundry-hosted and self-hosted), covered in Module 6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Toolbox and Foundry IQ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consumption and (stretch) authoring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at every layer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concerns: observability, identity, cost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091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Studio (different audience)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Kernel (MAF is the forward direction)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AutoGen (research-lineage predecessor)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Third-party frameworks (LangChain, CrewAI, etc.)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fine-tuning, distillation, training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On-prem / air-gapped deployments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— how the week hangs together</a:t>
            </a:r>
            <a:endParaRPr lang="en-US" sz="2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6809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Theme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Foundations: the stack; three hosting options; first working agents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Grounding (Foundry IQ + custom RAG) and tools in depth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Single-agent depth: memory, streaming, structured outputs, MCP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Multi-agent patterns + evaluation as a first-class activity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Production concerns; capstone project kickoff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surfaces target different audiences: Copilot Studio, Foundry, MAF.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workshop lives at Foundry + MAF.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is Microsoft's forward direction for agent SDKs; SK and AutoGen are not.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tour of the Foundry portal — projects, models, deployments, Toolbox, Foundry IQ.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2026-09-01T16:42:07Z</dcterms:created>
  <dcterms:modified xsi:type="dcterms:W3CDTF">2026-09-01T16:42:07Z</dcterms:modified>
</cp:coreProperties>
</file>