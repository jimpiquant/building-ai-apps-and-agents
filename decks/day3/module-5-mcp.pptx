
<file path=[Content_Types].xml><?xml version="1.0" encoding="utf-8"?>
<Types xmlns="http://schemas.openxmlformats.org/package/2006/content-types">
  <Default Extension="xml" ContentType="application/xml"/>
  <Default Extension="rels" ContentType="application/vnd.openxmlformats-package.relationships+xml"/>
  <Default Extension="jpeg" ContentType="image/jpeg"/>
  <Default Extension="jpg" ContentType="image/jpg"/>
  <Default Extension="svg" ContentType="image/svg+xml"/>
  <Default Extension="png" ContentType="image/png"/>
  <Default Extension="gif" ContentType="image/gif"/>
  <Default Extension="m4v" ContentType="video/mp4"/>
  <Default Extension="mp4" ContentType="video/mp4"/>
  <Default Extension="vml" ContentType="application/vnd.openxmlformats-officedocument.vmlDrawing"/>
  <Default Extension="xlsx" ContentType="application/vnd.openxmlformats-officedocument.spreadsheetml.sheet"/>
  <Override PartName="/ppt/presentation.xml" ContentType="application/vnd.openxmlformats-officedocument.presentationml.presentation.main+xml"/>
  <Override PartName="/ppt/notesMasters/notesMaster1.xml" ContentType="application/vnd.openxmlformats-officedocument.presentationml.notesMaster+xml"/>
  <Override PartName="/ppt/slideMasters/slideMaster1.xml" ContentType="application/vnd.openxmlformats-officedocument.presentationml.slideMaster+xml"/>
  <Override PartName="/ppt/slides/slide1.xml" ContentType="application/vnd.openxmlformats-officedocument.presentationml.slide+xml"/>
  <Override PartName="/ppt/slideMasters/slideMaster2.xml" ContentType="application/vnd.openxmlformats-officedocument.presentationml.slideMaster+xml"/>
  <Override PartName="/ppt/slides/slide2.xml" ContentType="application/vnd.openxmlformats-officedocument.presentationml.slide+xml"/>
  <Override PartName="/ppt/slideMasters/slideMaster3.xml" ContentType="application/vnd.openxmlformats-officedocument.presentationml.slideMaster+xml"/>
  <Override PartName="/ppt/slides/slide3.xml" ContentType="application/vnd.openxmlformats-officedocument.presentationml.slide+xml"/>
  <Override PartName="/ppt/slideMasters/slideMaster4.xml" ContentType="application/vnd.openxmlformats-officedocument.presentationml.slideMaster+xml"/>
  <Override PartName="/ppt/slides/slide4.xml" ContentType="application/vnd.openxmlformats-officedocument.presentationml.slide+xml"/>
  <Override PartName="/ppt/slideMasters/slideMaster5.xml" ContentType="application/vnd.openxmlformats-officedocument.presentationml.slideMaster+xml"/>
  <Override PartName="/ppt/slides/slide5.xml" ContentType="application/vnd.openxmlformats-officedocument.presentationml.slide+xml"/>
  <Override PartName="/ppt/slideMasters/slideMaster6.xml" ContentType="application/vnd.openxmlformats-officedocument.presentationml.slideMaster+xml"/>
  <Override PartName="/ppt/slides/slide6.xml" ContentType="application/vnd.openxmlformats-officedocument.presentationml.slide+xml"/>
  <Override PartName="/ppt/slideMasters/slideMaster7.xml" ContentType="application/vnd.openxmlformats-officedocument.presentationml.slideMaster+xml"/>
  <Override PartName="/ppt/slides/slide7.xml" ContentType="application/vnd.openxmlformats-officedocument.presentationml.slide+xml"/>
  <Override PartName="/ppt/slideMasters/slideMaster8.xml" ContentType="application/vnd.openxmlformats-officedocument.presentationml.slideMaster+xml"/>
  <Override PartName="/ppt/slides/slide8.xml" ContentType="application/vnd.openxmlformats-officedocument.presentationml.slide+xml"/>
  <Override PartName="/ppt/slideMasters/slideMaster9.xml" ContentType="application/vnd.openxmlformats-officedocument.presentationml.slideMaster+xml"/>
  <Override PartName="/ppt/slides/slide9.xml" ContentType="application/vnd.openxmlformats-officedocument.presentationml.slide+xml"/>
  <Override PartName="/ppt/slideMasters/slideMaster10.xml" ContentType="application/vnd.openxmlformats-officedocument.presentationml.slideMaster+xml"/>
  <Override PartName="/ppt/slides/slide10.xml" ContentType="application/vnd.openxmlformats-officedocument.presentationml.slide+xml"/>
  <Override PartName="/ppt/slideMasters/slideMaster11.xml" ContentType="application/vnd.openxmlformats-officedocument.presentationml.slideMaster+xml"/>
  <Override PartName="/ppt/slides/slide11.xml" ContentType="application/vnd.openxmlformats-officedocument.presentationml.slide+xml"/>
  <Override PartName="/ppt/slideMasters/slideMaster12.xml" ContentType="application/vnd.openxmlformats-officedocument.presentationml.slideMaster+xml"/>
  <Override PartName="/ppt/slides/slide12.xml" ContentType="application/vnd.openxmlformats-officedocument.presentationml.slide+xml"/>
  <Override PartName="/ppt/slideMasters/slideMaster13.xml" ContentType="application/vnd.openxmlformats-officedocument.presentationml.slideMaster+xml"/>
  <Override PartName="/ppt/slides/slide13.xml" ContentType="application/vnd.openxmlformats-officedocument.presentationml.slide+xml"/>
  <Override PartName="/ppt/slideMasters/slideMaster14.xml" ContentType="application/vnd.openxmlformats-officedocument.presentationml.slideMaster+xml"/>
  <Override PartName="/ppt/slides/slide14.xml" ContentType="application/vnd.openxmlformats-officedocument.presentationml.slide+xml"/>
  <Override PartName="/ppt/slideMasters/slideMaster15.xml" ContentType="application/vnd.openxmlformats-officedocument.presentationml.slideMaster+xml"/>
  <Override PartName="/ppt/slides/slide15.xml" ContentType="application/vnd.openxmlformats-officedocument.presentationml.slide+xml"/>
  <Override PartName="/ppt/slideMasters/slideMaster16.xml" ContentType="application/vnd.openxmlformats-officedocument.presentationml.slideMaster+xml"/>
  <Override PartName="/ppt/slides/slide16.xml" ContentType="application/vnd.openxmlformats-officedocument.presentationml.slide+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
		<Relationship Id="rId1" Type="http://schemas.openxmlformats.org/officeDocument/2006/relationships/extended-properties" Target="docProps/app.xml"/>
		<Relationship Id="rId2" Type="http://schemas.openxmlformats.org/package/2006/relationships/metadata/core-properties" Target="docProps/core.xml"/>
		<Relationship Id="rId3" Type="http://schemas.openxmlformats.org/officeDocument/2006/relationships/officeDocument" Target="ppt/presentation.xml"/>
		</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2"/>
    <p:sldId id="257" r:id="rId3"/>
    <p:sldId id="258" r:id="rId4"/>
    <p:sldId id="259" r:id="rId5"/>
    <p:sldId id="260" r:id="rId6"/>
    <p:sldId id="261" r:id="rId7"/>
    <p:sldId id="262" r:id="rId8"/>
    <p:sldId id="263" r:id="rId9"/>
    <p:sldId id="264" r:id="rId10"/>
    <p:sldId id="265" r:id="rId11"/>
    <p:sldId id="266" r:id="rId12"/>
    <p:sldId id="267" r:id="rId13"/>
    <p:sldId id="268" r:id="rId14"/>
    <p:sldId id="269" r:id="rId15"/>
    <p:sldId id="270" r:id="rId16"/>
    <p:sldId id="271" r:id="rId17"/>
  </p:sldIdLst>
  <p:notesMasterIdLst>
    <p:notesMasterId r:id="rId18"/>
  </p:notesMasterIdLst>
  <p:sldSz cx="9144000" cy="5143500"/>
  <p:notesSz cx="5143500" cy="9144000"/>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11"/>
    <p:restoredTop sz="94610"/>
  </p:normalViewPr>
  <p:slideViewPr>
    <p:cSldViewPr snapToGrid="0" snapToObjects="1">
      <p:cViewPr varScale="1">
        <p:scale>
          <a:sx n="136" d="100"/>
          <a:sy n="136" d="100"/>
        </p:scale>
        <p:origin x="216" y="31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8" Type="http://schemas.openxmlformats.org/officeDocument/2006/relationships/slide" Target="slides/slide7.xml"/><Relationship Id="rId9" Type="http://schemas.openxmlformats.org/officeDocument/2006/relationships/slide" Target="slides/slide8.xml"/><Relationship Id="rId10" Type="http://schemas.openxmlformats.org/officeDocument/2006/relationships/slide" Target="slides/slide9.xml"/><Relationship Id="rId11" Type="http://schemas.openxmlformats.org/officeDocument/2006/relationships/slide" Target="slides/slide10.xml"/><Relationship Id="rId12" Type="http://schemas.openxmlformats.org/officeDocument/2006/relationships/slide" Target="slides/slide11.xml"/><Relationship Id="rId13" Type="http://schemas.openxmlformats.org/officeDocument/2006/relationships/slide" Target="slides/slide12.xml"/><Relationship Id="rId14" Type="http://schemas.openxmlformats.org/officeDocument/2006/relationships/slide" Target="slides/slide13.xml"/><Relationship Id="rId15" Type="http://schemas.openxmlformats.org/officeDocument/2006/relationships/slide" Target="slides/slide14.xml"/><Relationship Id="rId16" Type="http://schemas.openxmlformats.org/officeDocument/2006/relationships/slide" Target="slides/slide15.xml"/><Relationship Id="rId17" Type="http://schemas.openxmlformats.org/officeDocument/2006/relationships/slide" Target="slides/slide16.xml"/><Relationship Id="rId18" Type="http://schemas.openxmlformats.org/officeDocument/2006/relationships/notesMaster" Target="notesMasters/notesMaster1.xml"/><Relationship Id="rId19" Type="http://schemas.openxmlformats.org/officeDocument/2006/relationships/presProps" Target="presProps.xml"/><Relationship Id="rId20" Type="http://schemas.openxmlformats.org/officeDocument/2006/relationships/viewProps" Target="viewProps.xml"/><Relationship Id="rId21" Type="http://schemas.openxmlformats.org/officeDocument/2006/relationships/theme" Target="theme/theme1.xml"/><Relationship Id="rId22" Type="http://schemas.openxmlformats.org/officeDocument/2006/relationships/tableStyles" Target="tableStyles.xml"/></Relationships>
</file>

<file path=ppt/notesMasters/_rels/notesMaster1.xml.rels><?xml version="1.0" encoding="UTF-8" standalone="yes"?>
<Relationships xmlns="http://schemas.openxmlformats.org/package/2006/relationships">
		<Relationship Id="rId1" Type="http://schemas.openxmlformats.org/officeDocument/2006/relationships/theme" Target="../theme/theme1.xml"/>
		</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5282F153-3F37-0F45-9E97-73ACFA13230C}" type="datetimeFigureOut">
              <a:rPr lang="en-US"/>
              <a:t>7/23/19</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CE5E9CC1-C706-0F49-92D6-E571CC5EEA8F}" type="slidenum">
              <a:rPr lang="en-US"/>
              <a:t>‹#›</a:t>
            </a:fld>
            <a:endParaRPr lang="en-US"/>
          </a:p>
        </p:txBody>
      </p:sp>
    </p:spTree>
    <p:extLst>
      <p:ext uri="{BB962C8B-B14F-4D97-AF65-F5344CB8AC3E}">
        <p14:creationId xmlns:p14="http://schemas.microsoft.com/office/powerpoint/2010/main" val="1024086991"/>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xml"/>
		</Relationships>
</file>

<file path=ppt/notesSlides/_rels/notesSlide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xml"/>
		</Relationships>
</file>

<file path=ppt/notesSlides/_rels/notesSlide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xml"/>
		</Relationships>
</file>

<file path=ppt/notesSlides/_rels/notesSlide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xml"/>
		</Relationships>
</file>

<file path=ppt/notesSlides/_rels/notesSlide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xml"/>
		</Relationships>
</file>

<file path=ppt/notesSlides/_rels/notesSlide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xml"/>
		</Relationships>
</file>

<file path=ppt/notesSlides/_rels/notesSlide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xml"/>
		</Relationships>
</file>

<file path=ppt/notesSlides/_rels/notesSlide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8.xml"/>
		</Relationships>
</file>

<file path=ppt/notesSlides/_rels/notesSlide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9.xml"/>
		</Relationships>
</file>

<file path=ppt/notesSlides/_rels/notesSlide1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0.xml"/>
		</Relationships>
</file>

<file path=ppt/notesSlides/_rels/notesSlide1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1.xml"/>
		</Relationships>
</file>

<file path=ppt/notesSlides/_rels/notesSlide1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2.xml"/>
		</Relationships>
</file>

<file path=ppt/notesSlides/_rels/notesSlide1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3.xml"/>
		</Relationships>
</file>

<file path=ppt/notesSlides/_rels/notesSlide1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4.xml"/>
		</Relationships>
</file>

<file path=ppt/notesSlides/_rels/notesSlide1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5.xml"/>
		</Relationships>
</file>

<file path=ppt/notesSlides/_rels/notesSlide1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6.xml"/>
		</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MCP standardizes how an application discovers and invokes tools exposed by a server. Keep the focus on the MAF client boundary, not undocumented wire-level protocol details.
• GROUNDING SOURCE: https://learn.microsoft.com/en-us/agent-framework/agents/tools/local-mcp-tools?tabs=python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Maps to the spec's "Base Protocol" section and its Utilities sub-pages (ping, cancellation, progress). All implementations MUST support Messages and Lifecycle; Authorization and the individual Utilities are optional. This is the layer MAF's MCP tools sit on top of — worth grounding once so later slides about tool calls make sense in context.
• GROUNDING SOURCE: https://modelcontextprotocol.io/specification/2025-06-18/basic
• GROUNDING SOURCE: https://modelcontextprotocol.io/specification/2025-06-18/basic/lifecycle
• GROUNDING SOURCE: https://modelcontextprotocol.io/specification/2025-06-18/basic/transports
• GROUNDING SOURCE: https://modelcontextprotocol.io/specification/2025-06-18/basic/authorization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Maps to the spec's "Client Features" section. These are capabilities a client (the MAF MCP tool, in our case) may optionally offer back to servers — all three require the client to declare the matching capability during initialization, and all three keep a human in the loop by design (the spec is explicit about this for sampling and elicitation).
• GROUNDING SOURCE: https://modelcontextprotocol.io/specification/2025-06-18/client/roots
• GROUNDING SOURCE: https://modelcontextprotocol.io/specification/2025-06-18/client/sampling
• GROUNDING SOURCE: https://modelcontextprotocol.io/specification/2025-06-18/client/elicitation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Maps to the spec's "Server Features" section and its Utilities sub-pages (completion, logging, pagination). Tools is the one this module focuses on end to end; Resources and Prompts are the other two things a server can expose, each with a different user-interaction model (application-driven vs. user-invoked).
• GROUNDING SOURCE: https://modelcontextprotocol.io/specification/2025-06-18/server/tools
• GROUNDING SOURCE: https://modelcontextprotocol.io/specification/2025-06-18/server/resources
• GROUNDING SOURCE: https://modelcontextprotocol.io/specification/2025-06-18/server/prompts
• GROUNDING SOURCE: https://modelcontextprotocol.io/specification/2025-06-18/server/utilities/logging</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This is the MCP specification's own sequence diagram for the tools message flow, reproduced verbatim (not redrawn) from the Tools page at modelcontextprotocol.io. The MAF MCP tool plays the "Client" role. Note this diagram starts at Discovery — the earlier connection-level handshake (capability negotiation) is defined separately on the spec's Lifecycle page and isn't shown here.
• GROUNDING SOURCE: https://modelcontextprotocol.io/specification/2025-06-18/server/tools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These are the three documented Python classes. WebSocket support requires the mcp[ws] optional package. Transport choice follows the server; it is not an application preference you can swap unilaterally.
• GROUNDING SOURCE: https://learn.microsoft.com/en-us/agent-framework/agents/tools/local-mcp-tools?tabs=python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Use only commands and packages you have reviewed and pinned. The official pattern uses an async context manager so the local process and connection are closed.
• GROUNDING SOURCE: https://learn.microsoft.com/en-us/agent-framework/agents/tools/local-mcp-tools?tabs=python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Placeholder marker slide — the runbook has full narration, setup, and fallback plan. Runs the previous slide's exact MCPStdioTool + mcp-server-calculator pattern live; no matching sample file exists in the repo's 02-agents/mcp folder, so this demo is grounded directly in the Learn doc's own documented code.
• GROUNDING SOURCE: https://learn.microsoft.com/en-us/agent-framework/agents/tools/local-mcp-tools?tabs=python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The documented FoundryChatClient sample uses MCPStreamableHTTPTool for a remote endpoint. Do not put tokens in slide code or source control; use a provider that acquires or refreshes credentials.
• GROUNDING SOURCE: https://learn.microsoft.com/en-us/agent-framework/agents/tools/local-mcp-tools?tabs=python
• GROUNDING SOURCE: https://learn.microsoft.com/en-us/python/api/agent-framework-core/agent_framework.mcpstreamablehttptool?view=agent-framework-python-latest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During a tool call, header_provider receives function_invocation_kwargs. Ambient requests such as initialization, discovery, and pings receive an empty dictionary. Therefore connection-time auth cannot depend only on a per-run value.
• GROUNDING SOURCE: https://learn.microsoft.com/en-us/agent-framework/agents/tools/local-mcp-tools?tabs=python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allowed_tools is a documented MCP constructor option. Progressive exposure is a separate experimental Python function-loop feature, not an MCP transport feature. Use it only if you need staged discovery and accept its experimental status.
• GROUNDING SOURCE: https://learn.microsoft.com/en-us/python/api/agent-framework-core/agent_framework.mcpstreamablehttptool?view=agent-framework-python-latest
• GROUNDING SOURCE: https://learn.microsoft.com/en-us/agent-framework/agents/tools/controlling-tool-availability?tabs=python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approval_mode can require approval for all tools, waive it for all tools, or apply a per-tool mapping on the MCP tool. A run that needs approval returns a user-input request; the application displays the name and arguments and resumes with the decision.
• GROUNDING SOURCE: https://learn.microsoft.com/en-us/python/api/agent-framework-core/agent_framework.mcpstreamablehttptool?view=agent-framework-python-latest
• GROUNDING SOURCE: https://learn.microsoft.com/en-us/agent-framework/agents/tools/tool-approval?tabs=python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Placeholder marker slide — the runbook has full narration, setup, and fallback plan. Adapts the approval pause/resume mechanic from function_tool_with_approval.py onto an MCP tool's approval_mode constructor option; no MCP-specific approval sample exists in the repo yet, so the API reference is the primary grounding source for the MCP-side wiring.
• GROUNDING SOURCE: https://learn.microsoft.com/en-us/python/api/agent-framework-core/agent_framework.mcpstreamablehttptool?view=agent-framework-python-latest
• GROUNDING SOURCE: https://github.com/microsoft/agent-framework/blob/main/python/samples/02-agents/tools/function_tool_with_approval.py</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Treat remote tool descriptions, annotations, and results as untrusted input. Review the operator, data sharing, retention, costs, and permissions. Prefer first-party hosted servers over proxies when available.
• GROUNDING SOURCE: https://learn.microsoft.com/en-us/agent-framework/agents/tools/local-mcp-tools?tabs=python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Choose remote when a trusted service hosts and updates the endpoint. Choose local when the server is local-only or the client cannot complete remote authentication. Local means you own package and process security.
• GROUNDING SOURCE: https://learn.microsoft.com/en-us/agent-framework/agents/tools/local-mcp-tools?tabs=python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Transition to the official Azure DevOps remote server. It is a strong example of remote-first hosting, Entra authentication, server-side filtering, and distinct read/write tools.
• GROUNDING SOURCE: https://learn.microsoft.com/en-us/agent-framework/agents/tools/local-mcp-tools?tabs=python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16</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Tree>
  </p:cSld>
  <p:clrMap bg1="lt1" tx1="dk1" bg2="lt2" tx2="dk2" accent1="accent1" accent2="accent2" accent3="accent3" accent4="accent4" accent5="accent5" accent6="accent6" hlink="hlink" folHlink="folHlink"/>
  <p:sldLayoutIdLst>
    <p:sldLayoutId id="2147483649" r:id="rId1"/>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image" Target="../media/image-5-1.png"/><Relationship Id="rId2" Type="http://schemas.openxmlformats.org/officeDocument/2006/relationships/slideLayout" Target="../slideLayouts/slideLayout1.xml"/><Relationship Id="rId3"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4.xm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5.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6.xml"/></Relationships>
</file>

<file path=ppt/slides/slide1.xml><?xml version="1.0" encoding="utf-8"?>
<p:sld xmlns:a="http://schemas.openxmlformats.org/drawingml/2006/main" xmlns:r="http://schemas.openxmlformats.org/officeDocument/2006/relationships" xmlns:p="http://schemas.openxmlformats.org/presentationml/2006/main">
  <p:cSld name="Slide 1">
    <p:bg>
      <p:bgPr>
        <a:solidFill>
          <a:srgbClr val="1E2761"/>
        </a:solidFill>
      </p:bgPr>
    </p:bg>
    <p:spTree>
      <p:nvGrpSpPr>
        <p:cNvPr id="1" name=""/>
        <p:cNvGrpSpPr/>
        <p:nvPr/>
      </p:nvGrpSpPr>
      <p:grpSpPr>
        <a:xfrm>
          <a:off x="0" y="0"/>
          <a:ext cx="0" cy="0"/>
          <a:chOff x="0" y="0"/>
          <a:chExt cx="0" cy="0"/>
        </a:xfrm>
      </p:grpSpPr>
      <p:sp>
        <p:nvSpPr>
          <p:cNvPr id="2" name="Text 0"/>
          <p:cNvSpPr/>
          <p:nvPr/>
        </p:nvSpPr>
        <p:spPr>
          <a:xfrm>
            <a:off x="548640" y="457200"/>
            <a:ext cx="8046720" cy="365760"/>
          </a:xfrm>
          <a:prstGeom prst="rect">
            <a:avLst/>
          </a:prstGeom>
          <a:noFill/>
          <a:ln/>
        </p:spPr>
        <p:txBody>
          <a:bodyPr wrap="square" rtlCol="0" anchor="ctr"/>
          <a:lstStyle/>
          <a:p>
            <a:pPr indent="0" marL="0">
              <a:buNone/>
            </a:pPr>
            <a:r>
              <a:rPr lang="en-US" sz="1000" spc="400" kern="0" dirty="0">
                <a:solidFill>
                  <a:srgbClr val="CADCFC"/>
                </a:solidFill>
                <a:latin typeface="Calibri" pitchFamily="34" charset="0"/>
                <a:ea typeface="Calibri" pitchFamily="34" charset="-122"/>
                <a:cs typeface="Calibri" pitchFamily="34" charset="-120"/>
              </a:rPr>
              <a:t>DAY 3 · MODULE 5 · 30 MIN</a:t>
            </a:r>
            <a:endParaRPr lang="en-US" sz="1000" dirty="0"/>
          </a:p>
        </p:txBody>
      </p:sp>
      <p:sp>
        <p:nvSpPr>
          <p:cNvPr id="3" name="Text 1"/>
          <p:cNvSpPr/>
          <p:nvPr/>
        </p:nvSpPr>
        <p:spPr>
          <a:xfrm>
            <a:off x="548640" y="1737360"/>
            <a:ext cx="8046720" cy="1280160"/>
          </a:xfrm>
          <a:prstGeom prst="rect">
            <a:avLst/>
          </a:prstGeom>
          <a:noFill/>
          <a:ln/>
        </p:spPr>
        <p:txBody>
          <a:bodyPr wrap="square" rtlCol="0" anchor="ctr"/>
          <a:lstStyle/>
          <a:p>
            <a:pPr indent="0" marL="0">
              <a:buNone/>
            </a:pPr>
            <a:r>
              <a:rPr lang="en-US" sz="4000" b="1" dirty="0">
                <a:solidFill>
                  <a:srgbClr val="FFFFFF"/>
                </a:solidFill>
                <a:latin typeface="Calibri" pitchFamily="34" charset="0"/>
                <a:ea typeface="Calibri" pitchFamily="34" charset="-122"/>
                <a:cs typeface="Calibri" pitchFamily="34" charset="-120"/>
              </a:rPr>
              <a:t>MCP with Agent Framework</a:t>
            </a:r>
            <a:endParaRPr lang="en-US" sz="4000" dirty="0"/>
          </a:p>
        </p:txBody>
      </p:sp>
      <p:sp>
        <p:nvSpPr>
          <p:cNvPr id="4" name="Text 2"/>
          <p:cNvSpPr/>
          <p:nvPr/>
        </p:nvSpPr>
        <p:spPr>
          <a:xfrm>
            <a:off x="548640" y="3017520"/>
            <a:ext cx="8046720" cy="640080"/>
          </a:xfrm>
          <a:prstGeom prst="rect">
            <a:avLst/>
          </a:prstGeom>
          <a:noFill/>
          <a:ln/>
        </p:spPr>
        <p:txBody>
          <a:bodyPr wrap="square" rtlCol="0" anchor="ctr"/>
          <a:lstStyle/>
          <a:p>
            <a:pPr indent="0" marL="0">
              <a:buNone/>
            </a:pPr>
            <a:r>
              <a:rPr lang="en-US" sz="1800" dirty="0">
                <a:solidFill>
                  <a:srgbClr val="CADCFC"/>
                </a:solidFill>
                <a:latin typeface="Calibri" pitchFamily="34" charset="0"/>
                <a:ea typeface="Calibri" pitchFamily="34" charset="-122"/>
                <a:cs typeface="Calibri" pitchFamily="34" charset="-120"/>
              </a:rPr>
              <a:t>Discover and invoke external tools through a controlled client boundary</a:t>
            </a:r>
            <a:endParaRPr lang="en-US" sz="1800" dirty="0"/>
          </a:p>
        </p:txBody>
      </p:sp>
      <p:sp>
        <p:nvSpPr>
          <p:cNvPr id="5" name="Text 3"/>
          <p:cNvSpPr/>
          <p:nvPr/>
        </p:nvSpPr>
        <p:spPr>
          <a:xfrm>
            <a:off x="548640" y="4572000"/>
            <a:ext cx="8046720" cy="365760"/>
          </a:xfrm>
          <a:prstGeom prst="rect">
            <a:avLst/>
          </a:prstGeom>
          <a:noFill/>
          <a:ln/>
        </p:spPr>
        <p:txBody>
          <a:bodyPr wrap="square" rtlCol="0" anchor="ctr"/>
          <a:lstStyle/>
          <a:p>
            <a:pPr indent="0" marL="0">
              <a:buNone/>
            </a:pPr>
            <a:r>
              <a:rPr lang="en-US" sz="1000" dirty="0">
                <a:solidFill>
                  <a:srgbClr val="CADCFC"/>
                </a:solidFill>
                <a:latin typeface="Calibri" pitchFamily="34" charset="0"/>
                <a:ea typeface="Calibri" pitchFamily="34" charset="-122"/>
                <a:cs typeface="Calibri" pitchFamily="34" charset="-120"/>
              </a:rPr>
              <a:t>Building AI Apps and Agents</a:t>
            </a:r>
            <a:endParaRPr lang="en-US" sz="1000" dirty="0"/>
          </a:p>
        </p:txBody>
      </p:sp>
      <p:sp>
        <p:nvSpPr>
          <p:cNvPr id="6" name="Shape 4"/>
          <p:cNvSpPr/>
          <p:nvPr/>
        </p:nvSpPr>
        <p:spPr>
          <a:xfrm>
            <a:off x="365760" y="4224528"/>
            <a:ext cx="8412480" cy="0"/>
          </a:xfrm>
          <a:prstGeom prst="line">
            <a:avLst/>
          </a:prstGeom>
          <a:noFill/>
          <a:ln w="6350">
            <a:solidFill>
              <a:srgbClr val="CADCFC"/>
            </a:solidFill>
            <a:prstDash val="solid"/>
          </a:ln>
        </p:spPr>
      </p:sp>
      <p:sp>
        <p:nvSpPr>
          <p:cNvPr id="7" name="Text 5"/>
          <p:cNvSpPr/>
          <p:nvPr/>
        </p:nvSpPr>
        <p:spPr>
          <a:xfrm>
            <a:off x="384048" y="4270248"/>
            <a:ext cx="8275320" cy="182880"/>
          </a:xfrm>
          <a:prstGeom prst="rect">
            <a:avLst/>
          </a:prstGeom>
          <a:noFill/>
          <a:ln/>
        </p:spPr>
        <p:txBody>
          <a:bodyPr wrap="square" lIns="0" tIns="0" rIns="0" bIns="0" rtlCol="0" anchor="ctr">
            <a:normAutofit/>
          </a:bodyPr>
          <a:lstStyle/>
          <a:p>
            <a:pPr indent="0" marL="0">
              <a:buNone/>
            </a:pPr>
            <a:r>
              <a:rPr lang="en-US" sz="820" dirty="0">
                <a:solidFill>
                  <a:srgbClr val="CADCFC"/>
                </a:solidFill>
                <a:latin typeface="Calibri" pitchFamily="34" charset="0"/>
                <a:ea typeface="Calibri" pitchFamily="34" charset="-122"/>
                <a:cs typeface="Calibri" pitchFamily="34" charset="-120"/>
              </a:rPr>
              <a:t>Source: https://learn.microsoft.com/en-us/agent-framework/agents/tools/local-mcp-tools?tabs=python</a:t>
            </a:r>
            <a:endParaRPr lang="en-US" sz="820" dirty="0"/>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0" y="0"/>
            <a:ext cx="54864" cy="5143500"/>
          </a:xfrm>
          <a:prstGeom prst="rect">
            <a:avLst/>
          </a:prstGeom>
          <a:solidFill>
            <a:srgbClr val="1E2761"/>
          </a:solidFill>
          <a:ln/>
        </p:spPr>
      </p:sp>
      <p:sp>
        <p:nvSpPr>
          <p:cNvPr id="3" name="Text 1"/>
          <p:cNvSpPr/>
          <p:nvPr/>
        </p:nvSpPr>
        <p:spPr>
          <a:xfrm>
            <a:off x="5486400" y="256032"/>
            <a:ext cx="3337560" cy="228600"/>
          </a:xfrm>
          <a:prstGeom prst="rect">
            <a:avLst/>
          </a:prstGeom>
          <a:noFill/>
          <a:ln/>
        </p:spPr>
        <p:txBody>
          <a:bodyPr wrap="square" lIns="0" tIns="0" rIns="0" bIns="0" rtlCol="0" anchor="ctr">
            <a:normAutofit/>
          </a:bodyPr>
          <a:lstStyle/>
          <a:p>
            <a:pPr algn="r" indent="0" marL="0">
              <a:buNone/>
            </a:pPr>
            <a:r>
              <a:rPr lang="en-US" sz="950" dirty="0">
                <a:solidFill>
                  <a:srgbClr val="6B7280"/>
                </a:solidFill>
                <a:latin typeface="Calibri" pitchFamily="34" charset="0"/>
                <a:ea typeface="Calibri" pitchFamily="34" charset="-122"/>
                <a:cs typeface="Calibri" pitchFamily="34" charset="-120"/>
              </a:rPr>
              <a:t>Day 3 · Module 5</a:t>
            </a:r>
            <a:endParaRPr lang="en-US" sz="950" dirty="0"/>
          </a:p>
        </p:txBody>
      </p:sp>
      <p:sp>
        <p:nvSpPr>
          <p:cNvPr id="4" name="Text 2"/>
          <p:cNvSpPr/>
          <p:nvPr/>
        </p:nvSpPr>
        <p:spPr>
          <a:xfrm>
            <a:off x="365760" y="310896"/>
            <a:ext cx="6583680" cy="603504"/>
          </a:xfrm>
          <a:prstGeom prst="rect">
            <a:avLst/>
          </a:prstGeom>
          <a:noFill/>
          <a:ln/>
        </p:spPr>
        <p:txBody>
          <a:bodyPr wrap="square" lIns="0" tIns="0" rIns="0" bIns="0" rtlCol="0" anchor="ctr">
            <a:normAutofit/>
          </a:bodyPr>
          <a:lstStyle/>
          <a:p>
            <a:pPr indent="0" marL="0">
              <a:buNone/>
            </a:pPr>
            <a:r>
              <a:rPr lang="en-US" sz="2800" b="1" dirty="0">
                <a:solidFill>
                  <a:srgbClr val="1E2761"/>
                </a:solidFill>
                <a:latin typeface="Calibri" pitchFamily="34" charset="0"/>
                <a:ea typeface="Calibri" pitchFamily="34" charset="-122"/>
                <a:cs typeface="Calibri" pitchFamily="34" charset="-120"/>
              </a:rPr>
              <a:t>MCP Base Protocol</a:t>
            </a:r>
            <a:endParaRPr lang="en-US" sz="2800" dirty="0"/>
          </a:p>
        </p:txBody>
      </p:sp>
      <p:sp>
        <p:nvSpPr>
          <p:cNvPr id="5" name="Text 3"/>
          <p:cNvSpPr/>
          <p:nvPr/>
        </p:nvSpPr>
        <p:spPr>
          <a:xfrm>
            <a:off x="502920" y="1170432"/>
            <a:ext cx="7955280" cy="3520440"/>
          </a:xfrm>
          <a:prstGeom prst="rect">
            <a:avLst/>
          </a:prstGeom>
          <a:noFill/>
          <a:ln/>
        </p:spPr>
        <p:txBody>
          <a:bodyPr wrap="square" lIns="0" tIns="0" rIns="0" bIns="0" rtlCol="0" anchor="t">
            <a:normAutofit/>
          </a:bodyPr>
          <a:lstStyle/>
          <a:p>
            <a:pPr marL="342900" indent="-342900">
              <a:spcAft>
                <a:spcPts val="1000"/>
              </a:spcAft>
              <a:buSzPct val="100000"/>
              <a:buChar char="•"/>
            </a:pPr>
            <a:r>
              <a:rPr lang="en-US" sz="1600" b="1" dirty="0">
                <a:solidFill>
                  <a:srgbClr val="1E2761"/>
                </a:solidFill>
                <a:latin typeface="Calibri" pitchFamily="34" charset="0"/>
                <a:ea typeface="Calibri" pitchFamily="34" charset="-122"/>
                <a:cs typeface="Calibri" pitchFamily="34" charset="-120"/>
              </a:rPr>
              <a:t>Messages</a:t>
            </a:r>
            <a:pPr indent="0" marL="0">
              <a:spcAft>
                <a:spcPts val="1000"/>
              </a:spcAft>
              <a:buNone/>
            </a:pPr>
            <a:r>
              <a:rPr lang="en-US" sz="1600" dirty="0">
                <a:solidFill>
                  <a:srgbClr val="212121"/>
                </a:solidFill>
                <a:latin typeface="Calibri" pitchFamily="34" charset="0"/>
                <a:ea typeface="Calibri" pitchFamily="34" charset="-122"/>
                <a:cs typeface="Calibri" pitchFamily="34" charset="-120"/>
              </a:rPr>
              <a:t>  —  JSON-RPC 2.0 requests, responses, and notifications are the only message shapes the protocol defines</a:t>
            </a:r>
            <a:endParaRPr lang="en-US" sz="1600" dirty="0"/>
          </a:p>
          <a:p>
            <a:pPr marL="342900" indent="-342900">
              <a:spcAft>
                <a:spcPts val="1000"/>
              </a:spcAft>
              <a:buSzPct val="100000"/>
              <a:buChar char="•"/>
            </a:pPr>
            <a:r>
              <a:rPr lang="en-US" sz="1600" b="1" dirty="0">
                <a:solidFill>
                  <a:srgbClr val="1E2761"/>
                </a:solidFill>
                <a:latin typeface="Calibri" pitchFamily="34" charset="0"/>
                <a:ea typeface="Calibri" pitchFamily="34" charset="-122"/>
                <a:cs typeface="Calibri" pitchFamily="34" charset="-120"/>
              </a:rPr>
              <a:t>Lifecycle</a:t>
            </a:r>
            <a:pPr indent="0" marL="0">
              <a:spcAft>
                <a:spcPts val="1000"/>
              </a:spcAft>
              <a:buNone/>
            </a:pPr>
            <a:r>
              <a:rPr lang="en-US" sz="1600" dirty="0">
                <a:solidFill>
                  <a:srgbClr val="212121"/>
                </a:solidFill>
                <a:latin typeface="Calibri" pitchFamily="34" charset="0"/>
                <a:ea typeface="Calibri" pitchFamily="34" charset="-122"/>
                <a:cs typeface="Calibri" pitchFamily="34" charset="-120"/>
              </a:rPr>
              <a:t>  —  The initialize → initialized handshake negotiates protocol version and capabilities before normal operation begins</a:t>
            </a:r>
            <a:endParaRPr lang="en-US" sz="1600" dirty="0"/>
          </a:p>
          <a:p>
            <a:pPr marL="342900" indent="-342900">
              <a:spcAft>
                <a:spcPts val="1000"/>
              </a:spcAft>
              <a:buSzPct val="100000"/>
              <a:buChar char="•"/>
            </a:pPr>
            <a:r>
              <a:rPr lang="en-US" sz="1600" b="1" dirty="0">
                <a:solidFill>
                  <a:srgbClr val="1E2761"/>
                </a:solidFill>
                <a:latin typeface="Calibri" pitchFamily="34" charset="0"/>
                <a:ea typeface="Calibri" pitchFamily="34" charset="-122"/>
                <a:cs typeface="Calibri" pitchFamily="34" charset="-120"/>
              </a:rPr>
              <a:t>Transports</a:t>
            </a:r>
            <a:pPr indent="0" marL="0">
              <a:spcAft>
                <a:spcPts val="1000"/>
              </a:spcAft>
              <a:buNone/>
            </a:pPr>
            <a:r>
              <a:rPr lang="en-US" sz="1600" dirty="0">
                <a:solidFill>
                  <a:srgbClr val="212121"/>
                </a:solidFill>
                <a:latin typeface="Calibri" pitchFamily="34" charset="0"/>
                <a:ea typeface="Calibri" pitchFamily="34" charset="-122"/>
                <a:cs typeface="Calibri" pitchFamily="34" charset="-120"/>
              </a:rPr>
              <a:t>  —  stdio (client launches the server as a subprocess) and Streamable HTTP (with optional SSE) are the two standard transports</a:t>
            </a:r>
            <a:endParaRPr lang="en-US" sz="1600" dirty="0"/>
          </a:p>
          <a:p>
            <a:pPr marL="342900" indent="-342900">
              <a:spcAft>
                <a:spcPts val="1000"/>
              </a:spcAft>
              <a:buSzPct val="100000"/>
              <a:buChar char="•"/>
            </a:pPr>
            <a:r>
              <a:rPr lang="en-US" sz="1600" b="1" dirty="0">
                <a:solidFill>
                  <a:srgbClr val="1E2761"/>
                </a:solidFill>
                <a:latin typeface="Calibri" pitchFamily="34" charset="0"/>
                <a:ea typeface="Calibri" pitchFamily="34" charset="-122"/>
                <a:cs typeface="Calibri" pitchFamily="34" charset="-120"/>
              </a:rPr>
              <a:t>Authorization</a:t>
            </a:r>
            <a:pPr indent="0" marL="0">
              <a:spcAft>
                <a:spcPts val="1000"/>
              </a:spcAft>
              <a:buNone/>
            </a:pPr>
            <a:r>
              <a:rPr lang="en-US" sz="1600" dirty="0">
                <a:solidFill>
                  <a:srgbClr val="212121"/>
                </a:solidFill>
                <a:latin typeface="Calibri" pitchFamily="34" charset="0"/>
                <a:ea typeface="Calibri" pitchFamily="34" charset="-122"/>
                <a:cs typeface="Calibri" pitchFamily="34" charset="-120"/>
              </a:rPr>
              <a:t>  —  Optional OAuth 2.1-based framework for HTTP transports; stdio implementations use environment credentials instead</a:t>
            </a:r>
            <a:endParaRPr lang="en-US" sz="1600" dirty="0"/>
          </a:p>
          <a:p>
            <a:pPr marL="342900" indent="-342900">
              <a:spcAft>
                <a:spcPts val="1000"/>
              </a:spcAft>
              <a:buSzPct val="100000"/>
              <a:buChar char="•"/>
            </a:pPr>
            <a:r>
              <a:rPr lang="en-US" sz="1600" b="1" dirty="0">
                <a:solidFill>
                  <a:srgbClr val="1E2761"/>
                </a:solidFill>
                <a:latin typeface="Calibri" pitchFamily="34" charset="0"/>
                <a:ea typeface="Calibri" pitchFamily="34" charset="-122"/>
                <a:cs typeface="Calibri" pitchFamily="34" charset="-120"/>
              </a:rPr>
              <a:t>Utilities</a:t>
            </a:r>
            <a:pPr indent="0" marL="0">
              <a:spcAft>
                <a:spcPts val="1000"/>
              </a:spcAft>
              <a:buNone/>
            </a:pPr>
            <a:r>
              <a:rPr lang="en-US" sz="1600" dirty="0">
                <a:solidFill>
                  <a:srgbClr val="212121"/>
                </a:solidFill>
                <a:latin typeface="Calibri" pitchFamily="34" charset="0"/>
                <a:ea typeface="Calibri" pitchFamily="34" charset="-122"/>
                <a:cs typeface="Calibri" pitchFamily="34" charset="-120"/>
              </a:rPr>
              <a:t>  —  Ping (liveness check), Cancellation (notifications/cancelled), and Progress (progressToken updates) support long-running or unreliable connections</a:t>
            </a:r>
            <a:endParaRPr lang="en-US" sz="1600" dirty="0"/>
          </a:p>
        </p:txBody>
      </p:sp>
      <p:sp>
        <p:nvSpPr>
          <p:cNvPr id="6" name="Shape 4"/>
          <p:cNvSpPr/>
          <p:nvPr/>
        </p:nvSpPr>
        <p:spPr>
          <a:xfrm>
            <a:off x="365760" y="4773168"/>
            <a:ext cx="8412480" cy="0"/>
          </a:xfrm>
          <a:prstGeom prst="line">
            <a:avLst/>
          </a:prstGeom>
          <a:noFill/>
          <a:ln w="6350">
            <a:solidFill>
              <a:srgbClr val="D1D5DB"/>
            </a:solidFill>
            <a:prstDash val="solid"/>
          </a:ln>
        </p:spPr>
      </p:sp>
      <p:sp>
        <p:nvSpPr>
          <p:cNvPr id="7" name="Text 5"/>
          <p:cNvSpPr/>
          <p:nvPr/>
        </p:nvSpPr>
        <p:spPr>
          <a:xfrm>
            <a:off x="384048" y="4818888"/>
            <a:ext cx="8275320" cy="182880"/>
          </a:xfrm>
          <a:prstGeom prst="rect">
            <a:avLst/>
          </a:prstGeom>
          <a:noFill/>
          <a:ln/>
        </p:spPr>
        <p:txBody>
          <a:bodyPr wrap="square" lIns="0" tIns="0" rIns="0" bIns="0" rtlCol="0" anchor="ctr">
            <a:normAutofit/>
          </a:bodyPr>
          <a:lstStyle/>
          <a:p>
            <a:pPr indent="0" marL="0">
              <a:buNone/>
            </a:pPr>
            <a:r>
              <a:rPr lang="en-US" sz="820" dirty="0">
                <a:solidFill>
                  <a:srgbClr val="6B7280"/>
                </a:solidFill>
                <a:latin typeface="Calibri" pitchFamily="34" charset="0"/>
                <a:ea typeface="Calibri" pitchFamily="34" charset="-122"/>
                <a:cs typeface="Calibri" pitchFamily="34" charset="-120"/>
              </a:rPr>
              <a:t>Source: https://modelcontextprotocol.io/specification/2025-06-18/basic  ·  +3 in notes</a:t>
            </a:r>
            <a:endParaRPr lang="en-US" sz="820" dirty="0"/>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0" y="0"/>
            <a:ext cx="54864" cy="5143500"/>
          </a:xfrm>
          <a:prstGeom prst="rect">
            <a:avLst/>
          </a:prstGeom>
          <a:solidFill>
            <a:srgbClr val="1E2761"/>
          </a:solidFill>
          <a:ln/>
        </p:spPr>
      </p:sp>
      <p:sp>
        <p:nvSpPr>
          <p:cNvPr id="3" name="Text 1"/>
          <p:cNvSpPr/>
          <p:nvPr/>
        </p:nvSpPr>
        <p:spPr>
          <a:xfrm>
            <a:off x="5486400" y="256032"/>
            <a:ext cx="3337560" cy="228600"/>
          </a:xfrm>
          <a:prstGeom prst="rect">
            <a:avLst/>
          </a:prstGeom>
          <a:noFill/>
          <a:ln/>
        </p:spPr>
        <p:txBody>
          <a:bodyPr wrap="square" lIns="0" tIns="0" rIns="0" bIns="0" rtlCol="0" anchor="ctr">
            <a:normAutofit/>
          </a:bodyPr>
          <a:lstStyle/>
          <a:p>
            <a:pPr algn="r" indent="0" marL="0">
              <a:buNone/>
            </a:pPr>
            <a:r>
              <a:rPr lang="en-US" sz="950" dirty="0">
                <a:solidFill>
                  <a:srgbClr val="6B7280"/>
                </a:solidFill>
                <a:latin typeface="Calibri" pitchFamily="34" charset="0"/>
                <a:ea typeface="Calibri" pitchFamily="34" charset="-122"/>
                <a:cs typeface="Calibri" pitchFamily="34" charset="-120"/>
              </a:rPr>
              <a:t>Day 3 · Module 5</a:t>
            </a:r>
            <a:endParaRPr lang="en-US" sz="950" dirty="0"/>
          </a:p>
        </p:txBody>
      </p:sp>
      <p:sp>
        <p:nvSpPr>
          <p:cNvPr id="4" name="Text 2"/>
          <p:cNvSpPr/>
          <p:nvPr/>
        </p:nvSpPr>
        <p:spPr>
          <a:xfrm>
            <a:off x="365760" y="310896"/>
            <a:ext cx="6583680" cy="603504"/>
          </a:xfrm>
          <a:prstGeom prst="rect">
            <a:avLst/>
          </a:prstGeom>
          <a:noFill/>
          <a:ln/>
        </p:spPr>
        <p:txBody>
          <a:bodyPr wrap="square" lIns="0" tIns="0" rIns="0" bIns="0" rtlCol="0" anchor="ctr">
            <a:normAutofit/>
          </a:bodyPr>
          <a:lstStyle/>
          <a:p>
            <a:pPr indent="0" marL="0">
              <a:buNone/>
            </a:pPr>
            <a:r>
              <a:rPr lang="en-US" sz="2800" b="1" dirty="0">
                <a:solidFill>
                  <a:srgbClr val="1E2761"/>
                </a:solidFill>
                <a:latin typeface="Calibri" pitchFamily="34" charset="0"/>
                <a:ea typeface="Calibri" pitchFamily="34" charset="-122"/>
                <a:cs typeface="Calibri" pitchFamily="34" charset="-120"/>
              </a:rPr>
              <a:t>MCP Client Features</a:t>
            </a:r>
            <a:endParaRPr lang="en-US" sz="2800" dirty="0"/>
          </a:p>
        </p:txBody>
      </p:sp>
      <p:sp>
        <p:nvSpPr>
          <p:cNvPr id="5" name="Text 3"/>
          <p:cNvSpPr/>
          <p:nvPr/>
        </p:nvSpPr>
        <p:spPr>
          <a:xfrm>
            <a:off x="502920" y="1170432"/>
            <a:ext cx="7955280" cy="3520440"/>
          </a:xfrm>
          <a:prstGeom prst="rect">
            <a:avLst/>
          </a:prstGeom>
          <a:noFill/>
          <a:ln/>
        </p:spPr>
        <p:txBody>
          <a:bodyPr wrap="square" lIns="0" tIns="0" rIns="0" bIns="0" rtlCol="0" anchor="t">
            <a:normAutofit/>
          </a:bodyPr>
          <a:lstStyle/>
          <a:p>
            <a:pPr marL="342900" indent="-342900">
              <a:spcAft>
                <a:spcPts val="1000"/>
              </a:spcAft>
              <a:buSzPct val="100000"/>
              <a:buChar char="•"/>
            </a:pPr>
            <a:r>
              <a:rPr lang="en-US" sz="1600" b="1" dirty="0">
                <a:solidFill>
                  <a:srgbClr val="1E2761"/>
                </a:solidFill>
                <a:latin typeface="Calibri" pitchFamily="34" charset="0"/>
                <a:ea typeface="Calibri" pitchFamily="34" charset="-122"/>
                <a:cs typeface="Calibri" pitchFamily="34" charset="-120"/>
              </a:rPr>
              <a:t>Roots</a:t>
            </a:r>
            <a:pPr indent="0" marL="0">
              <a:spcAft>
                <a:spcPts val="1000"/>
              </a:spcAft>
              <a:buNone/>
            </a:pPr>
            <a:r>
              <a:rPr lang="en-US" sz="1600" dirty="0">
                <a:solidFill>
                  <a:srgbClr val="212121"/>
                </a:solidFill>
                <a:latin typeface="Calibri" pitchFamily="34" charset="0"/>
                <a:ea typeface="Calibri" pitchFamily="34" charset="-122"/>
                <a:cs typeface="Calibri" pitchFamily="34" charset="-120"/>
              </a:rPr>
              <a:t>  —  Servers can query which filesystem/URI boundaries a client exposes, so they know where they're allowed to operate</a:t>
            </a:r>
            <a:endParaRPr lang="en-US" sz="1600" dirty="0"/>
          </a:p>
          <a:p>
            <a:pPr marL="342900" indent="-342900">
              <a:spcAft>
                <a:spcPts val="1000"/>
              </a:spcAft>
              <a:buSzPct val="100000"/>
              <a:buChar char="•"/>
            </a:pPr>
            <a:r>
              <a:rPr lang="en-US" sz="1600" b="1" dirty="0">
                <a:solidFill>
                  <a:srgbClr val="1E2761"/>
                </a:solidFill>
                <a:latin typeface="Calibri" pitchFamily="34" charset="0"/>
                <a:ea typeface="Calibri" pitchFamily="34" charset="-122"/>
                <a:cs typeface="Calibri" pitchFamily="34" charset="-120"/>
              </a:rPr>
              <a:t>Sampling</a:t>
            </a:r>
            <a:pPr indent="0" marL="0">
              <a:spcAft>
                <a:spcPts val="1000"/>
              </a:spcAft>
              <a:buNone/>
            </a:pPr>
            <a:r>
              <a:rPr lang="en-US" sz="1600" dirty="0">
                <a:solidFill>
                  <a:srgbClr val="212121"/>
                </a:solidFill>
                <a:latin typeface="Calibri" pitchFamily="34" charset="0"/>
                <a:ea typeface="Calibri" pitchFamily="34" charset="-122"/>
                <a:cs typeface="Calibri" pitchFamily="34" charset="-120"/>
              </a:rPr>
              <a:t>  —  Servers can request an LLM completion through the client, keeping model access, prompt content, and approval under client control</a:t>
            </a:r>
            <a:endParaRPr lang="en-US" sz="1600" dirty="0"/>
          </a:p>
          <a:p>
            <a:pPr marL="342900" indent="-342900">
              <a:spcAft>
                <a:spcPts val="1000"/>
              </a:spcAft>
              <a:buSzPct val="100000"/>
              <a:buChar char="•"/>
            </a:pPr>
            <a:r>
              <a:rPr lang="en-US" sz="1600" b="1" dirty="0">
                <a:solidFill>
                  <a:srgbClr val="1E2761"/>
                </a:solidFill>
                <a:latin typeface="Calibri" pitchFamily="34" charset="0"/>
                <a:ea typeface="Calibri" pitchFamily="34" charset="-122"/>
                <a:cs typeface="Calibri" pitchFamily="34" charset="-120"/>
              </a:rPr>
              <a:t>Elicitation</a:t>
            </a:r>
            <a:pPr indent="0" marL="0">
              <a:spcAft>
                <a:spcPts val="1000"/>
              </a:spcAft>
              <a:buNone/>
            </a:pPr>
            <a:r>
              <a:rPr lang="en-US" sz="1600" dirty="0">
                <a:solidFill>
                  <a:srgbClr val="212121"/>
                </a:solidFill>
                <a:latin typeface="Calibri" pitchFamily="34" charset="0"/>
                <a:ea typeface="Calibri" pitchFamily="34" charset="-122"/>
                <a:cs typeface="Calibri" pitchFamily="34" charset="-120"/>
              </a:rPr>
              <a:t>  —  Servers can ask the user for additional structured input mid-interaction, validated against a JSON schema</a:t>
            </a:r>
            <a:endParaRPr lang="en-US" sz="1600" dirty="0"/>
          </a:p>
        </p:txBody>
      </p:sp>
      <p:sp>
        <p:nvSpPr>
          <p:cNvPr id="6" name="Shape 4"/>
          <p:cNvSpPr/>
          <p:nvPr/>
        </p:nvSpPr>
        <p:spPr>
          <a:xfrm>
            <a:off x="365760" y="4773168"/>
            <a:ext cx="8412480" cy="0"/>
          </a:xfrm>
          <a:prstGeom prst="line">
            <a:avLst/>
          </a:prstGeom>
          <a:noFill/>
          <a:ln w="6350">
            <a:solidFill>
              <a:srgbClr val="D1D5DB"/>
            </a:solidFill>
            <a:prstDash val="solid"/>
          </a:ln>
        </p:spPr>
      </p:sp>
      <p:sp>
        <p:nvSpPr>
          <p:cNvPr id="7" name="Text 5"/>
          <p:cNvSpPr/>
          <p:nvPr/>
        </p:nvSpPr>
        <p:spPr>
          <a:xfrm>
            <a:off x="384048" y="4818888"/>
            <a:ext cx="8275320" cy="182880"/>
          </a:xfrm>
          <a:prstGeom prst="rect">
            <a:avLst/>
          </a:prstGeom>
          <a:noFill/>
          <a:ln/>
        </p:spPr>
        <p:txBody>
          <a:bodyPr wrap="square" lIns="0" tIns="0" rIns="0" bIns="0" rtlCol="0" anchor="ctr">
            <a:normAutofit/>
          </a:bodyPr>
          <a:lstStyle/>
          <a:p>
            <a:pPr indent="0" marL="0">
              <a:buNone/>
            </a:pPr>
            <a:r>
              <a:rPr lang="en-US" sz="820" dirty="0">
                <a:solidFill>
                  <a:srgbClr val="6B7280"/>
                </a:solidFill>
                <a:latin typeface="Calibri" pitchFamily="34" charset="0"/>
                <a:ea typeface="Calibri" pitchFamily="34" charset="-122"/>
                <a:cs typeface="Calibri" pitchFamily="34" charset="-120"/>
              </a:rPr>
              <a:t>Source: https://modelcontextprotocol.io/specification/2025-06-18/client/roots  ·  +2 in notes</a:t>
            </a:r>
            <a:endParaRPr lang="en-US" sz="820" dirty="0"/>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4">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0" y="0"/>
            <a:ext cx="54864" cy="5143500"/>
          </a:xfrm>
          <a:prstGeom prst="rect">
            <a:avLst/>
          </a:prstGeom>
          <a:solidFill>
            <a:srgbClr val="1E2761"/>
          </a:solidFill>
          <a:ln/>
        </p:spPr>
      </p:sp>
      <p:sp>
        <p:nvSpPr>
          <p:cNvPr id="3" name="Text 1"/>
          <p:cNvSpPr/>
          <p:nvPr/>
        </p:nvSpPr>
        <p:spPr>
          <a:xfrm>
            <a:off x="5486400" y="256032"/>
            <a:ext cx="3337560" cy="228600"/>
          </a:xfrm>
          <a:prstGeom prst="rect">
            <a:avLst/>
          </a:prstGeom>
          <a:noFill/>
          <a:ln/>
        </p:spPr>
        <p:txBody>
          <a:bodyPr wrap="square" lIns="0" tIns="0" rIns="0" bIns="0" rtlCol="0" anchor="ctr">
            <a:normAutofit/>
          </a:bodyPr>
          <a:lstStyle/>
          <a:p>
            <a:pPr algn="r" indent="0" marL="0">
              <a:buNone/>
            </a:pPr>
            <a:r>
              <a:rPr lang="en-US" sz="950" dirty="0">
                <a:solidFill>
                  <a:srgbClr val="6B7280"/>
                </a:solidFill>
                <a:latin typeface="Calibri" pitchFamily="34" charset="0"/>
                <a:ea typeface="Calibri" pitchFamily="34" charset="-122"/>
                <a:cs typeface="Calibri" pitchFamily="34" charset="-120"/>
              </a:rPr>
              <a:t>Day 3 · Module 5</a:t>
            </a:r>
            <a:endParaRPr lang="en-US" sz="950" dirty="0"/>
          </a:p>
        </p:txBody>
      </p:sp>
      <p:sp>
        <p:nvSpPr>
          <p:cNvPr id="4" name="Text 2"/>
          <p:cNvSpPr/>
          <p:nvPr/>
        </p:nvSpPr>
        <p:spPr>
          <a:xfrm>
            <a:off x="365760" y="310896"/>
            <a:ext cx="6583680" cy="603504"/>
          </a:xfrm>
          <a:prstGeom prst="rect">
            <a:avLst/>
          </a:prstGeom>
          <a:noFill/>
          <a:ln/>
        </p:spPr>
        <p:txBody>
          <a:bodyPr wrap="square" lIns="0" tIns="0" rIns="0" bIns="0" rtlCol="0" anchor="ctr">
            <a:normAutofit/>
          </a:bodyPr>
          <a:lstStyle/>
          <a:p>
            <a:pPr indent="0" marL="0">
              <a:buNone/>
            </a:pPr>
            <a:r>
              <a:rPr lang="en-US" sz="2800" b="1" dirty="0">
                <a:solidFill>
                  <a:srgbClr val="1E2761"/>
                </a:solidFill>
                <a:latin typeface="Calibri" pitchFamily="34" charset="0"/>
                <a:ea typeface="Calibri" pitchFamily="34" charset="-122"/>
                <a:cs typeface="Calibri" pitchFamily="34" charset="-120"/>
              </a:rPr>
              <a:t>MCP Server Features</a:t>
            </a:r>
            <a:endParaRPr lang="en-US" sz="2800" dirty="0"/>
          </a:p>
        </p:txBody>
      </p:sp>
      <p:sp>
        <p:nvSpPr>
          <p:cNvPr id="5" name="Text 3"/>
          <p:cNvSpPr/>
          <p:nvPr/>
        </p:nvSpPr>
        <p:spPr>
          <a:xfrm>
            <a:off x="502920" y="1170432"/>
            <a:ext cx="7955280" cy="3520440"/>
          </a:xfrm>
          <a:prstGeom prst="rect">
            <a:avLst/>
          </a:prstGeom>
          <a:noFill/>
          <a:ln/>
        </p:spPr>
        <p:txBody>
          <a:bodyPr wrap="square" lIns="0" tIns="0" rIns="0" bIns="0" rtlCol="0" anchor="t">
            <a:normAutofit/>
          </a:bodyPr>
          <a:lstStyle/>
          <a:p>
            <a:pPr marL="342900" indent="-342900">
              <a:spcAft>
                <a:spcPts val="1000"/>
              </a:spcAft>
              <a:buSzPct val="100000"/>
              <a:buChar char="•"/>
            </a:pPr>
            <a:r>
              <a:rPr lang="en-US" sz="1600" b="1" dirty="0">
                <a:solidFill>
                  <a:srgbClr val="1E2761"/>
                </a:solidFill>
                <a:latin typeface="Calibri" pitchFamily="34" charset="0"/>
                <a:ea typeface="Calibri" pitchFamily="34" charset="-122"/>
                <a:cs typeface="Calibri" pitchFamily="34" charset="-120"/>
              </a:rPr>
              <a:t>Tools</a:t>
            </a:r>
            <a:pPr indent="0" marL="0">
              <a:spcAft>
                <a:spcPts val="1000"/>
              </a:spcAft>
              <a:buNone/>
            </a:pPr>
            <a:r>
              <a:rPr lang="en-US" sz="1600" dirty="0">
                <a:solidFill>
                  <a:srgbClr val="212121"/>
                </a:solidFill>
                <a:latin typeface="Calibri" pitchFamily="34" charset="0"/>
                <a:ea typeface="Calibri" pitchFamily="34" charset="-122"/>
                <a:cs typeface="Calibri" pitchFamily="34" charset="-120"/>
              </a:rPr>
              <a:t>  —  Model-callable functions that let an agent perform actions or invoke external systems — the loop covered next</a:t>
            </a:r>
            <a:endParaRPr lang="en-US" sz="1600" dirty="0"/>
          </a:p>
          <a:p>
            <a:pPr marL="342900" indent="-342900">
              <a:spcAft>
                <a:spcPts val="1000"/>
              </a:spcAft>
              <a:buSzPct val="100000"/>
              <a:buChar char="•"/>
            </a:pPr>
            <a:r>
              <a:rPr lang="en-US" sz="1600" b="1" dirty="0">
                <a:solidFill>
                  <a:srgbClr val="1E2761"/>
                </a:solidFill>
                <a:latin typeface="Calibri" pitchFamily="34" charset="0"/>
                <a:ea typeface="Calibri" pitchFamily="34" charset="-122"/>
                <a:cs typeface="Calibri" pitchFamily="34" charset="-120"/>
              </a:rPr>
              <a:t>Resources</a:t>
            </a:r>
            <a:pPr indent="0" marL="0">
              <a:spcAft>
                <a:spcPts val="1000"/>
              </a:spcAft>
              <a:buNone/>
            </a:pPr>
            <a:r>
              <a:rPr lang="en-US" sz="1600" dirty="0">
                <a:solidFill>
                  <a:srgbClr val="212121"/>
                </a:solidFill>
                <a:latin typeface="Calibri" pitchFamily="34" charset="0"/>
                <a:ea typeface="Calibri" pitchFamily="34" charset="-122"/>
                <a:cs typeface="Calibri" pitchFamily="34" charset="-120"/>
              </a:rPr>
              <a:t>  —  Context and data (files, schemas, app-specific info) a user or model can bring into the conversation</a:t>
            </a:r>
            <a:endParaRPr lang="en-US" sz="1600" dirty="0"/>
          </a:p>
          <a:p>
            <a:pPr marL="342900" indent="-342900">
              <a:spcAft>
                <a:spcPts val="1000"/>
              </a:spcAft>
              <a:buSzPct val="100000"/>
              <a:buChar char="•"/>
            </a:pPr>
            <a:r>
              <a:rPr lang="en-US" sz="1600" b="1" dirty="0">
                <a:solidFill>
                  <a:srgbClr val="1E2761"/>
                </a:solidFill>
                <a:latin typeface="Calibri" pitchFamily="34" charset="0"/>
                <a:ea typeface="Calibri" pitchFamily="34" charset="-122"/>
                <a:cs typeface="Calibri" pitchFamily="34" charset="-120"/>
              </a:rPr>
              <a:t>Prompts</a:t>
            </a:r>
            <a:pPr indent="0" marL="0">
              <a:spcAft>
                <a:spcPts val="1000"/>
              </a:spcAft>
              <a:buNone/>
            </a:pPr>
            <a:r>
              <a:rPr lang="en-US" sz="1600" dirty="0">
                <a:solidFill>
                  <a:srgbClr val="212121"/>
                </a:solidFill>
                <a:latin typeface="Calibri" pitchFamily="34" charset="0"/>
                <a:ea typeface="Calibri" pitchFamily="34" charset="-122"/>
                <a:cs typeface="Calibri" pitchFamily="34" charset="-120"/>
              </a:rPr>
              <a:t>  —  Reusable, user-triggered templates and workflows a server exposes, e.g. as slash commands</a:t>
            </a:r>
            <a:endParaRPr lang="en-US" sz="1600" dirty="0"/>
          </a:p>
          <a:p>
            <a:pPr marL="342900" indent="-342900">
              <a:spcAft>
                <a:spcPts val="1000"/>
              </a:spcAft>
              <a:buSzPct val="100000"/>
              <a:buChar char="•"/>
            </a:pPr>
            <a:r>
              <a:rPr lang="en-US" sz="1600" b="1" dirty="0">
                <a:solidFill>
                  <a:srgbClr val="1E2761"/>
                </a:solidFill>
                <a:latin typeface="Calibri" pitchFamily="34" charset="0"/>
                <a:ea typeface="Calibri" pitchFamily="34" charset="-122"/>
                <a:cs typeface="Calibri" pitchFamily="34" charset="-120"/>
              </a:rPr>
              <a:t>Utilities</a:t>
            </a:r>
            <a:pPr indent="0" marL="0">
              <a:spcAft>
                <a:spcPts val="1000"/>
              </a:spcAft>
              <a:buNone/>
            </a:pPr>
            <a:r>
              <a:rPr lang="en-US" sz="1600" dirty="0">
                <a:solidFill>
                  <a:srgbClr val="212121"/>
                </a:solidFill>
                <a:latin typeface="Calibri" pitchFamily="34" charset="0"/>
                <a:ea typeface="Calibri" pitchFamily="34" charset="-122"/>
                <a:cs typeface="Calibri" pitchFamily="34" charset="-120"/>
              </a:rPr>
              <a:t>  —  Completion (argument autocomplete), Logging (structured log levels), and Pagination (cursor-based paging for large list results)</a:t>
            </a:r>
            <a:endParaRPr lang="en-US" sz="1600" dirty="0"/>
          </a:p>
        </p:txBody>
      </p:sp>
      <p:sp>
        <p:nvSpPr>
          <p:cNvPr id="6" name="Shape 4"/>
          <p:cNvSpPr/>
          <p:nvPr/>
        </p:nvSpPr>
        <p:spPr>
          <a:xfrm>
            <a:off x="365760" y="4773168"/>
            <a:ext cx="8412480" cy="0"/>
          </a:xfrm>
          <a:prstGeom prst="line">
            <a:avLst/>
          </a:prstGeom>
          <a:noFill/>
          <a:ln w="6350">
            <a:solidFill>
              <a:srgbClr val="D1D5DB"/>
            </a:solidFill>
            <a:prstDash val="solid"/>
          </a:ln>
        </p:spPr>
      </p:sp>
      <p:sp>
        <p:nvSpPr>
          <p:cNvPr id="7" name="Text 5"/>
          <p:cNvSpPr/>
          <p:nvPr/>
        </p:nvSpPr>
        <p:spPr>
          <a:xfrm>
            <a:off x="384048" y="4818888"/>
            <a:ext cx="8275320" cy="182880"/>
          </a:xfrm>
          <a:prstGeom prst="rect">
            <a:avLst/>
          </a:prstGeom>
          <a:noFill/>
          <a:ln/>
        </p:spPr>
        <p:txBody>
          <a:bodyPr wrap="square" lIns="0" tIns="0" rIns="0" bIns="0" rtlCol="0" anchor="ctr">
            <a:normAutofit/>
          </a:bodyPr>
          <a:lstStyle/>
          <a:p>
            <a:pPr indent="0" marL="0">
              <a:buNone/>
            </a:pPr>
            <a:r>
              <a:rPr lang="en-US" sz="820" dirty="0">
                <a:solidFill>
                  <a:srgbClr val="6B7280"/>
                </a:solidFill>
                <a:latin typeface="Calibri" pitchFamily="34" charset="0"/>
                <a:ea typeface="Calibri" pitchFamily="34" charset="-122"/>
                <a:cs typeface="Calibri" pitchFamily="34" charset="-120"/>
              </a:rPr>
              <a:t>Source: https://modelcontextprotocol.io/specification/2025-06-18/server/tools  ·  +3 in notes</a:t>
            </a:r>
            <a:endParaRPr lang="en-US" sz="820" dirty="0"/>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5">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0" y="0"/>
            <a:ext cx="54864" cy="5143500"/>
          </a:xfrm>
          <a:prstGeom prst="rect">
            <a:avLst/>
          </a:prstGeom>
          <a:solidFill>
            <a:srgbClr val="1E2761"/>
          </a:solidFill>
          <a:ln/>
        </p:spPr>
      </p:sp>
      <p:sp>
        <p:nvSpPr>
          <p:cNvPr id="3" name="Text 1"/>
          <p:cNvSpPr/>
          <p:nvPr/>
        </p:nvSpPr>
        <p:spPr>
          <a:xfrm>
            <a:off x="5486400" y="256032"/>
            <a:ext cx="3337560" cy="228600"/>
          </a:xfrm>
          <a:prstGeom prst="rect">
            <a:avLst/>
          </a:prstGeom>
          <a:noFill/>
          <a:ln/>
        </p:spPr>
        <p:txBody>
          <a:bodyPr wrap="square" lIns="0" tIns="0" rIns="0" bIns="0" rtlCol="0" anchor="ctr">
            <a:normAutofit/>
          </a:bodyPr>
          <a:lstStyle/>
          <a:p>
            <a:pPr algn="r" indent="0" marL="0">
              <a:buNone/>
            </a:pPr>
            <a:r>
              <a:rPr lang="en-US" sz="950" dirty="0">
                <a:solidFill>
                  <a:srgbClr val="6B7280"/>
                </a:solidFill>
                <a:latin typeface="Calibri" pitchFamily="34" charset="0"/>
                <a:ea typeface="Calibri" pitchFamily="34" charset="-122"/>
                <a:cs typeface="Calibri" pitchFamily="34" charset="-120"/>
              </a:rPr>
              <a:t>Day 3 · Module 5</a:t>
            </a:r>
            <a:endParaRPr lang="en-US" sz="950" dirty="0"/>
          </a:p>
        </p:txBody>
      </p:sp>
      <p:sp>
        <p:nvSpPr>
          <p:cNvPr id="4" name="Text 2"/>
          <p:cNvSpPr/>
          <p:nvPr/>
        </p:nvSpPr>
        <p:spPr>
          <a:xfrm>
            <a:off x="365760" y="310896"/>
            <a:ext cx="6583680" cy="603504"/>
          </a:xfrm>
          <a:prstGeom prst="rect">
            <a:avLst/>
          </a:prstGeom>
          <a:noFill/>
          <a:ln/>
        </p:spPr>
        <p:txBody>
          <a:bodyPr wrap="square" lIns="0" tIns="0" rIns="0" bIns="0" rtlCol="0" anchor="ctr">
            <a:normAutofit/>
          </a:bodyPr>
          <a:lstStyle/>
          <a:p>
            <a:pPr indent="0" marL="0">
              <a:buNone/>
            </a:pPr>
            <a:r>
              <a:rPr lang="en-US" sz="2800" b="1" dirty="0">
                <a:solidFill>
                  <a:srgbClr val="1E2761"/>
                </a:solidFill>
                <a:latin typeface="Calibri" pitchFamily="34" charset="0"/>
                <a:ea typeface="Calibri" pitchFamily="34" charset="-122"/>
                <a:cs typeface="Calibri" pitchFamily="34" charset="-120"/>
              </a:rPr>
              <a:t>MCP Tool Message Flow</a:t>
            </a:r>
            <a:endParaRPr lang="en-US" sz="2800" dirty="0"/>
          </a:p>
        </p:txBody>
      </p:sp>
      <p:pic>
        <p:nvPicPr>
          <p:cNvPr id="5" name="Image 0" descr="[object Object]">    </p:cNvPr>
          <p:cNvPicPr>
            <a:picLocks noChangeAspect="1"/>
          </p:cNvPicPr>
          <p:nvPr/>
        </p:nvPicPr>
        <p:blipFill>
          <a:blip r:embed="rId1"/>
          <a:stretch>
            <a:fillRect/>
          </a:stretch>
        </p:blipFill>
        <p:spPr>
          <a:xfrm>
            <a:off x="3025729" y="1078992"/>
            <a:ext cx="3092542" cy="3630168"/>
          </a:xfrm>
          <a:prstGeom prst="rect">
            <a:avLst/>
          </a:prstGeom>
        </p:spPr>
      </p:pic>
      <p:sp>
        <p:nvSpPr>
          <p:cNvPr id="6" name="Shape 3"/>
          <p:cNvSpPr/>
          <p:nvPr/>
        </p:nvSpPr>
        <p:spPr>
          <a:xfrm>
            <a:off x="365760" y="4773168"/>
            <a:ext cx="8412480" cy="0"/>
          </a:xfrm>
          <a:prstGeom prst="line">
            <a:avLst/>
          </a:prstGeom>
          <a:noFill/>
          <a:ln w="6350">
            <a:solidFill>
              <a:srgbClr val="D1D5DB"/>
            </a:solidFill>
            <a:prstDash val="solid"/>
          </a:ln>
        </p:spPr>
      </p:sp>
      <p:sp>
        <p:nvSpPr>
          <p:cNvPr id="7" name="Text 4"/>
          <p:cNvSpPr/>
          <p:nvPr/>
        </p:nvSpPr>
        <p:spPr>
          <a:xfrm>
            <a:off x="384048" y="4818888"/>
            <a:ext cx="8275320" cy="182880"/>
          </a:xfrm>
          <a:prstGeom prst="rect">
            <a:avLst/>
          </a:prstGeom>
          <a:noFill/>
          <a:ln/>
        </p:spPr>
        <p:txBody>
          <a:bodyPr wrap="square" lIns="0" tIns="0" rIns="0" bIns="0" rtlCol="0" anchor="ctr">
            <a:normAutofit/>
          </a:bodyPr>
          <a:lstStyle/>
          <a:p>
            <a:pPr indent="0" marL="0">
              <a:buNone/>
            </a:pPr>
            <a:r>
              <a:rPr lang="en-US" sz="820" dirty="0">
                <a:solidFill>
                  <a:srgbClr val="6B7280"/>
                </a:solidFill>
                <a:latin typeface="Calibri" pitchFamily="34" charset="0"/>
                <a:ea typeface="Calibri" pitchFamily="34" charset="-122"/>
                <a:cs typeface="Calibri" pitchFamily="34" charset="-120"/>
              </a:rPr>
              <a:t>Source: https://modelcontextprotocol.io/specification/2025-06-18/server/tools</a:t>
            </a:r>
            <a:endParaRPr lang="en-US" sz="820" dirty="0"/>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name="Slide 6">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0" y="0"/>
            <a:ext cx="54864" cy="5143500"/>
          </a:xfrm>
          <a:prstGeom prst="rect">
            <a:avLst/>
          </a:prstGeom>
          <a:solidFill>
            <a:srgbClr val="1E2761"/>
          </a:solidFill>
          <a:ln/>
        </p:spPr>
      </p:sp>
      <p:sp>
        <p:nvSpPr>
          <p:cNvPr id="3" name="Text 1"/>
          <p:cNvSpPr/>
          <p:nvPr/>
        </p:nvSpPr>
        <p:spPr>
          <a:xfrm>
            <a:off x="5486400" y="256032"/>
            <a:ext cx="3337560" cy="228600"/>
          </a:xfrm>
          <a:prstGeom prst="rect">
            <a:avLst/>
          </a:prstGeom>
          <a:noFill/>
          <a:ln/>
        </p:spPr>
        <p:txBody>
          <a:bodyPr wrap="square" lIns="0" tIns="0" rIns="0" bIns="0" rtlCol="0" anchor="ctr">
            <a:normAutofit/>
          </a:bodyPr>
          <a:lstStyle/>
          <a:p>
            <a:pPr algn="r" indent="0" marL="0">
              <a:buNone/>
            </a:pPr>
            <a:r>
              <a:rPr lang="en-US" sz="950" dirty="0">
                <a:solidFill>
                  <a:srgbClr val="6B7280"/>
                </a:solidFill>
                <a:latin typeface="Calibri" pitchFamily="34" charset="0"/>
                <a:ea typeface="Calibri" pitchFamily="34" charset="-122"/>
                <a:cs typeface="Calibri" pitchFamily="34" charset="-120"/>
              </a:rPr>
              <a:t>Day 3 · Module 5</a:t>
            </a:r>
            <a:endParaRPr lang="en-US" sz="950" dirty="0"/>
          </a:p>
        </p:txBody>
      </p:sp>
      <p:sp>
        <p:nvSpPr>
          <p:cNvPr id="4" name="Text 2"/>
          <p:cNvSpPr/>
          <p:nvPr/>
        </p:nvSpPr>
        <p:spPr>
          <a:xfrm>
            <a:off x="365760" y="310896"/>
            <a:ext cx="6583680" cy="603504"/>
          </a:xfrm>
          <a:prstGeom prst="rect">
            <a:avLst/>
          </a:prstGeom>
          <a:noFill/>
          <a:ln/>
        </p:spPr>
        <p:txBody>
          <a:bodyPr wrap="square" lIns="0" tIns="0" rIns="0" bIns="0" rtlCol="0" anchor="ctr">
            <a:normAutofit/>
          </a:bodyPr>
          <a:lstStyle/>
          <a:p>
            <a:pPr indent="0" marL="0">
              <a:buNone/>
            </a:pPr>
            <a:r>
              <a:rPr lang="en-US" sz="2500" b="1" dirty="0">
                <a:solidFill>
                  <a:srgbClr val="1E2761"/>
                </a:solidFill>
                <a:latin typeface="Calibri" pitchFamily="34" charset="0"/>
                <a:ea typeface="Calibri" pitchFamily="34" charset="-122"/>
                <a:cs typeface="Calibri" pitchFamily="34" charset="-120"/>
              </a:rPr>
              <a:t>Pick the transport that matches the server</a:t>
            </a:r>
            <a:endParaRPr lang="en-US" sz="2500" dirty="0"/>
          </a:p>
        </p:txBody>
      </p:sp>
      <p:graphicFrame>
        <p:nvGraphicFramePr>
          <p:cNvPr id="7" name="Table 0"/>
          <p:cNvGraphicFramePr>
            <a:graphicFrameLocks noGrp="1"/>
          </p:cNvGraphicFramePr>
          <p:nvPr>
            <p:extLst>
              <p:ext uri="{D42A27DB-BD31-4B8C-83A1-F6EECF244321}">
                <p14:modId xmlns:p14="http://schemas.microsoft.com/office/powerpoint/2010/main" val="1579011935"/>
              </p:ext>
            </p:extLst>
          </p:nvPr>
        </p:nvGraphicFramePr>
        <p:xfrm>
          <a:off x="365760" y="1078992"/>
          <a:ext cx="8412480" cy="914400"/>
        </p:xfrm>
        <a:graphic>
          <a:graphicData uri="http://schemas.openxmlformats.org/drawingml/2006/table">
            <a:tbl>
              <a:tblPr/>
              <a:tblGrid>
                <a:gridCol w="2804160"/>
                <a:gridCol w="2804160"/>
                <a:gridCol w="2804160"/>
              </a:tblGrid>
              <a:tr h="658368">
                <a:tc>
                  <a:txBody>
                    <a:bodyPr/>
                    <a:lstStyle/>
                    <a:p>
                      <a:pPr indent="0" marL="0">
                        <a:buNone/>
                      </a:pPr>
                      <a:r>
                        <a:rPr lang="en-US" sz="1100" b="1" dirty="0">
                          <a:solidFill>
                            <a:srgbClr val="FFFFFF"/>
                          </a:solidFill>
                          <a:latin typeface="Calibri" pitchFamily="34" charset="0"/>
                          <a:ea typeface="Calibri" pitchFamily="34" charset="-122"/>
                          <a:cs typeface="Calibri" pitchFamily="34" charset="-120"/>
                        </a:rPr>
                        <a:t>MAF type</a:t>
                      </a:r>
                      <a:endParaRPr lang="en-US" sz="1100" dirty="0">
                        <a:latin typeface="Calibri" charset="0"/>
                        <a:ea typeface="Calibri" charset="0"/>
                        <a:cs typeface="Calibri" charset="0"/>
                      </a:endParaRPr>
                    </a:p>
                  </a:txBody>
                  <a:tcPr marL="54864" marR="54864" marT="54864" marB="54864" anchor="ctr">
                    <a:lnL w="6350" cap="flat" cmpd="sng" algn="ctr">
                      <a:solidFill>
                        <a:srgbClr val="D1D5DB"/>
                      </a:solidFill>
                      <a:prstDash val="solid"/>
                      <a:round/>
                      <a:headEnd type="none" w="med" len="med"/>
                      <a:tailEnd type="none" w="med" len="med"/>
                    </a:lnL>
                    <a:lnR w="6350" cap="flat" cmpd="sng" algn="ctr">
                      <a:solidFill>
                        <a:srgbClr val="D1D5DB"/>
                      </a:solidFill>
                      <a:prstDash val="solid"/>
                      <a:round/>
                      <a:headEnd type="none" w="med" len="med"/>
                      <a:tailEnd type="none" w="med" len="med"/>
                    </a:lnR>
                    <a:lnT w="6350" cap="flat" cmpd="sng" algn="ctr">
                      <a:solidFill>
                        <a:srgbClr val="D1D5DB"/>
                      </a:solidFill>
                      <a:prstDash val="solid"/>
                      <a:round/>
                      <a:headEnd type="none" w="med" len="med"/>
                      <a:tailEnd type="none" w="med" len="med"/>
                    </a:lnT>
                    <a:lnB w="6350" cap="flat" cmpd="sng" algn="ctr">
                      <a:solidFill>
                        <a:srgbClr val="D1D5DB"/>
                      </a:solidFill>
                      <a:prstDash val="solid"/>
                      <a:round/>
                      <a:headEnd type="none" w="med" len="med"/>
                      <a:tailEnd type="none" w="med" len="med"/>
                    </a:lnB>
                    <a:solidFill>
                      <a:srgbClr val="1E2761"/>
                    </a:solidFill>
                  </a:tcPr>
                </a:tc>
                <a:tc>
                  <a:txBody>
                    <a:bodyPr/>
                    <a:lstStyle/>
                    <a:p>
                      <a:pPr indent="0" marL="0">
                        <a:buNone/>
                      </a:pPr>
                      <a:r>
                        <a:rPr lang="en-US" sz="1100" b="1" dirty="0">
                          <a:solidFill>
                            <a:srgbClr val="FFFFFF"/>
                          </a:solidFill>
                          <a:latin typeface="Calibri" pitchFamily="34" charset="0"/>
                          <a:ea typeface="Calibri" pitchFamily="34" charset="-122"/>
                          <a:cs typeface="Calibri" pitchFamily="34" charset="-120"/>
                        </a:rPr>
                        <a:t>Connection</a:t>
                      </a:r>
                      <a:endParaRPr lang="en-US" sz="1100" dirty="0">
                        <a:latin typeface="Calibri" charset="0"/>
                        <a:ea typeface="Calibri" charset="0"/>
                        <a:cs typeface="Calibri" charset="0"/>
                      </a:endParaRPr>
                    </a:p>
                  </a:txBody>
                  <a:tcPr marL="54864" marR="54864" marT="54864" marB="54864" anchor="ctr">
                    <a:lnL w="6350" cap="flat" cmpd="sng" algn="ctr">
                      <a:solidFill>
                        <a:srgbClr val="D1D5DB"/>
                      </a:solidFill>
                      <a:prstDash val="solid"/>
                      <a:round/>
                      <a:headEnd type="none" w="med" len="med"/>
                      <a:tailEnd type="none" w="med" len="med"/>
                    </a:lnL>
                    <a:lnR w="6350" cap="flat" cmpd="sng" algn="ctr">
                      <a:solidFill>
                        <a:srgbClr val="D1D5DB"/>
                      </a:solidFill>
                      <a:prstDash val="solid"/>
                      <a:round/>
                      <a:headEnd type="none" w="med" len="med"/>
                      <a:tailEnd type="none" w="med" len="med"/>
                    </a:lnR>
                    <a:lnT w="6350" cap="flat" cmpd="sng" algn="ctr">
                      <a:solidFill>
                        <a:srgbClr val="D1D5DB"/>
                      </a:solidFill>
                      <a:prstDash val="solid"/>
                      <a:round/>
                      <a:headEnd type="none" w="med" len="med"/>
                      <a:tailEnd type="none" w="med" len="med"/>
                    </a:lnT>
                    <a:lnB w="6350" cap="flat" cmpd="sng" algn="ctr">
                      <a:solidFill>
                        <a:srgbClr val="D1D5DB"/>
                      </a:solidFill>
                      <a:prstDash val="solid"/>
                      <a:round/>
                      <a:headEnd type="none" w="med" len="med"/>
                      <a:tailEnd type="none" w="med" len="med"/>
                    </a:lnB>
                    <a:solidFill>
                      <a:srgbClr val="1E2761"/>
                    </a:solidFill>
                  </a:tcPr>
                </a:tc>
                <a:tc>
                  <a:txBody>
                    <a:bodyPr/>
                    <a:lstStyle/>
                    <a:p>
                      <a:pPr indent="0" marL="0">
                        <a:buNone/>
                      </a:pPr>
                      <a:r>
                        <a:rPr lang="en-US" sz="1100" b="1" dirty="0">
                          <a:solidFill>
                            <a:srgbClr val="FFFFFF"/>
                          </a:solidFill>
                          <a:latin typeface="Calibri" pitchFamily="34" charset="0"/>
                          <a:ea typeface="Calibri" pitchFamily="34" charset="-122"/>
                          <a:cs typeface="Calibri" pitchFamily="34" charset="-120"/>
                        </a:rPr>
                        <a:t>Use when</a:t>
                      </a:r>
                      <a:endParaRPr lang="en-US" sz="1100" dirty="0">
                        <a:latin typeface="Calibri" charset="0"/>
                        <a:ea typeface="Calibri" charset="0"/>
                        <a:cs typeface="Calibri" charset="0"/>
                      </a:endParaRPr>
                    </a:p>
                  </a:txBody>
                  <a:tcPr marL="54864" marR="54864" marT="54864" marB="54864" anchor="ctr">
                    <a:lnL w="6350" cap="flat" cmpd="sng" algn="ctr">
                      <a:solidFill>
                        <a:srgbClr val="D1D5DB"/>
                      </a:solidFill>
                      <a:prstDash val="solid"/>
                      <a:round/>
                      <a:headEnd type="none" w="med" len="med"/>
                      <a:tailEnd type="none" w="med" len="med"/>
                    </a:lnL>
                    <a:lnR w="6350" cap="flat" cmpd="sng" algn="ctr">
                      <a:solidFill>
                        <a:srgbClr val="D1D5DB"/>
                      </a:solidFill>
                      <a:prstDash val="solid"/>
                      <a:round/>
                      <a:headEnd type="none" w="med" len="med"/>
                      <a:tailEnd type="none" w="med" len="med"/>
                    </a:lnR>
                    <a:lnT w="6350" cap="flat" cmpd="sng" algn="ctr">
                      <a:solidFill>
                        <a:srgbClr val="D1D5DB"/>
                      </a:solidFill>
                      <a:prstDash val="solid"/>
                      <a:round/>
                      <a:headEnd type="none" w="med" len="med"/>
                      <a:tailEnd type="none" w="med" len="med"/>
                    </a:lnT>
                    <a:lnB w="6350" cap="flat" cmpd="sng" algn="ctr">
                      <a:solidFill>
                        <a:srgbClr val="D1D5DB"/>
                      </a:solidFill>
                      <a:prstDash val="solid"/>
                      <a:round/>
                      <a:headEnd type="none" w="med" len="med"/>
                      <a:tailEnd type="none" w="med" len="med"/>
                    </a:lnB>
                    <a:solidFill>
                      <a:srgbClr val="1E2761"/>
                    </a:solidFill>
                  </a:tcPr>
                </a:tc>
              </a:tr>
              <a:tr h="658368">
                <a:tc>
                  <a:txBody>
                    <a:bodyPr/>
                    <a:lstStyle/>
                    <a:p>
                      <a:pPr indent="0" marL="0">
                        <a:buNone/>
                      </a:pPr>
                      <a:r>
                        <a:rPr lang="en-US" sz="1100" dirty="0">
                          <a:solidFill>
                            <a:srgbClr val="212121"/>
                          </a:solidFill>
                          <a:latin typeface="Calibri" pitchFamily="34" charset="0"/>
                          <a:ea typeface="Calibri" pitchFamily="34" charset="-122"/>
                          <a:cs typeface="Calibri" pitchFamily="34" charset="-120"/>
                        </a:rPr>
                        <a:t>MCPStdioTool</a:t>
                      </a:r>
                      <a:endParaRPr lang="en-US" sz="1100" dirty="0">
                        <a:latin typeface="Calibri" charset="0"/>
                        <a:ea typeface="Calibri" charset="0"/>
                        <a:cs typeface="Calibri" charset="0"/>
                      </a:endParaRPr>
                    </a:p>
                  </a:txBody>
                  <a:tcPr marL="54864" marR="54864" marT="54864" marB="54864" anchor="ctr">
                    <a:lnL w="6350" cap="flat" cmpd="sng" algn="ctr">
                      <a:solidFill>
                        <a:srgbClr val="D1D5DB"/>
                      </a:solidFill>
                      <a:prstDash val="solid"/>
                      <a:round/>
                      <a:headEnd type="none" w="med" len="med"/>
                      <a:tailEnd type="none" w="med" len="med"/>
                    </a:lnL>
                    <a:lnR w="6350" cap="flat" cmpd="sng" algn="ctr">
                      <a:solidFill>
                        <a:srgbClr val="D1D5DB"/>
                      </a:solidFill>
                      <a:prstDash val="solid"/>
                      <a:round/>
                      <a:headEnd type="none" w="med" len="med"/>
                      <a:tailEnd type="none" w="med" len="med"/>
                    </a:lnR>
                    <a:lnT w="6350" cap="flat" cmpd="sng" algn="ctr">
                      <a:solidFill>
                        <a:srgbClr val="D1D5DB"/>
                      </a:solidFill>
                      <a:prstDash val="solid"/>
                      <a:round/>
                      <a:headEnd type="none" w="med" len="med"/>
                      <a:tailEnd type="none" w="med" len="med"/>
                    </a:lnT>
                    <a:lnB w="6350" cap="flat" cmpd="sng" algn="ctr">
                      <a:solidFill>
                        <a:srgbClr val="D1D5DB"/>
                      </a:solidFill>
                      <a:prstDash val="solid"/>
                      <a:round/>
                      <a:headEnd type="none" w="med" len="med"/>
                      <a:tailEnd type="none" w="med" len="med"/>
                    </a:lnB>
                    <a:solidFill>
                      <a:srgbClr val="FFFFFF"/>
                    </a:solidFill>
                  </a:tcPr>
                </a:tc>
                <a:tc>
                  <a:txBody>
                    <a:bodyPr/>
                    <a:lstStyle/>
                    <a:p>
                      <a:pPr indent="0" marL="0">
                        <a:buNone/>
                      </a:pPr>
                      <a:r>
                        <a:rPr lang="en-US" sz="1100" dirty="0">
                          <a:solidFill>
                            <a:srgbClr val="212121"/>
                          </a:solidFill>
                          <a:latin typeface="Calibri" pitchFamily="34" charset="0"/>
                          <a:ea typeface="Calibri" pitchFamily="34" charset="-122"/>
                          <a:cs typeface="Calibri" pitchFamily="34" charset="-120"/>
                        </a:rPr>
                        <a:t>Local child process over stdin/stdout</a:t>
                      </a:r>
                      <a:endParaRPr lang="en-US" sz="1100" dirty="0">
                        <a:latin typeface="Calibri" charset="0"/>
                        <a:ea typeface="Calibri" charset="0"/>
                        <a:cs typeface="Calibri" charset="0"/>
                      </a:endParaRPr>
                    </a:p>
                  </a:txBody>
                  <a:tcPr marL="54864" marR="54864" marT="54864" marB="54864" anchor="ctr">
                    <a:lnL w="6350" cap="flat" cmpd="sng" algn="ctr">
                      <a:solidFill>
                        <a:srgbClr val="D1D5DB"/>
                      </a:solidFill>
                      <a:prstDash val="solid"/>
                      <a:round/>
                      <a:headEnd type="none" w="med" len="med"/>
                      <a:tailEnd type="none" w="med" len="med"/>
                    </a:lnL>
                    <a:lnR w="6350" cap="flat" cmpd="sng" algn="ctr">
                      <a:solidFill>
                        <a:srgbClr val="D1D5DB"/>
                      </a:solidFill>
                      <a:prstDash val="solid"/>
                      <a:round/>
                      <a:headEnd type="none" w="med" len="med"/>
                      <a:tailEnd type="none" w="med" len="med"/>
                    </a:lnR>
                    <a:lnT w="6350" cap="flat" cmpd="sng" algn="ctr">
                      <a:solidFill>
                        <a:srgbClr val="D1D5DB"/>
                      </a:solidFill>
                      <a:prstDash val="solid"/>
                      <a:round/>
                      <a:headEnd type="none" w="med" len="med"/>
                      <a:tailEnd type="none" w="med" len="med"/>
                    </a:lnT>
                    <a:lnB w="6350" cap="flat" cmpd="sng" algn="ctr">
                      <a:solidFill>
                        <a:srgbClr val="D1D5DB"/>
                      </a:solidFill>
                      <a:prstDash val="solid"/>
                      <a:round/>
                      <a:headEnd type="none" w="med" len="med"/>
                      <a:tailEnd type="none" w="med" len="med"/>
                    </a:lnB>
                    <a:solidFill>
                      <a:srgbClr val="FFFFFF"/>
                    </a:solidFill>
                  </a:tcPr>
                </a:tc>
                <a:tc>
                  <a:txBody>
                    <a:bodyPr/>
                    <a:lstStyle/>
                    <a:p>
                      <a:pPr indent="0" marL="0">
                        <a:buNone/>
                      </a:pPr>
                      <a:r>
                        <a:rPr lang="en-US" sz="1100" dirty="0">
                          <a:solidFill>
                            <a:srgbClr val="212121"/>
                          </a:solidFill>
                          <a:latin typeface="Calibri" pitchFamily="34" charset="0"/>
                          <a:ea typeface="Calibri" pitchFamily="34" charset="-122"/>
                          <a:cs typeface="Calibri" pitchFamily="34" charset="-120"/>
                        </a:rPr>
                        <a:t>You launch and trust a local server</a:t>
                      </a:r>
                      <a:endParaRPr lang="en-US" sz="1100" dirty="0">
                        <a:latin typeface="Calibri" charset="0"/>
                        <a:ea typeface="Calibri" charset="0"/>
                        <a:cs typeface="Calibri" charset="0"/>
                      </a:endParaRPr>
                    </a:p>
                  </a:txBody>
                  <a:tcPr marL="54864" marR="54864" marT="54864" marB="54864" anchor="ctr">
                    <a:lnL w="6350" cap="flat" cmpd="sng" algn="ctr">
                      <a:solidFill>
                        <a:srgbClr val="D1D5DB"/>
                      </a:solidFill>
                      <a:prstDash val="solid"/>
                      <a:round/>
                      <a:headEnd type="none" w="med" len="med"/>
                      <a:tailEnd type="none" w="med" len="med"/>
                    </a:lnL>
                    <a:lnR w="6350" cap="flat" cmpd="sng" algn="ctr">
                      <a:solidFill>
                        <a:srgbClr val="D1D5DB"/>
                      </a:solidFill>
                      <a:prstDash val="solid"/>
                      <a:round/>
                      <a:headEnd type="none" w="med" len="med"/>
                      <a:tailEnd type="none" w="med" len="med"/>
                    </a:lnR>
                    <a:lnT w="6350" cap="flat" cmpd="sng" algn="ctr">
                      <a:solidFill>
                        <a:srgbClr val="D1D5DB"/>
                      </a:solidFill>
                      <a:prstDash val="solid"/>
                      <a:round/>
                      <a:headEnd type="none" w="med" len="med"/>
                      <a:tailEnd type="none" w="med" len="med"/>
                    </a:lnT>
                    <a:lnB w="6350" cap="flat" cmpd="sng" algn="ctr">
                      <a:solidFill>
                        <a:srgbClr val="D1D5DB"/>
                      </a:solidFill>
                      <a:prstDash val="solid"/>
                      <a:round/>
                      <a:headEnd type="none" w="med" len="med"/>
                      <a:tailEnd type="none" w="med" len="med"/>
                    </a:lnB>
                    <a:solidFill>
                      <a:srgbClr val="FFFFFF"/>
                    </a:solidFill>
                  </a:tcPr>
                </a:tc>
              </a:tr>
              <a:tr h="658368">
                <a:tc>
                  <a:txBody>
                    <a:bodyPr/>
                    <a:lstStyle/>
                    <a:p>
                      <a:pPr indent="0" marL="0">
                        <a:buNone/>
                      </a:pPr>
                      <a:r>
                        <a:rPr lang="en-US" sz="1100" dirty="0">
                          <a:solidFill>
                            <a:srgbClr val="212121"/>
                          </a:solidFill>
                          <a:latin typeface="Calibri" pitchFamily="34" charset="0"/>
                          <a:ea typeface="Calibri" pitchFamily="34" charset="-122"/>
                          <a:cs typeface="Calibri" pitchFamily="34" charset="-120"/>
                        </a:rPr>
                        <a:t>MCPStreamableHTTPTool</a:t>
                      </a:r>
                      <a:endParaRPr lang="en-US" sz="1100" dirty="0">
                        <a:latin typeface="Calibri" charset="0"/>
                        <a:ea typeface="Calibri" charset="0"/>
                        <a:cs typeface="Calibri" charset="0"/>
                      </a:endParaRPr>
                    </a:p>
                  </a:txBody>
                  <a:tcPr marL="54864" marR="54864" marT="54864" marB="54864" anchor="ctr">
                    <a:lnL w="6350" cap="flat" cmpd="sng" algn="ctr">
                      <a:solidFill>
                        <a:srgbClr val="D1D5DB"/>
                      </a:solidFill>
                      <a:prstDash val="solid"/>
                      <a:round/>
                      <a:headEnd type="none" w="med" len="med"/>
                      <a:tailEnd type="none" w="med" len="med"/>
                    </a:lnL>
                    <a:lnR w="6350" cap="flat" cmpd="sng" algn="ctr">
                      <a:solidFill>
                        <a:srgbClr val="D1D5DB"/>
                      </a:solidFill>
                      <a:prstDash val="solid"/>
                      <a:round/>
                      <a:headEnd type="none" w="med" len="med"/>
                      <a:tailEnd type="none" w="med" len="med"/>
                    </a:lnR>
                    <a:lnT w="6350" cap="flat" cmpd="sng" algn="ctr">
                      <a:solidFill>
                        <a:srgbClr val="D1D5DB"/>
                      </a:solidFill>
                      <a:prstDash val="solid"/>
                      <a:round/>
                      <a:headEnd type="none" w="med" len="med"/>
                      <a:tailEnd type="none" w="med" len="med"/>
                    </a:lnT>
                    <a:lnB w="6350" cap="flat" cmpd="sng" algn="ctr">
                      <a:solidFill>
                        <a:srgbClr val="D1D5DB"/>
                      </a:solidFill>
                      <a:prstDash val="solid"/>
                      <a:round/>
                      <a:headEnd type="none" w="med" len="med"/>
                      <a:tailEnd type="none" w="med" len="med"/>
                    </a:lnB>
                    <a:solidFill>
                      <a:srgbClr val="F3F4F6"/>
                    </a:solidFill>
                  </a:tcPr>
                </a:tc>
                <a:tc>
                  <a:txBody>
                    <a:bodyPr/>
                    <a:lstStyle/>
                    <a:p>
                      <a:pPr indent="0" marL="0">
                        <a:buNone/>
                      </a:pPr>
                      <a:r>
                        <a:rPr lang="en-US" sz="1100" dirty="0">
                          <a:solidFill>
                            <a:srgbClr val="212121"/>
                          </a:solidFill>
                          <a:latin typeface="Calibri" pitchFamily="34" charset="0"/>
                          <a:ea typeface="Calibri" pitchFamily="34" charset="-122"/>
                          <a:cs typeface="Calibri" pitchFamily="34" charset="-120"/>
                        </a:rPr>
                        <a:t>Remote HTTP with streamable responses/SSE</a:t>
                      </a:r>
                      <a:endParaRPr lang="en-US" sz="1100" dirty="0">
                        <a:latin typeface="Calibri" charset="0"/>
                        <a:ea typeface="Calibri" charset="0"/>
                        <a:cs typeface="Calibri" charset="0"/>
                      </a:endParaRPr>
                    </a:p>
                  </a:txBody>
                  <a:tcPr marL="54864" marR="54864" marT="54864" marB="54864" anchor="ctr">
                    <a:lnL w="6350" cap="flat" cmpd="sng" algn="ctr">
                      <a:solidFill>
                        <a:srgbClr val="D1D5DB"/>
                      </a:solidFill>
                      <a:prstDash val="solid"/>
                      <a:round/>
                      <a:headEnd type="none" w="med" len="med"/>
                      <a:tailEnd type="none" w="med" len="med"/>
                    </a:lnL>
                    <a:lnR w="6350" cap="flat" cmpd="sng" algn="ctr">
                      <a:solidFill>
                        <a:srgbClr val="D1D5DB"/>
                      </a:solidFill>
                      <a:prstDash val="solid"/>
                      <a:round/>
                      <a:headEnd type="none" w="med" len="med"/>
                      <a:tailEnd type="none" w="med" len="med"/>
                    </a:lnR>
                    <a:lnT w="6350" cap="flat" cmpd="sng" algn="ctr">
                      <a:solidFill>
                        <a:srgbClr val="D1D5DB"/>
                      </a:solidFill>
                      <a:prstDash val="solid"/>
                      <a:round/>
                      <a:headEnd type="none" w="med" len="med"/>
                      <a:tailEnd type="none" w="med" len="med"/>
                    </a:lnT>
                    <a:lnB w="6350" cap="flat" cmpd="sng" algn="ctr">
                      <a:solidFill>
                        <a:srgbClr val="D1D5DB"/>
                      </a:solidFill>
                      <a:prstDash val="solid"/>
                      <a:round/>
                      <a:headEnd type="none" w="med" len="med"/>
                      <a:tailEnd type="none" w="med" len="med"/>
                    </a:lnB>
                    <a:solidFill>
                      <a:srgbClr val="F3F4F6"/>
                    </a:solidFill>
                  </a:tcPr>
                </a:tc>
                <a:tc>
                  <a:txBody>
                    <a:bodyPr/>
                    <a:lstStyle/>
                    <a:p>
                      <a:pPr indent="0" marL="0">
                        <a:buNone/>
                      </a:pPr>
                      <a:r>
                        <a:rPr lang="en-US" sz="1100" dirty="0">
                          <a:solidFill>
                            <a:srgbClr val="212121"/>
                          </a:solidFill>
                          <a:latin typeface="Calibri" pitchFamily="34" charset="0"/>
                          <a:ea typeface="Calibri" pitchFamily="34" charset="-122"/>
                          <a:cs typeface="Calibri" pitchFamily="34" charset="-120"/>
                        </a:rPr>
                        <a:t>A hosted endpoint exposes MCP over HTTP</a:t>
                      </a:r>
                      <a:endParaRPr lang="en-US" sz="1100" dirty="0">
                        <a:latin typeface="Calibri" charset="0"/>
                        <a:ea typeface="Calibri" charset="0"/>
                        <a:cs typeface="Calibri" charset="0"/>
                      </a:endParaRPr>
                    </a:p>
                  </a:txBody>
                  <a:tcPr marL="54864" marR="54864" marT="54864" marB="54864" anchor="ctr">
                    <a:lnL w="6350" cap="flat" cmpd="sng" algn="ctr">
                      <a:solidFill>
                        <a:srgbClr val="D1D5DB"/>
                      </a:solidFill>
                      <a:prstDash val="solid"/>
                      <a:round/>
                      <a:headEnd type="none" w="med" len="med"/>
                      <a:tailEnd type="none" w="med" len="med"/>
                    </a:lnL>
                    <a:lnR w="6350" cap="flat" cmpd="sng" algn="ctr">
                      <a:solidFill>
                        <a:srgbClr val="D1D5DB"/>
                      </a:solidFill>
                      <a:prstDash val="solid"/>
                      <a:round/>
                      <a:headEnd type="none" w="med" len="med"/>
                      <a:tailEnd type="none" w="med" len="med"/>
                    </a:lnR>
                    <a:lnT w="6350" cap="flat" cmpd="sng" algn="ctr">
                      <a:solidFill>
                        <a:srgbClr val="D1D5DB"/>
                      </a:solidFill>
                      <a:prstDash val="solid"/>
                      <a:round/>
                      <a:headEnd type="none" w="med" len="med"/>
                      <a:tailEnd type="none" w="med" len="med"/>
                    </a:lnT>
                    <a:lnB w="6350" cap="flat" cmpd="sng" algn="ctr">
                      <a:solidFill>
                        <a:srgbClr val="D1D5DB"/>
                      </a:solidFill>
                      <a:prstDash val="solid"/>
                      <a:round/>
                      <a:headEnd type="none" w="med" len="med"/>
                      <a:tailEnd type="none" w="med" len="med"/>
                    </a:lnB>
                    <a:solidFill>
                      <a:srgbClr val="F3F4F6"/>
                    </a:solidFill>
                  </a:tcPr>
                </a:tc>
              </a:tr>
              <a:tr h="658368">
                <a:tc>
                  <a:txBody>
                    <a:bodyPr/>
                    <a:lstStyle/>
                    <a:p>
                      <a:pPr indent="0" marL="0">
                        <a:buNone/>
                      </a:pPr>
                      <a:r>
                        <a:rPr lang="en-US" sz="1100" dirty="0">
                          <a:solidFill>
                            <a:srgbClr val="212121"/>
                          </a:solidFill>
                          <a:latin typeface="Calibri" pitchFamily="34" charset="0"/>
                          <a:ea typeface="Calibri" pitchFamily="34" charset="-122"/>
                          <a:cs typeface="Calibri" pitchFamily="34" charset="-120"/>
                        </a:rPr>
                        <a:t>MCPWebsocketTool</a:t>
                      </a:r>
                      <a:endParaRPr lang="en-US" sz="1100" dirty="0">
                        <a:latin typeface="Calibri" charset="0"/>
                        <a:ea typeface="Calibri" charset="0"/>
                        <a:cs typeface="Calibri" charset="0"/>
                      </a:endParaRPr>
                    </a:p>
                  </a:txBody>
                  <a:tcPr marL="54864" marR="54864" marT="54864" marB="54864" anchor="ctr">
                    <a:lnL w="6350" cap="flat" cmpd="sng" algn="ctr">
                      <a:solidFill>
                        <a:srgbClr val="D1D5DB"/>
                      </a:solidFill>
                      <a:prstDash val="solid"/>
                      <a:round/>
                      <a:headEnd type="none" w="med" len="med"/>
                      <a:tailEnd type="none" w="med" len="med"/>
                    </a:lnL>
                    <a:lnR w="6350" cap="flat" cmpd="sng" algn="ctr">
                      <a:solidFill>
                        <a:srgbClr val="D1D5DB"/>
                      </a:solidFill>
                      <a:prstDash val="solid"/>
                      <a:round/>
                      <a:headEnd type="none" w="med" len="med"/>
                      <a:tailEnd type="none" w="med" len="med"/>
                    </a:lnR>
                    <a:lnT w="6350" cap="flat" cmpd="sng" algn="ctr">
                      <a:solidFill>
                        <a:srgbClr val="D1D5DB"/>
                      </a:solidFill>
                      <a:prstDash val="solid"/>
                      <a:round/>
                      <a:headEnd type="none" w="med" len="med"/>
                      <a:tailEnd type="none" w="med" len="med"/>
                    </a:lnT>
                    <a:lnB w="6350" cap="flat" cmpd="sng" algn="ctr">
                      <a:solidFill>
                        <a:srgbClr val="D1D5DB"/>
                      </a:solidFill>
                      <a:prstDash val="solid"/>
                      <a:round/>
                      <a:headEnd type="none" w="med" len="med"/>
                      <a:tailEnd type="none" w="med" len="med"/>
                    </a:lnB>
                    <a:solidFill>
                      <a:srgbClr val="FFFFFF"/>
                    </a:solidFill>
                  </a:tcPr>
                </a:tc>
                <a:tc>
                  <a:txBody>
                    <a:bodyPr/>
                    <a:lstStyle/>
                    <a:p>
                      <a:pPr indent="0" marL="0">
                        <a:buNone/>
                      </a:pPr>
                      <a:r>
                        <a:rPr lang="en-US" sz="1100" dirty="0">
                          <a:solidFill>
                            <a:srgbClr val="212121"/>
                          </a:solidFill>
                          <a:latin typeface="Calibri" pitchFamily="34" charset="0"/>
                          <a:ea typeface="Calibri" pitchFamily="34" charset="-122"/>
                          <a:cs typeface="Calibri" pitchFamily="34" charset="-120"/>
                        </a:rPr>
                        <a:t>WebSocket</a:t>
                      </a:r>
                      <a:endParaRPr lang="en-US" sz="1100" dirty="0">
                        <a:latin typeface="Calibri" charset="0"/>
                        <a:ea typeface="Calibri" charset="0"/>
                        <a:cs typeface="Calibri" charset="0"/>
                      </a:endParaRPr>
                    </a:p>
                  </a:txBody>
                  <a:tcPr marL="54864" marR="54864" marT="54864" marB="54864" anchor="ctr">
                    <a:lnL w="6350" cap="flat" cmpd="sng" algn="ctr">
                      <a:solidFill>
                        <a:srgbClr val="D1D5DB"/>
                      </a:solidFill>
                      <a:prstDash val="solid"/>
                      <a:round/>
                      <a:headEnd type="none" w="med" len="med"/>
                      <a:tailEnd type="none" w="med" len="med"/>
                    </a:lnL>
                    <a:lnR w="6350" cap="flat" cmpd="sng" algn="ctr">
                      <a:solidFill>
                        <a:srgbClr val="D1D5DB"/>
                      </a:solidFill>
                      <a:prstDash val="solid"/>
                      <a:round/>
                      <a:headEnd type="none" w="med" len="med"/>
                      <a:tailEnd type="none" w="med" len="med"/>
                    </a:lnR>
                    <a:lnT w="6350" cap="flat" cmpd="sng" algn="ctr">
                      <a:solidFill>
                        <a:srgbClr val="D1D5DB"/>
                      </a:solidFill>
                      <a:prstDash val="solid"/>
                      <a:round/>
                      <a:headEnd type="none" w="med" len="med"/>
                      <a:tailEnd type="none" w="med" len="med"/>
                    </a:lnT>
                    <a:lnB w="6350" cap="flat" cmpd="sng" algn="ctr">
                      <a:solidFill>
                        <a:srgbClr val="D1D5DB"/>
                      </a:solidFill>
                      <a:prstDash val="solid"/>
                      <a:round/>
                      <a:headEnd type="none" w="med" len="med"/>
                      <a:tailEnd type="none" w="med" len="med"/>
                    </a:lnB>
                    <a:solidFill>
                      <a:srgbClr val="FFFFFF"/>
                    </a:solidFill>
                  </a:tcPr>
                </a:tc>
                <a:tc>
                  <a:txBody>
                    <a:bodyPr/>
                    <a:lstStyle/>
                    <a:p>
                      <a:pPr indent="0" marL="0">
                        <a:buNone/>
                      </a:pPr>
                      <a:r>
                        <a:rPr lang="en-US" sz="1100" dirty="0">
                          <a:solidFill>
                            <a:srgbClr val="212121"/>
                          </a:solidFill>
                          <a:latin typeface="Calibri" pitchFamily="34" charset="0"/>
                          <a:ea typeface="Calibri" pitchFamily="34" charset="-122"/>
                          <a:cs typeface="Calibri" pitchFamily="34" charset="-120"/>
                        </a:rPr>
                        <a:t>The server explicitly provides a WebSocket endpoint</a:t>
                      </a:r>
                      <a:endParaRPr lang="en-US" sz="1100" dirty="0">
                        <a:latin typeface="Calibri" charset="0"/>
                        <a:ea typeface="Calibri" charset="0"/>
                        <a:cs typeface="Calibri" charset="0"/>
                      </a:endParaRPr>
                    </a:p>
                  </a:txBody>
                  <a:tcPr marL="54864" marR="54864" marT="54864" marB="54864" anchor="ctr">
                    <a:lnL w="6350" cap="flat" cmpd="sng" algn="ctr">
                      <a:solidFill>
                        <a:srgbClr val="D1D5DB"/>
                      </a:solidFill>
                      <a:prstDash val="solid"/>
                      <a:round/>
                      <a:headEnd type="none" w="med" len="med"/>
                      <a:tailEnd type="none" w="med" len="med"/>
                    </a:lnL>
                    <a:lnR w="6350" cap="flat" cmpd="sng" algn="ctr">
                      <a:solidFill>
                        <a:srgbClr val="D1D5DB"/>
                      </a:solidFill>
                      <a:prstDash val="solid"/>
                      <a:round/>
                      <a:headEnd type="none" w="med" len="med"/>
                      <a:tailEnd type="none" w="med" len="med"/>
                    </a:lnR>
                    <a:lnT w="6350" cap="flat" cmpd="sng" algn="ctr">
                      <a:solidFill>
                        <a:srgbClr val="D1D5DB"/>
                      </a:solidFill>
                      <a:prstDash val="solid"/>
                      <a:round/>
                      <a:headEnd type="none" w="med" len="med"/>
                      <a:tailEnd type="none" w="med" len="med"/>
                    </a:lnT>
                    <a:lnB w="6350" cap="flat" cmpd="sng" algn="ctr">
                      <a:solidFill>
                        <a:srgbClr val="D1D5DB"/>
                      </a:solidFill>
                      <a:prstDash val="solid"/>
                      <a:round/>
                      <a:headEnd type="none" w="med" len="med"/>
                      <a:tailEnd type="none" w="med" len="med"/>
                    </a:lnB>
                    <a:solidFill>
                      <a:srgbClr val="FFFFFF"/>
                    </a:solidFill>
                  </a:tcPr>
                </a:tc>
              </a:tr>
            </a:tbl>
          </a:graphicData>
        </a:graphic>
      </p:graphicFrame>
      <p:sp>
        <p:nvSpPr>
          <p:cNvPr id="6" name="Shape 3"/>
          <p:cNvSpPr/>
          <p:nvPr/>
        </p:nvSpPr>
        <p:spPr>
          <a:xfrm>
            <a:off x="365760" y="4773168"/>
            <a:ext cx="8412480" cy="0"/>
          </a:xfrm>
          <a:prstGeom prst="line">
            <a:avLst/>
          </a:prstGeom>
          <a:noFill/>
          <a:ln w="6350">
            <a:solidFill>
              <a:srgbClr val="D1D5DB"/>
            </a:solidFill>
            <a:prstDash val="solid"/>
          </a:ln>
        </p:spPr>
      </p:sp>
      <p:sp>
        <p:nvSpPr>
          <p:cNvPr id="7" name="Text 4"/>
          <p:cNvSpPr/>
          <p:nvPr/>
        </p:nvSpPr>
        <p:spPr>
          <a:xfrm>
            <a:off x="384048" y="4818888"/>
            <a:ext cx="8275320" cy="182880"/>
          </a:xfrm>
          <a:prstGeom prst="rect">
            <a:avLst/>
          </a:prstGeom>
          <a:noFill/>
          <a:ln/>
        </p:spPr>
        <p:txBody>
          <a:bodyPr wrap="square" lIns="0" tIns="0" rIns="0" bIns="0" rtlCol="0" anchor="ctr">
            <a:normAutofit/>
          </a:bodyPr>
          <a:lstStyle/>
          <a:p>
            <a:pPr indent="0" marL="0">
              <a:buNone/>
            </a:pPr>
            <a:r>
              <a:rPr lang="en-US" sz="820" dirty="0">
                <a:solidFill>
                  <a:srgbClr val="6B7280"/>
                </a:solidFill>
                <a:latin typeface="Calibri" pitchFamily="34" charset="0"/>
                <a:ea typeface="Calibri" pitchFamily="34" charset="-122"/>
                <a:cs typeface="Calibri" pitchFamily="34" charset="-120"/>
              </a:rPr>
              <a:t>Source: https://learn.microsoft.com/en-us/agent-framework/agents/tools/local-mcp-tools?tabs=python</a:t>
            </a:r>
            <a:endParaRPr lang="en-US" sz="820" dirty="0"/>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name="Slide 7">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0" y="0"/>
            <a:ext cx="54864" cy="5143500"/>
          </a:xfrm>
          <a:prstGeom prst="rect">
            <a:avLst/>
          </a:prstGeom>
          <a:solidFill>
            <a:srgbClr val="1E2761"/>
          </a:solidFill>
          <a:ln/>
        </p:spPr>
      </p:sp>
      <p:sp>
        <p:nvSpPr>
          <p:cNvPr id="3" name="Text 1"/>
          <p:cNvSpPr/>
          <p:nvPr/>
        </p:nvSpPr>
        <p:spPr>
          <a:xfrm>
            <a:off x="5486400" y="256032"/>
            <a:ext cx="3337560" cy="228600"/>
          </a:xfrm>
          <a:prstGeom prst="rect">
            <a:avLst/>
          </a:prstGeom>
          <a:noFill/>
          <a:ln/>
        </p:spPr>
        <p:txBody>
          <a:bodyPr wrap="square" lIns="0" tIns="0" rIns="0" bIns="0" rtlCol="0" anchor="ctr">
            <a:normAutofit/>
          </a:bodyPr>
          <a:lstStyle/>
          <a:p>
            <a:pPr algn="r" indent="0" marL="0">
              <a:buNone/>
            </a:pPr>
            <a:r>
              <a:rPr lang="en-US" sz="950" dirty="0">
                <a:solidFill>
                  <a:srgbClr val="6B7280"/>
                </a:solidFill>
                <a:latin typeface="Calibri" pitchFamily="34" charset="0"/>
                <a:ea typeface="Calibri" pitchFamily="34" charset="-122"/>
                <a:cs typeface="Calibri" pitchFamily="34" charset="-120"/>
              </a:rPr>
              <a:t>Day 3 · Module 5</a:t>
            </a:r>
            <a:endParaRPr lang="en-US" sz="950" dirty="0"/>
          </a:p>
        </p:txBody>
      </p:sp>
      <p:sp>
        <p:nvSpPr>
          <p:cNvPr id="4" name="Text 2"/>
          <p:cNvSpPr/>
          <p:nvPr/>
        </p:nvSpPr>
        <p:spPr>
          <a:xfrm>
            <a:off x="365760" y="310896"/>
            <a:ext cx="6583680" cy="603504"/>
          </a:xfrm>
          <a:prstGeom prst="rect">
            <a:avLst/>
          </a:prstGeom>
          <a:noFill/>
          <a:ln/>
        </p:spPr>
        <p:txBody>
          <a:bodyPr wrap="square" lIns="0" tIns="0" rIns="0" bIns="0" rtlCol="0" anchor="ctr">
            <a:normAutofit/>
          </a:bodyPr>
          <a:lstStyle/>
          <a:p>
            <a:pPr indent="0" marL="0">
              <a:buNone/>
            </a:pPr>
            <a:r>
              <a:rPr lang="en-US" sz="2500" b="1" dirty="0">
                <a:solidFill>
                  <a:srgbClr val="1E2761"/>
                </a:solidFill>
                <a:latin typeface="Calibri" pitchFamily="34" charset="0"/>
                <a:ea typeface="Calibri" pitchFamily="34" charset="-122"/>
                <a:cs typeface="Calibri" pitchFamily="34" charset="-120"/>
              </a:rPr>
              <a:t>Local stdio is a child-process boundary</a:t>
            </a:r>
            <a:endParaRPr lang="en-US" sz="2500" dirty="0"/>
          </a:p>
        </p:txBody>
      </p:sp>
      <p:sp>
        <p:nvSpPr>
          <p:cNvPr id="5" name="Shape 3"/>
          <p:cNvSpPr/>
          <p:nvPr/>
        </p:nvSpPr>
        <p:spPr>
          <a:xfrm>
            <a:off x="365760" y="1115568"/>
            <a:ext cx="8412480" cy="2350008"/>
          </a:xfrm>
          <a:prstGeom prst="rect">
            <a:avLst/>
          </a:prstGeom>
          <a:solidFill>
            <a:srgbClr val="1D1E22"/>
          </a:solidFill>
          <a:ln w="9525">
            <a:solidFill>
              <a:srgbClr val="2A2B2E"/>
            </a:solidFill>
            <a:prstDash val="solid"/>
          </a:ln>
        </p:spPr>
      </p:sp>
      <p:sp>
        <p:nvSpPr>
          <p:cNvPr id="6" name="Text 4"/>
          <p:cNvSpPr/>
          <p:nvPr/>
        </p:nvSpPr>
        <p:spPr>
          <a:xfrm>
            <a:off x="502920" y="1207008"/>
            <a:ext cx="8138160" cy="2167128"/>
          </a:xfrm>
          <a:prstGeom prst="rect">
            <a:avLst/>
          </a:prstGeom>
          <a:noFill/>
          <a:ln/>
        </p:spPr>
        <p:txBody>
          <a:bodyPr wrap="square" lIns="0" tIns="0" rIns="0" bIns="0" rtlCol="0" anchor="t">
            <a:normAutofit/>
          </a:bodyPr>
          <a:lstStyle/>
          <a:p>
            <a:pPr indent="0" marL="0">
              <a:buNone/>
            </a:pPr>
            <a:r>
              <a:rPr lang="en-US" sz="1280" dirty="0">
                <a:solidFill>
                  <a:srgbClr val="A996B6"/>
                </a:solidFill>
                <a:latin typeface="Consolas" pitchFamily="34" charset="0"/>
                <a:ea typeface="Consolas" pitchFamily="34" charset="-122"/>
                <a:cs typeface="Consolas" pitchFamily="34" charset="-120"/>
              </a:rPr>
              <a:t>async</a:t>
            </a:r>
            <a:pPr indent="0" marL="0">
              <a:buNone/>
            </a:pPr>
            <a:r>
              <a:rPr lang="en-US" sz="1280" dirty="0">
                <a:solidFill>
                  <a:srgbClr val="FFFFFF"/>
                </a:solidFill>
                <a:latin typeface="Consolas" pitchFamily="34" charset="0"/>
                <a:ea typeface="Consolas" pitchFamily="34" charset="-122"/>
                <a:cs typeface="Consolas" pitchFamily="34" charset="-120"/>
              </a:rPr>
              <a:t> </a:t>
            </a:r>
            <a:pPr indent="0" marL="0">
              <a:buNone/>
            </a:pPr>
            <a:r>
              <a:rPr lang="en-US" sz="1280" dirty="0">
                <a:solidFill>
                  <a:srgbClr val="A996B6"/>
                </a:solidFill>
                <a:latin typeface="Consolas" pitchFamily="34" charset="0"/>
                <a:ea typeface="Consolas" pitchFamily="34" charset="-122"/>
                <a:cs typeface="Consolas" pitchFamily="34" charset="-120"/>
              </a:rPr>
              <a:t>with</a:t>
            </a:r>
            <a:pPr indent="0" marL="0">
              <a:buNone/>
            </a:pPr>
            <a:r>
              <a:rPr lang="en-US" sz="1280" dirty="0">
                <a:solidFill>
                  <a:srgbClr val="FFFFFF"/>
                </a:solidFill>
                <a:latin typeface="Consolas" pitchFamily="34" charset="0"/>
                <a:ea typeface="Consolas" pitchFamily="34" charset="-122"/>
                <a:cs typeface="Consolas" pitchFamily="34" charset="-120"/>
              </a:rPr>
              <a:t> MCPStdioTool(</a:t>
            </a:r>
            <a:endParaRPr lang="en-US" sz="1280" dirty="0"/>
          </a:p>
          <a:p>
            <a:pPr indent="0" marL="0">
              <a:buNone/>
            </a:pPr>
            <a:r>
              <a:rPr lang="en-US" sz="1280" dirty="0">
                <a:solidFill>
                  <a:srgbClr val="FFFFFF"/>
                </a:solidFill>
                <a:latin typeface="Consolas" pitchFamily="34" charset="0"/>
                <a:ea typeface="Consolas" pitchFamily="34" charset="-122"/>
                <a:cs typeface="Consolas" pitchFamily="34" charset="-120"/>
              </a:rPr>
              <a:t>    name=</a:t>
            </a:r>
            <a:pPr indent="0" marL="0">
              <a:buNone/>
            </a:pPr>
            <a:r>
              <a:rPr lang="en-US" sz="1280" dirty="0">
                <a:solidFill>
                  <a:srgbClr val="E4C98A"/>
                </a:solidFill>
                <a:latin typeface="Consolas" pitchFamily="34" charset="0"/>
                <a:ea typeface="Consolas" pitchFamily="34" charset="-122"/>
                <a:cs typeface="Consolas" pitchFamily="34" charset="-120"/>
              </a:rPr>
              <a:t>"calculator"</a:t>
            </a:r>
            <a:pPr indent="0" marL="0">
              <a:buNone/>
            </a:pPr>
            <a:r>
              <a:rPr lang="en-US" sz="1280" dirty="0">
                <a:solidFill>
                  <a:srgbClr val="FFFFFF"/>
                </a:solidFill>
                <a:latin typeface="Consolas" pitchFamily="34" charset="0"/>
                <a:ea typeface="Consolas" pitchFamily="34" charset="-122"/>
                <a:cs typeface="Consolas" pitchFamily="34" charset="-120"/>
              </a:rPr>
              <a:t>,</a:t>
            </a:r>
            <a:endParaRPr lang="en-US" sz="1280" dirty="0"/>
          </a:p>
          <a:p>
            <a:pPr indent="0" marL="0">
              <a:buNone/>
            </a:pPr>
            <a:r>
              <a:rPr lang="en-US" sz="1280" dirty="0">
                <a:solidFill>
                  <a:srgbClr val="FFFFFF"/>
                </a:solidFill>
                <a:latin typeface="Consolas" pitchFamily="34" charset="0"/>
                <a:ea typeface="Consolas" pitchFamily="34" charset="-122"/>
                <a:cs typeface="Consolas" pitchFamily="34" charset="-120"/>
              </a:rPr>
              <a:t>    command=</a:t>
            </a:r>
            <a:pPr indent="0" marL="0">
              <a:buNone/>
            </a:pPr>
            <a:r>
              <a:rPr lang="en-US" sz="1280" dirty="0">
                <a:solidFill>
                  <a:srgbClr val="E4C98A"/>
                </a:solidFill>
                <a:latin typeface="Consolas" pitchFamily="34" charset="0"/>
                <a:ea typeface="Consolas" pitchFamily="34" charset="-122"/>
                <a:cs typeface="Consolas" pitchFamily="34" charset="-120"/>
              </a:rPr>
              <a:t>"uvx"</a:t>
            </a:r>
            <a:pPr indent="0" marL="0">
              <a:buNone/>
            </a:pPr>
            <a:r>
              <a:rPr lang="en-US" sz="1280" dirty="0">
                <a:solidFill>
                  <a:srgbClr val="FFFFFF"/>
                </a:solidFill>
                <a:latin typeface="Consolas" pitchFamily="34" charset="0"/>
                <a:ea typeface="Consolas" pitchFamily="34" charset="-122"/>
                <a:cs typeface="Consolas" pitchFamily="34" charset="-120"/>
              </a:rPr>
              <a:t>,</a:t>
            </a:r>
            <a:endParaRPr lang="en-US" sz="1280" dirty="0"/>
          </a:p>
          <a:p>
            <a:pPr indent="0" marL="0">
              <a:buNone/>
            </a:pPr>
            <a:r>
              <a:rPr lang="en-US" sz="1280" dirty="0">
                <a:solidFill>
                  <a:srgbClr val="FFFFFF"/>
                </a:solidFill>
                <a:latin typeface="Consolas" pitchFamily="34" charset="0"/>
                <a:ea typeface="Consolas" pitchFamily="34" charset="-122"/>
                <a:cs typeface="Consolas" pitchFamily="34" charset="-120"/>
              </a:rPr>
              <a:t>    args=[</a:t>
            </a:r>
            <a:pPr indent="0" marL="0">
              <a:buNone/>
            </a:pPr>
            <a:r>
              <a:rPr lang="en-US" sz="1280" dirty="0">
                <a:solidFill>
                  <a:srgbClr val="E4C98A"/>
                </a:solidFill>
                <a:latin typeface="Consolas" pitchFamily="34" charset="0"/>
                <a:ea typeface="Consolas" pitchFamily="34" charset="-122"/>
                <a:cs typeface="Consolas" pitchFamily="34" charset="-120"/>
              </a:rPr>
              <a:t>"mcp-server-calculator"</a:t>
            </a:r>
            <a:pPr indent="0" marL="0">
              <a:buNone/>
            </a:pPr>
            <a:r>
              <a:rPr lang="en-US" sz="1280" dirty="0">
                <a:solidFill>
                  <a:srgbClr val="FFFFFF"/>
                </a:solidFill>
                <a:latin typeface="Consolas" pitchFamily="34" charset="0"/>
                <a:ea typeface="Consolas" pitchFamily="34" charset="-122"/>
                <a:cs typeface="Consolas" pitchFamily="34" charset="-120"/>
              </a:rPr>
              <a:t>],</a:t>
            </a:r>
            <a:endParaRPr lang="en-US" sz="1280" dirty="0"/>
          </a:p>
          <a:p>
            <a:pPr indent="0" marL="0">
              <a:buNone/>
            </a:pPr>
            <a:r>
              <a:rPr lang="en-US" sz="1280" dirty="0">
                <a:solidFill>
                  <a:srgbClr val="FFFFFF"/>
                </a:solidFill>
                <a:latin typeface="Consolas" pitchFamily="34" charset="0"/>
                <a:ea typeface="Consolas" pitchFamily="34" charset="-122"/>
                <a:cs typeface="Consolas" pitchFamily="34" charset="-120"/>
              </a:rPr>
              <a:t>) </a:t>
            </a:r>
            <a:pPr indent="0" marL="0">
              <a:buNone/>
            </a:pPr>
            <a:r>
              <a:rPr lang="en-US" sz="1280" dirty="0">
                <a:solidFill>
                  <a:srgbClr val="A996B6"/>
                </a:solidFill>
                <a:latin typeface="Consolas" pitchFamily="34" charset="0"/>
                <a:ea typeface="Consolas" pitchFamily="34" charset="-122"/>
                <a:cs typeface="Consolas" pitchFamily="34" charset="-120"/>
              </a:rPr>
              <a:t>as</a:t>
            </a:r>
            <a:pPr indent="0" marL="0">
              <a:buNone/>
            </a:pPr>
            <a:r>
              <a:rPr lang="en-US" sz="1280" dirty="0">
                <a:solidFill>
                  <a:srgbClr val="FFFFFF"/>
                </a:solidFill>
                <a:latin typeface="Consolas" pitchFamily="34" charset="0"/>
                <a:ea typeface="Consolas" pitchFamily="34" charset="-122"/>
                <a:cs typeface="Consolas" pitchFamily="34" charset="-120"/>
              </a:rPr>
              <a:t> mcp:</a:t>
            </a:r>
            <a:endParaRPr lang="en-US" sz="1280" dirty="0"/>
          </a:p>
          <a:p>
            <a:pPr indent="0" marL="0">
              <a:buNone/>
            </a:pPr>
            <a:r>
              <a:rPr lang="en-US" sz="1280" dirty="0">
                <a:solidFill>
                  <a:srgbClr val="FFFFFF"/>
                </a:solidFill>
                <a:latin typeface="Consolas" pitchFamily="34" charset="0"/>
                <a:ea typeface="Consolas" pitchFamily="34" charset="-122"/>
                <a:cs typeface="Consolas" pitchFamily="34" charset="-120"/>
              </a:rPr>
              <a:t>    result = </a:t>
            </a:r>
            <a:pPr indent="0" marL="0">
              <a:buNone/>
            </a:pPr>
            <a:r>
              <a:rPr lang="en-US" sz="1280" dirty="0">
                <a:solidFill>
                  <a:srgbClr val="A996B6"/>
                </a:solidFill>
                <a:latin typeface="Consolas" pitchFamily="34" charset="0"/>
                <a:ea typeface="Consolas" pitchFamily="34" charset="-122"/>
                <a:cs typeface="Consolas" pitchFamily="34" charset="-120"/>
              </a:rPr>
              <a:t>await</a:t>
            </a:r>
            <a:pPr indent="0" marL="0">
              <a:buNone/>
            </a:pPr>
            <a:r>
              <a:rPr lang="en-US" sz="1280" dirty="0">
                <a:solidFill>
                  <a:srgbClr val="FFFFFF"/>
                </a:solidFill>
                <a:latin typeface="Consolas" pitchFamily="34" charset="0"/>
                <a:ea typeface="Consolas" pitchFamily="34" charset="-122"/>
                <a:cs typeface="Consolas" pitchFamily="34" charset="-120"/>
              </a:rPr>
              <a:t> agent.run(</a:t>
            </a:r>
            <a:endParaRPr lang="en-US" sz="1280" dirty="0"/>
          </a:p>
          <a:p>
            <a:pPr indent="0" marL="0">
              <a:buNone/>
            </a:pPr>
            <a:r>
              <a:rPr lang="en-US" sz="1280" dirty="0">
                <a:solidFill>
                  <a:srgbClr val="FFFFFF"/>
                </a:solidFill>
                <a:latin typeface="Consolas" pitchFamily="34" charset="0"/>
                <a:ea typeface="Consolas" pitchFamily="34" charset="-122"/>
                <a:cs typeface="Consolas" pitchFamily="34" charset="-120"/>
              </a:rPr>
              <a:t>        </a:t>
            </a:r>
            <a:pPr indent="0" marL="0">
              <a:buNone/>
            </a:pPr>
            <a:r>
              <a:rPr lang="en-US" sz="1280" dirty="0">
                <a:solidFill>
                  <a:srgbClr val="E4C98A"/>
                </a:solidFill>
                <a:latin typeface="Consolas" pitchFamily="34" charset="0"/>
                <a:ea typeface="Consolas" pitchFamily="34" charset="-122"/>
                <a:cs typeface="Consolas" pitchFamily="34" charset="-120"/>
              </a:rPr>
              <a:t>"Calculate the total."</a:t>
            </a:r>
            <a:pPr indent="0" marL="0">
              <a:buNone/>
            </a:pPr>
            <a:r>
              <a:rPr lang="en-US" sz="1280" dirty="0">
                <a:solidFill>
                  <a:srgbClr val="FFFFFF"/>
                </a:solidFill>
                <a:latin typeface="Consolas" pitchFamily="34" charset="0"/>
                <a:ea typeface="Consolas" pitchFamily="34" charset="-122"/>
                <a:cs typeface="Consolas" pitchFamily="34" charset="-120"/>
              </a:rPr>
              <a:t>,</a:t>
            </a:r>
            <a:endParaRPr lang="en-US" sz="1280" dirty="0"/>
          </a:p>
          <a:p>
            <a:pPr indent="0" marL="0">
              <a:buNone/>
            </a:pPr>
            <a:r>
              <a:rPr lang="en-US" sz="1280" dirty="0">
                <a:solidFill>
                  <a:srgbClr val="FFFFFF"/>
                </a:solidFill>
                <a:latin typeface="Consolas" pitchFamily="34" charset="0"/>
                <a:ea typeface="Consolas" pitchFamily="34" charset="-122"/>
                <a:cs typeface="Consolas" pitchFamily="34" charset="-120"/>
              </a:rPr>
              <a:t>        tools=mcp,</a:t>
            </a:r>
            <a:endParaRPr lang="en-US" sz="1280" dirty="0"/>
          </a:p>
          <a:p>
            <a:pPr indent="0" marL="0">
              <a:buNone/>
            </a:pPr>
            <a:r>
              <a:rPr lang="en-US" sz="1280" dirty="0">
                <a:solidFill>
                  <a:srgbClr val="FFFFFF"/>
                </a:solidFill>
                <a:latin typeface="Consolas" pitchFamily="34" charset="0"/>
                <a:ea typeface="Consolas" pitchFamily="34" charset="-122"/>
                <a:cs typeface="Consolas" pitchFamily="34" charset="-120"/>
              </a:rPr>
              <a:t>    )</a:t>
            </a:r>
            <a:endParaRPr lang="en-US" sz="1280" dirty="0"/>
          </a:p>
        </p:txBody>
      </p:sp>
      <p:sp>
        <p:nvSpPr>
          <p:cNvPr id="7" name="Shape 5"/>
          <p:cNvSpPr/>
          <p:nvPr/>
        </p:nvSpPr>
        <p:spPr>
          <a:xfrm>
            <a:off x="365760" y="4773168"/>
            <a:ext cx="8412480" cy="0"/>
          </a:xfrm>
          <a:prstGeom prst="line">
            <a:avLst/>
          </a:prstGeom>
          <a:noFill/>
          <a:ln w="6350">
            <a:solidFill>
              <a:srgbClr val="D1D5DB"/>
            </a:solidFill>
            <a:prstDash val="solid"/>
          </a:ln>
        </p:spPr>
      </p:sp>
      <p:sp>
        <p:nvSpPr>
          <p:cNvPr id="8" name="Text 6"/>
          <p:cNvSpPr/>
          <p:nvPr/>
        </p:nvSpPr>
        <p:spPr>
          <a:xfrm>
            <a:off x="384048" y="4818888"/>
            <a:ext cx="8275320" cy="182880"/>
          </a:xfrm>
          <a:prstGeom prst="rect">
            <a:avLst/>
          </a:prstGeom>
          <a:noFill/>
          <a:ln/>
        </p:spPr>
        <p:txBody>
          <a:bodyPr wrap="square" lIns="0" tIns="0" rIns="0" bIns="0" rtlCol="0" anchor="ctr">
            <a:normAutofit/>
          </a:bodyPr>
          <a:lstStyle/>
          <a:p>
            <a:pPr indent="0" marL="0">
              <a:buNone/>
            </a:pPr>
            <a:r>
              <a:rPr lang="en-US" sz="820" dirty="0">
                <a:solidFill>
                  <a:srgbClr val="6B7280"/>
                </a:solidFill>
                <a:latin typeface="Calibri" pitchFamily="34" charset="0"/>
                <a:ea typeface="Calibri" pitchFamily="34" charset="-122"/>
                <a:cs typeface="Calibri" pitchFamily="34" charset="-120"/>
              </a:rPr>
              <a:t>Source: https://learn.microsoft.com/en-us/agent-framework/agents/tools/local-mcp-tools?tabs=python</a:t>
            </a:r>
            <a:endParaRPr lang="en-US" sz="820" dirty="0"/>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name="Slide 8">
    <p:bg>
      <p:bgPr>
        <a:solidFill>
          <a:srgbClr val="CADCFC"/>
        </a:solidFill>
      </p:bgPr>
    </p:bg>
    <p:spTree>
      <p:nvGrpSpPr>
        <p:cNvPr id="1" name=""/>
        <p:cNvGrpSpPr/>
        <p:nvPr/>
      </p:nvGrpSpPr>
      <p:grpSpPr>
        <a:xfrm>
          <a:off x="0" y="0"/>
          <a:ext cx="0" cy="0"/>
          <a:chOff x="0" y="0"/>
          <a:chExt cx="0" cy="0"/>
        </a:xfrm>
      </p:grpSpPr>
      <p:sp>
        <p:nvSpPr>
          <p:cNvPr id="2" name="Shape 0"/>
          <p:cNvSpPr/>
          <p:nvPr/>
        </p:nvSpPr>
        <p:spPr>
          <a:xfrm>
            <a:off x="0" y="0"/>
            <a:ext cx="146304" cy="5143500"/>
          </a:xfrm>
          <a:prstGeom prst="rect">
            <a:avLst/>
          </a:prstGeom>
          <a:solidFill>
            <a:srgbClr val="1E2761"/>
          </a:solidFill>
          <a:ln/>
        </p:spPr>
      </p:sp>
      <p:sp>
        <p:nvSpPr>
          <p:cNvPr id="3" name="Text 1"/>
          <p:cNvSpPr/>
          <p:nvPr/>
        </p:nvSpPr>
        <p:spPr>
          <a:xfrm>
            <a:off x="5669280" y="274320"/>
            <a:ext cx="3291840" cy="274320"/>
          </a:xfrm>
          <a:prstGeom prst="rect">
            <a:avLst/>
          </a:prstGeom>
          <a:noFill/>
          <a:ln/>
        </p:spPr>
        <p:txBody>
          <a:bodyPr wrap="square" lIns="0" tIns="0" rIns="0" bIns="0" rtlCol="0" anchor="ctr"/>
          <a:lstStyle/>
          <a:p>
            <a:pPr algn="r" indent="0" marL="0">
              <a:buNone/>
            </a:pPr>
            <a:r>
              <a:rPr lang="en-US" sz="1000" dirty="0">
                <a:solidFill>
                  <a:srgbClr val="6B7280"/>
                </a:solidFill>
                <a:latin typeface="Calibri" pitchFamily="34" charset="0"/>
                <a:ea typeface="Calibri" pitchFamily="34" charset="-122"/>
                <a:cs typeface="Calibri" pitchFamily="34" charset="-120"/>
              </a:rPr>
              <a:t>Day 3 · Module 5 · Demo</a:t>
            </a:r>
            <a:endParaRPr lang="en-US" sz="1000" dirty="0"/>
          </a:p>
        </p:txBody>
      </p:sp>
      <p:sp>
        <p:nvSpPr>
          <p:cNvPr id="4" name="Text 2"/>
          <p:cNvSpPr/>
          <p:nvPr/>
        </p:nvSpPr>
        <p:spPr>
          <a:xfrm>
            <a:off x="548640" y="1051560"/>
            <a:ext cx="5486400" cy="502920"/>
          </a:xfrm>
          <a:prstGeom prst="rect">
            <a:avLst/>
          </a:prstGeom>
          <a:noFill/>
          <a:ln/>
        </p:spPr>
        <p:txBody>
          <a:bodyPr wrap="square" lIns="0" tIns="0" rIns="0" bIns="0" rtlCol="0" anchor="ctr"/>
          <a:lstStyle/>
          <a:p>
            <a:pPr indent="0" marL="0">
              <a:buNone/>
            </a:pPr>
            <a:r>
              <a:rPr lang="en-US" sz="3200" b="1" spc="800" kern="0" dirty="0">
                <a:solidFill>
                  <a:srgbClr val="1E2761"/>
                </a:solidFill>
                <a:latin typeface="Calibri" pitchFamily="34" charset="0"/>
                <a:ea typeface="Calibri" pitchFamily="34" charset="-122"/>
                <a:cs typeface="Calibri" pitchFamily="34" charset="-120"/>
              </a:rPr>
              <a:t>DEMO</a:t>
            </a:r>
            <a:endParaRPr lang="en-US" sz="3200" dirty="0"/>
          </a:p>
        </p:txBody>
      </p:sp>
      <p:sp>
        <p:nvSpPr>
          <p:cNvPr id="5" name="Text 3"/>
          <p:cNvSpPr/>
          <p:nvPr/>
        </p:nvSpPr>
        <p:spPr>
          <a:xfrm>
            <a:off x="548640" y="1691640"/>
            <a:ext cx="8046720" cy="914400"/>
          </a:xfrm>
          <a:prstGeom prst="rect">
            <a:avLst/>
          </a:prstGeom>
          <a:noFill/>
          <a:ln/>
        </p:spPr>
        <p:txBody>
          <a:bodyPr wrap="square" lIns="0" tIns="0" rIns="0" bIns="0" rtlCol="0" anchor="ctr"/>
          <a:lstStyle/>
          <a:p>
            <a:pPr indent="0" marL="0">
              <a:buNone/>
            </a:pPr>
            <a:r>
              <a:rPr lang="en-US" sz="3000" b="1" dirty="0">
                <a:solidFill>
                  <a:srgbClr val="1E2761"/>
                </a:solidFill>
                <a:latin typeface="Calibri" pitchFamily="34" charset="0"/>
                <a:ea typeface="Calibri" pitchFamily="34" charset="-122"/>
                <a:cs typeface="Calibri" pitchFamily="34" charset="-120"/>
              </a:rPr>
              <a:t>Local stdio MCP tool call, end to end</a:t>
            </a:r>
            <a:endParaRPr lang="en-US" sz="3000" dirty="0"/>
          </a:p>
        </p:txBody>
      </p:sp>
      <p:sp>
        <p:nvSpPr>
          <p:cNvPr id="6" name="Text 4"/>
          <p:cNvSpPr/>
          <p:nvPr/>
        </p:nvSpPr>
        <p:spPr>
          <a:xfrm>
            <a:off x="6583680" y="1051560"/>
            <a:ext cx="2194560" cy="502920"/>
          </a:xfrm>
          <a:prstGeom prst="rect">
            <a:avLst/>
          </a:prstGeom>
          <a:noFill/>
          <a:ln/>
        </p:spPr>
        <p:txBody>
          <a:bodyPr wrap="square" lIns="0" tIns="0" rIns="0" bIns="0" rtlCol="0" anchor="ctr"/>
          <a:lstStyle/>
          <a:p>
            <a:pPr algn="r" indent="0" marL="0">
              <a:buNone/>
            </a:pPr>
            <a:r>
              <a:rPr lang="en-US" sz="1800" i="1" dirty="0">
                <a:solidFill>
                  <a:srgbClr val="6B7280"/>
                </a:solidFill>
                <a:latin typeface="Calibri" pitchFamily="34" charset="0"/>
                <a:ea typeface="Calibri" pitchFamily="34" charset="-122"/>
                <a:cs typeface="Calibri" pitchFamily="34" charset="-120"/>
              </a:rPr>
              <a:t>~5 min</a:t>
            </a:r>
            <a:endParaRPr lang="en-US" sz="1800" dirty="0"/>
          </a:p>
        </p:txBody>
      </p:sp>
      <p:sp>
        <p:nvSpPr>
          <p:cNvPr id="7" name="Text 5"/>
          <p:cNvSpPr/>
          <p:nvPr/>
        </p:nvSpPr>
        <p:spPr>
          <a:xfrm>
            <a:off x="548640" y="2788920"/>
            <a:ext cx="8046720" cy="1371600"/>
          </a:xfrm>
          <a:prstGeom prst="rect">
            <a:avLst/>
          </a:prstGeom>
          <a:noFill/>
          <a:ln/>
        </p:spPr>
        <p:txBody>
          <a:bodyPr wrap="square" lIns="0" tIns="0" rIns="0" bIns="0" rtlCol="0" anchor="ctr"/>
          <a:lstStyle/>
          <a:p>
            <a:pPr indent="0" marL="0">
              <a:spcAft>
                <a:spcPts val="600"/>
              </a:spcAft>
              <a:buNone/>
            </a:pPr>
            <a:r>
              <a:rPr lang="en-US" sz="1600" dirty="0">
                <a:solidFill>
                  <a:srgbClr val="212121"/>
                </a:solidFill>
                <a:latin typeface="Calibri" pitchFamily="34" charset="0"/>
                <a:ea typeface="Calibri" pitchFamily="34" charset="-122"/>
                <a:cs typeface="Calibri" pitchFamily="34" charset="-120"/>
              </a:rPr>
              <a:t>Run the previous slide's exact code live: connect to a local mcp-server-calculator child process, watch the agent discover and invoke a tool through it, and close the connection — client/server loop end to end.</a:t>
            </a:r>
            <a:endParaRPr lang="en-US" sz="1600" dirty="0"/>
          </a:p>
        </p:txBody>
      </p:sp>
      <p:sp>
        <p:nvSpPr>
          <p:cNvPr id="8" name="Text 6"/>
          <p:cNvSpPr/>
          <p:nvPr/>
        </p:nvSpPr>
        <p:spPr>
          <a:xfrm>
            <a:off x="548640" y="4434840"/>
            <a:ext cx="8046720" cy="320040"/>
          </a:xfrm>
          <a:prstGeom prst="rect">
            <a:avLst/>
          </a:prstGeom>
          <a:noFill/>
          <a:ln/>
        </p:spPr>
        <p:txBody>
          <a:bodyPr wrap="square" lIns="0" tIns="0" rIns="0" bIns="0" rtlCol="0" anchor="ctr"/>
          <a:lstStyle/>
          <a:p>
            <a:pPr indent="0" marL="0">
              <a:buNone/>
            </a:pPr>
            <a:r>
              <a:rPr lang="en-US" sz="1100" i="1" dirty="0">
                <a:solidFill>
                  <a:srgbClr val="6B7280"/>
                </a:solidFill>
                <a:latin typeface="Calibri" pitchFamily="34" charset="0"/>
                <a:ea typeface="Calibri" pitchFamily="34" charset="-122"/>
                <a:cs typeface="Calibri" pitchFamily="34" charset="-120"/>
              </a:rPr>
              <a:t>Runbook: demos/day3/module-5-demo-1-stdio-mcp.md</a:t>
            </a:r>
            <a:endParaRPr lang="en-US" sz="1100" dirty="0"/>
          </a:p>
        </p:txBody>
      </p:sp>
      <p:sp>
        <p:nvSpPr>
          <p:cNvPr id="9" name="Shape 7"/>
          <p:cNvSpPr/>
          <p:nvPr/>
        </p:nvSpPr>
        <p:spPr>
          <a:xfrm>
            <a:off x="365760" y="4773168"/>
            <a:ext cx="8412480" cy="0"/>
          </a:xfrm>
          <a:prstGeom prst="line">
            <a:avLst/>
          </a:prstGeom>
          <a:noFill/>
          <a:ln w="6350">
            <a:solidFill>
              <a:srgbClr val="D1D5DB"/>
            </a:solidFill>
            <a:prstDash val="solid"/>
          </a:ln>
        </p:spPr>
      </p:sp>
      <p:sp>
        <p:nvSpPr>
          <p:cNvPr id="10" name="Text 8"/>
          <p:cNvSpPr/>
          <p:nvPr/>
        </p:nvSpPr>
        <p:spPr>
          <a:xfrm>
            <a:off x="384048" y="4818888"/>
            <a:ext cx="8275320" cy="182880"/>
          </a:xfrm>
          <a:prstGeom prst="rect">
            <a:avLst/>
          </a:prstGeom>
          <a:noFill/>
          <a:ln/>
        </p:spPr>
        <p:txBody>
          <a:bodyPr wrap="square" lIns="0" tIns="0" rIns="0" bIns="0" rtlCol="0" anchor="ctr">
            <a:normAutofit/>
          </a:bodyPr>
          <a:lstStyle/>
          <a:p>
            <a:pPr indent="0" marL="0">
              <a:buNone/>
            </a:pPr>
            <a:r>
              <a:rPr lang="en-US" sz="820" dirty="0">
                <a:solidFill>
                  <a:srgbClr val="6B7280"/>
                </a:solidFill>
                <a:latin typeface="Calibri" pitchFamily="34" charset="0"/>
                <a:ea typeface="Calibri" pitchFamily="34" charset="-122"/>
                <a:cs typeface="Calibri" pitchFamily="34" charset="-120"/>
              </a:rPr>
              <a:t>Source: https://learn.microsoft.com/en-us/agent-framework/agents/tools/local-mcp-tools?tabs=python</a:t>
            </a:r>
            <a:endParaRPr lang="en-US" sz="820" dirty="0"/>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name="Slide 9">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0" y="0"/>
            <a:ext cx="54864" cy="5143500"/>
          </a:xfrm>
          <a:prstGeom prst="rect">
            <a:avLst/>
          </a:prstGeom>
          <a:solidFill>
            <a:srgbClr val="1E2761"/>
          </a:solidFill>
          <a:ln/>
        </p:spPr>
      </p:sp>
      <p:sp>
        <p:nvSpPr>
          <p:cNvPr id="3" name="Text 1"/>
          <p:cNvSpPr/>
          <p:nvPr/>
        </p:nvSpPr>
        <p:spPr>
          <a:xfrm>
            <a:off x="5486400" y="256032"/>
            <a:ext cx="3337560" cy="228600"/>
          </a:xfrm>
          <a:prstGeom prst="rect">
            <a:avLst/>
          </a:prstGeom>
          <a:noFill/>
          <a:ln/>
        </p:spPr>
        <p:txBody>
          <a:bodyPr wrap="square" lIns="0" tIns="0" rIns="0" bIns="0" rtlCol="0" anchor="ctr">
            <a:normAutofit/>
          </a:bodyPr>
          <a:lstStyle/>
          <a:p>
            <a:pPr algn="r" indent="0" marL="0">
              <a:buNone/>
            </a:pPr>
            <a:r>
              <a:rPr lang="en-US" sz="950" dirty="0">
                <a:solidFill>
                  <a:srgbClr val="6B7280"/>
                </a:solidFill>
                <a:latin typeface="Calibri" pitchFamily="34" charset="0"/>
                <a:ea typeface="Calibri" pitchFamily="34" charset="-122"/>
                <a:cs typeface="Calibri" pitchFamily="34" charset="-120"/>
              </a:rPr>
              <a:t>Day 3 · Module 5</a:t>
            </a:r>
            <a:endParaRPr lang="en-US" sz="950" dirty="0"/>
          </a:p>
        </p:txBody>
      </p:sp>
      <p:sp>
        <p:nvSpPr>
          <p:cNvPr id="4" name="Text 2"/>
          <p:cNvSpPr/>
          <p:nvPr/>
        </p:nvSpPr>
        <p:spPr>
          <a:xfrm>
            <a:off x="365760" y="310896"/>
            <a:ext cx="6583680" cy="603504"/>
          </a:xfrm>
          <a:prstGeom prst="rect">
            <a:avLst/>
          </a:prstGeom>
          <a:noFill/>
          <a:ln/>
        </p:spPr>
        <p:txBody>
          <a:bodyPr wrap="square" lIns="0" tIns="0" rIns="0" bIns="0" rtlCol="0" anchor="ctr">
            <a:normAutofit/>
          </a:bodyPr>
          <a:lstStyle/>
          <a:p>
            <a:pPr indent="0" marL="0">
              <a:buNone/>
            </a:pPr>
            <a:r>
              <a:rPr lang="en-US" sz="2500" b="1" dirty="0">
                <a:solidFill>
                  <a:srgbClr val="1E2761"/>
                </a:solidFill>
                <a:latin typeface="Calibri" pitchFamily="34" charset="0"/>
                <a:ea typeface="Calibri" pitchFamily="34" charset="-122"/>
                <a:cs typeface="Calibri" pitchFamily="34" charset="-120"/>
              </a:rPr>
              <a:t>Remote HTTP belongs behind explicit auth</a:t>
            </a:r>
            <a:endParaRPr lang="en-US" sz="2500" dirty="0"/>
          </a:p>
        </p:txBody>
      </p:sp>
      <p:sp>
        <p:nvSpPr>
          <p:cNvPr id="5" name="Shape 3"/>
          <p:cNvSpPr/>
          <p:nvPr/>
        </p:nvSpPr>
        <p:spPr>
          <a:xfrm>
            <a:off x="365760" y="1115568"/>
            <a:ext cx="8412480" cy="2350008"/>
          </a:xfrm>
          <a:prstGeom prst="rect">
            <a:avLst/>
          </a:prstGeom>
          <a:solidFill>
            <a:srgbClr val="1D1E22"/>
          </a:solidFill>
          <a:ln w="9525">
            <a:solidFill>
              <a:srgbClr val="2A2B2E"/>
            </a:solidFill>
            <a:prstDash val="solid"/>
          </a:ln>
        </p:spPr>
      </p:sp>
      <p:sp>
        <p:nvSpPr>
          <p:cNvPr id="6" name="Text 4"/>
          <p:cNvSpPr/>
          <p:nvPr/>
        </p:nvSpPr>
        <p:spPr>
          <a:xfrm>
            <a:off x="502920" y="1207008"/>
            <a:ext cx="8138160" cy="2167128"/>
          </a:xfrm>
          <a:prstGeom prst="rect">
            <a:avLst/>
          </a:prstGeom>
          <a:noFill/>
          <a:ln/>
        </p:spPr>
        <p:txBody>
          <a:bodyPr wrap="square" lIns="0" tIns="0" rIns="0" bIns="0" rtlCol="0" anchor="t">
            <a:normAutofit/>
          </a:bodyPr>
          <a:lstStyle/>
          <a:p>
            <a:pPr indent="0" marL="0">
              <a:buNone/>
            </a:pPr>
            <a:r>
              <a:rPr lang="en-US" sz="1280" dirty="0">
                <a:solidFill>
                  <a:srgbClr val="A996B6"/>
                </a:solidFill>
                <a:latin typeface="Consolas" pitchFamily="34" charset="0"/>
                <a:ea typeface="Consolas" pitchFamily="34" charset="-122"/>
                <a:cs typeface="Consolas" pitchFamily="34" charset="-120"/>
              </a:rPr>
              <a:t>async</a:t>
            </a:r>
            <a:pPr indent="0" marL="0">
              <a:buNone/>
            </a:pPr>
            <a:r>
              <a:rPr lang="en-US" sz="1280" dirty="0">
                <a:solidFill>
                  <a:srgbClr val="FFFFFF"/>
                </a:solidFill>
                <a:latin typeface="Consolas" pitchFamily="34" charset="0"/>
                <a:ea typeface="Consolas" pitchFamily="34" charset="-122"/>
                <a:cs typeface="Consolas" pitchFamily="34" charset="-120"/>
              </a:rPr>
              <a:t> </a:t>
            </a:r>
            <a:pPr indent="0" marL="0">
              <a:buNone/>
            </a:pPr>
            <a:r>
              <a:rPr lang="en-US" sz="1280" dirty="0">
                <a:solidFill>
                  <a:srgbClr val="A996B6"/>
                </a:solidFill>
                <a:latin typeface="Consolas" pitchFamily="34" charset="0"/>
                <a:ea typeface="Consolas" pitchFamily="34" charset="-122"/>
                <a:cs typeface="Consolas" pitchFamily="34" charset="-120"/>
              </a:rPr>
              <a:t>with</a:t>
            </a:r>
            <a:pPr indent="0" marL="0">
              <a:buNone/>
            </a:pPr>
            <a:r>
              <a:rPr lang="en-US" sz="1280" dirty="0">
                <a:solidFill>
                  <a:srgbClr val="FFFFFF"/>
                </a:solidFill>
                <a:latin typeface="Consolas" pitchFamily="34" charset="0"/>
                <a:ea typeface="Consolas" pitchFamily="34" charset="-122"/>
                <a:cs typeface="Consolas" pitchFamily="34" charset="-120"/>
              </a:rPr>
              <a:t> MCPStreamableHTTPTool(</a:t>
            </a:r>
            <a:endParaRPr lang="en-US" sz="1280" dirty="0"/>
          </a:p>
          <a:p>
            <a:pPr indent="0" marL="0">
              <a:buNone/>
            </a:pPr>
            <a:r>
              <a:rPr lang="en-US" sz="1280" dirty="0">
                <a:solidFill>
                  <a:srgbClr val="FFFFFF"/>
                </a:solidFill>
                <a:latin typeface="Consolas" pitchFamily="34" charset="0"/>
                <a:ea typeface="Consolas" pitchFamily="34" charset="-122"/>
                <a:cs typeface="Consolas" pitchFamily="34" charset="-120"/>
              </a:rPr>
              <a:t>    name=</a:t>
            </a:r>
            <a:pPr indent="0" marL="0">
              <a:buNone/>
            </a:pPr>
            <a:r>
              <a:rPr lang="en-US" sz="1280" dirty="0">
                <a:solidFill>
                  <a:srgbClr val="E4C98A"/>
                </a:solidFill>
                <a:latin typeface="Consolas" pitchFamily="34" charset="0"/>
                <a:ea typeface="Consolas" pitchFamily="34" charset="-122"/>
                <a:cs typeface="Consolas" pitchFamily="34" charset="-120"/>
              </a:rPr>
              <a:t>"docs"</a:t>
            </a:r>
            <a:pPr indent="0" marL="0">
              <a:buNone/>
            </a:pPr>
            <a:r>
              <a:rPr lang="en-US" sz="1280" dirty="0">
                <a:solidFill>
                  <a:srgbClr val="FFFFFF"/>
                </a:solidFill>
                <a:latin typeface="Consolas" pitchFamily="34" charset="0"/>
                <a:ea typeface="Consolas" pitchFamily="34" charset="-122"/>
                <a:cs typeface="Consolas" pitchFamily="34" charset="-120"/>
              </a:rPr>
              <a:t>,</a:t>
            </a:r>
            <a:endParaRPr lang="en-US" sz="1280" dirty="0"/>
          </a:p>
          <a:p>
            <a:pPr indent="0" marL="0">
              <a:buNone/>
            </a:pPr>
            <a:r>
              <a:rPr lang="en-US" sz="1280" dirty="0">
                <a:solidFill>
                  <a:srgbClr val="FFFFFF"/>
                </a:solidFill>
                <a:latin typeface="Consolas" pitchFamily="34" charset="0"/>
                <a:ea typeface="Consolas" pitchFamily="34" charset="-122"/>
                <a:cs typeface="Consolas" pitchFamily="34" charset="-120"/>
              </a:rPr>
              <a:t>    url=</a:t>
            </a:r>
            <a:pPr indent="0" marL="0">
              <a:buNone/>
            </a:pPr>
            <a:r>
              <a:rPr lang="en-US" sz="1280" dirty="0">
                <a:solidFill>
                  <a:srgbClr val="E4C98A"/>
                </a:solidFill>
                <a:latin typeface="Consolas" pitchFamily="34" charset="0"/>
                <a:ea typeface="Consolas" pitchFamily="34" charset="-122"/>
                <a:cs typeface="Consolas" pitchFamily="34" charset="-120"/>
              </a:rPr>
              <a:t>"https://learn.microsoft.com/api/mcp"</a:t>
            </a:r>
            <a:pPr indent="0" marL="0">
              <a:buNone/>
            </a:pPr>
            <a:r>
              <a:rPr lang="en-US" sz="1280" dirty="0">
                <a:solidFill>
                  <a:srgbClr val="FFFFFF"/>
                </a:solidFill>
                <a:latin typeface="Consolas" pitchFamily="34" charset="0"/>
                <a:ea typeface="Consolas" pitchFamily="34" charset="-122"/>
                <a:cs typeface="Consolas" pitchFamily="34" charset="-120"/>
              </a:rPr>
              <a:t>,</a:t>
            </a:r>
            <a:endParaRPr lang="en-US" sz="1280" dirty="0"/>
          </a:p>
          <a:p>
            <a:pPr indent="0" marL="0">
              <a:buNone/>
            </a:pPr>
            <a:r>
              <a:rPr lang="en-US" sz="1280" dirty="0">
                <a:solidFill>
                  <a:srgbClr val="FFFFFF"/>
                </a:solidFill>
                <a:latin typeface="Consolas" pitchFamily="34" charset="0"/>
                <a:ea typeface="Consolas" pitchFamily="34" charset="-122"/>
                <a:cs typeface="Consolas" pitchFamily="34" charset="-120"/>
              </a:rPr>
              <a:t>    allowed_tools=[</a:t>
            </a:r>
            <a:pPr indent="0" marL="0">
              <a:buNone/>
            </a:pPr>
            <a:r>
              <a:rPr lang="en-US" sz="1280" dirty="0">
                <a:solidFill>
                  <a:srgbClr val="E4C98A"/>
                </a:solidFill>
                <a:latin typeface="Consolas" pitchFamily="34" charset="0"/>
                <a:ea typeface="Consolas" pitchFamily="34" charset="-122"/>
                <a:cs typeface="Consolas" pitchFamily="34" charset="-120"/>
              </a:rPr>
              <a:t>"microsoft_docs_search"</a:t>
            </a:r>
            <a:pPr indent="0" marL="0">
              <a:buNone/>
            </a:pPr>
            <a:r>
              <a:rPr lang="en-US" sz="1280" dirty="0">
                <a:solidFill>
                  <a:srgbClr val="FFFFFF"/>
                </a:solidFill>
                <a:latin typeface="Consolas" pitchFamily="34" charset="0"/>
                <a:ea typeface="Consolas" pitchFamily="34" charset="-122"/>
                <a:cs typeface="Consolas" pitchFamily="34" charset="-120"/>
              </a:rPr>
              <a:t>],</a:t>
            </a:r>
            <a:endParaRPr lang="en-US" sz="1280" dirty="0"/>
          </a:p>
          <a:p>
            <a:pPr indent="0" marL="0">
              <a:buNone/>
            </a:pPr>
            <a:r>
              <a:rPr lang="en-US" sz="1280" dirty="0">
                <a:solidFill>
                  <a:srgbClr val="FFFFFF"/>
                </a:solidFill>
                <a:latin typeface="Consolas" pitchFamily="34" charset="0"/>
                <a:ea typeface="Consolas" pitchFamily="34" charset="-122"/>
                <a:cs typeface="Consolas" pitchFamily="34" charset="-120"/>
              </a:rPr>
              <a:t>) </a:t>
            </a:r>
            <a:pPr indent="0" marL="0">
              <a:buNone/>
            </a:pPr>
            <a:r>
              <a:rPr lang="en-US" sz="1280" dirty="0">
                <a:solidFill>
                  <a:srgbClr val="A996B6"/>
                </a:solidFill>
                <a:latin typeface="Consolas" pitchFamily="34" charset="0"/>
                <a:ea typeface="Consolas" pitchFamily="34" charset="-122"/>
                <a:cs typeface="Consolas" pitchFamily="34" charset="-120"/>
              </a:rPr>
              <a:t>as</a:t>
            </a:r>
            <a:pPr indent="0" marL="0">
              <a:buNone/>
            </a:pPr>
            <a:r>
              <a:rPr lang="en-US" sz="1280" dirty="0">
                <a:solidFill>
                  <a:srgbClr val="FFFFFF"/>
                </a:solidFill>
                <a:latin typeface="Consolas" pitchFamily="34" charset="0"/>
                <a:ea typeface="Consolas" pitchFamily="34" charset="-122"/>
                <a:cs typeface="Consolas" pitchFamily="34" charset="-120"/>
              </a:rPr>
              <a:t> mcp:</a:t>
            </a:r>
            <a:endParaRPr lang="en-US" sz="1280" dirty="0"/>
          </a:p>
          <a:p>
            <a:pPr indent="0" marL="0">
              <a:buNone/>
            </a:pPr>
            <a:r>
              <a:rPr lang="en-US" sz="1280" dirty="0">
                <a:solidFill>
                  <a:srgbClr val="FFFFFF"/>
                </a:solidFill>
                <a:latin typeface="Consolas" pitchFamily="34" charset="0"/>
                <a:ea typeface="Consolas" pitchFamily="34" charset="-122"/>
                <a:cs typeface="Consolas" pitchFamily="34" charset="-120"/>
              </a:rPr>
              <a:t>    result = </a:t>
            </a:r>
            <a:pPr indent="0" marL="0">
              <a:buNone/>
            </a:pPr>
            <a:r>
              <a:rPr lang="en-US" sz="1280" dirty="0">
                <a:solidFill>
                  <a:srgbClr val="A996B6"/>
                </a:solidFill>
                <a:latin typeface="Consolas" pitchFamily="34" charset="0"/>
                <a:ea typeface="Consolas" pitchFamily="34" charset="-122"/>
                <a:cs typeface="Consolas" pitchFamily="34" charset="-120"/>
              </a:rPr>
              <a:t>await</a:t>
            </a:r>
            <a:pPr indent="0" marL="0">
              <a:buNone/>
            </a:pPr>
            <a:r>
              <a:rPr lang="en-US" sz="1280" dirty="0">
                <a:solidFill>
                  <a:srgbClr val="FFFFFF"/>
                </a:solidFill>
                <a:latin typeface="Consolas" pitchFamily="34" charset="0"/>
                <a:ea typeface="Consolas" pitchFamily="34" charset="-122"/>
                <a:cs typeface="Consolas" pitchFamily="34" charset="-120"/>
              </a:rPr>
              <a:t> agent.run(</a:t>
            </a:r>
            <a:endParaRPr lang="en-US" sz="1280" dirty="0"/>
          </a:p>
          <a:p>
            <a:pPr indent="0" marL="0">
              <a:buNone/>
            </a:pPr>
            <a:r>
              <a:rPr lang="en-US" sz="1280" dirty="0">
                <a:solidFill>
                  <a:srgbClr val="FFFFFF"/>
                </a:solidFill>
                <a:latin typeface="Consolas" pitchFamily="34" charset="0"/>
                <a:ea typeface="Consolas" pitchFamily="34" charset="-122"/>
                <a:cs typeface="Consolas" pitchFamily="34" charset="-120"/>
              </a:rPr>
              <a:t>        </a:t>
            </a:r>
            <a:pPr indent="0" marL="0">
              <a:buNone/>
            </a:pPr>
            <a:r>
              <a:rPr lang="en-US" sz="1280" dirty="0">
                <a:solidFill>
                  <a:srgbClr val="E4C98A"/>
                </a:solidFill>
                <a:latin typeface="Consolas" pitchFamily="34" charset="0"/>
                <a:ea typeface="Consolas" pitchFamily="34" charset="-122"/>
                <a:cs typeface="Consolas" pitchFamily="34" charset="-120"/>
              </a:rPr>
              <a:t>"Find the current guidance."</a:t>
            </a:r>
            <a:pPr indent="0" marL="0">
              <a:buNone/>
            </a:pPr>
            <a:r>
              <a:rPr lang="en-US" sz="1280" dirty="0">
                <a:solidFill>
                  <a:srgbClr val="FFFFFF"/>
                </a:solidFill>
                <a:latin typeface="Consolas" pitchFamily="34" charset="0"/>
                <a:ea typeface="Consolas" pitchFamily="34" charset="-122"/>
                <a:cs typeface="Consolas" pitchFamily="34" charset="-120"/>
              </a:rPr>
              <a:t>,</a:t>
            </a:r>
            <a:endParaRPr lang="en-US" sz="1280" dirty="0"/>
          </a:p>
          <a:p>
            <a:pPr indent="0" marL="0">
              <a:buNone/>
            </a:pPr>
            <a:r>
              <a:rPr lang="en-US" sz="1280" dirty="0">
                <a:solidFill>
                  <a:srgbClr val="FFFFFF"/>
                </a:solidFill>
                <a:latin typeface="Consolas" pitchFamily="34" charset="0"/>
                <a:ea typeface="Consolas" pitchFamily="34" charset="-122"/>
                <a:cs typeface="Consolas" pitchFamily="34" charset="-120"/>
              </a:rPr>
              <a:t>        tools=mcp,</a:t>
            </a:r>
            <a:endParaRPr lang="en-US" sz="1280" dirty="0"/>
          </a:p>
          <a:p>
            <a:pPr indent="0" marL="0">
              <a:buNone/>
            </a:pPr>
            <a:r>
              <a:rPr lang="en-US" sz="1280" dirty="0">
                <a:solidFill>
                  <a:srgbClr val="FFFFFF"/>
                </a:solidFill>
                <a:latin typeface="Consolas" pitchFamily="34" charset="0"/>
                <a:ea typeface="Consolas" pitchFamily="34" charset="-122"/>
                <a:cs typeface="Consolas" pitchFamily="34" charset="-120"/>
              </a:rPr>
              <a:t>    )</a:t>
            </a:r>
            <a:endParaRPr lang="en-US" sz="1280" dirty="0"/>
          </a:p>
        </p:txBody>
      </p:sp>
      <p:sp>
        <p:nvSpPr>
          <p:cNvPr id="7" name="Shape 5"/>
          <p:cNvSpPr/>
          <p:nvPr/>
        </p:nvSpPr>
        <p:spPr>
          <a:xfrm>
            <a:off x="365760" y="4773168"/>
            <a:ext cx="8412480" cy="0"/>
          </a:xfrm>
          <a:prstGeom prst="line">
            <a:avLst/>
          </a:prstGeom>
          <a:noFill/>
          <a:ln w="6350">
            <a:solidFill>
              <a:srgbClr val="D1D5DB"/>
            </a:solidFill>
            <a:prstDash val="solid"/>
          </a:ln>
        </p:spPr>
      </p:sp>
      <p:sp>
        <p:nvSpPr>
          <p:cNvPr id="8" name="Text 6"/>
          <p:cNvSpPr/>
          <p:nvPr/>
        </p:nvSpPr>
        <p:spPr>
          <a:xfrm>
            <a:off x="384048" y="4818888"/>
            <a:ext cx="8275320" cy="182880"/>
          </a:xfrm>
          <a:prstGeom prst="rect">
            <a:avLst/>
          </a:prstGeom>
          <a:noFill/>
          <a:ln/>
        </p:spPr>
        <p:txBody>
          <a:bodyPr wrap="square" lIns="0" tIns="0" rIns="0" bIns="0" rtlCol="0" anchor="ctr">
            <a:normAutofit/>
          </a:bodyPr>
          <a:lstStyle/>
          <a:p>
            <a:pPr indent="0" marL="0">
              <a:buNone/>
            </a:pPr>
            <a:r>
              <a:rPr lang="en-US" sz="820" dirty="0">
                <a:solidFill>
                  <a:srgbClr val="6B7280"/>
                </a:solidFill>
                <a:latin typeface="Calibri" pitchFamily="34" charset="0"/>
                <a:ea typeface="Calibri" pitchFamily="34" charset="-122"/>
                <a:cs typeface="Calibri" pitchFamily="34" charset="-120"/>
              </a:rPr>
              <a:t>Source: https://learn.microsoft.com/en-us/agent-framework/agents/tools/local-mcp-tools?tabs=python  ·  +1 in notes</a:t>
            </a:r>
            <a:endParaRPr lang="en-US" sz="820" dirty="0"/>
          </a:p>
        </p:txBody>
      </p: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name="Slide 10">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0" y="0"/>
            <a:ext cx="54864" cy="5143500"/>
          </a:xfrm>
          <a:prstGeom prst="rect">
            <a:avLst/>
          </a:prstGeom>
          <a:solidFill>
            <a:srgbClr val="1E2761"/>
          </a:solidFill>
          <a:ln/>
        </p:spPr>
      </p:sp>
      <p:sp>
        <p:nvSpPr>
          <p:cNvPr id="3" name="Text 1"/>
          <p:cNvSpPr/>
          <p:nvPr/>
        </p:nvSpPr>
        <p:spPr>
          <a:xfrm>
            <a:off x="5486400" y="256032"/>
            <a:ext cx="3337560" cy="228600"/>
          </a:xfrm>
          <a:prstGeom prst="rect">
            <a:avLst/>
          </a:prstGeom>
          <a:noFill/>
          <a:ln/>
        </p:spPr>
        <p:txBody>
          <a:bodyPr wrap="square" lIns="0" tIns="0" rIns="0" bIns="0" rtlCol="0" anchor="ctr">
            <a:normAutofit/>
          </a:bodyPr>
          <a:lstStyle/>
          <a:p>
            <a:pPr algn="r" indent="0" marL="0">
              <a:buNone/>
            </a:pPr>
            <a:r>
              <a:rPr lang="en-US" sz="950" dirty="0">
                <a:solidFill>
                  <a:srgbClr val="6B7280"/>
                </a:solidFill>
                <a:latin typeface="Calibri" pitchFamily="34" charset="0"/>
                <a:ea typeface="Calibri" pitchFamily="34" charset="-122"/>
                <a:cs typeface="Calibri" pitchFamily="34" charset="-120"/>
              </a:rPr>
              <a:t>Day 3 · Module 5</a:t>
            </a:r>
            <a:endParaRPr lang="en-US" sz="950" dirty="0"/>
          </a:p>
        </p:txBody>
      </p:sp>
      <p:sp>
        <p:nvSpPr>
          <p:cNvPr id="4" name="Text 2"/>
          <p:cNvSpPr/>
          <p:nvPr/>
        </p:nvSpPr>
        <p:spPr>
          <a:xfrm>
            <a:off x="365760" y="310896"/>
            <a:ext cx="6583680" cy="603504"/>
          </a:xfrm>
          <a:prstGeom prst="rect">
            <a:avLst/>
          </a:prstGeom>
          <a:noFill/>
          <a:ln/>
        </p:spPr>
        <p:txBody>
          <a:bodyPr wrap="square" lIns="0" tIns="0" rIns="0" bIns="0" rtlCol="0" anchor="ctr">
            <a:normAutofit/>
          </a:bodyPr>
          <a:lstStyle/>
          <a:p>
            <a:pPr indent="0" marL="0">
              <a:buNone/>
            </a:pPr>
            <a:r>
              <a:rPr lang="en-US" sz="2500" b="1" dirty="0">
                <a:solidFill>
                  <a:srgbClr val="1E2761"/>
                </a:solidFill>
                <a:latin typeface="Calibri" pitchFamily="34" charset="0"/>
                <a:ea typeface="Calibri" pitchFamily="34" charset="-122"/>
                <a:cs typeface="Calibri" pitchFamily="34" charset="-120"/>
              </a:rPr>
              <a:t>header_provider has two call shapes</a:t>
            </a:r>
            <a:endParaRPr lang="en-US" sz="2500" dirty="0"/>
          </a:p>
        </p:txBody>
      </p:sp>
      <p:sp>
        <p:nvSpPr>
          <p:cNvPr id="5" name="Shape 3"/>
          <p:cNvSpPr/>
          <p:nvPr/>
        </p:nvSpPr>
        <p:spPr>
          <a:xfrm>
            <a:off x="365760" y="1078992"/>
            <a:ext cx="4114800" cy="3493008"/>
          </a:xfrm>
          <a:prstGeom prst="roundRect">
            <a:avLst/>
          </a:prstGeom>
          <a:solidFill>
            <a:srgbClr val="F3F4F6"/>
          </a:solidFill>
          <a:ln w="11430">
            <a:solidFill>
              <a:srgbClr val="D1D5DB"/>
            </a:solidFill>
            <a:prstDash val="solid"/>
          </a:ln>
        </p:spPr>
      </p:sp>
      <p:sp>
        <p:nvSpPr>
          <p:cNvPr id="6" name="Text 4"/>
          <p:cNvSpPr/>
          <p:nvPr/>
        </p:nvSpPr>
        <p:spPr>
          <a:xfrm>
            <a:off x="566928" y="1298448"/>
            <a:ext cx="3712464" cy="411480"/>
          </a:xfrm>
          <a:prstGeom prst="rect">
            <a:avLst/>
          </a:prstGeom>
          <a:noFill/>
          <a:ln/>
        </p:spPr>
        <p:txBody>
          <a:bodyPr wrap="square" lIns="0" tIns="0" rIns="0" bIns="0" rtlCol="0" anchor="ctr">
            <a:normAutofit/>
          </a:bodyPr>
          <a:lstStyle/>
          <a:p>
            <a:pPr indent="0" marL="0">
              <a:buNone/>
            </a:pPr>
            <a:r>
              <a:rPr lang="en-US" sz="2000" b="1" dirty="0">
                <a:solidFill>
                  <a:srgbClr val="1E2761"/>
                </a:solidFill>
                <a:latin typeface="Calibri" pitchFamily="34" charset="0"/>
                <a:ea typeface="Calibri" pitchFamily="34" charset="-122"/>
                <a:cs typeface="Calibri" pitchFamily="34" charset="-120"/>
              </a:rPr>
              <a:t>Tool-call request</a:t>
            </a:r>
            <a:endParaRPr lang="en-US" sz="2000" dirty="0"/>
          </a:p>
        </p:txBody>
      </p:sp>
      <p:sp>
        <p:nvSpPr>
          <p:cNvPr id="7" name="Text 5"/>
          <p:cNvSpPr/>
          <p:nvPr/>
        </p:nvSpPr>
        <p:spPr>
          <a:xfrm>
            <a:off x="594360" y="1828800"/>
            <a:ext cx="3639312" cy="2395728"/>
          </a:xfrm>
          <a:prstGeom prst="rect">
            <a:avLst/>
          </a:prstGeom>
          <a:noFill/>
          <a:ln/>
        </p:spPr>
        <p:txBody>
          <a:bodyPr wrap="square" lIns="381" tIns="381" rIns="381" bIns="381" rtlCol="0" anchor="ctr">
            <a:normAutofit/>
          </a:bodyPr>
          <a:lstStyle/>
          <a:p>
            <a:pPr marL="342900" indent="-342900">
              <a:buSzPct val="100000"/>
              <a:buChar char="•"/>
            </a:pPr>
            <a:r>
              <a:rPr lang="en-US" sz="1300" dirty="0">
                <a:solidFill>
                  <a:srgbClr val="212121"/>
                </a:solidFill>
                <a:latin typeface="Calibri" pitchFamily="34" charset="0"/>
                <a:ea typeface="Calibri" pitchFamily="34" charset="-122"/>
                <a:cs typeface="Calibri" pitchFamily="34" charset="-120"/>
              </a:rPr>
              <a:t>Receives function_invocation_kwargs</a:t>
            </a:r>
            <a:endParaRPr lang="en-US" sz="1300" dirty="0"/>
          </a:p>
          <a:p>
            <a:pPr marL="342900" indent="-342900">
              <a:buSzPct val="100000"/>
              <a:buChar char="•"/>
            </a:pPr>
            <a:r>
              <a:rPr lang="en-US" sz="1300" dirty="0">
                <a:solidFill>
                  <a:srgbClr val="212121"/>
                </a:solidFill>
                <a:latin typeface="Calibri" pitchFamily="34" charset="0"/>
                <a:ea typeface="Calibri" pitchFamily="34" charset="-122"/>
                <a:cs typeface="Calibri" pitchFamily="34" charset="-120"/>
              </a:rPr>
              <a:t>Can derive request-scoped headers</a:t>
            </a:r>
            <a:endParaRPr lang="en-US" sz="1300" dirty="0"/>
          </a:p>
          <a:p>
            <a:pPr marL="342900" indent="-342900">
              <a:buSzPct val="100000"/>
              <a:buChar char="•"/>
            </a:pPr>
            <a:r>
              <a:rPr lang="en-US" sz="1300" dirty="0">
                <a:solidFill>
                  <a:srgbClr val="212121"/>
                </a:solidFill>
                <a:latin typeface="Calibri" pitchFamily="34" charset="0"/>
                <a:ea typeface="Calibri" pitchFamily="34" charset="-122"/>
                <a:cs typeface="Calibri" pitchFamily="34" charset="-120"/>
              </a:rPr>
              <a:t>Keep secrets outside model-visible arguments</a:t>
            </a:r>
            <a:endParaRPr lang="en-US" sz="1300" dirty="0"/>
          </a:p>
        </p:txBody>
      </p:sp>
      <p:sp>
        <p:nvSpPr>
          <p:cNvPr id="8" name="Shape 6"/>
          <p:cNvSpPr/>
          <p:nvPr/>
        </p:nvSpPr>
        <p:spPr>
          <a:xfrm>
            <a:off x="4663440" y="1078992"/>
            <a:ext cx="4114800" cy="3493008"/>
          </a:xfrm>
          <a:prstGeom prst="roundRect">
            <a:avLst/>
          </a:prstGeom>
          <a:solidFill>
            <a:srgbClr val="CADCFC"/>
          </a:solidFill>
          <a:ln w="11430">
            <a:solidFill>
              <a:srgbClr val="1E2761"/>
            </a:solidFill>
            <a:prstDash val="solid"/>
          </a:ln>
        </p:spPr>
      </p:sp>
      <p:sp>
        <p:nvSpPr>
          <p:cNvPr id="9" name="Text 7"/>
          <p:cNvSpPr/>
          <p:nvPr/>
        </p:nvSpPr>
        <p:spPr>
          <a:xfrm>
            <a:off x="4864608" y="1298448"/>
            <a:ext cx="3712464" cy="411480"/>
          </a:xfrm>
          <a:prstGeom prst="rect">
            <a:avLst/>
          </a:prstGeom>
          <a:noFill/>
          <a:ln/>
        </p:spPr>
        <p:txBody>
          <a:bodyPr wrap="square" lIns="0" tIns="0" rIns="0" bIns="0" rtlCol="0" anchor="ctr">
            <a:normAutofit/>
          </a:bodyPr>
          <a:lstStyle/>
          <a:p>
            <a:pPr indent="0" marL="0">
              <a:buNone/>
            </a:pPr>
            <a:r>
              <a:rPr lang="en-US" sz="2000" b="1" dirty="0">
                <a:solidFill>
                  <a:srgbClr val="1E2761"/>
                </a:solidFill>
                <a:latin typeface="Calibri" pitchFamily="34" charset="0"/>
                <a:ea typeface="Calibri" pitchFamily="34" charset="-122"/>
                <a:cs typeface="Calibri" pitchFamily="34" charset="-120"/>
              </a:rPr>
              <a:t>Ambient request</a:t>
            </a:r>
            <a:endParaRPr lang="en-US" sz="2000" dirty="0"/>
          </a:p>
        </p:txBody>
      </p:sp>
      <p:sp>
        <p:nvSpPr>
          <p:cNvPr id="10" name="Text 8"/>
          <p:cNvSpPr/>
          <p:nvPr/>
        </p:nvSpPr>
        <p:spPr>
          <a:xfrm>
            <a:off x="4892040" y="1828800"/>
            <a:ext cx="3639312" cy="2395728"/>
          </a:xfrm>
          <a:prstGeom prst="rect">
            <a:avLst/>
          </a:prstGeom>
          <a:noFill/>
          <a:ln/>
        </p:spPr>
        <p:txBody>
          <a:bodyPr wrap="square" lIns="381" tIns="381" rIns="381" bIns="381" rtlCol="0" anchor="ctr">
            <a:normAutofit/>
          </a:bodyPr>
          <a:lstStyle/>
          <a:p>
            <a:pPr marL="342900" indent="-342900">
              <a:buSzPct val="100000"/>
              <a:buChar char="•"/>
            </a:pPr>
            <a:r>
              <a:rPr lang="en-US" sz="1300" dirty="0">
                <a:solidFill>
                  <a:srgbClr val="212121"/>
                </a:solidFill>
                <a:latin typeface="Calibri" pitchFamily="34" charset="0"/>
                <a:ea typeface="Calibri" pitchFamily="34" charset="-122"/>
                <a:cs typeface="Calibri" pitchFamily="34" charset="-120"/>
              </a:rPr>
              <a:t>Receives {}</a:t>
            </a:r>
            <a:endParaRPr lang="en-US" sz="1300" dirty="0"/>
          </a:p>
          <a:p>
            <a:pPr marL="342900" indent="-342900">
              <a:buSzPct val="100000"/>
              <a:buChar char="•"/>
            </a:pPr>
            <a:r>
              <a:rPr lang="en-US" sz="1300" dirty="0">
                <a:solidFill>
                  <a:srgbClr val="212121"/>
                </a:solidFill>
                <a:latin typeface="Calibri" pitchFamily="34" charset="0"/>
                <a:ea typeface="Calibri" pitchFamily="34" charset="-122"/>
                <a:cs typeface="Calibri" pitchFamily="34" charset="-120"/>
              </a:rPr>
              <a:t>Includes initialization, discovery, and pings</a:t>
            </a:r>
            <a:endParaRPr lang="en-US" sz="1300" dirty="0"/>
          </a:p>
          <a:p>
            <a:pPr marL="342900" indent="-342900">
              <a:buSzPct val="100000"/>
              <a:buChar char="•"/>
            </a:pPr>
            <a:r>
              <a:rPr lang="en-US" sz="1300" dirty="0">
                <a:solidFill>
                  <a:srgbClr val="212121"/>
                </a:solidFill>
                <a:latin typeface="Calibri" pitchFamily="34" charset="0"/>
                <a:ea typeface="Calibri" pitchFamily="34" charset="-122"/>
                <a:cs typeface="Calibri" pitchFamily="34" charset="-120"/>
              </a:rPr>
              <a:t>Provider must still acquire required connection auth</a:t>
            </a:r>
            <a:endParaRPr lang="en-US" sz="1300" dirty="0"/>
          </a:p>
        </p:txBody>
      </p:sp>
      <p:sp>
        <p:nvSpPr>
          <p:cNvPr id="11" name="Shape 9"/>
          <p:cNvSpPr/>
          <p:nvPr/>
        </p:nvSpPr>
        <p:spPr>
          <a:xfrm>
            <a:off x="365760" y="4773168"/>
            <a:ext cx="8412480" cy="0"/>
          </a:xfrm>
          <a:prstGeom prst="line">
            <a:avLst/>
          </a:prstGeom>
          <a:noFill/>
          <a:ln w="6350">
            <a:solidFill>
              <a:srgbClr val="D1D5DB"/>
            </a:solidFill>
            <a:prstDash val="solid"/>
          </a:ln>
        </p:spPr>
      </p:sp>
      <p:sp>
        <p:nvSpPr>
          <p:cNvPr id="12" name="Text 10"/>
          <p:cNvSpPr/>
          <p:nvPr/>
        </p:nvSpPr>
        <p:spPr>
          <a:xfrm>
            <a:off x="384048" y="4818888"/>
            <a:ext cx="8275320" cy="182880"/>
          </a:xfrm>
          <a:prstGeom prst="rect">
            <a:avLst/>
          </a:prstGeom>
          <a:noFill/>
          <a:ln/>
        </p:spPr>
        <p:txBody>
          <a:bodyPr wrap="square" lIns="0" tIns="0" rIns="0" bIns="0" rtlCol="0" anchor="ctr">
            <a:normAutofit/>
          </a:bodyPr>
          <a:lstStyle/>
          <a:p>
            <a:pPr indent="0" marL="0">
              <a:buNone/>
            </a:pPr>
            <a:r>
              <a:rPr lang="en-US" sz="820" dirty="0">
                <a:solidFill>
                  <a:srgbClr val="6B7280"/>
                </a:solidFill>
                <a:latin typeface="Calibri" pitchFamily="34" charset="0"/>
                <a:ea typeface="Calibri" pitchFamily="34" charset="-122"/>
                <a:cs typeface="Calibri" pitchFamily="34" charset="-120"/>
              </a:rPr>
              <a:t>Source: https://learn.microsoft.com/en-us/agent-framework/agents/tools/local-mcp-tools?tabs=python</a:t>
            </a:r>
            <a:endParaRPr lang="en-US" sz="820" dirty="0"/>
          </a:p>
        </p:txBody>
      </p:sp>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name="Slide 11">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0" y="0"/>
            <a:ext cx="54864" cy="5143500"/>
          </a:xfrm>
          <a:prstGeom prst="rect">
            <a:avLst/>
          </a:prstGeom>
          <a:solidFill>
            <a:srgbClr val="1E2761"/>
          </a:solidFill>
          <a:ln/>
        </p:spPr>
      </p:sp>
      <p:sp>
        <p:nvSpPr>
          <p:cNvPr id="3" name="Text 1"/>
          <p:cNvSpPr/>
          <p:nvPr/>
        </p:nvSpPr>
        <p:spPr>
          <a:xfrm>
            <a:off x="5486400" y="256032"/>
            <a:ext cx="3337560" cy="228600"/>
          </a:xfrm>
          <a:prstGeom prst="rect">
            <a:avLst/>
          </a:prstGeom>
          <a:noFill/>
          <a:ln/>
        </p:spPr>
        <p:txBody>
          <a:bodyPr wrap="square" lIns="0" tIns="0" rIns="0" bIns="0" rtlCol="0" anchor="ctr">
            <a:normAutofit/>
          </a:bodyPr>
          <a:lstStyle/>
          <a:p>
            <a:pPr algn="r" indent="0" marL="0">
              <a:buNone/>
            </a:pPr>
            <a:r>
              <a:rPr lang="en-US" sz="950" dirty="0">
                <a:solidFill>
                  <a:srgbClr val="6B7280"/>
                </a:solidFill>
                <a:latin typeface="Calibri" pitchFamily="34" charset="0"/>
                <a:ea typeface="Calibri" pitchFamily="34" charset="-122"/>
                <a:cs typeface="Calibri" pitchFamily="34" charset="-120"/>
              </a:rPr>
              <a:t>Day 3 · Module 5</a:t>
            </a:r>
            <a:endParaRPr lang="en-US" sz="950" dirty="0"/>
          </a:p>
        </p:txBody>
      </p:sp>
      <p:sp>
        <p:nvSpPr>
          <p:cNvPr id="4" name="Text 2"/>
          <p:cNvSpPr/>
          <p:nvPr/>
        </p:nvSpPr>
        <p:spPr>
          <a:xfrm>
            <a:off x="365760" y="310896"/>
            <a:ext cx="6583680" cy="603504"/>
          </a:xfrm>
          <a:prstGeom prst="rect">
            <a:avLst/>
          </a:prstGeom>
          <a:noFill/>
          <a:ln/>
        </p:spPr>
        <p:txBody>
          <a:bodyPr wrap="square" lIns="0" tIns="0" rIns="0" bIns="0" rtlCol="0" anchor="ctr">
            <a:normAutofit/>
          </a:bodyPr>
          <a:lstStyle/>
          <a:p>
            <a:pPr indent="0" marL="0">
              <a:buNone/>
            </a:pPr>
            <a:r>
              <a:rPr lang="en-US" sz="2800" b="1" dirty="0">
                <a:solidFill>
                  <a:srgbClr val="1E2761"/>
                </a:solidFill>
                <a:latin typeface="Calibri" pitchFamily="34" charset="0"/>
                <a:ea typeface="Calibri" pitchFamily="34" charset="-122"/>
                <a:cs typeface="Calibri" pitchFamily="34" charset="-120"/>
              </a:rPr>
              <a:t>Reduce the model's tool surface</a:t>
            </a:r>
            <a:endParaRPr lang="en-US" sz="2800" dirty="0"/>
          </a:p>
        </p:txBody>
      </p:sp>
      <p:sp>
        <p:nvSpPr>
          <p:cNvPr id="5" name="Shape 3"/>
          <p:cNvSpPr/>
          <p:nvPr/>
        </p:nvSpPr>
        <p:spPr>
          <a:xfrm>
            <a:off x="365760" y="1078992"/>
            <a:ext cx="4105656" cy="1655064"/>
          </a:xfrm>
          <a:prstGeom prst="roundRect">
            <a:avLst>
              <a:gd name="adj" fmla="val 3315"/>
            </a:avLst>
          </a:prstGeom>
          <a:solidFill>
            <a:srgbClr val="CADCFC"/>
          </a:solidFill>
          <a:ln w="10160">
            <a:solidFill>
              <a:srgbClr val="1E2761"/>
            </a:solidFill>
            <a:prstDash val="solid"/>
          </a:ln>
        </p:spPr>
      </p:sp>
      <p:sp>
        <p:nvSpPr>
          <p:cNvPr id="6" name="Text 4"/>
          <p:cNvSpPr/>
          <p:nvPr/>
        </p:nvSpPr>
        <p:spPr>
          <a:xfrm>
            <a:off x="512064" y="1197864"/>
            <a:ext cx="3813048" cy="310896"/>
          </a:xfrm>
          <a:prstGeom prst="rect">
            <a:avLst/>
          </a:prstGeom>
          <a:noFill/>
          <a:ln/>
        </p:spPr>
        <p:txBody>
          <a:bodyPr wrap="square" lIns="0" tIns="0" rIns="0" bIns="0" rtlCol="0" anchor="ctr">
            <a:normAutofit/>
          </a:bodyPr>
          <a:lstStyle/>
          <a:p>
            <a:pPr indent="0" marL="0">
              <a:buNone/>
            </a:pPr>
            <a:r>
              <a:rPr lang="en-US" sz="1500" b="1" dirty="0">
                <a:solidFill>
                  <a:srgbClr val="1E2761"/>
                </a:solidFill>
                <a:latin typeface="Calibri" pitchFamily="34" charset="0"/>
                <a:ea typeface="Calibri" pitchFamily="34" charset="-122"/>
                <a:cs typeface="Calibri" pitchFamily="34" charset="-120"/>
              </a:rPr>
              <a:t>allowed_tools</a:t>
            </a:r>
            <a:endParaRPr lang="en-US" sz="1500" dirty="0"/>
          </a:p>
        </p:txBody>
      </p:sp>
      <p:sp>
        <p:nvSpPr>
          <p:cNvPr id="7" name="Text 5"/>
          <p:cNvSpPr/>
          <p:nvPr/>
        </p:nvSpPr>
        <p:spPr>
          <a:xfrm>
            <a:off x="512064" y="1581912"/>
            <a:ext cx="3813048" cy="1033272"/>
          </a:xfrm>
          <a:prstGeom prst="rect">
            <a:avLst/>
          </a:prstGeom>
          <a:noFill/>
          <a:ln/>
        </p:spPr>
        <p:txBody>
          <a:bodyPr wrap="square" lIns="0" tIns="0" rIns="0" bIns="0" rtlCol="0" anchor="t">
            <a:normAutofit/>
          </a:bodyPr>
          <a:lstStyle/>
          <a:p>
            <a:pPr indent="0" marL="0">
              <a:buNone/>
            </a:pPr>
            <a:r>
              <a:rPr lang="en-US" sz="1150" dirty="0">
                <a:solidFill>
                  <a:srgbClr val="212121"/>
                </a:solidFill>
                <a:latin typeface="Calibri" pitchFamily="34" charset="0"/>
                <a:ea typeface="Calibri" pitchFamily="34" charset="-122"/>
                <a:cs typeface="Calibri" pitchFamily="34" charset="-120"/>
              </a:rPr>
              <a:t>Expose an explicit MCP allow-list</a:t>
            </a:r>
            <a:endParaRPr lang="en-US" sz="1150" dirty="0"/>
          </a:p>
        </p:txBody>
      </p:sp>
      <p:sp>
        <p:nvSpPr>
          <p:cNvPr id="8" name="Shape 6"/>
          <p:cNvSpPr/>
          <p:nvPr/>
        </p:nvSpPr>
        <p:spPr>
          <a:xfrm>
            <a:off x="4672584" y="1078992"/>
            <a:ext cx="4105656" cy="1655064"/>
          </a:xfrm>
          <a:prstGeom prst="roundRect">
            <a:avLst>
              <a:gd name="adj" fmla="val 3315"/>
            </a:avLst>
          </a:prstGeom>
          <a:solidFill>
            <a:srgbClr val="F3F4F6"/>
          </a:solidFill>
          <a:ln w="10160">
            <a:solidFill>
              <a:srgbClr val="D1D5DB"/>
            </a:solidFill>
            <a:prstDash val="solid"/>
          </a:ln>
        </p:spPr>
      </p:sp>
      <p:sp>
        <p:nvSpPr>
          <p:cNvPr id="9" name="Text 7"/>
          <p:cNvSpPr/>
          <p:nvPr/>
        </p:nvSpPr>
        <p:spPr>
          <a:xfrm>
            <a:off x="4818888" y="1197864"/>
            <a:ext cx="3813048" cy="310896"/>
          </a:xfrm>
          <a:prstGeom prst="rect">
            <a:avLst/>
          </a:prstGeom>
          <a:noFill/>
          <a:ln/>
        </p:spPr>
        <p:txBody>
          <a:bodyPr wrap="square" lIns="0" tIns="0" rIns="0" bIns="0" rtlCol="0" anchor="ctr">
            <a:normAutofit/>
          </a:bodyPr>
          <a:lstStyle/>
          <a:p>
            <a:pPr indent="0" marL="0">
              <a:buNone/>
            </a:pPr>
            <a:r>
              <a:rPr lang="en-US" sz="1500" b="1" dirty="0">
                <a:solidFill>
                  <a:srgbClr val="1E2761"/>
                </a:solidFill>
                <a:latin typeface="Calibri" pitchFamily="34" charset="0"/>
                <a:ea typeface="Calibri" pitchFamily="34" charset="-122"/>
                <a:cs typeface="Calibri" pitchFamily="34" charset="-120"/>
              </a:rPr>
              <a:t>Clear names</a:t>
            </a:r>
            <a:endParaRPr lang="en-US" sz="1500" dirty="0"/>
          </a:p>
        </p:txBody>
      </p:sp>
      <p:sp>
        <p:nvSpPr>
          <p:cNvPr id="10" name="Text 8"/>
          <p:cNvSpPr/>
          <p:nvPr/>
        </p:nvSpPr>
        <p:spPr>
          <a:xfrm>
            <a:off x="4818888" y="1581912"/>
            <a:ext cx="3813048" cy="1033272"/>
          </a:xfrm>
          <a:prstGeom prst="rect">
            <a:avLst/>
          </a:prstGeom>
          <a:noFill/>
          <a:ln/>
        </p:spPr>
        <p:txBody>
          <a:bodyPr wrap="square" lIns="0" tIns="0" rIns="0" bIns="0" rtlCol="0" anchor="t">
            <a:normAutofit/>
          </a:bodyPr>
          <a:lstStyle/>
          <a:p>
            <a:pPr indent="0" marL="0">
              <a:buNone/>
            </a:pPr>
            <a:r>
              <a:rPr lang="en-US" sz="1150" dirty="0">
                <a:solidFill>
                  <a:srgbClr val="212121"/>
                </a:solidFill>
                <a:latin typeface="Calibri" pitchFamily="34" charset="0"/>
                <a:ea typeface="Calibri" pitchFamily="34" charset="-122"/>
                <a:cs typeface="Calibri" pitchFamily="34" charset="-120"/>
              </a:rPr>
              <a:t>Avoid collisions by selecting or wrapping distinct tool names</a:t>
            </a:r>
            <a:endParaRPr lang="en-US" sz="1150" dirty="0"/>
          </a:p>
        </p:txBody>
      </p:sp>
      <p:sp>
        <p:nvSpPr>
          <p:cNvPr id="11" name="Shape 9"/>
          <p:cNvSpPr/>
          <p:nvPr/>
        </p:nvSpPr>
        <p:spPr>
          <a:xfrm>
            <a:off x="365760" y="2935224"/>
            <a:ext cx="4105656" cy="1655064"/>
          </a:xfrm>
          <a:prstGeom prst="roundRect">
            <a:avLst>
              <a:gd name="adj" fmla="val 3315"/>
            </a:avLst>
          </a:prstGeom>
          <a:solidFill>
            <a:srgbClr val="F3F4F6"/>
          </a:solidFill>
          <a:ln w="10160">
            <a:solidFill>
              <a:srgbClr val="D1D5DB"/>
            </a:solidFill>
            <a:prstDash val="solid"/>
          </a:ln>
        </p:spPr>
      </p:sp>
      <p:sp>
        <p:nvSpPr>
          <p:cNvPr id="12" name="Text 10"/>
          <p:cNvSpPr/>
          <p:nvPr/>
        </p:nvSpPr>
        <p:spPr>
          <a:xfrm>
            <a:off x="512064" y="3054096"/>
            <a:ext cx="3813048" cy="310896"/>
          </a:xfrm>
          <a:prstGeom prst="rect">
            <a:avLst/>
          </a:prstGeom>
          <a:noFill/>
          <a:ln/>
        </p:spPr>
        <p:txBody>
          <a:bodyPr wrap="square" lIns="0" tIns="0" rIns="0" bIns="0" rtlCol="0" anchor="ctr">
            <a:normAutofit/>
          </a:bodyPr>
          <a:lstStyle/>
          <a:p>
            <a:pPr indent="0" marL="0">
              <a:buNone/>
            </a:pPr>
            <a:r>
              <a:rPr lang="en-US" sz="1500" b="1" dirty="0">
                <a:solidFill>
                  <a:srgbClr val="1E2761"/>
                </a:solidFill>
                <a:latin typeface="Calibri" pitchFamily="34" charset="0"/>
                <a:ea typeface="Calibri" pitchFamily="34" charset="-122"/>
                <a:cs typeface="Calibri" pitchFamily="34" charset="-120"/>
              </a:rPr>
              <a:t>Progressive exposure — EXPERIMENTAL</a:t>
            </a:r>
            <a:endParaRPr lang="en-US" sz="1500" dirty="0"/>
          </a:p>
        </p:txBody>
      </p:sp>
      <p:sp>
        <p:nvSpPr>
          <p:cNvPr id="13" name="Text 11"/>
          <p:cNvSpPr/>
          <p:nvPr/>
        </p:nvSpPr>
        <p:spPr>
          <a:xfrm>
            <a:off x="512064" y="3438144"/>
            <a:ext cx="3813048" cy="1033272"/>
          </a:xfrm>
          <a:prstGeom prst="rect">
            <a:avLst/>
          </a:prstGeom>
          <a:noFill/>
          <a:ln/>
        </p:spPr>
        <p:txBody>
          <a:bodyPr wrap="square" lIns="0" tIns="0" rIns="0" bIns="0" rtlCol="0" anchor="t">
            <a:normAutofit/>
          </a:bodyPr>
          <a:lstStyle/>
          <a:p>
            <a:pPr indent="0" marL="0">
              <a:buNone/>
            </a:pPr>
            <a:r>
              <a:rPr lang="en-US" sz="1150" dirty="0">
                <a:solidFill>
                  <a:srgbClr val="212121"/>
                </a:solidFill>
                <a:latin typeface="Calibri" pitchFamily="34" charset="0"/>
                <a:ea typeface="Calibri" pitchFamily="34" charset="-122"/>
                <a:cs typeface="Calibri" pitchFamily="34" charset="-120"/>
              </a:rPr>
              <a:t>Add tools for the next loop iteration only</a:t>
            </a:r>
            <a:endParaRPr lang="en-US" sz="1150" dirty="0"/>
          </a:p>
        </p:txBody>
      </p:sp>
      <p:sp>
        <p:nvSpPr>
          <p:cNvPr id="14" name="Shape 12"/>
          <p:cNvSpPr/>
          <p:nvPr/>
        </p:nvSpPr>
        <p:spPr>
          <a:xfrm>
            <a:off x="4672584" y="2935224"/>
            <a:ext cx="4105656" cy="1655064"/>
          </a:xfrm>
          <a:prstGeom prst="roundRect">
            <a:avLst>
              <a:gd name="adj" fmla="val 3315"/>
            </a:avLst>
          </a:prstGeom>
          <a:solidFill>
            <a:srgbClr val="F3F4F6"/>
          </a:solidFill>
          <a:ln w="10160">
            <a:solidFill>
              <a:srgbClr val="D1D5DB"/>
            </a:solidFill>
            <a:prstDash val="solid"/>
          </a:ln>
        </p:spPr>
      </p:sp>
      <p:sp>
        <p:nvSpPr>
          <p:cNvPr id="15" name="Text 13"/>
          <p:cNvSpPr/>
          <p:nvPr/>
        </p:nvSpPr>
        <p:spPr>
          <a:xfrm>
            <a:off x="4818888" y="3054096"/>
            <a:ext cx="3813048" cy="310896"/>
          </a:xfrm>
          <a:prstGeom prst="rect">
            <a:avLst/>
          </a:prstGeom>
          <a:noFill/>
          <a:ln/>
        </p:spPr>
        <p:txBody>
          <a:bodyPr wrap="square" lIns="0" tIns="0" rIns="0" bIns="0" rtlCol="0" anchor="ctr">
            <a:normAutofit/>
          </a:bodyPr>
          <a:lstStyle/>
          <a:p>
            <a:pPr indent="0" marL="0">
              <a:buNone/>
            </a:pPr>
            <a:r>
              <a:rPr lang="en-US" sz="1500" b="1" dirty="0">
                <a:solidFill>
                  <a:srgbClr val="1E2761"/>
                </a:solidFill>
                <a:latin typeface="Calibri" pitchFamily="34" charset="0"/>
                <a:ea typeface="Calibri" pitchFamily="34" charset="-122"/>
                <a:cs typeface="Calibri" pitchFamily="34" charset="-120"/>
              </a:rPr>
              <a:t>Reset</a:t>
            </a:r>
            <a:endParaRPr lang="en-US" sz="1500" dirty="0"/>
          </a:p>
        </p:txBody>
      </p:sp>
      <p:sp>
        <p:nvSpPr>
          <p:cNvPr id="16" name="Text 14"/>
          <p:cNvSpPr/>
          <p:nvPr/>
        </p:nvSpPr>
        <p:spPr>
          <a:xfrm>
            <a:off x="4818888" y="3438144"/>
            <a:ext cx="3813048" cy="1033272"/>
          </a:xfrm>
          <a:prstGeom prst="rect">
            <a:avLst/>
          </a:prstGeom>
          <a:noFill/>
          <a:ln/>
        </p:spPr>
        <p:txBody>
          <a:bodyPr wrap="square" lIns="0" tIns="0" rIns="0" bIns="0" rtlCol="0" anchor="t">
            <a:normAutofit/>
          </a:bodyPr>
          <a:lstStyle/>
          <a:p>
            <a:pPr indent="0" marL="0">
              <a:buNone/>
            </a:pPr>
            <a:r>
              <a:rPr lang="en-US" sz="1150" dirty="0">
                <a:solidFill>
                  <a:srgbClr val="212121"/>
                </a:solidFill>
                <a:latin typeface="Calibri" pitchFamily="34" charset="0"/>
                <a:ea typeface="Calibri" pitchFamily="34" charset="-122"/>
                <a:cs typeface="Calibri" pitchFamily="34" charset="-120"/>
              </a:rPr>
              <a:t>Progressive tool changes re-arm on each new agent run</a:t>
            </a:r>
            <a:endParaRPr lang="en-US" sz="1150" dirty="0"/>
          </a:p>
        </p:txBody>
      </p:sp>
      <p:sp>
        <p:nvSpPr>
          <p:cNvPr id="17" name="Shape 15"/>
          <p:cNvSpPr/>
          <p:nvPr/>
        </p:nvSpPr>
        <p:spPr>
          <a:xfrm>
            <a:off x="365760" y="4773168"/>
            <a:ext cx="8412480" cy="0"/>
          </a:xfrm>
          <a:prstGeom prst="line">
            <a:avLst/>
          </a:prstGeom>
          <a:noFill/>
          <a:ln w="6350">
            <a:solidFill>
              <a:srgbClr val="D1D5DB"/>
            </a:solidFill>
            <a:prstDash val="solid"/>
          </a:ln>
        </p:spPr>
      </p:sp>
      <p:sp>
        <p:nvSpPr>
          <p:cNvPr id="18" name="Text 16"/>
          <p:cNvSpPr/>
          <p:nvPr/>
        </p:nvSpPr>
        <p:spPr>
          <a:xfrm>
            <a:off x="384048" y="4818888"/>
            <a:ext cx="8275320" cy="182880"/>
          </a:xfrm>
          <a:prstGeom prst="rect">
            <a:avLst/>
          </a:prstGeom>
          <a:noFill/>
          <a:ln/>
        </p:spPr>
        <p:txBody>
          <a:bodyPr wrap="square" lIns="0" tIns="0" rIns="0" bIns="0" rtlCol="0" anchor="ctr">
            <a:normAutofit/>
          </a:bodyPr>
          <a:lstStyle/>
          <a:p>
            <a:pPr indent="0" marL="0">
              <a:buNone/>
            </a:pPr>
            <a:r>
              <a:rPr lang="en-US" sz="820" dirty="0">
                <a:solidFill>
                  <a:srgbClr val="6B7280"/>
                </a:solidFill>
                <a:latin typeface="Calibri" pitchFamily="34" charset="0"/>
                <a:ea typeface="Calibri" pitchFamily="34" charset="-122"/>
                <a:cs typeface="Calibri" pitchFamily="34" charset="-120"/>
              </a:rPr>
              <a:t>Source: https://learn.microsoft.com/en-us/python/api/agent-framework-core/agent_framework.mcpstreamablehttptool?view=agent-framework-python-latest  ·  +1 in notes</a:t>
            </a:r>
            <a:endParaRPr lang="en-US" sz="820" dirty="0"/>
          </a:p>
        </p:txBody>
      </p:sp>
    </p:spTree>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name="Slide 12">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0" y="0"/>
            <a:ext cx="54864" cy="5143500"/>
          </a:xfrm>
          <a:prstGeom prst="rect">
            <a:avLst/>
          </a:prstGeom>
          <a:solidFill>
            <a:srgbClr val="1E2761"/>
          </a:solidFill>
          <a:ln/>
        </p:spPr>
      </p:sp>
      <p:sp>
        <p:nvSpPr>
          <p:cNvPr id="3" name="Text 1"/>
          <p:cNvSpPr/>
          <p:nvPr/>
        </p:nvSpPr>
        <p:spPr>
          <a:xfrm>
            <a:off x="5486400" y="256032"/>
            <a:ext cx="3337560" cy="228600"/>
          </a:xfrm>
          <a:prstGeom prst="rect">
            <a:avLst/>
          </a:prstGeom>
          <a:noFill/>
          <a:ln/>
        </p:spPr>
        <p:txBody>
          <a:bodyPr wrap="square" lIns="0" tIns="0" rIns="0" bIns="0" rtlCol="0" anchor="ctr">
            <a:normAutofit/>
          </a:bodyPr>
          <a:lstStyle/>
          <a:p>
            <a:pPr algn="r" indent="0" marL="0">
              <a:buNone/>
            </a:pPr>
            <a:r>
              <a:rPr lang="en-US" sz="950" dirty="0">
                <a:solidFill>
                  <a:srgbClr val="6B7280"/>
                </a:solidFill>
                <a:latin typeface="Calibri" pitchFamily="34" charset="0"/>
                <a:ea typeface="Calibri" pitchFamily="34" charset="-122"/>
                <a:cs typeface="Calibri" pitchFamily="34" charset="-120"/>
              </a:rPr>
              <a:t>Day 3 · Module 5</a:t>
            </a:r>
            <a:endParaRPr lang="en-US" sz="950" dirty="0"/>
          </a:p>
        </p:txBody>
      </p:sp>
      <p:sp>
        <p:nvSpPr>
          <p:cNvPr id="4" name="Text 2"/>
          <p:cNvSpPr/>
          <p:nvPr/>
        </p:nvSpPr>
        <p:spPr>
          <a:xfrm>
            <a:off x="365760" y="310896"/>
            <a:ext cx="6583680" cy="603504"/>
          </a:xfrm>
          <a:prstGeom prst="rect">
            <a:avLst/>
          </a:prstGeom>
          <a:noFill/>
          <a:ln/>
        </p:spPr>
        <p:txBody>
          <a:bodyPr wrap="square" lIns="0" tIns="0" rIns="0" bIns="0" rtlCol="0" anchor="ctr">
            <a:normAutofit/>
          </a:bodyPr>
          <a:lstStyle/>
          <a:p>
            <a:pPr indent="0" marL="0">
              <a:buNone/>
            </a:pPr>
            <a:r>
              <a:rPr lang="en-US" sz="2500" b="1" dirty="0">
                <a:solidFill>
                  <a:srgbClr val="1E2761"/>
                </a:solidFill>
                <a:latin typeface="Calibri" pitchFamily="34" charset="0"/>
                <a:ea typeface="Calibri" pitchFamily="34" charset="-122"/>
                <a:cs typeface="Calibri" pitchFamily="34" charset="-120"/>
              </a:rPr>
              <a:t>approval_mode creates a human boundary</a:t>
            </a:r>
            <a:endParaRPr lang="en-US" sz="2500" dirty="0"/>
          </a:p>
        </p:txBody>
      </p:sp>
      <p:graphicFrame>
        <p:nvGraphicFramePr>
          <p:cNvPr id="13" name="Table 0"/>
          <p:cNvGraphicFramePr>
            <a:graphicFrameLocks noGrp="1"/>
          </p:cNvGraphicFramePr>
          <p:nvPr>
            <p:extLst>
              <p:ext uri="{D42A27DB-BD31-4B8C-83A1-F6EECF244321}">
                <p14:modId xmlns:p14="http://schemas.microsoft.com/office/powerpoint/2010/main" val="1579011935"/>
              </p:ext>
            </p:extLst>
          </p:nvPr>
        </p:nvGraphicFramePr>
        <p:xfrm>
          <a:off x="365760" y="1078992"/>
          <a:ext cx="8412480" cy="914400"/>
        </p:xfrm>
        <a:graphic>
          <a:graphicData uri="http://schemas.openxmlformats.org/drawingml/2006/table">
            <a:tbl>
              <a:tblPr/>
              <a:tblGrid>
                <a:gridCol w="2804160"/>
                <a:gridCol w="2804160"/>
                <a:gridCol w="2804160"/>
              </a:tblGrid>
              <a:tr h="658368">
                <a:tc>
                  <a:txBody>
                    <a:bodyPr/>
                    <a:lstStyle/>
                    <a:p>
                      <a:pPr indent="0" marL="0">
                        <a:buNone/>
                      </a:pPr>
                      <a:r>
                        <a:rPr lang="en-US" sz="1100" b="1" dirty="0">
                          <a:solidFill>
                            <a:srgbClr val="FFFFFF"/>
                          </a:solidFill>
                          <a:latin typeface="Calibri" pitchFamily="34" charset="0"/>
                          <a:ea typeface="Calibri" pitchFamily="34" charset="-122"/>
                          <a:cs typeface="Calibri" pitchFamily="34" charset="-120"/>
                        </a:rPr>
                        <a:t>Setting</a:t>
                      </a:r>
                      <a:endParaRPr lang="en-US" sz="1100" dirty="0">
                        <a:latin typeface="Calibri" charset="0"/>
                        <a:ea typeface="Calibri" charset="0"/>
                        <a:cs typeface="Calibri" charset="0"/>
                      </a:endParaRPr>
                    </a:p>
                  </a:txBody>
                  <a:tcPr marL="54864" marR="54864" marT="54864" marB="54864" anchor="ctr">
                    <a:lnL w="6350" cap="flat" cmpd="sng" algn="ctr">
                      <a:solidFill>
                        <a:srgbClr val="D1D5DB"/>
                      </a:solidFill>
                      <a:prstDash val="solid"/>
                      <a:round/>
                      <a:headEnd type="none" w="med" len="med"/>
                      <a:tailEnd type="none" w="med" len="med"/>
                    </a:lnL>
                    <a:lnR w="6350" cap="flat" cmpd="sng" algn="ctr">
                      <a:solidFill>
                        <a:srgbClr val="D1D5DB"/>
                      </a:solidFill>
                      <a:prstDash val="solid"/>
                      <a:round/>
                      <a:headEnd type="none" w="med" len="med"/>
                      <a:tailEnd type="none" w="med" len="med"/>
                    </a:lnR>
                    <a:lnT w="6350" cap="flat" cmpd="sng" algn="ctr">
                      <a:solidFill>
                        <a:srgbClr val="D1D5DB"/>
                      </a:solidFill>
                      <a:prstDash val="solid"/>
                      <a:round/>
                      <a:headEnd type="none" w="med" len="med"/>
                      <a:tailEnd type="none" w="med" len="med"/>
                    </a:lnT>
                    <a:lnB w="6350" cap="flat" cmpd="sng" algn="ctr">
                      <a:solidFill>
                        <a:srgbClr val="D1D5DB"/>
                      </a:solidFill>
                      <a:prstDash val="solid"/>
                      <a:round/>
                      <a:headEnd type="none" w="med" len="med"/>
                      <a:tailEnd type="none" w="med" len="med"/>
                    </a:lnB>
                    <a:solidFill>
                      <a:srgbClr val="1E2761"/>
                    </a:solidFill>
                  </a:tcPr>
                </a:tc>
                <a:tc>
                  <a:txBody>
                    <a:bodyPr/>
                    <a:lstStyle/>
                    <a:p>
                      <a:pPr indent="0" marL="0">
                        <a:buNone/>
                      </a:pPr>
                      <a:r>
                        <a:rPr lang="en-US" sz="1100" b="1" dirty="0">
                          <a:solidFill>
                            <a:srgbClr val="FFFFFF"/>
                          </a:solidFill>
                          <a:latin typeface="Calibri" pitchFamily="34" charset="0"/>
                          <a:ea typeface="Calibri" pitchFamily="34" charset="-122"/>
                          <a:cs typeface="Calibri" pitchFamily="34" charset="-120"/>
                        </a:rPr>
                        <a:t>Effect</a:t>
                      </a:r>
                      <a:endParaRPr lang="en-US" sz="1100" dirty="0">
                        <a:latin typeface="Calibri" charset="0"/>
                        <a:ea typeface="Calibri" charset="0"/>
                        <a:cs typeface="Calibri" charset="0"/>
                      </a:endParaRPr>
                    </a:p>
                  </a:txBody>
                  <a:tcPr marL="54864" marR="54864" marT="54864" marB="54864" anchor="ctr">
                    <a:lnL w="6350" cap="flat" cmpd="sng" algn="ctr">
                      <a:solidFill>
                        <a:srgbClr val="D1D5DB"/>
                      </a:solidFill>
                      <a:prstDash val="solid"/>
                      <a:round/>
                      <a:headEnd type="none" w="med" len="med"/>
                      <a:tailEnd type="none" w="med" len="med"/>
                    </a:lnL>
                    <a:lnR w="6350" cap="flat" cmpd="sng" algn="ctr">
                      <a:solidFill>
                        <a:srgbClr val="D1D5DB"/>
                      </a:solidFill>
                      <a:prstDash val="solid"/>
                      <a:round/>
                      <a:headEnd type="none" w="med" len="med"/>
                      <a:tailEnd type="none" w="med" len="med"/>
                    </a:lnR>
                    <a:lnT w="6350" cap="flat" cmpd="sng" algn="ctr">
                      <a:solidFill>
                        <a:srgbClr val="D1D5DB"/>
                      </a:solidFill>
                      <a:prstDash val="solid"/>
                      <a:round/>
                      <a:headEnd type="none" w="med" len="med"/>
                      <a:tailEnd type="none" w="med" len="med"/>
                    </a:lnT>
                    <a:lnB w="6350" cap="flat" cmpd="sng" algn="ctr">
                      <a:solidFill>
                        <a:srgbClr val="D1D5DB"/>
                      </a:solidFill>
                      <a:prstDash val="solid"/>
                      <a:round/>
                      <a:headEnd type="none" w="med" len="med"/>
                      <a:tailEnd type="none" w="med" len="med"/>
                    </a:lnB>
                    <a:solidFill>
                      <a:srgbClr val="1E2761"/>
                    </a:solidFill>
                  </a:tcPr>
                </a:tc>
                <a:tc>
                  <a:txBody>
                    <a:bodyPr/>
                    <a:lstStyle/>
                    <a:p>
                      <a:pPr indent="0" marL="0">
                        <a:buNone/>
                      </a:pPr>
                      <a:r>
                        <a:rPr lang="en-US" sz="1100" b="1" dirty="0">
                          <a:solidFill>
                            <a:srgbClr val="FFFFFF"/>
                          </a:solidFill>
                          <a:latin typeface="Calibri" pitchFamily="34" charset="0"/>
                          <a:ea typeface="Calibri" pitchFamily="34" charset="-122"/>
                          <a:cs typeface="Calibri" pitchFamily="34" charset="-120"/>
                        </a:rPr>
                        <a:t>Appropriate use</a:t>
                      </a:r>
                      <a:endParaRPr lang="en-US" sz="1100" dirty="0">
                        <a:latin typeface="Calibri" charset="0"/>
                        <a:ea typeface="Calibri" charset="0"/>
                        <a:cs typeface="Calibri" charset="0"/>
                      </a:endParaRPr>
                    </a:p>
                  </a:txBody>
                  <a:tcPr marL="54864" marR="54864" marT="54864" marB="54864" anchor="ctr">
                    <a:lnL w="6350" cap="flat" cmpd="sng" algn="ctr">
                      <a:solidFill>
                        <a:srgbClr val="D1D5DB"/>
                      </a:solidFill>
                      <a:prstDash val="solid"/>
                      <a:round/>
                      <a:headEnd type="none" w="med" len="med"/>
                      <a:tailEnd type="none" w="med" len="med"/>
                    </a:lnL>
                    <a:lnR w="6350" cap="flat" cmpd="sng" algn="ctr">
                      <a:solidFill>
                        <a:srgbClr val="D1D5DB"/>
                      </a:solidFill>
                      <a:prstDash val="solid"/>
                      <a:round/>
                      <a:headEnd type="none" w="med" len="med"/>
                      <a:tailEnd type="none" w="med" len="med"/>
                    </a:lnR>
                    <a:lnT w="6350" cap="flat" cmpd="sng" algn="ctr">
                      <a:solidFill>
                        <a:srgbClr val="D1D5DB"/>
                      </a:solidFill>
                      <a:prstDash val="solid"/>
                      <a:round/>
                      <a:headEnd type="none" w="med" len="med"/>
                      <a:tailEnd type="none" w="med" len="med"/>
                    </a:lnT>
                    <a:lnB w="6350" cap="flat" cmpd="sng" algn="ctr">
                      <a:solidFill>
                        <a:srgbClr val="D1D5DB"/>
                      </a:solidFill>
                      <a:prstDash val="solid"/>
                      <a:round/>
                      <a:headEnd type="none" w="med" len="med"/>
                      <a:tailEnd type="none" w="med" len="med"/>
                    </a:lnB>
                    <a:solidFill>
                      <a:srgbClr val="1E2761"/>
                    </a:solidFill>
                  </a:tcPr>
                </a:tc>
              </a:tr>
              <a:tr h="658368">
                <a:tc>
                  <a:txBody>
                    <a:bodyPr/>
                    <a:lstStyle/>
                    <a:p>
                      <a:pPr indent="0" marL="0">
                        <a:buNone/>
                      </a:pPr>
                      <a:r>
                        <a:rPr lang="en-US" sz="1100" dirty="0">
                          <a:solidFill>
                            <a:srgbClr val="212121"/>
                          </a:solidFill>
                          <a:latin typeface="Calibri" pitchFamily="34" charset="0"/>
                          <a:ea typeface="Calibri" pitchFamily="34" charset="-122"/>
                          <a:cs typeface="Calibri" pitchFamily="34" charset="-120"/>
                        </a:rPr>
                        <a:t>always_require</a:t>
                      </a:r>
                      <a:endParaRPr lang="en-US" sz="1100" dirty="0">
                        <a:latin typeface="Calibri" charset="0"/>
                        <a:ea typeface="Calibri" charset="0"/>
                        <a:cs typeface="Calibri" charset="0"/>
                      </a:endParaRPr>
                    </a:p>
                  </a:txBody>
                  <a:tcPr marL="54864" marR="54864" marT="54864" marB="54864" anchor="ctr">
                    <a:lnL w="6350" cap="flat" cmpd="sng" algn="ctr">
                      <a:solidFill>
                        <a:srgbClr val="D1D5DB"/>
                      </a:solidFill>
                      <a:prstDash val="solid"/>
                      <a:round/>
                      <a:headEnd type="none" w="med" len="med"/>
                      <a:tailEnd type="none" w="med" len="med"/>
                    </a:lnL>
                    <a:lnR w="6350" cap="flat" cmpd="sng" algn="ctr">
                      <a:solidFill>
                        <a:srgbClr val="D1D5DB"/>
                      </a:solidFill>
                      <a:prstDash val="solid"/>
                      <a:round/>
                      <a:headEnd type="none" w="med" len="med"/>
                      <a:tailEnd type="none" w="med" len="med"/>
                    </a:lnR>
                    <a:lnT w="6350" cap="flat" cmpd="sng" algn="ctr">
                      <a:solidFill>
                        <a:srgbClr val="D1D5DB"/>
                      </a:solidFill>
                      <a:prstDash val="solid"/>
                      <a:round/>
                      <a:headEnd type="none" w="med" len="med"/>
                      <a:tailEnd type="none" w="med" len="med"/>
                    </a:lnT>
                    <a:lnB w="6350" cap="flat" cmpd="sng" algn="ctr">
                      <a:solidFill>
                        <a:srgbClr val="D1D5DB"/>
                      </a:solidFill>
                      <a:prstDash val="solid"/>
                      <a:round/>
                      <a:headEnd type="none" w="med" len="med"/>
                      <a:tailEnd type="none" w="med" len="med"/>
                    </a:lnB>
                    <a:solidFill>
                      <a:srgbClr val="FFFFFF"/>
                    </a:solidFill>
                  </a:tcPr>
                </a:tc>
                <a:tc>
                  <a:txBody>
                    <a:bodyPr/>
                    <a:lstStyle/>
                    <a:p>
                      <a:pPr indent="0" marL="0">
                        <a:buNone/>
                      </a:pPr>
                      <a:r>
                        <a:rPr lang="en-US" sz="1100" dirty="0">
                          <a:solidFill>
                            <a:srgbClr val="212121"/>
                          </a:solidFill>
                          <a:latin typeface="Calibri" pitchFamily="34" charset="0"/>
                          <a:ea typeface="Calibri" pitchFamily="34" charset="-122"/>
                          <a:cs typeface="Calibri" pitchFamily="34" charset="-120"/>
                        </a:rPr>
                        <a:t>Every exposed MCP tool needs approval</a:t>
                      </a:r>
                      <a:endParaRPr lang="en-US" sz="1100" dirty="0">
                        <a:latin typeface="Calibri" charset="0"/>
                        <a:ea typeface="Calibri" charset="0"/>
                        <a:cs typeface="Calibri" charset="0"/>
                      </a:endParaRPr>
                    </a:p>
                  </a:txBody>
                  <a:tcPr marL="54864" marR="54864" marT="54864" marB="54864" anchor="ctr">
                    <a:lnL w="6350" cap="flat" cmpd="sng" algn="ctr">
                      <a:solidFill>
                        <a:srgbClr val="D1D5DB"/>
                      </a:solidFill>
                      <a:prstDash val="solid"/>
                      <a:round/>
                      <a:headEnd type="none" w="med" len="med"/>
                      <a:tailEnd type="none" w="med" len="med"/>
                    </a:lnL>
                    <a:lnR w="6350" cap="flat" cmpd="sng" algn="ctr">
                      <a:solidFill>
                        <a:srgbClr val="D1D5DB"/>
                      </a:solidFill>
                      <a:prstDash val="solid"/>
                      <a:round/>
                      <a:headEnd type="none" w="med" len="med"/>
                      <a:tailEnd type="none" w="med" len="med"/>
                    </a:lnR>
                    <a:lnT w="6350" cap="flat" cmpd="sng" algn="ctr">
                      <a:solidFill>
                        <a:srgbClr val="D1D5DB"/>
                      </a:solidFill>
                      <a:prstDash val="solid"/>
                      <a:round/>
                      <a:headEnd type="none" w="med" len="med"/>
                      <a:tailEnd type="none" w="med" len="med"/>
                    </a:lnT>
                    <a:lnB w="6350" cap="flat" cmpd="sng" algn="ctr">
                      <a:solidFill>
                        <a:srgbClr val="D1D5DB"/>
                      </a:solidFill>
                      <a:prstDash val="solid"/>
                      <a:round/>
                      <a:headEnd type="none" w="med" len="med"/>
                      <a:tailEnd type="none" w="med" len="med"/>
                    </a:lnB>
                    <a:solidFill>
                      <a:srgbClr val="FFFFFF"/>
                    </a:solidFill>
                  </a:tcPr>
                </a:tc>
                <a:tc>
                  <a:txBody>
                    <a:bodyPr/>
                    <a:lstStyle/>
                    <a:p>
                      <a:pPr indent="0" marL="0">
                        <a:buNone/>
                      </a:pPr>
                      <a:r>
                        <a:rPr lang="en-US" sz="1100" dirty="0">
                          <a:solidFill>
                            <a:srgbClr val="212121"/>
                          </a:solidFill>
                          <a:latin typeface="Calibri" pitchFamily="34" charset="0"/>
                          <a:ea typeface="Calibri" pitchFamily="34" charset="-122"/>
                          <a:cs typeface="Calibri" pitchFamily="34" charset="-120"/>
                        </a:rPr>
                        <a:t>Unknown or high-risk server</a:t>
                      </a:r>
                      <a:endParaRPr lang="en-US" sz="1100" dirty="0">
                        <a:latin typeface="Calibri" charset="0"/>
                        <a:ea typeface="Calibri" charset="0"/>
                        <a:cs typeface="Calibri" charset="0"/>
                      </a:endParaRPr>
                    </a:p>
                  </a:txBody>
                  <a:tcPr marL="54864" marR="54864" marT="54864" marB="54864" anchor="ctr">
                    <a:lnL w="6350" cap="flat" cmpd="sng" algn="ctr">
                      <a:solidFill>
                        <a:srgbClr val="D1D5DB"/>
                      </a:solidFill>
                      <a:prstDash val="solid"/>
                      <a:round/>
                      <a:headEnd type="none" w="med" len="med"/>
                      <a:tailEnd type="none" w="med" len="med"/>
                    </a:lnL>
                    <a:lnR w="6350" cap="flat" cmpd="sng" algn="ctr">
                      <a:solidFill>
                        <a:srgbClr val="D1D5DB"/>
                      </a:solidFill>
                      <a:prstDash val="solid"/>
                      <a:round/>
                      <a:headEnd type="none" w="med" len="med"/>
                      <a:tailEnd type="none" w="med" len="med"/>
                    </a:lnR>
                    <a:lnT w="6350" cap="flat" cmpd="sng" algn="ctr">
                      <a:solidFill>
                        <a:srgbClr val="D1D5DB"/>
                      </a:solidFill>
                      <a:prstDash val="solid"/>
                      <a:round/>
                      <a:headEnd type="none" w="med" len="med"/>
                      <a:tailEnd type="none" w="med" len="med"/>
                    </a:lnT>
                    <a:lnB w="6350" cap="flat" cmpd="sng" algn="ctr">
                      <a:solidFill>
                        <a:srgbClr val="D1D5DB"/>
                      </a:solidFill>
                      <a:prstDash val="solid"/>
                      <a:round/>
                      <a:headEnd type="none" w="med" len="med"/>
                      <a:tailEnd type="none" w="med" len="med"/>
                    </a:lnB>
                    <a:solidFill>
                      <a:srgbClr val="FFFFFF"/>
                    </a:solidFill>
                  </a:tcPr>
                </a:tc>
              </a:tr>
              <a:tr h="658368">
                <a:tc>
                  <a:txBody>
                    <a:bodyPr/>
                    <a:lstStyle/>
                    <a:p>
                      <a:pPr indent="0" marL="0">
                        <a:buNone/>
                      </a:pPr>
                      <a:r>
                        <a:rPr lang="en-US" sz="1100" dirty="0">
                          <a:solidFill>
                            <a:srgbClr val="212121"/>
                          </a:solidFill>
                          <a:latin typeface="Calibri" pitchFamily="34" charset="0"/>
                          <a:ea typeface="Calibri" pitchFamily="34" charset="-122"/>
                          <a:cs typeface="Calibri" pitchFamily="34" charset="-120"/>
                        </a:rPr>
                        <a:t>never_require</a:t>
                      </a:r>
                      <a:endParaRPr lang="en-US" sz="1100" dirty="0">
                        <a:latin typeface="Calibri" charset="0"/>
                        <a:ea typeface="Calibri" charset="0"/>
                        <a:cs typeface="Calibri" charset="0"/>
                      </a:endParaRPr>
                    </a:p>
                  </a:txBody>
                  <a:tcPr marL="54864" marR="54864" marT="54864" marB="54864" anchor="ctr">
                    <a:lnL w="6350" cap="flat" cmpd="sng" algn="ctr">
                      <a:solidFill>
                        <a:srgbClr val="D1D5DB"/>
                      </a:solidFill>
                      <a:prstDash val="solid"/>
                      <a:round/>
                      <a:headEnd type="none" w="med" len="med"/>
                      <a:tailEnd type="none" w="med" len="med"/>
                    </a:lnL>
                    <a:lnR w="6350" cap="flat" cmpd="sng" algn="ctr">
                      <a:solidFill>
                        <a:srgbClr val="D1D5DB"/>
                      </a:solidFill>
                      <a:prstDash val="solid"/>
                      <a:round/>
                      <a:headEnd type="none" w="med" len="med"/>
                      <a:tailEnd type="none" w="med" len="med"/>
                    </a:lnR>
                    <a:lnT w="6350" cap="flat" cmpd="sng" algn="ctr">
                      <a:solidFill>
                        <a:srgbClr val="D1D5DB"/>
                      </a:solidFill>
                      <a:prstDash val="solid"/>
                      <a:round/>
                      <a:headEnd type="none" w="med" len="med"/>
                      <a:tailEnd type="none" w="med" len="med"/>
                    </a:lnT>
                    <a:lnB w="6350" cap="flat" cmpd="sng" algn="ctr">
                      <a:solidFill>
                        <a:srgbClr val="D1D5DB"/>
                      </a:solidFill>
                      <a:prstDash val="solid"/>
                      <a:round/>
                      <a:headEnd type="none" w="med" len="med"/>
                      <a:tailEnd type="none" w="med" len="med"/>
                    </a:lnB>
                    <a:solidFill>
                      <a:srgbClr val="F3F4F6"/>
                    </a:solidFill>
                  </a:tcPr>
                </a:tc>
                <a:tc>
                  <a:txBody>
                    <a:bodyPr/>
                    <a:lstStyle/>
                    <a:p>
                      <a:pPr indent="0" marL="0">
                        <a:buNone/>
                      </a:pPr>
                      <a:r>
                        <a:rPr lang="en-US" sz="1100" dirty="0">
                          <a:solidFill>
                            <a:srgbClr val="212121"/>
                          </a:solidFill>
                          <a:latin typeface="Calibri" pitchFamily="34" charset="0"/>
                          <a:ea typeface="Calibri" pitchFamily="34" charset="-122"/>
                          <a:cs typeface="Calibri" pitchFamily="34" charset="-120"/>
                        </a:rPr>
                        <a:t>Calls proceed without approval</a:t>
                      </a:r>
                      <a:endParaRPr lang="en-US" sz="1100" dirty="0">
                        <a:latin typeface="Calibri" charset="0"/>
                        <a:ea typeface="Calibri" charset="0"/>
                        <a:cs typeface="Calibri" charset="0"/>
                      </a:endParaRPr>
                    </a:p>
                  </a:txBody>
                  <a:tcPr marL="54864" marR="54864" marT="54864" marB="54864" anchor="ctr">
                    <a:lnL w="6350" cap="flat" cmpd="sng" algn="ctr">
                      <a:solidFill>
                        <a:srgbClr val="D1D5DB"/>
                      </a:solidFill>
                      <a:prstDash val="solid"/>
                      <a:round/>
                      <a:headEnd type="none" w="med" len="med"/>
                      <a:tailEnd type="none" w="med" len="med"/>
                    </a:lnL>
                    <a:lnR w="6350" cap="flat" cmpd="sng" algn="ctr">
                      <a:solidFill>
                        <a:srgbClr val="D1D5DB"/>
                      </a:solidFill>
                      <a:prstDash val="solid"/>
                      <a:round/>
                      <a:headEnd type="none" w="med" len="med"/>
                      <a:tailEnd type="none" w="med" len="med"/>
                    </a:lnR>
                    <a:lnT w="6350" cap="flat" cmpd="sng" algn="ctr">
                      <a:solidFill>
                        <a:srgbClr val="D1D5DB"/>
                      </a:solidFill>
                      <a:prstDash val="solid"/>
                      <a:round/>
                      <a:headEnd type="none" w="med" len="med"/>
                      <a:tailEnd type="none" w="med" len="med"/>
                    </a:lnT>
                    <a:lnB w="6350" cap="flat" cmpd="sng" algn="ctr">
                      <a:solidFill>
                        <a:srgbClr val="D1D5DB"/>
                      </a:solidFill>
                      <a:prstDash val="solid"/>
                      <a:round/>
                      <a:headEnd type="none" w="med" len="med"/>
                      <a:tailEnd type="none" w="med" len="med"/>
                    </a:lnB>
                    <a:solidFill>
                      <a:srgbClr val="F3F4F6"/>
                    </a:solidFill>
                  </a:tcPr>
                </a:tc>
                <a:tc>
                  <a:txBody>
                    <a:bodyPr/>
                    <a:lstStyle/>
                    <a:p>
                      <a:pPr indent="0" marL="0">
                        <a:buNone/>
                      </a:pPr>
                      <a:r>
                        <a:rPr lang="en-US" sz="1100" dirty="0">
                          <a:solidFill>
                            <a:srgbClr val="212121"/>
                          </a:solidFill>
                          <a:latin typeface="Calibri" pitchFamily="34" charset="0"/>
                          <a:ea typeface="Calibri" pitchFamily="34" charset="-122"/>
                          <a:cs typeface="Calibri" pitchFamily="34" charset="-120"/>
                        </a:rPr>
                        <a:t>Trusted, low-risk read tools</a:t>
                      </a:r>
                      <a:endParaRPr lang="en-US" sz="1100" dirty="0">
                        <a:latin typeface="Calibri" charset="0"/>
                        <a:ea typeface="Calibri" charset="0"/>
                        <a:cs typeface="Calibri" charset="0"/>
                      </a:endParaRPr>
                    </a:p>
                  </a:txBody>
                  <a:tcPr marL="54864" marR="54864" marT="54864" marB="54864" anchor="ctr">
                    <a:lnL w="6350" cap="flat" cmpd="sng" algn="ctr">
                      <a:solidFill>
                        <a:srgbClr val="D1D5DB"/>
                      </a:solidFill>
                      <a:prstDash val="solid"/>
                      <a:round/>
                      <a:headEnd type="none" w="med" len="med"/>
                      <a:tailEnd type="none" w="med" len="med"/>
                    </a:lnL>
                    <a:lnR w="6350" cap="flat" cmpd="sng" algn="ctr">
                      <a:solidFill>
                        <a:srgbClr val="D1D5DB"/>
                      </a:solidFill>
                      <a:prstDash val="solid"/>
                      <a:round/>
                      <a:headEnd type="none" w="med" len="med"/>
                      <a:tailEnd type="none" w="med" len="med"/>
                    </a:lnR>
                    <a:lnT w="6350" cap="flat" cmpd="sng" algn="ctr">
                      <a:solidFill>
                        <a:srgbClr val="D1D5DB"/>
                      </a:solidFill>
                      <a:prstDash val="solid"/>
                      <a:round/>
                      <a:headEnd type="none" w="med" len="med"/>
                      <a:tailEnd type="none" w="med" len="med"/>
                    </a:lnT>
                    <a:lnB w="6350" cap="flat" cmpd="sng" algn="ctr">
                      <a:solidFill>
                        <a:srgbClr val="D1D5DB"/>
                      </a:solidFill>
                      <a:prstDash val="solid"/>
                      <a:round/>
                      <a:headEnd type="none" w="med" len="med"/>
                      <a:tailEnd type="none" w="med" len="med"/>
                    </a:lnB>
                    <a:solidFill>
                      <a:srgbClr val="F3F4F6"/>
                    </a:solidFill>
                  </a:tcPr>
                </a:tc>
              </a:tr>
              <a:tr h="658368">
                <a:tc>
                  <a:txBody>
                    <a:bodyPr/>
                    <a:lstStyle/>
                    <a:p>
                      <a:pPr indent="0" marL="0">
                        <a:buNone/>
                      </a:pPr>
                      <a:r>
                        <a:rPr lang="en-US" sz="1100" dirty="0">
                          <a:solidFill>
                            <a:srgbClr val="212121"/>
                          </a:solidFill>
                          <a:latin typeface="Calibri" pitchFamily="34" charset="0"/>
                          <a:ea typeface="Calibri" pitchFamily="34" charset="-122"/>
                          <a:cs typeface="Calibri" pitchFamily="34" charset="-120"/>
                        </a:rPr>
                        <a:t>Per-tool mapping</a:t>
                      </a:r>
                      <a:endParaRPr lang="en-US" sz="1100" dirty="0">
                        <a:latin typeface="Calibri" charset="0"/>
                        <a:ea typeface="Calibri" charset="0"/>
                        <a:cs typeface="Calibri" charset="0"/>
                      </a:endParaRPr>
                    </a:p>
                  </a:txBody>
                  <a:tcPr marL="54864" marR="54864" marT="54864" marB="54864" anchor="ctr">
                    <a:lnL w="6350" cap="flat" cmpd="sng" algn="ctr">
                      <a:solidFill>
                        <a:srgbClr val="D1D5DB"/>
                      </a:solidFill>
                      <a:prstDash val="solid"/>
                      <a:round/>
                      <a:headEnd type="none" w="med" len="med"/>
                      <a:tailEnd type="none" w="med" len="med"/>
                    </a:lnL>
                    <a:lnR w="6350" cap="flat" cmpd="sng" algn="ctr">
                      <a:solidFill>
                        <a:srgbClr val="D1D5DB"/>
                      </a:solidFill>
                      <a:prstDash val="solid"/>
                      <a:round/>
                      <a:headEnd type="none" w="med" len="med"/>
                      <a:tailEnd type="none" w="med" len="med"/>
                    </a:lnR>
                    <a:lnT w="6350" cap="flat" cmpd="sng" algn="ctr">
                      <a:solidFill>
                        <a:srgbClr val="D1D5DB"/>
                      </a:solidFill>
                      <a:prstDash val="solid"/>
                      <a:round/>
                      <a:headEnd type="none" w="med" len="med"/>
                      <a:tailEnd type="none" w="med" len="med"/>
                    </a:lnT>
                    <a:lnB w="6350" cap="flat" cmpd="sng" algn="ctr">
                      <a:solidFill>
                        <a:srgbClr val="D1D5DB"/>
                      </a:solidFill>
                      <a:prstDash val="solid"/>
                      <a:round/>
                      <a:headEnd type="none" w="med" len="med"/>
                      <a:tailEnd type="none" w="med" len="med"/>
                    </a:lnB>
                    <a:solidFill>
                      <a:srgbClr val="FFFFFF"/>
                    </a:solidFill>
                  </a:tcPr>
                </a:tc>
                <a:tc>
                  <a:txBody>
                    <a:bodyPr/>
                    <a:lstStyle/>
                    <a:p>
                      <a:pPr indent="0" marL="0">
                        <a:buNone/>
                      </a:pPr>
                      <a:r>
                        <a:rPr lang="en-US" sz="1100" dirty="0">
                          <a:solidFill>
                            <a:srgbClr val="212121"/>
                          </a:solidFill>
                          <a:latin typeface="Calibri" pitchFamily="34" charset="0"/>
                          <a:ea typeface="Calibri" pitchFamily="34" charset="-122"/>
                          <a:cs typeface="Calibri" pitchFamily="34" charset="-120"/>
                        </a:rPr>
                        <a:t>Different rules by tool name</a:t>
                      </a:r>
                      <a:endParaRPr lang="en-US" sz="1100" dirty="0">
                        <a:latin typeface="Calibri" charset="0"/>
                        <a:ea typeface="Calibri" charset="0"/>
                        <a:cs typeface="Calibri" charset="0"/>
                      </a:endParaRPr>
                    </a:p>
                  </a:txBody>
                  <a:tcPr marL="54864" marR="54864" marT="54864" marB="54864" anchor="ctr">
                    <a:lnL w="6350" cap="flat" cmpd="sng" algn="ctr">
                      <a:solidFill>
                        <a:srgbClr val="D1D5DB"/>
                      </a:solidFill>
                      <a:prstDash val="solid"/>
                      <a:round/>
                      <a:headEnd type="none" w="med" len="med"/>
                      <a:tailEnd type="none" w="med" len="med"/>
                    </a:lnL>
                    <a:lnR w="6350" cap="flat" cmpd="sng" algn="ctr">
                      <a:solidFill>
                        <a:srgbClr val="D1D5DB"/>
                      </a:solidFill>
                      <a:prstDash val="solid"/>
                      <a:round/>
                      <a:headEnd type="none" w="med" len="med"/>
                      <a:tailEnd type="none" w="med" len="med"/>
                    </a:lnR>
                    <a:lnT w="6350" cap="flat" cmpd="sng" algn="ctr">
                      <a:solidFill>
                        <a:srgbClr val="D1D5DB"/>
                      </a:solidFill>
                      <a:prstDash val="solid"/>
                      <a:round/>
                      <a:headEnd type="none" w="med" len="med"/>
                      <a:tailEnd type="none" w="med" len="med"/>
                    </a:lnT>
                    <a:lnB w="6350" cap="flat" cmpd="sng" algn="ctr">
                      <a:solidFill>
                        <a:srgbClr val="D1D5DB"/>
                      </a:solidFill>
                      <a:prstDash val="solid"/>
                      <a:round/>
                      <a:headEnd type="none" w="med" len="med"/>
                      <a:tailEnd type="none" w="med" len="med"/>
                    </a:lnB>
                    <a:solidFill>
                      <a:srgbClr val="FFFFFF"/>
                    </a:solidFill>
                  </a:tcPr>
                </a:tc>
                <a:tc>
                  <a:txBody>
                    <a:bodyPr/>
                    <a:lstStyle/>
                    <a:p>
                      <a:pPr indent="0" marL="0">
                        <a:buNone/>
                      </a:pPr>
                      <a:r>
                        <a:rPr lang="en-US" sz="1100" dirty="0">
                          <a:solidFill>
                            <a:srgbClr val="212121"/>
                          </a:solidFill>
                          <a:latin typeface="Calibri" pitchFamily="34" charset="0"/>
                          <a:ea typeface="Calibri" pitchFamily="34" charset="-122"/>
                          <a:cs typeface="Calibri" pitchFamily="34" charset="-120"/>
                        </a:rPr>
                        <a:t>Read automatically; review writes</a:t>
                      </a:r>
                      <a:endParaRPr lang="en-US" sz="1100" dirty="0">
                        <a:latin typeface="Calibri" charset="0"/>
                        <a:ea typeface="Calibri" charset="0"/>
                        <a:cs typeface="Calibri" charset="0"/>
                      </a:endParaRPr>
                    </a:p>
                  </a:txBody>
                  <a:tcPr marL="54864" marR="54864" marT="54864" marB="54864" anchor="ctr">
                    <a:lnL w="6350" cap="flat" cmpd="sng" algn="ctr">
                      <a:solidFill>
                        <a:srgbClr val="D1D5DB"/>
                      </a:solidFill>
                      <a:prstDash val="solid"/>
                      <a:round/>
                      <a:headEnd type="none" w="med" len="med"/>
                      <a:tailEnd type="none" w="med" len="med"/>
                    </a:lnL>
                    <a:lnR w="6350" cap="flat" cmpd="sng" algn="ctr">
                      <a:solidFill>
                        <a:srgbClr val="D1D5DB"/>
                      </a:solidFill>
                      <a:prstDash val="solid"/>
                      <a:round/>
                      <a:headEnd type="none" w="med" len="med"/>
                      <a:tailEnd type="none" w="med" len="med"/>
                    </a:lnR>
                    <a:lnT w="6350" cap="flat" cmpd="sng" algn="ctr">
                      <a:solidFill>
                        <a:srgbClr val="D1D5DB"/>
                      </a:solidFill>
                      <a:prstDash val="solid"/>
                      <a:round/>
                      <a:headEnd type="none" w="med" len="med"/>
                      <a:tailEnd type="none" w="med" len="med"/>
                    </a:lnT>
                    <a:lnB w="6350" cap="flat" cmpd="sng" algn="ctr">
                      <a:solidFill>
                        <a:srgbClr val="D1D5DB"/>
                      </a:solidFill>
                      <a:prstDash val="solid"/>
                      <a:round/>
                      <a:headEnd type="none" w="med" len="med"/>
                      <a:tailEnd type="none" w="med" len="med"/>
                    </a:lnB>
                    <a:solidFill>
                      <a:srgbClr val="FFFFFF"/>
                    </a:solidFill>
                  </a:tcPr>
                </a:tc>
              </a:tr>
            </a:tbl>
          </a:graphicData>
        </a:graphic>
      </p:graphicFrame>
      <p:sp>
        <p:nvSpPr>
          <p:cNvPr id="6" name="Shape 3"/>
          <p:cNvSpPr/>
          <p:nvPr/>
        </p:nvSpPr>
        <p:spPr>
          <a:xfrm>
            <a:off x="365760" y="4773168"/>
            <a:ext cx="8412480" cy="0"/>
          </a:xfrm>
          <a:prstGeom prst="line">
            <a:avLst/>
          </a:prstGeom>
          <a:noFill/>
          <a:ln w="6350">
            <a:solidFill>
              <a:srgbClr val="D1D5DB"/>
            </a:solidFill>
            <a:prstDash val="solid"/>
          </a:ln>
        </p:spPr>
      </p:sp>
      <p:sp>
        <p:nvSpPr>
          <p:cNvPr id="7" name="Text 4"/>
          <p:cNvSpPr/>
          <p:nvPr/>
        </p:nvSpPr>
        <p:spPr>
          <a:xfrm>
            <a:off x="384048" y="4818888"/>
            <a:ext cx="8275320" cy="182880"/>
          </a:xfrm>
          <a:prstGeom prst="rect">
            <a:avLst/>
          </a:prstGeom>
          <a:noFill/>
          <a:ln/>
        </p:spPr>
        <p:txBody>
          <a:bodyPr wrap="square" lIns="0" tIns="0" rIns="0" bIns="0" rtlCol="0" anchor="ctr">
            <a:normAutofit/>
          </a:bodyPr>
          <a:lstStyle/>
          <a:p>
            <a:pPr indent="0" marL="0">
              <a:buNone/>
            </a:pPr>
            <a:r>
              <a:rPr lang="en-US" sz="820" dirty="0">
                <a:solidFill>
                  <a:srgbClr val="6B7280"/>
                </a:solidFill>
                <a:latin typeface="Calibri" pitchFamily="34" charset="0"/>
                <a:ea typeface="Calibri" pitchFamily="34" charset="-122"/>
                <a:cs typeface="Calibri" pitchFamily="34" charset="-120"/>
              </a:rPr>
              <a:t>Source: https://learn.microsoft.com/en-us/python/api/agent-framework-core/agent_framework.mcpstreamablehttptool?view=agent-framework-python-latest  ·  +1 in notes</a:t>
            </a:r>
            <a:endParaRPr lang="en-US" sz="820" dirty="0"/>
          </a:p>
        </p:txBody>
      </p:sp>
    </p:spTree>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name="Slide 13">
    <p:bg>
      <p:bgPr>
        <a:solidFill>
          <a:srgbClr val="CADCFC"/>
        </a:solidFill>
      </p:bgPr>
    </p:bg>
    <p:spTree>
      <p:nvGrpSpPr>
        <p:cNvPr id="1" name=""/>
        <p:cNvGrpSpPr/>
        <p:nvPr/>
      </p:nvGrpSpPr>
      <p:grpSpPr>
        <a:xfrm>
          <a:off x="0" y="0"/>
          <a:ext cx="0" cy="0"/>
          <a:chOff x="0" y="0"/>
          <a:chExt cx="0" cy="0"/>
        </a:xfrm>
      </p:grpSpPr>
      <p:sp>
        <p:nvSpPr>
          <p:cNvPr id="2" name="Shape 0"/>
          <p:cNvSpPr/>
          <p:nvPr/>
        </p:nvSpPr>
        <p:spPr>
          <a:xfrm>
            <a:off x="0" y="0"/>
            <a:ext cx="146304" cy="5143500"/>
          </a:xfrm>
          <a:prstGeom prst="rect">
            <a:avLst/>
          </a:prstGeom>
          <a:solidFill>
            <a:srgbClr val="1E2761"/>
          </a:solidFill>
          <a:ln/>
        </p:spPr>
      </p:sp>
      <p:sp>
        <p:nvSpPr>
          <p:cNvPr id="3" name="Text 1"/>
          <p:cNvSpPr/>
          <p:nvPr/>
        </p:nvSpPr>
        <p:spPr>
          <a:xfrm>
            <a:off x="5669280" y="274320"/>
            <a:ext cx="3291840" cy="274320"/>
          </a:xfrm>
          <a:prstGeom prst="rect">
            <a:avLst/>
          </a:prstGeom>
          <a:noFill/>
          <a:ln/>
        </p:spPr>
        <p:txBody>
          <a:bodyPr wrap="square" lIns="0" tIns="0" rIns="0" bIns="0" rtlCol="0" anchor="ctr"/>
          <a:lstStyle/>
          <a:p>
            <a:pPr algn="r" indent="0" marL="0">
              <a:buNone/>
            </a:pPr>
            <a:r>
              <a:rPr lang="en-US" sz="1000" dirty="0">
                <a:solidFill>
                  <a:srgbClr val="6B7280"/>
                </a:solidFill>
                <a:latin typeface="Calibri" pitchFamily="34" charset="0"/>
                <a:ea typeface="Calibri" pitchFamily="34" charset="-122"/>
                <a:cs typeface="Calibri" pitchFamily="34" charset="-120"/>
              </a:rPr>
              <a:t>Day 3 · Module 5 · Demo</a:t>
            </a:r>
            <a:endParaRPr lang="en-US" sz="1000" dirty="0"/>
          </a:p>
        </p:txBody>
      </p:sp>
      <p:sp>
        <p:nvSpPr>
          <p:cNvPr id="4" name="Text 2"/>
          <p:cNvSpPr/>
          <p:nvPr/>
        </p:nvSpPr>
        <p:spPr>
          <a:xfrm>
            <a:off x="548640" y="1051560"/>
            <a:ext cx="5486400" cy="502920"/>
          </a:xfrm>
          <a:prstGeom prst="rect">
            <a:avLst/>
          </a:prstGeom>
          <a:noFill/>
          <a:ln/>
        </p:spPr>
        <p:txBody>
          <a:bodyPr wrap="square" lIns="0" tIns="0" rIns="0" bIns="0" rtlCol="0" anchor="ctr"/>
          <a:lstStyle/>
          <a:p>
            <a:pPr indent="0" marL="0">
              <a:buNone/>
            </a:pPr>
            <a:r>
              <a:rPr lang="en-US" sz="3200" b="1" spc="800" kern="0" dirty="0">
                <a:solidFill>
                  <a:srgbClr val="1E2761"/>
                </a:solidFill>
                <a:latin typeface="Calibri" pitchFamily="34" charset="0"/>
                <a:ea typeface="Calibri" pitchFamily="34" charset="-122"/>
                <a:cs typeface="Calibri" pitchFamily="34" charset="-120"/>
              </a:rPr>
              <a:t>DEMO</a:t>
            </a:r>
            <a:endParaRPr lang="en-US" sz="3200" dirty="0"/>
          </a:p>
        </p:txBody>
      </p:sp>
      <p:sp>
        <p:nvSpPr>
          <p:cNvPr id="5" name="Text 3"/>
          <p:cNvSpPr/>
          <p:nvPr/>
        </p:nvSpPr>
        <p:spPr>
          <a:xfrm>
            <a:off x="548640" y="1691640"/>
            <a:ext cx="8046720" cy="914400"/>
          </a:xfrm>
          <a:prstGeom prst="rect">
            <a:avLst/>
          </a:prstGeom>
          <a:noFill/>
          <a:ln/>
        </p:spPr>
        <p:txBody>
          <a:bodyPr wrap="square" lIns="0" tIns="0" rIns="0" bIns="0" rtlCol="0" anchor="ctr"/>
          <a:lstStyle/>
          <a:p>
            <a:pPr indent="0" marL="0">
              <a:buNone/>
            </a:pPr>
            <a:r>
              <a:rPr lang="en-US" sz="3000" b="1" dirty="0">
                <a:solidFill>
                  <a:srgbClr val="1E2761"/>
                </a:solidFill>
                <a:latin typeface="Calibri" pitchFamily="34" charset="0"/>
                <a:ea typeface="Calibri" pitchFamily="34" charset="-122"/>
                <a:cs typeface="Calibri" pitchFamily="34" charset="-120"/>
              </a:rPr>
              <a:t>approval_mode pauses a write tool for review</a:t>
            </a:r>
            <a:endParaRPr lang="en-US" sz="3000" dirty="0"/>
          </a:p>
        </p:txBody>
      </p:sp>
      <p:sp>
        <p:nvSpPr>
          <p:cNvPr id="6" name="Text 4"/>
          <p:cNvSpPr/>
          <p:nvPr/>
        </p:nvSpPr>
        <p:spPr>
          <a:xfrm>
            <a:off x="6583680" y="1051560"/>
            <a:ext cx="2194560" cy="502920"/>
          </a:xfrm>
          <a:prstGeom prst="rect">
            <a:avLst/>
          </a:prstGeom>
          <a:noFill/>
          <a:ln/>
        </p:spPr>
        <p:txBody>
          <a:bodyPr wrap="square" lIns="0" tIns="0" rIns="0" bIns="0" rtlCol="0" anchor="ctr"/>
          <a:lstStyle/>
          <a:p>
            <a:pPr algn="r" indent="0" marL="0">
              <a:buNone/>
            </a:pPr>
            <a:r>
              <a:rPr lang="en-US" sz="1800" i="1" dirty="0">
                <a:solidFill>
                  <a:srgbClr val="6B7280"/>
                </a:solidFill>
                <a:latin typeface="Calibri" pitchFamily="34" charset="0"/>
                <a:ea typeface="Calibri" pitchFamily="34" charset="-122"/>
                <a:cs typeface="Calibri" pitchFamily="34" charset="-120"/>
              </a:rPr>
              <a:t>~5 min</a:t>
            </a:r>
            <a:endParaRPr lang="en-US" sz="1800" dirty="0"/>
          </a:p>
        </p:txBody>
      </p:sp>
      <p:sp>
        <p:nvSpPr>
          <p:cNvPr id="7" name="Text 5"/>
          <p:cNvSpPr/>
          <p:nvPr/>
        </p:nvSpPr>
        <p:spPr>
          <a:xfrm>
            <a:off x="548640" y="2788920"/>
            <a:ext cx="8046720" cy="1371600"/>
          </a:xfrm>
          <a:prstGeom prst="rect">
            <a:avLst/>
          </a:prstGeom>
          <a:noFill/>
          <a:ln/>
        </p:spPr>
        <p:txBody>
          <a:bodyPr wrap="square" lIns="0" tIns="0" rIns="0" bIns="0" rtlCol="0" anchor="ctr"/>
          <a:lstStyle/>
          <a:p>
            <a:pPr indent="0" marL="0">
              <a:spcAft>
                <a:spcPts val="600"/>
              </a:spcAft>
              <a:buNone/>
            </a:pPr>
            <a:r>
              <a:rPr lang="en-US" sz="1600" dirty="0">
                <a:solidFill>
                  <a:srgbClr val="212121"/>
                </a:solidFill>
                <a:latin typeface="Calibri" pitchFamily="34" charset="0"/>
                <a:ea typeface="Calibri" pitchFamily="34" charset="-122"/>
                <a:cs typeface="Calibri" pitchFamily="34" charset="-120"/>
              </a:rPr>
              <a:t>Set approval_mode="always_require" on the MCP tool and run a request that needs it: the run pauses with a user-input request naming the tool and arguments, and only resumes after an explicit approval decision — the same pause/resume mechanic the official function-tool sample demonstrates, wired onto an MCP tool.</a:t>
            </a:r>
            <a:endParaRPr lang="en-US" sz="1600" dirty="0"/>
          </a:p>
        </p:txBody>
      </p:sp>
      <p:sp>
        <p:nvSpPr>
          <p:cNvPr id="8" name="Text 6"/>
          <p:cNvSpPr/>
          <p:nvPr/>
        </p:nvSpPr>
        <p:spPr>
          <a:xfrm>
            <a:off x="548640" y="4434840"/>
            <a:ext cx="8046720" cy="320040"/>
          </a:xfrm>
          <a:prstGeom prst="rect">
            <a:avLst/>
          </a:prstGeom>
          <a:noFill/>
          <a:ln/>
        </p:spPr>
        <p:txBody>
          <a:bodyPr wrap="square" lIns="0" tIns="0" rIns="0" bIns="0" rtlCol="0" anchor="ctr"/>
          <a:lstStyle/>
          <a:p>
            <a:pPr indent="0" marL="0">
              <a:buNone/>
            </a:pPr>
            <a:r>
              <a:rPr lang="en-US" sz="1100" i="1" dirty="0">
                <a:solidFill>
                  <a:srgbClr val="6B7280"/>
                </a:solidFill>
                <a:latin typeface="Calibri" pitchFamily="34" charset="0"/>
                <a:ea typeface="Calibri" pitchFamily="34" charset="-122"/>
                <a:cs typeface="Calibri" pitchFamily="34" charset="-120"/>
              </a:rPr>
              <a:t>Runbook: demos/day3/module-5-demo-2-approval-mode.md</a:t>
            </a:r>
            <a:endParaRPr lang="en-US" sz="1100" dirty="0"/>
          </a:p>
        </p:txBody>
      </p:sp>
      <p:sp>
        <p:nvSpPr>
          <p:cNvPr id="9" name="Shape 7"/>
          <p:cNvSpPr/>
          <p:nvPr/>
        </p:nvSpPr>
        <p:spPr>
          <a:xfrm>
            <a:off x="365760" y="4773168"/>
            <a:ext cx="8412480" cy="0"/>
          </a:xfrm>
          <a:prstGeom prst="line">
            <a:avLst/>
          </a:prstGeom>
          <a:noFill/>
          <a:ln w="6350">
            <a:solidFill>
              <a:srgbClr val="D1D5DB"/>
            </a:solidFill>
            <a:prstDash val="solid"/>
          </a:ln>
        </p:spPr>
      </p:sp>
      <p:sp>
        <p:nvSpPr>
          <p:cNvPr id="10" name="Text 8"/>
          <p:cNvSpPr/>
          <p:nvPr/>
        </p:nvSpPr>
        <p:spPr>
          <a:xfrm>
            <a:off x="384048" y="4818888"/>
            <a:ext cx="8275320" cy="182880"/>
          </a:xfrm>
          <a:prstGeom prst="rect">
            <a:avLst/>
          </a:prstGeom>
          <a:noFill/>
          <a:ln/>
        </p:spPr>
        <p:txBody>
          <a:bodyPr wrap="square" lIns="0" tIns="0" rIns="0" bIns="0" rtlCol="0" anchor="ctr">
            <a:normAutofit/>
          </a:bodyPr>
          <a:lstStyle/>
          <a:p>
            <a:pPr indent="0" marL="0">
              <a:buNone/>
            </a:pPr>
            <a:r>
              <a:rPr lang="en-US" sz="820" dirty="0">
                <a:solidFill>
                  <a:srgbClr val="6B7280"/>
                </a:solidFill>
                <a:latin typeface="Calibri" pitchFamily="34" charset="0"/>
                <a:ea typeface="Calibri" pitchFamily="34" charset="-122"/>
                <a:cs typeface="Calibri" pitchFamily="34" charset="-120"/>
              </a:rPr>
              <a:t>Source: https://learn.microsoft.com/en-us/python/api/agent-framework-core/agent_framework.mcpstreamablehttptool?view=agent-framework-python-latest  ·  +1 in notes</a:t>
            </a:r>
            <a:endParaRPr lang="en-US" sz="820" dirty="0"/>
          </a:p>
        </p:txBody>
      </p:sp>
    </p:spTree>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name="Slide 14">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0" y="0"/>
            <a:ext cx="54864" cy="5143500"/>
          </a:xfrm>
          <a:prstGeom prst="rect">
            <a:avLst/>
          </a:prstGeom>
          <a:solidFill>
            <a:srgbClr val="1E2761"/>
          </a:solidFill>
          <a:ln/>
        </p:spPr>
      </p:sp>
      <p:sp>
        <p:nvSpPr>
          <p:cNvPr id="3" name="Text 1"/>
          <p:cNvSpPr/>
          <p:nvPr/>
        </p:nvSpPr>
        <p:spPr>
          <a:xfrm>
            <a:off x="5486400" y="256032"/>
            <a:ext cx="3337560" cy="228600"/>
          </a:xfrm>
          <a:prstGeom prst="rect">
            <a:avLst/>
          </a:prstGeom>
          <a:noFill/>
          <a:ln/>
        </p:spPr>
        <p:txBody>
          <a:bodyPr wrap="square" lIns="0" tIns="0" rIns="0" bIns="0" rtlCol="0" anchor="ctr">
            <a:normAutofit/>
          </a:bodyPr>
          <a:lstStyle/>
          <a:p>
            <a:pPr algn="r" indent="0" marL="0">
              <a:buNone/>
            </a:pPr>
            <a:r>
              <a:rPr lang="en-US" sz="950" dirty="0">
                <a:solidFill>
                  <a:srgbClr val="6B7280"/>
                </a:solidFill>
                <a:latin typeface="Calibri" pitchFamily="34" charset="0"/>
                <a:ea typeface="Calibri" pitchFamily="34" charset="-122"/>
                <a:cs typeface="Calibri" pitchFamily="34" charset="-120"/>
              </a:rPr>
              <a:t>Day 3 · Module 5</a:t>
            </a:r>
            <a:endParaRPr lang="en-US" sz="950" dirty="0"/>
          </a:p>
        </p:txBody>
      </p:sp>
      <p:sp>
        <p:nvSpPr>
          <p:cNvPr id="4" name="Text 2"/>
          <p:cNvSpPr/>
          <p:nvPr/>
        </p:nvSpPr>
        <p:spPr>
          <a:xfrm>
            <a:off x="365760" y="310896"/>
            <a:ext cx="6583680" cy="603504"/>
          </a:xfrm>
          <a:prstGeom prst="rect">
            <a:avLst/>
          </a:prstGeom>
          <a:noFill/>
          <a:ln/>
        </p:spPr>
        <p:txBody>
          <a:bodyPr wrap="square" lIns="0" tIns="0" rIns="0" bIns="0" rtlCol="0" anchor="ctr">
            <a:normAutofit/>
          </a:bodyPr>
          <a:lstStyle/>
          <a:p>
            <a:pPr indent="0" marL="0">
              <a:buNone/>
            </a:pPr>
            <a:r>
              <a:rPr lang="en-US" sz="2500" b="1" dirty="0">
                <a:solidFill>
                  <a:srgbClr val="1E2761"/>
                </a:solidFill>
                <a:latin typeface="Calibri" pitchFamily="34" charset="0"/>
                <a:ea typeface="Calibri" pitchFamily="34" charset="-122"/>
                <a:cs typeface="Calibri" pitchFamily="34" charset="-120"/>
              </a:rPr>
              <a:t>Security is broader than authentication</a:t>
            </a:r>
            <a:endParaRPr lang="en-US" sz="2500" dirty="0"/>
          </a:p>
        </p:txBody>
      </p:sp>
      <p:sp>
        <p:nvSpPr>
          <p:cNvPr id="5" name="Shape 3"/>
          <p:cNvSpPr/>
          <p:nvPr/>
        </p:nvSpPr>
        <p:spPr>
          <a:xfrm>
            <a:off x="365760" y="1078992"/>
            <a:ext cx="4105656" cy="1655064"/>
          </a:xfrm>
          <a:prstGeom prst="roundRect">
            <a:avLst>
              <a:gd name="adj" fmla="val 3315"/>
            </a:avLst>
          </a:prstGeom>
          <a:solidFill>
            <a:srgbClr val="CADCFC"/>
          </a:solidFill>
          <a:ln w="10160">
            <a:solidFill>
              <a:srgbClr val="1E2761"/>
            </a:solidFill>
            <a:prstDash val="solid"/>
          </a:ln>
        </p:spPr>
      </p:sp>
      <p:sp>
        <p:nvSpPr>
          <p:cNvPr id="6" name="Text 4"/>
          <p:cNvSpPr/>
          <p:nvPr/>
        </p:nvSpPr>
        <p:spPr>
          <a:xfrm>
            <a:off x="512064" y="1197864"/>
            <a:ext cx="3813048" cy="310896"/>
          </a:xfrm>
          <a:prstGeom prst="rect">
            <a:avLst/>
          </a:prstGeom>
          <a:noFill/>
          <a:ln/>
        </p:spPr>
        <p:txBody>
          <a:bodyPr wrap="square" lIns="0" tIns="0" rIns="0" bIns="0" rtlCol="0" anchor="ctr">
            <a:normAutofit/>
          </a:bodyPr>
          <a:lstStyle/>
          <a:p>
            <a:pPr indent="0" marL="0">
              <a:buNone/>
            </a:pPr>
            <a:r>
              <a:rPr lang="en-US" sz="1500" b="1" dirty="0">
                <a:solidFill>
                  <a:srgbClr val="1E2761"/>
                </a:solidFill>
                <a:latin typeface="Calibri" pitchFamily="34" charset="0"/>
                <a:ea typeface="Calibri" pitchFamily="34" charset="-122"/>
                <a:cs typeface="Calibri" pitchFamily="34" charset="-120"/>
              </a:rPr>
              <a:t>Trust</a:t>
            </a:r>
            <a:endParaRPr lang="en-US" sz="1500" dirty="0"/>
          </a:p>
        </p:txBody>
      </p:sp>
      <p:sp>
        <p:nvSpPr>
          <p:cNvPr id="7" name="Text 5"/>
          <p:cNvSpPr/>
          <p:nvPr/>
        </p:nvSpPr>
        <p:spPr>
          <a:xfrm>
            <a:off x="512064" y="1581912"/>
            <a:ext cx="3813048" cy="1033272"/>
          </a:xfrm>
          <a:prstGeom prst="rect">
            <a:avLst/>
          </a:prstGeom>
          <a:noFill/>
          <a:ln/>
        </p:spPr>
        <p:txBody>
          <a:bodyPr wrap="square" lIns="0" tIns="0" rIns="0" bIns="0" rtlCol="0" anchor="t">
            <a:normAutofit/>
          </a:bodyPr>
          <a:lstStyle/>
          <a:p>
            <a:pPr indent="0" marL="0">
              <a:buNone/>
            </a:pPr>
            <a:r>
              <a:rPr lang="en-US" sz="1150" dirty="0">
                <a:solidFill>
                  <a:srgbClr val="212121"/>
                </a:solidFill>
                <a:latin typeface="Calibri" pitchFamily="34" charset="0"/>
                <a:ea typeface="Calibri" pitchFamily="34" charset="-122"/>
                <a:cs typeface="Calibri" pitchFamily="34" charset="-120"/>
              </a:rPr>
              <a:t>Review the server operator and package provenance</a:t>
            </a:r>
            <a:endParaRPr lang="en-US" sz="1150" dirty="0"/>
          </a:p>
        </p:txBody>
      </p:sp>
      <p:sp>
        <p:nvSpPr>
          <p:cNvPr id="8" name="Shape 6"/>
          <p:cNvSpPr/>
          <p:nvPr/>
        </p:nvSpPr>
        <p:spPr>
          <a:xfrm>
            <a:off x="4672584" y="1078992"/>
            <a:ext cx="4105656" cy="1655064"/>
          </a:xfrm>
          <a:prstGeom prst="roundRect">
            <a:avLst>
              <a:gd name="adj" fmla="val 3315"/>
            </a:avLst>
          </a:prstGeom>
          <a:solidFill>
            <a:srgbClr val="F3F4F6"/>
          </a:solidFill>
          <a:ln w="10160">
            <a:solidFill>
              <a:srgbClr val="D1D5DB"/>
            </a:solidFill>
            <a:prstDash val="solid"/>
          </a:ln>
        </p:spPr>
      </p:sp>
      <p:sp>
        <p:nvSpPr>
          <p:cNvPr id="9" name="Text 7"/>
          <p:cNvSpPr/>
          <p:nvPr/>
        </p:nvSpPr>
        <p:spPr>
          <a:xfrm>
            <a:off x="4818888" y="1197864"/>
            <a:ext cx="3813048" cy="310896"/>
          </a:xfrm>
          <a:prstGeom prst="rect">
            <a:avLst/>
          </a:prstGeom>
          <a:noFill/>
          <a:ln/>
        </p:spPr>
        <p:txBody>
          <a:bodyPr wrap="square" lIns="0" tIns="0" rIns="0" bIns="0" rtlCol="0" anchor="ctr">
            <a:normAutofit/>
          </a:bodyPr>
          <a:lstStyle/>
          <a:p>
            <a:pPr indent="0" marL="0">
              <a:buNone/>
            </a:pPr>
            <a:r>
              <a:rPr lang="en-US" sz="1500" b="1" dirty="0">
                <a:solidFill>
                  <a:srgbClr val="1E2761"/>
                </a:solidFill>
                <a:latin typeface="Calibri" pitchFamily="34" charset="0"/>
                <a:ea typeface="Calibri" pitchFamily="34" charset="-122"/>
                <a:cs typeface="Calibri" pitchFamily="34" charset="-120"/>
              </a:rPr>
              <a:t>Least privilege</a:t>
            </a:r>
            <a:endParaRPr lang="en-US" sz="1500" dirty="0"/>
          </a:p>
        </p:txBody>
      </p:sp>
      <p:sp>
        <p:nvSpPr>
          <p:cNvPr id="10" name="Text 8"/>
          <p:cNvSpPr/>
          <p:nvPr/>
        </p:nvSpPr>
        <p:spPr>
          <a:xfrm>
            <a:off x="4818888" y="1581912"/>
            <a:ext cx="3813048" cy="1033272"/>
          </a:xfrm>
          <a:prstGeom prst="rect">
            <a:avLst/>
          </a:prstGeom>
          <a:noFill/>
          <a:ln/>
        </p:spPr>
        <p:txBody>
          <a:bodyPr wrap="square" lIns="0" tIns="0" rIns="0" bIns="0" rtlCol="0" anchor="t">
            <a:normAutofit/>
          </a:bodyPr>
          <a:lstStyle/>
          <a:p>
            <a:pPr indent="0" marL="0">
              <a:buNone/>
            </a:pPr>
            <a:r>
              <a:rPr lang="en-US" sz="1150" dirty="0">
                <a:solidFill>
                  <a:srgbClr val="212121"/>
                </a:solidFill>
                <a:latin typeface="Calibri" pitchFamily="34" charset="0"/>
                <a:ea typeface="Calibri" pitchFamily="34" charset="-122"/>
                <a:cs typeface="Calibri" pitchFamily="34" charset="-120"/>
              </a:rPr>
              <a:t>Narrow identity scopes and allowed_tools</a:t>
            </a:r>
            <a:endParaRPr lang="en-US" sz="1150" dirty="0"/>
          </a:p>
        </p:txBody>
      </p:sp>
      <p:sp>
        <p:nvSpPr>
          <p:cNvPr id="11" name="Shape 9"/>
          <p:cNvSpPr/>
          <p:nvPr/>
        </p:nvSpPr>
        <p:spPr>
          <a:xfrm>
            <a:off x="365760" y="2935224"/>
            <a:ext cx="4105656" cy="1655064"/>
          </a:xfrm>
          <a:prstGeom prst="roundRect">
            <a:avLst>
              <a:gd name="adj" fmla="val 3315"/>
            </a:avLst>
          </a:prstGeom>
          <a:solidFill>
            <a:srgbClr val="F3F4F6"/>
          </a:solidFill>
          <a:ln w="10160">
            <a:solidFill>
              <a:srgbClr val="D1D5DB"/>
            </a:solidFill>
            <a:prstDash val="solid"/>
          </a:ln>
        </p:spPr>
      </p:sp>
      <p:sp>
        <p:nvSpPr>
          <p:cNvPr id="12" name="Text 10"/>
          <p:cNvSpPr/>
          <p:nvPr/>
        </p:nvSpPr>
        <p:spPr>
          <a:xfrm>
            <a:off x="512064" y="3054096"/>
            <a:ext cx="3813048" cy="310896"/>
          </a:xfrm>
          <a:prstGeom prst="rect">
            <a:avLst/>
          </a:prstGeom>
          <a:noFill/>
          <a:ln/>
        </p:spPr>
        <p:txBody>
          <a:bodyPr wrap="square" lIns="0" tIns="0" rIns="0" bIns="0" rtlCol="0" anchor="ctr">
            <a:normAutofit/>
          </a:bodyPr>
          <a:lstStyle/>
          <a:p>
            <a:pPr indent="0" marL="0">
              <a:buNone/>
            </a:pPr>
            <a:r>
              <a:rPr lang="en-US" sz="1500" b="1" dirty="0">
                <a:solidFill>
                  <a:srgbClr val="1E2761"/>
                </a:solidFill>
                <a:latin typeface="Calibri" pitchFamily="34" charset="0"/>
                <a:ea typeface="Calibri" pitchFamily="34" charset="-122"/>
                <a:cs typeface="Calibri" pitchFamily="34" charset="-120"/>
              </a:rPr>
              <a:t>Prompt injection</a:t>
            </a:r>
            <a:endParaRPr lang="en-US" sz="1500" dirty="0"/>
          </a:p>
        </p:txBody>
      </p:sp>
      <p:sp>
        <p:nvSpPr>
          <p:cNvPr id="13" name="Text 11"/>
          <p:cNvSpPr/>
          <p:nvPr/>
        </p:nvSpPr>
        <p:spPr>
          <a:xfrm>
            <a:off x="512064" y="3438144"/>
            <a:ext cx="3813048" cy="1033272"/>
          </a:xfrm>
          <a:prstGeom prst="rect">
            <a:avLst/>
          </a:prstGeom>
          <a:noFill/>
          <a:ln/>
        </p:spPr>
        <p:txBody>
          <a:bodyPr wrap="square" lIns="0" tIns="0" rIns="0" bIns="0" rtlCol="0" anchor="t">
            <a:normAutofit/>
          </a:bodyPr>
          <a:lstStyle/>
          <a:p>
            <a:pPr indent="0" marL="0">
              <a:buNone/>
            </a:pPr>
            <a:r>
              <a:rPr lang="en-US" sz="1150" dirty="0">
                <a:solidFill>
                  <a:srgbClr val="212121"/>
                </a:solidFill>
                <a:latin typeface="Calibri" pitchFamily="34" charset="0"/>
                <a:ea typeface="Calibri" pitchFamily="34" charset="-122"/>
                <a:cs typeface="Calibri" pitchFamily="34" charset="-120"/>
              </a:rPr>
              <a:t>Treat tool metadata and results as untrusted</a:t>
            </a:r>
            <a:endParaRPr lang="en-US" sz="1150" dirty="0"/>
          </a:p>
        </p:txBody>
      </p:sp>
      <p:sp>
        <p:nvSpPr>
          <p:cNvPr id="14" name="Shape 12"/>
          <p:cNvSpPr/>
          <p:nvPr/>
        </p:nvSpPr>
        <p:spPr>
          <a:xfrm>
            <a:off x="4672584" y="2935224"/>
            <a:ext cx="4105656" cy="1655064"/>
          </a:xfrm>
          <a:prstGeom prst="roundRect">
            <a:avLst>
              <a:gd name="adj" fmla="val 3315"/>
            </a:avLst>
          </a:prstGeom>
          <a:solidFill>
            <a:srgbClr val="F3F4F6"/>
          </a:solidFill>
          <a:ln w="10160">
            <a:solidFill>
              <a:srgbClr val="D1D5DB"/>
            </a:solidFill>
            <a:prstDash val="solid"/>
          </a:ln>
        </p:spPr>
      </p:sp>
      <p:sp>
        <p:nvSpPr>
          <p:cNvPr id="15" name="Text 13"/>
          <p:cNvSpPr/>
          <p:nvPr/>
        </p:nvSpPr>
        <p:spPr>
          <a:xfrm>
            <a:off x="4818888" y="3054096"/>
            <a:ext cx="3813048" cy="310896"/>
          </a:xfrm>
          <a:prstGeom prst="rect">
            <a:avLst/>
          </a:prstGeom>
          <a:noFill/>
          <a:ln/>
        </p:spPr>
        <p:txBody>
          <a:bodyPr wrap="square" lIns="0" tIns="0" rIns="0" bIns="0" rtlCol="0" anchor="ctr">
            <a:normAutofit/>
          </a:bodyPr>
          <a:lstStyle/>
          <a:p>
            <a:pPr indent="0" marL="0">
              <a:buNone/>
            </a:pPr>
            <a:r>
              <a:rPr lang="en-US" sz="1500" b="1" dirty="0">
                <a:solidFill>
                  <a:srgbClr val="1E2761"/>
                </a:solidFill>
                <a:latin typeface="Calibri" pitchFamily="34" charset="0"/>
                <a:ea typeface="Calibri" pitchFamily="34" charset="-122"/>
                <a:cs typeface="Calibri" pitchFamily="34" charset="-120"/>
              </a:rPr>
              <a:t>Audit</a:t>
            </a:r>
            <a:endParaRPr lang="en-US" sz="1500" dirty="0"/>
          </a:p>
        </p:txBody>
      </p:sp>
      <p:sp>
        <p:nvSpPr>
          <p:cNvPr id="16" name="Text 14"/>
          <p:cNvSpPr/>
          <p:nvPr/>
        </p:nvSpPr>
        <p:spPr>
          <a:xfrm>
            <a:off x="4818888" y="3438144"/>
            <a:ext cx="3813048" cy="1033272"/>
          </a:xfrm>
          <a:prstGeom prst="rect">
            <a:avLst/>
          </a:prstGeom>
          <a:noFill/>
          <a:ln/>
        </p:spPr>
        <p:txBody>
          <a:bodyPr wrap="square" lIns="0" tIns="0" rIns="0" bIns="0" rtlCol="0" anchor="t">
            <a:normAutofit/>
          </a:bodyPr>
          <a:lstStyle/>
          <a:p>
            <a:pPr indent="0" marL="0">
              <a:buNone/>
            </a:pPr>
            <a:r>
              <a:rPr lang="en-US" sz="1150" dirty="0">
                <a:solidFill>
                  <a:srgbClr val="212121"/>
                </a:solidFill>
                <a:latin typeface="Calibri" pitchFamily="34" charset="0"/>
                <a:ea typeface="Calibri" pitchFamily="34" charset="-122"/>
                <a:cs typeface="Calibri" pitchFamily="34" charset="-120"/>
              </a:rPr>
              <a:t>Log selected tool, arguments, approval, result status, and caller</a:t>
            </a:r>
            <a:endParaRPr lang="en-US" sz="1150" dirty="0"/>
          </a:p>
        </p:txBody>
      </p:sp>
      <p:sp>
        <p:nvSpPr>
          <p:cNvPr id="17" name="Shape 15"/>
          <p:cNvSpPr/>
          <p:nvPr/>
        </p:nvSpPr>
        <p:spPr>
          <a:xfrm>
            <a:off x="365760" y="4773168"/>
            <a:ext cx="8412480" cy="0"/>
          </a:xfrm>
          <a:prstGeom prst="line">
            <a:avLst/>
          </a:prstGeom>
          <a:noFill/>
          <a:ln w="6350">
            <a:solidFill>
              <a:srgbClr val="D1D5DB"/>
            </a:solidFill>
            <a:prstDash val="solid"/>
          </a:ln>
        </p:spPr>
      </p:sp>
      <p:sp>
        <p:nvSpPr>
          <p:cNvPr id="18" name="Text 16"/>
          <p:cNvSpPr/>
          <p:nvPr/>
        </p:nvSpPr>
        <p:spPr>
          <a:xfrm>
            <a:off x="384048" y="4818888"/>
            <a:ext cx="8275320" cy="182880"/>
          </a:xfrm>
          <a:prstGeom prst="rect">
            <a:avLst/>
          </a:prstGeom>
          <a:noFill/>
          <a:ln/>
        </p:spPr>
        <p:txBody>
          <a:bodyPr wrap="square" lIns="0" tIns="0" rIns="0" bIns="0" rtlCol="0" anchor="ctr">
            <a:normAutofit/>
          </a:bodyPr>
          <a:lstStyle/>
          <a:p>
            <a:pPr indent="0" marL="0">
              <a:buNone/>
            </a:pPr>
            <a:r>
              <a:rPr lang="en-US" sz="820" dirty="0">
                <a:solidFill>
                  <a:srgbClr val="6B7280"/>
                </a:solidFill>
                <a:latin typeface="Calibri" pitchFamily="34" charset="0"/>
                <a:ea typeface="Calibri" pitchFamily="34" charset="-122"/>
                <a:cs typeface="Calibri" pitchFamily="34" charset="-120"/>
              </a:rPr>
              <a:t>Source: https://learn.microsoft.com/en-us/agent-framework/agents/tools/local-mcp-tools?tabs=python</a:t>
            </a:r>
            <a:endParaRPr lang="en-US" sz="820" dirty="0"/>
          </a:p>
        </p:txBody>
      </p:sp>
    </p:spTree>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name="Slide 15">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0" y="0"/>
            <a:ext cx="54864" cy="5143500"/>
          </a:xfrm>
          <a:prstGeom prst="rect">
            <a:avLst/>
          </a:prstGeom>
          <a:solidFill>
            <a:srgbClr val="1E2761"/>
          </a:solidFill>
          <a:ln/>
        </p:spPr>
      </p:sp>
      <p:sp>
        <p:nvSpPr>
          <p:cNvPr id="3" name="Text 1"/>
          <p:cNvSpPr/>
          <p:nvPr/>
        </p:nvSpPr>
        <p:spPr>
          <a:xfrm>
            <a:off x="5486400" y="256032"/>
            <a:ext cx="3337560" cy="228600"/>
          </a:xfrm>
          <a:prstGeom prst="rect">
            <a:avLst/>
          </a:prstGeom>
          <a:noFill/>
          <a:ln/>
        </p:spPr>
        <p:txBody>
          <a:bodyPr wrap="square" lIns="0" tIns="0" rIns="0" bIns="0" rtlCol="0" anchor="ctr">
            <a:normAutofit/>
          </a:bodyPr>
          <a:lstStyle/>
          <a:p>
            <a:pPr algn="r" indent="0" marL="0">
              <a:buNone/>
            </a:pPr>
            <a:r>
              <a:rPr lang="en-US" sz="950" dirty="0">
                <a:solidFill>
                  <a:srgbClr val="6B7280"/>
                </a:solidFill>
                <a:latin typeface="Calibri" pitchFamily="34" charset="0"/>
                <a:ea typeface="Calibri" pitchFamily="34" charset="-122"/>
                <a:cs typeface="Calibri" pitchFamily="34" charset="-120"/>
              </a:rPr>
              <a:t>Day 3 · Module 5</a:t>
            </a:r>
            <a:endParaRPr lang="en-US" sz="950" dirty="0"/>
          </a:p>
        </p:txBody>
      </p:sp>
      <p:sp>
        <p:nvSpPr>
          <p:cNvPr id="4" name="Text 2"/>
          <p:cNvSpPr/>
          <p:nvPr/>
        </p:nvSpPr>
        <p:spPr>
          <a:xfrm>
            <a:off x="365760" y="310896"/>
            <a:ext cx="6583680" cy="603504"/>
          </a:xfrm>
          <a:prstGeom prst="rect">
            <a:avLst/>
          </a:prstGeom>
          <a:noFill/>
          <a:ln/>
        </p:spPr>
        <p:txBody>
          <a:bodyPr wrap="square" lIns="0" tIns="0" rIns="0" bIns="0" rtlCol="0" anchor="ctr">
            <a:normAutofit/>
          </a:bodyPr>
          <a:lstStyle/>
          <a:p>
            <a:pPr indent="0" marL="0">
              <a:buNone/>
            </a:pPr>
            <a:r>
              <a:rPr lang="en-US" sz="2800" b="1" dirty="0">
                <a:solidFill>
                  <a:srgbClr val="1E2761"/>
                </a:solidFill>
                <a:latin typeface="Calibri" pitchFamily="34" charset="0"/>
                <a:ea typeface="Calibri" pitchFamily="34" charset="-122"/>
                <a:cs typeface="Calibri" pitchFamily="34" charset="-120"/>
              </a:rPr>
              <a:t>Local or remote?</a:t>
            </a:r>
            <a:endParaRPr lang="en-US" sz="2800" dirty="0"/>
          </a:p>
        </p:txBody>
      </p:sp>
      <p:graphicFrame>
        <p:nvGraphicFramePr>
          <p:cNvPr id="16" name="Table 0"/>
          <p:cNvGraphicFramePr>
            <a:graphicFrameLocks noGrp="1"/>
          </p:cNvGraphicFramePr>
          <p:nvPr>
            <p:extLst>
              <p:ext uri="{D42A27DB-BD31-4B8C-83A1-F6EECF244321}">
                <p14:modId xmlns:p14="http://schemas.microsoft.com/office/powerpoint/2010/main" val="1579011935"/>
              </p:ext>
            </p:extLst>
          </p:nvPr>
        </p:nvGraphicFramePr>
        <p:xfrm>
          <a:off x="365760" y="1078992"/>
          <a:ext cx="8412480" cy="914400"/>
        </p:xfrm>
        <a:graphic>
          <a:graphicData uri="http://schemas.openxmlformats.org/drawingml/2006/table">
            <a:tbl>
              <a:tblPr/>
              <a:tblGrid>
                <a:gridCol w="2804160"/>
                <a:gridCol w="2804160"/>
                <a:gridCol w="2804160"/>
              </a:tblGrid>
              <a:tr h="586740">
                <a:tc>
                  <a:txBody>
                    <a:bodyPr/>
                    <a:lstStyle/>
                    <a:p>
                      <a:pPr indent="0" marL="0">
                        <a:buNone/>
                      </a:pPr>
                      <a:r>
                        <a:rPr lang="en-US" sz="1100" b="1" dirty="0">
                          <a:solidFill>
                            <a:srgbClr val="FFFFFF"/>
                          </a:solidFill>
                          <a:latin typeface="Calibri" pitchFamily="34" charset="0"/>
                          <a:ea typeface="Calibri" pitchFamily="34" charset="-122"/>
                          <a:cs typeface="Calibri" pitchFamily="34" charset="-120"/>
                        </a:rPr>
                        <a:t>Question</a:t>
                      </a:r>
                      <a:endParaRPr lang="en-US" sz="1100" dirty="0">
                        <a:latin typeface="Calibri" charset="0"/>
                        <a:ea typeface="Calibri" charset="0"/>
                        <a:cs typeface="Calibri" charset="0"/>
                      </a:endParaRPr>
                    </a:p>
                  </a:txBody>
                  <a:tcPr marL="54864" marR="54864" marT="54864" marB="54864" anchor="ctr">
                    <a:lnL w="6350" cap="flat" cmpd="sng" algn="ctr">
                      <a:solidFill>
                        <a:srgbClr val="D1D5DB"/>
                      </a:solidFill>
                      <a:prstDash val="solid"/>
                      <a:round/>
                      <a:headEnd type="none" w="med" len="med"/>
                      <a:tailEnd type="none" w="med" len="med"/>
                    </a:lnL>
                    <a:lnR w="6350" cap="flat" cmpd="sng" algn="ctr">
                      <a:solidFill>
                        <a:srgbClr val="D1D5DB"/>
                      </a:solidFill>
                      <a:prstDash val="solid"/>
                      <a:round/>
                      <a:headEnd type="none" w="med" len="med"/>
                      <a:tailEnd type="none" w="med" len="med"/>
                    </a:lnR>
                    <a:lnT w="6350" cap="flat" cmpd="sng" algn="ctr">
                      <a:solidFill>
                        <a:srgbClr val="D1D5DB"/>
                      </a:solidFill>
                      <a:prstDash val="solid"/>
                      <a:round/>
                      <a:headEnd type="none" w="med" len="med"/>
                      <a:tailEnd type="none" w="med" len="med"/>
                    </a:lnT>
                    <a:lnB w="6350" cap="flat" cmpd="sng" algn="ctr">
                      <a:solidFill>
                        <a:srgbClr val="D1D5DB"/>
                      </a:solidFill>
                      <a:prstDash val="solid"/>
                      <a:round/>
                      <a:headEnd type="none" w="med" len="med"/>
                      <a:tailEnd type="none" w="med" len="med"/>
                    </a:lnB>
                    <a:solidFill>
                      <a:srgbClr val="1E2761"/>
                    </a:solidFill>
                  </a:tcPr>
                </a:tc>
                <a:tc>
                  <a:txBody>
                    <a:bodyPr/>
                    <a:lstStyle/>
                    <a:p>
                      <a:pPr indent="0" marL="0">
                        <a:buNone/>
                      </a:pPr>
                      <a:r>
                        <a:rPr lang="en-US" sz="1100" b="1" dirty="0">
                          <a:solidFill>
                            <a:srgbClr val="FFFFFF"/>
                          </a:solidFill>
                          <a:latin typeface="Calibri" pitchFamily="34" charset="0"/>
                          <a:ea typeface="Calibri" pitchFamily="34" charset="-122"/>
                          <a:cs typeface="Calibri" pitchFamily="34" charset="-120"/>
                        </a:rPr>
                        <a:t>Prefer local stdio</a:t>
                      </a:r>
                      <a:endParaRPr lang="en-US" sz="1100" dirty="0">
                        <a:latin typeface="Calibri" charset="0"/>
                        <a:ea typeface="Calibri" charset="0"/>
                        <a:cs typeface="Calibri" charset="0"/>
                      </a:endParaRPr>
                    </a:p>
                  </a:txBody>
                  <a:tcPr marL="54864" marR="54864" marT="54864" marB="54864" anchor="ctr">
                    <a:lnL w="6350" cap="flat" cmpd="sng" algn="ctr">
                      <a:solidFill>
                        <a:srgbClr val="D1D5DB"/>
                      </a:solidFill>
                      <a:prstDash val="solid"/>
                      <a:round/>
                      <a:headEnd type="none" w="med" len="med"/>
                      <a:tailEnd type="none" w="med" len="med"/>
                    </a:lnL>
                    <a:lnR w="6350" cap="flat" cmpd="sng" algn="ctr">
                      <a:solidFill>
                        <a:srgbClr val="D1D5DB"/>
                      </a:solidFill>
                      <a:prstDash val="solid"/>
                      <a:round/>
                      <a:headEnd type="none" w="med" len="med"/>
                      <a:tailEnd type="none" w="med" len="med"/>
                    </a:lnR>
                    <a:lnT w="6350" cap="flat" cmpd="sng" algn="ctr">
                      <a:solidFill>
                        <a:srgbClr val="D1D5DB"/>
                      </a:solidFill>
                      <a:prstDash val="solid"/>
                      <a:round/>
                      <a:headEnd type="none" w="med" len="med"/>
                      <a:tailEnd type="none" w="med" len="med"/>
                    </a:lnT>
                    <a:lnB w="6350" cap="flat" cmpd="sng" algn="ctr">
                      <a:solidFill>
                        <a:srgbClr val="D1D5DB"/>
                      </a:solidFill>
                      <a:prstDash val="solid"/>
                      <a:round/>
                      <a:headEnd type="none" w="med" len="med"/>
                      <a:tailEnd type="none" w="med" len="med"/>
                    </a:lnB>
                    <a:solidFill>
                      <a:srgbClr val="1E2761"/>
                    </a:solidFill>
                  </a:tcPr>
                </a:tc>
                <a:tc>
                  <a:txBody>
                    <a:bodyPr/>
                    <a:lstStyle/>
                    <a:p>
                      <a:pPr indent="0" marL="0">
                        <a:buNone/>
                      </a:pPr>
                      <a:r>
                        <a:rPr lang="en-US" sz="1100" b="1" dirty="0">
                          <a:solidFill>
                            <a:srgbClr val="FFFFFF"/>
                          </a:solidFill>
                          <a:latin typeface="Calibri" pitchFamily="34" charset="0"/>
                          <a:ea typeface="Calibri" pitchFamily="34" charset="-122"/>
                          <a:cs typeface="Calibri" pitchFamily="34" charset="-120"/>
                        </a:rPr>
                        <a:t>Prefer remote HTTP</a:t>
                      </a:r>
                      <a:endParaRPr lang="en-US" sz="1100" dirty="0">
                        <a:latin typeface="Calibri" charset="0"/>
                        <a:ea typeface="Calibri" charset="0"/>
                        <a:cs typeface="Calibri" charset="0"/>
                      </a:endParaRPr>
                    </a:p>
                  </a:txBody>
                  <a:tcPr marL="54864" marR="54864" marT="54864" marB="54864" anchor="ctr">
                    <a:lnL w="6350" cap="flat" cmpd="sng" algn="ctr">
                      <a:solidFill>
                        <a:srgbClr val="D1D5DB"/>
                      </a:solidFill>
                      <a:prstDash val="solid"/>
                      <a:round/>
                      <a:headEnd type="none" w="med" len="med"/>
                      <a:tailEnd type="none" w="med" len="med"/>
                    </a:lnL>
                    <a:lnR w="6350" cap="flat" cmpd="sng" algn="ctr">
                      <a:solidFill>
                        <a:srgbClr val="D1D5DB"/>
                      </a:solidFill>
                      <a:prstDash val="solid"/>
                      <a:round/>
                      <a:headEnd type="none" w="med" len="med"/>
                      <a:tailEnd type="none" w="med" len="med"/>
                    </a:lnR>
                    <a:lnT w="6350" cap="flat" cmpd="sng" algn="ctr">
                      <a:solidFill>
                        <a:srgbClr val="D1D5DB"/>
                      </a:solidFill>
                      <a:prstDash val="solid"/>
                      <a:round/>
                      <a:headEnd type="none" w="med" len="med"/>
                      <a:tailEnd type="none" w="med" len="med"/>
                    </a:lnT>
                    <a:lnB w="6350" cap="flat" cmpd="sng" algn="ctr">
                      <a:solidFill>
                        <a:srgbClr val="D1D5DB"/>
                      </a:solidFill>
                      <a:prstDash val="solid"/>
                      <a:round/>
                      <a:headEnd type="none" w="med" len="med"/>
                      <a:tailEnd type="none" w="med" len="med"/>
                    </a:lnB>
                    <a:solidFill>
                      <a:srgbClr val="1E2761"/>
                    </a:solidFill>
                  </a:tcPr>
                </a:tc>
              </a:tr>
              <a:tr h="586740">
                <a:tc>
                  <a:txBody>
                    <a:bodyPr/>
                    <a:lstStyle/>
                    <a:p>
                      <a:pPr indent="0" marL="0">
                        <a:buNone/>
                      </a:pPr>
                      <a:r>
                        <a:rPr lang="en-US" sz="1100" dirty="0">
                          <a:solidFill>
                            <a:srgbClr val="212121"/>
                          </a:solidFill>
                          <a:latin typeface="Calibri" pitchFamily="34" charset="0"/>
                          <a:ea typeface="Calibri" pitchFamily="34" charset="-122"/>
                          <a:cs typeface="Calibri" pitchFamily="34" charset="-120"/>
                        </a:rPr>
                        <a:t>Who hosts it?</a:t>
                      </a:r>
                      <a:endParaRPr lang="en-US" sz="1100" dirty="0">
                        <a:latin typeface="Calibri" charset="0"/>
                        <a:ea typeface="Calibri" charset="0"/>
                        <a:cs typeface="Calibri" charset="0"/>
                      </a:endParaRPr>
                    </a:p>
                  </a:txBody>
                  <a:tcPr marL="54864" marR="54864" marT="54864" marB="54864" anchor="ctr">
                    <a:lnL w="6350" cap="flat" cmpd="sng" algn="ctr">
                      <a:solidFill>
                        <a:srgbClr val="D1D5DB"/>
                      </a:solidFill>
                      <a:prstDash val="solid"/>
                      <a:round/>
                      <a:headEnd type="none" w="med" len="med"/>
                      <a:tailEnd type="none" w="med" len="med"/>
                    </a:lnL>
                    <a:lnR w="6350" cap="flat" cmpd="sng" algn="ctr">
                      <a:solidFill>
                        <a:srgbClr val="D1D5DB"/>
                      </a:solidFill>
                      <a:prstDash val="solid"/>
                      <a:round/>
                      <a:headEnd type="none" w="med" len="med"/>
                      <a:tailEnd type="none" w="med" len="med"/>
                    </a:lnR>
                    <a:lnT w="6350" cap="flat" cmpd="sng" algn="ctr">
                      <a:solidFill>
                        <a:srgbClr val="D1D5DB"/>
                      </a:solidFill>
                      <a:prstDash val="solid"/>
                      <a:round/>
                      <a:headEnd type="none" w="med" len="med"/>
                      <a:tailEnd type="none" w="med" len="med"/>
                    </a:lnT>
                    <a:lnB w="6350" cap="flat" cmpd="sng" algn="ctr">
                      <a:solidFill>
                        <a:srgbClr val="D1D5DB"/>
                      </a:solidFill>
                      <a:prstDash val="solid"/>
                      <a:round/>
                      <a:headEnd type="none" w="med" len="med"/>
                      <a:tailEnd type="none" w="med" len="med"/>
                    </a:lnB>
                    <a:solidFill>
                      <a:srgbClr val="FFFFFF"/>
                    </a:solidFill>
                  </a:tcPr>
                </a:tc>
                <a:tc>
                  <a:txBody>
                    <a:bodyPr/>
                    <a:lstStyle/>
                    <a:p>
                      <a:pPr indent="0" marL="0">
                        <a:buNone/>
                      </a:pPr>
                      <a:r>
                        <a:rPr lang="en-US" sz="1100" dirty="0">
                          <a:solidFill>
                            <a:srgbClr val="212121"/>
                          </a:solidFill>
                          <a:latin typeface="Calibri" pitchFamily="34" charset="0"/>
                          <a:ea typeface="Calibri" pitchFamily="34" charset="-122"/>
                          <a:cs typeface="Calibri" pitchFamily="34" charset="-120"/>
                        </a:rPr>
                        <a:t>Your process or workstation</a:t>
                      </a:r>
                      <a:endParaRPr lang="en-US" sz="1100" dirty="0">
                        <a:latin typeface="Calibri" charset="0"/>
                        <a:ea typeface="Calibri" charset="0"/>
                        <a:cs typeface="Calibri" charset="0"/>
                      </a:endParaRPr>
                    </a:p>
                  </a:txBody>
                  <a:tcPr marL="54864" marR="54864" marT="54864" marB="54864" anchor="ctr">
                    <a:lnL w="6350" cap="flat" cmpd="sng" algn="ctr">
                      <a:solidFill>
                        <a:srgbClr val="D1D5DB"/>
                      </a:solidFill>
                      <a:prstDash val="solid"/>
                      <a:round/>
                      <a:headEnd type="none" w="med" len="med"/>
                      <a:tailEnd type="none" w="med" len="med"/>
                    </a:lnL>
                    <a:lnR w="6350" cap="flat" cmpd="sng" algn="ctr">
                      <a:solidFill>
                        <a:srgbClr val="D1D5DB"/>
                      </a:solidFill>
                      <a:prstDash val="solid"/>
                      <a:round/>
                      <a:headEnd type="none" w="med" len="med"/>
                      <a:tailEnd type="none" w="med" len="med"/>
                    </a:lnR>
                    <a:lnT w="6350" cap="flat" cmpd="sng" algn="ctr">
                      <a:solidFill>
                        <a:srgbClr val="D1D5DB"/>
                      </a:solidFill>
                      <a:prstDash val="solid"/>
                      <a:round/>
                      <a:headEnd type="none" w="med" len="med"/>
                      <a:tailEnd type="none" w="med" len="med"/>
                    </a:lnT>
                    <a:lnB w="6350" cap="flat" cmpd="sng" algn="ctr">
                      <a:solidFill>
                        <a:srgbClr val="D1D5DB"/>
                      </a:solidFill>
                      <a:prstDash val="solid"/>
                      <a:round/>
                      <a:headEnd type="none" w="med" len="med"/>
                      <a:tailEnd type="none" w="med" len="med"/>
                    </a:lnB>
                    <a:solidFill>
                      <a:srgbClr val="FFFFFF"/>
                    </a:solidFill>
                  </a:tcPr>
                </a:tc>
                <a:tc>
                  <a:txBody>
                    <a:bodyPr/>
                    <a:lstStyle/>
                    <a:p>
                      <a:pPr indent="0" marL="0">
                        <a:buNone/>
                      </a:pPr>
                      <a:r>
                        <a:rPr lang="en-US" sz="1100" dirty="0">
                          <a:solidFill>
                            <a:srgbClr val="212121"/>
                          </a:solidFill>
                          <a:latin typeface="Calibri" pitchFamily="34" charset="0"/>
                          <a:ea typeface="Calibri" pitchFamily="34" charset="-122"/>
                          <a:cs typeface="Calibri" pitchFamily="34" charset="-120"/>
                        </a:rPr>
                        <a:t>Trusted service provider</a:t>
                      </a:r>
                      <a:endParaRPr lang="en-US" sz="1100" dirty="0">
                        <a:latin typeface="Calibri" charset="0"/>
                        <a:ea typeface="Calibri" charset="0"/>
                        <a:cs typeface="Calibri" charset="0"/>
                      </a:endParaRPr>
                    </a:p>
                  </a:txBody>
                  <a:tcPr marL="54864" marR="54864" marT="54864" marB="54864" anchor="ctr">
                    <a:lnL w="6350" cap="flat" cmpd="sng" algn="ctr">
                      <a:solidFill>
                        <a:srgbClr val="D1D5DB"/>
                      </a:solidFill>
                      <a:prstDash val="solid"/>
                      <a:round/>
                      <a:headEnd type="none" w="med" len="med"/>
                      <a:tailEnd type="none" w="med" len="med"/>
                    </a:lnL>
                    <a:lnR w="6350" cap="flat" cmpd="sng" algn="ctr">
                      <a:solidFill>
                        <a:srgbClr val="D1D5DB"/>
                      </a:solidFill>
                      <a:prstDash val="solid"/>
                      <a:round/>
                      <a:headEnd type="none" w="med" len="med"/>
                      <a:tailEnd type="none" w="med" len="med"/>
                    </a:lnR>
                    <a:lnT w="6350" cap="flat" cmpd="sng" algn="ctr">
                      <a:solidFill>
                        <a:srgbClr val="D1D5DB"/>
                      </a:solidFill>
                      <a:prstDash val="solid"/>
                      <a:round/>
                      <a:headEnd type="none" w="med" len="med"/>
                      <a:tailEnd type="none" w="med" len="med"/>
                    </a:lnT>
                    <a:lnB w="6350" cap="flat" cmpd="sng" algn="ctr">
                      <a:solidFill>
                        <a:srgbClr val="D1D5DB"/>
                      </a:solidFill>
                      <a:prstDash val="solid"/>
                      <a:round/>
                      <a:headEnd type="none" w="med" len="med"/>
                      <a:tailEnd type="none" w="med" len="med"/>
                    </a:lnB>
                    <a:solidFill>
                      <a:srgbClr val="FFFFFF"/>
                    </a:solidFill>
                  </a:tcPr>
                </a:tc>
              </a:tr>
              <a:tr h="586740">
                <a:tc>
                  <a:txBody>
                    <a:bodyPr/>
                    <a:lstStyle/>
                    <a:p>
                      <a:pPr indent="0" marL="0">
                        <a:buNone/>
                      </a:pPr>
                      <a:r>
                        <a:rPr lang="en-US" sz="1100" dirty="0">
                          <a:solidFill>
                            <a:srgbClr val="212121"/>
                          </a:solidFill>
                          <a:latin typeface="Calibri" pitchFamily="34" charset="0"/>
                          <a:ea typeface="Calibri" pitchFamily="34" charset="-122"/>
                          <a:cs typeface="Calibri" pitchFamily="34" charset="-120"/>
                        </a:rPr>
                        <a:t>Updates</a:t>
                      </a:r>
                      <a:endParaRPr lang="en-US" sz="1100" dirty="0">
                        <a:latin typeface="Calibri" charset="0"/>
                        <a:ea typeface="Calibri" charset="0"/>
                        <a:cs typeface="Calibri" charset="0"/>
                      </a:endParaRPr>
                    </a:p>
                  </a:txBody>
                  <a:tcPr marL="54864" marR="54864" marT="54864" marB="54864" anchor="ctr">
                    <a:lnL w="6350" cap="flat" cmpd="sng" algn="ctr">
                      <a:solidFill>
                        <a:srgbClr val="D1D5DB"/>
                      </a:solidFill>
                      <a:prstDash val="solid"/>
                      <a:round/>
                      <a:headEnd type="none" w="med" len="med"/>
                      <a:tailEnd type="none" w="med" len="med"/>
                    </a:lnL>
                    <a:lnR w="6350" cap="flat" cmpd="sng" algn="ctr">
                      <a:solidFill>
                        <a:srgbClr val="D1D5DB"/>
                      </a:solidFill>
                      <a:prstDash val="solid"/>
                      <a:round/>
                      <a:headEnd type="none" w="med" len="med"/>
                      <a:tailEnd type="none" w="med" len="med"/>
                    </a:lnR>
                    <a:lnT w="6350" cap="flat" cmpd="sng" algn="ctr">
                      <a:solidFill>
                        <a:srgbClr val="D1D5DB"/>
                      </a:solidFill>
                      <a:prstDash val="solid"/>
                      <a:round/>
                      <a:headEnd type="none" w="med" len="med"/>
                      <a:tailEnd type="none" w="med" len="med"/>
                    </a:lnT>
                    <a:lnB w="6350" cap="flat" cmpd="sng" algn="ctr">
                      <a:solidFill>
                        <a:srgbClr val="D1D5DB"/>
                      </a:solidFill>
                      <a:prstDash val="solid"/>
                      <a:round/>
                      <a:headEnd type="none" w="med" len="med"/>
                      <a:tailEnd type="none" w="med" len="med"/>
                    </a:lnB>
                    <a:solidFill>
                      <a:srgbClr val="F3F4F6"/>
                    </a:solidFill>
                  </a:tcPr>
                </a:tc>
                <a:tc>
                  <a:txBody>
                    <a:bodyPr/>
                    <a:lstStyle/>
                    <a:p>
                      <a:pPr indent="0" marL="0">
                        <a:buNone/>
                      </a:pPr>
                      <a:r>
                        <a:rPr lang="en-US" sz="1100" dirty="0">
                          <a:solidFill>
                            <a:srgbClr val="212121"/>
                          </a:solidFill>
                          <a:latin typeface="Calibri" pitchFamily="34" charset="0"/>
                          <a:ea typeface="Calibri" pitchFamily="34" charset="-122"/>
                          <a:cs typeface="Calibri" pitchFamily="34" charset="-120"/>
                        </a:rPr>
                        <a:t>You pin and manage</a:t>
                      </a:r>
                      <a:endParaRPr lang="en-US" sz="1100" dirty="0">
                        <a:latin typeface="Calibri" charset="0"/>
                        <a:ea typeface="Calibri" charset="0"/>
                        <a:cs typeface="Calibri" charset="0"/>
                      </a:endParaRPr>
                    </a:p>
                  </a:txBody>
                  <a:tcPr marL="54864" marR="54864" marT="54864" marB="54864" anchor="ctr">
                    <a:lnL w="6350" cap="flat" cmpd="sng" algn="ctr">
                      <a:solidFill>
                        <a:srgbClr val="D1D5DB"/>
                      </a:solidFill>
                      <a:prstDash val="solid"/>
                      <a:round/>
                      <a:headEnd type="none" w="med" len="med"/>
                      <a:tailEnd type="none" w="med" len="med"/>
                    </a:lnL>
                    <a:lnR w="6350" cap="flat" cmpd="sng" algn="ctr">
                      <a:solidFill>
                        <a:srgbClr val="D1D5DB"/>
                      </a:solidFill>
                      <a:prstDash val="solid"/>
                      <a:round/>
                      <a:headEnd type="none" w="med" len="med"/>
                      <a:tailEnd type="none" w="med" len="med"/>
                    </a:lnR>
                    <a:lnT w="6350" cap="flat" cmpd="sng" algn="ctr">
                      <a:solidFill>
                        <a:srgbClr val="D1D5DB"/>
                      </a:solidFill>
                      <a:prstDash val="solid"/>
                      <a:round/>
                      <a:headEnd type="none" w="med" len="med"/>
                      <a:tailEnd type="none" w="med" len="med"/>
                    </a:lnT>
                    <a:lnB w="6350" cap="flat" cmpd="sng" algn="ctr">
                      <a:solidFill>
                        <a:srgbClr val="D1D5DB"/>
                      </a:solidFill>
                      <a:prstDash val="solid"/>
                      <a:round/>
                      <a:headEnd type="none" w="med" len="med"/>
                      <a:tailEnd type="none" w="med" len="med"/>
                    </a:lnB>
                    <a:solidFill>
                      <a:srgbClr val="F3F4F6"/>
                    </a:solidFill>
                  </a:tcPr>
                </a:tc>
                <a:tc>
                  <a:txBody>
                    <a:bodyPr/>
                    <a:lstStyle/>
                    <a:p>
                      <a:pPr indent="0" marL="0">
                        <a:buNone/>
                      </a:pPr>
                      <a:r>
                        <a:rPr lang="en-US" sz="1100" dirty="0">
                          <a:solidFill>
                            <a:srgbClr val="212121"/>
                          </a:solidFill>
                          <a:latin typeface="Calibri" pitchFamily="34" charset="0"/>
                          <a:ea typeface="Calibri" pitchFamily="34" charset="-122"/>
                          <a:cs typeface="Calibri" pitchFamily="34" charset="-120"/>
                        </a:rPr>
                        <a:t>Provider manages</a:t>
                      </a:r>
                      <a:endParaRPr lang="en-US" sz="1100" dirty="0">
                        <a:latin typeface="Calibri" charset="0"/>
                        <a:ea typeface="Calibri" charset="0"/>
                        <a:cs typeface="Calibri" charset="0"/>
                      </a:endParaRPr>
                    </a:p>
                  </a:txBody>
                  <a:tcPr marL="54864" marR="54864" marT="54864" marB="54864" anchor="ctr">
                    <a:lnL w="6350" cap="flat" cmpd="sng" algn="ctr">
                      <a:solidFill>
                        <a:srgbClr val="D1D5DB"/>
                      </a:solidFill>
                      <a:prstDash val="solid"/>
                      <a:round/>
                      <a:headEnd type="none" w="med" len="med"/>
                      <a:tailEnd type="none" w="med" len="med"/>
                    </a:lnL>
                    <a:lnR w="6350" cap="flat" cmpd="sng" algn="ctr">
                      <a:solidFill>
                        <a:srgbClr val="D1D5DB"/>
                      </a:solidFill>
                      <a:prstDash val="solid"/>
                      <a:round/>
                      <a:headEnd type="none" w="med" len="med"/>
                      <a:tailEnd type="none" w="med" len="med"/>
                    </a:lnR>
                    <a:lnT w="6350" cap="flat" cmpd="sng" algn="ctr">
                      <a:solidFill>
                        <a:srgbClr val="D1D5DB"/>
                      </a:solidFill>
                      <a:prstDash val="solid"/>
                      <a:round/>
                      <a:headEnd type="none" w="med" len="med"/>
                      <a:tailEnd type="none" w="med" len="med"/>
                    </a:lnT>
                    <a:lnB w="6350" cap="flat" cmpd="sng" algn="ctr">
                      <a:solidFill>
                        <a:srgbClr val="D1D5DB"/>
                      </a:solidFill>
                      <a:prstDash val="solid"/>
                      <a:round/>
                      <a:headEnd type="none" w="med" len="med"/>
                      <a:tailEnd type="none" w="med" len="med"/>
                    </a:lnB>
                    <a:solidFill>
                      <a:srgbClr val="F3F4F6"/>
                    </a:solidFill>
                  </a:tcPr>
                </a:tc>
              </a:tr>
              <a:tr h="586740">
                <a:tc>
                  <a:txBody>
                    <a:bodyPr/>
                    <a:lstStyle/>
                    <a:p>
                      <a:pPr indent="0" marL="0">
                        <a:buNone/>
                      </a:pPr>
                      <a:r>
                        <a:rPr lang="en-US" sz="1100" dirty="0">
                          <a:solidFill>
                            <a:srgbClr val="212121"/>
                          </a:solidFill>
                          <a:latin typeface="Calibri" pitchFamily="34" charset="0"/>
                          <a:ea typeface="Calibri" pitchFamily="34" charset="-122"/>
                          <a:cs typeface="Calibri" pitchFamily="34" charset="-120"/>
                        </a:rPr>
                        <a:t>Authentication</a:t>
                      </a:r>
                      <a:endParaRPr lang="en-US" sz="1100" dirty="0">
                        <a:latin typeface="Calibri" charset="0"/>
                        <a:ea typeface="Calibri" charset="0"/>
                        <a:cs typeface="Calibri" charset="0"/>
                      </a:endParaRPr>
                    </a:p>
                  </a:txBody>
                  <a:tcPr marL="54864" marR="54864" marT="54864" marB="54864" anchor="ctr">
                    <a:lnL w="6350" cap="flat" cmpd="sng" algn="ctr">
                      <a:solidFill>
                        <a:srgbClr val="D1D5DB"/>
                      </a:solidFill>
                      <a:prstDash val="solid"/>
                      <a:round/>
                      <a:headEnd type="none" w="med" len="med"/>
                      <a:tailEnd type="none" w="med" len="med"/>
                    </a:lnL>
                    <a:lnR w="6350" cap="flat" cmpd="sng" algn="ctr">
                      <a:solidFill>
                        <a:srgbClr val="D1D5DB"/>
                      </a:solidFill>
                      <a:prstDash val="solid"/>
                      <a:round/>
                      <a:headEnd type="none" w="med" len="med"/>
                      <a:tailEnd type="none" w="med" len="med"/>
                    </a:lnR>
                    <a:lnT w="6350" cap="flat" cmpd="sng" algn="ctr">
                      <a:solidFill>
                        <a:srgbClr val="D1D5DB"/>
                      </a:solidFill>
                      <a:prstDash val="solid"/>
                      <a:round/>
                      <a:headEnd type="none" w="med" len="med"/>
                      <a:tailEnd type="none" w="med" len="med"/>
                    </a:lnT>
                    <a:lnB w="6350" cap="flat" cmpd="sng" algn="ctr">
                      <a:solidFill>
                        <a:srgbClr val="D1D5DB"/>
                      </a:solidFill>
                      <a:prstDash val="solid"/>
                      <a:round/>
                      <a:headEnd type="none" w="med" len="med"/>
                      <a:tailEnd type="none" w="med" len="med"/>
                    </a:lnB>
                    <a:solidFill>
                      <a:srgbClr val="FFFFFF"/>
                    </a:solidFill>
                  </a:tcPr>
                </a:tc>
                <a:tc>
                  <a:txBody>
                    <a:bodyPr/>
                    <a:lstStyle/>
                    <a:p>
                      <a:pPr indent="0" marL="0">
                        <a:buNone/>
                      </a:pPr>
                      <a:r>
                        <a:rPr lang="en-US" sz="1100" dirty="0">
                          <a:solidFill>
                            <a:srgbClr val="212121"/>
                          </a:solidFill>
                          <a:latin typeface="Calibri" pitchFamily="34" charset="0"/>
                          <a:ea typeface="Calibri" pitchFamily="34" charset="-122"/>
                          <a:cs typeface="Calibri" pitchFamily="34" charset="-120"/>
                        </a:rPr>
                        <a:t>Local environment / server mechanism</a:t>
                      </a:r>
                      <a:endParaRPr lang="en-US" sz="1100" dirty="0">
                        <a:latin typeface="Calibri" charset="0"/>
                        <a:ea typeface="Calibri" charset="0"/>
                        <a:cs typeface="Calibri" charset="0"/>
                      </a:endParaRPr>
                    </a:p>
                  </a:txBody>
                  <a:tcPr marL="54864" marR="54864" marT="54864" marB="54864" anchor="ctr">
                    <a:lnL w="6350" cap="flat" cmpd="sng" algn="ctr">
                      <a:solidFill>
                        <a:srgbClr val="D1D5DB"/>
                      </a:solidFill>
                      <a:prstDash val="solid"/>
                      <a:round/>
                      <a:headEnd type="none" w="med" len="med"/>
                      <a:tailEnd type="none" w="med" len="med"/>
                    </a:lnL>
                    <a:lnR w="6350" cap="flat" cmpd="sng" algn="ctr">
                      <a:solidFill>
                        <a:srgbClr val="D1D5DB"/>
                      </a:solidFill>
                      <a:prstDash val="solid"/>
                      <a:round/>
                      <a:headEnd type="none" w="med" len="med"/>
                      <a:tailEnd type="none" w="med" len="med"/>
                    </a:lnR>
                    <a:lnT w="6350" cap="flat" cmpd="sng" algn="ctr">
                      <a:solidFill>
                        <a:srgbClr val="D1D5DB"/>
                      </a:solidFill>
                      <a:prstDash val="solid"/>
                      <a:round/>
                      <a:headEnd type="none" w="med" len="med"/>
                      <a:tailEnd type="none" w="med" len="med"/>
                    </a:lnT>
                    <a:lnB w="6350" cap="flat" cmpd="sng" algn="ctr">
                      <a:solidFill>
                        <a:srgbClr val="D1D5DB"/>
                      </a:solidFill>
                      <a:prstDash val="solid"/>
                      <a:round/>
                      <a:headEnd type="none" w="med" len="med"/>
                      <a:tailEnd type="none" w="med" len="med"/>
                    </a:lnB>
                    <a:solidFill>
                      <a:srgbClr val="FFFFFF"/>
                    </a:solidFill>
                  </a:tcPr>
                </a:tc>
                <a:tc>
                  <a:txBody>
                    <a:bodyPr/>
                    <a:lstStyle/>
                    <a:p>
                      <a:pPr indent="0" marL="0">
                        <a:buNone/>
                      </a:pPr>
                      <a:r>
                        <a:rPr lang="en-US" sz="1100" dirty="0">
                          <a:solidFill>
                            <a:srgbClr val="212121"/>
                          </a:solidFill>
                          <a:latin typeface="Calibri" pitchFamily="34" charset="0"/>
                          <a:ea typeface="Calibri" pitchFamily="34" charset="-122"/>
                          <a:cs typeface="Calibri" pitchFamily="34" charset="-120"/>
                        </a:rPr>
                        <a:t>Headers or service identity</a:t>
                      </a:r>
                      <a:endParaRPr lang="en-US" sz="1100" dirty="0">
                        <a:latin typeface="Calibri" charset="0"/>
                        <a:ea typeface="Calibri" charset="0"/>
                        <a:cs typeface="Calibri" charset="0"/>
                      </a:endParaRPr>
                    </a:p>
                  </a:txBody>
                  <a:tcPr marL="54864" marR="54864" marT="54864" marB="54864" anchor="ctr">
                    <a:lnL w="6350" cap="flat" cmpd="sng" algn="ctr">
                      <a:solidFill>
                        <a:srgbClr val="D1D5DB"/>
                      </a:solidFill>
                      <a:prstDash val="solid"/>
                      <a:round/>
                      <a:headEnd type="none" w="med" len="med"/>
                      <a:tailEnd type="none" w="med" len="med"/>
                    </a:lnL>
                    <a:lnR w="6350" cap="flat" cmpd="sng" algn="ctr">
                      <a:solidFill>
                        <a:srgbClr val="D1D5DB"/>
                      </a:solidFill>
                      <a:prstDash val="solid"/>
                      <a:round/>
                      <a:headEnd type="none" w="med" len="med"/>
                      <a:tailEnd type="none" w="med" len="med"/>
                    </a:lnR>
                    <a:lnT w="6350" cap="flat" cmpd="sng" algn="ctr">
                      <a:solidFill>
                        <a:srgbClr val="D1D5DB"/>
                      </a:solidFill>
                      <a:prstDash val="solid"/>
                      <a:round/>
                      <a:headEnd type="none" w="med" len="med"/>
                      <a:tailEnd type="none" w="med" len="med"/>
                    </a:lnT>
                    <a:lnB w="6350" cap="flat" cmpd="sng" algn="ctr">
                      <a:solidFill>
                        <a:srgbClr val="D1D5DB"/>
                      </a:solidFill>
                      <a:prstDash val="solid"/>
                      <a:round/>
                      <a:headEnd type="none" w="med" len="med"/>
                      <a:tailEnd type="none" w="med" len="med"/>
                    </a:lnB>
                    <a:solidFill>
                      <a:srgbClr val="FFFFFF"/>
                    </a:solidFill>
                  </a:tcPr>
                </a:tc>
              </a:tr>
              <a:tr h="586740">
                <a:tc>
                  <a:txBody>
                    <a:bodyPr/>
                    <a:lstStyle/>
                    <a:p>
                      <a:pPr indent="0" marL="0">
                        <a:buNone/>
                      </a:pPr>
                      <a:r>
                        <a:rPr lang="en-US" sz="1100" dirty="0">
                          <a:solidFill>
                            <a:srgbClr val="212121"/>
                          </a:solidFill>
                          <a:latin typeface="Calibri" pitchFamily="34" charset="0"/>
                          <a:ea typeface="Calibri" pitchFamily="34" charset="-122"/>
                          <a:cs typeface="Calibri" pitchFamily="34" charset="-120"/>
                        </a:rPr>
                        <a:t>Network</a:t>
                      </a:r>
                      <a:endParaRPr lang="en-US" sz="1100" dirty="0">
                        <a:latin typeface="Calibri" charset="0"/>
                        <a:ea typeface="Calibri" charset="0"/>
                        <a:cs typeface="Calibri" charset="0"/>
                      </a:endParaRPr>
                    </a:p>
                  </a:txBody>
                  <a:tcPr marL="54864" marR="54864" marT="54864" marB="54864" anchor="ctr">
                    <a:lnL w="6350" cap="flat" cmpd="sng" algn="ctr">
                      <a:solidFill>
                        <a:srgbClr val="D1D5DB"/>
                      </a:solidFill>
                      <a:prstDash val="solid"/>
                      <a:round/>
                      <a:headEnd type="none" w="med" len="med"/>
                      <a:tailEnd type="none" w="med" len="med"/>
                    </a:lnL>
                    <a:lnR w="6350" cap="flat" cmpd="sng" algn="ctr">
                      <a:solidFill>
                        <a:srgbClr val="D1D5DB"/>
                      </a:solidFill>
                      <a:prstDash val="solid"/>
                      <a:round/>
                      <a:headEnd type="none" w="med" len="med"/>
                      <a:tailEnd type="none" w="med" len="med"/>
                    </a:lnR>
                    <a:lnT w="6350" cap="flat" cmpd="sng" algn="ctr">
                      <a:solidFill>
                        <a:srgbClr val="D1D5DB"/>
                      </a:solidFill>
                      <a:prstDash val="solid"/>
                      <a:round/>
                      <a:headEnd type="none" w="med" len="med"/>
                      <a:tailEnd type="none" w="med" len="med"/>
                    </a:lnT>
                    <a:lnB w="6350" cap="flat" cmpd="sng" algn="ctr">
                      <a:solidFill>
                        <a:srgbClr val="D1D5DB"/>
                      </a:solidFill>
                      <a:prstDash val="solid"/>
                      <a:round/>
                      <a:headEnd type="none" w="med" len="med"/>
                      <a:tailEnd type="none" w="med" len="med"/>
                    </a:lnB>
                    <a:solidFill>
                      <a:srgbClr val="F3F4F6"/>
                    </a:solidFill>
                  </a:tcPr>
                </a:tc>
                <a:tc>
                  <a:txBody>
                    <a:bodyPr/>
                    <a:lstStyle/>
                    <a:p>
                      <a:pPr indent="0" marL="0">
                        <a:buNone/>
                      </a:pPr>
                      <a:r>
                        <a:rPr lang="en-US" sz="1100" dirty="0">
                          <a:solidFill>
                            <a:srgbClr val="212121"/>
                          </a:solidFill>
                          <a:latin typeface="Calibri" pitchFamily="34" charset="0"/>
                          <a:ea typeface="Calibri" pitchFamily="34" charset="-122"/>
                          <a:cs typeface="Calibri" pitchFamily="34" charset="-120"/>
                        </a:rPr>
                        <a:t>No remote endpoint required</a:t>
                      </a:r>
                      <a:endParaRPr lang="en-US" sz="1100" dirty="0">
                        <a:latin typeface="Calibri" charset="0"/>
                        <a:ea typeface="Calibri" charset="0"/>
                        <a:cs typeface="Calibri" charset="0"/>
                      </a:endParaRPr>
                    </a:p>
                  </a:txBody>
                  <a:tcPr marL="54864" marR="54864" marT="54864" marB="54864" anchor="ctr">
                    <a:lnL w="6350" cap="flat" cmpd="sng" algn="ctr">
                      <a:solidFill>
                        <a:srgbClr val="D1D5DB"/>
                      </a:solidFill>
                      <a:prstDash val="solid"/>
                      <a:round/>
                      <a:headEnd type="none" w="med" len="med"/>
                      <a:tailEnd type="none" w="med" len="med"/>
                    </a:lnL>
                    <a:lnR w="6350" cap="flat" cmpd="sng" algn="ctr">
                      <a:solidFill>
                        <a:srgbClr val="D1D5DB"/>
                      </a:solidFill>
                      <a:prstDash val="solid"/>
                      <a:round/>
                      <a:headEnd type="none" w="med" len="med"/>
                      <a:tailEnd type="none" w="med" len="med"/>
                    </a:lnR>
                    <a:lnT w="6350" cap="flat" cmpd="sng" algn="ctr">
                      <a:solidFill>
                        <a:srgbClr val="D1D5DB"/>
                      </a:solidFill>
                      <a:prstDash val="solid"/>
                      <a:round/>
                      <a:headEnd type="none" w="med" len="med"/>
                      <a:tailEnd type="none" w="med" len="med"/>
                    </a:lnT>
                    <a:lnB w="6350" cap="flat" cmpd="sng" algn="ctr">
                      <a:solidFill>
                        <a:srgbClr val="D1D5DB"/>
                      </a:solidFill>
                      <a:prstDash val="solid"/>
                      <a:round/>
                      <a:headEnd type="none" w="med" len="med"/>
                      <a:tailEnd type="none" w="med" len="med"/>
                    </a:lnB>
                    <a:solidFill>
                      <a:srgbClr val="F3F4F6"/>
                    </a:solidFill>
                  </a:tcPr>
                </a:tc>
                <a:tc>
                  <a:txBody>
                    <a:bodyPr/>
                    <a:lstStyle/>
                    <a:p>
                      <a:pPr indent="0" marL="0">
                        <a:buNone/>
                      </a:pPr>
                      <a:r>
                        <a:rPr lang="en-US" sz="1100" dirty="0">
                          <a:solidFill>
                            <a:srgbClr val="212121"/>
                          </a:solidFill>
                          <a:latin typeface="Calibri" pitchFamily="34" charset="0"/>
                          <a:ea typeface="Calibri" pitchFamily="34" charset="-122"/>
                          <a:cs typeface="Calibri" pitchFamily="34" charset="-120"/>
                        </a:rPr>
                        <a:t>Endpoint must be reachable</a:t>
                      </a:r>
                      <a:endParaRPr lang="en-US" sz="1100" dirty="0">
                        <a:latin typeface="Calibri" charset="0"/>
                        <a:ea typeface="Calibri" charset="0"/>
                        <a:cs typeface="Calibri" charset="0"/>
                      </a:endParaRPr>
                    </a:p>
                  </a:txBody>
                  <a:tcPr marL="54864" marR="54864" marT="54864" marB="54864" anchor="ctr">
                    <a:lnL w="6350" cap="flat" cmpd="sng" algn="ctr">
                      <a:solidFill>
                        <a:srgbClr val="D1D5DB"/>
                      </a:solidFill>
                      <a:prstDash val="solid"/>
                      <a:round/>
                      <a:headEnd type="none" w="med" len="med"/>
                      <a:tailEnd type="none" w="med" len="med"/>
                    </a:lnL>
                    <a:lnR w="6350" cap="flat" cmpd="sng" algn="ctr">
                      <a:solidFill>
                        <a:srgbClr val="D1D5DB"/>
                      </a:solidFill>
                      <a:prstDash val="solid"/>
                      <a:round/>
                      <a:headEnd type="none" w="med" len="med"/>
                      <a:tailEnd type="none" w="med" len="med"/>
                    </a:lnR>
                    <a:lnT w="6350" cap="flat" cmpd="sng" algn="ctr">
                      <a:solidFill>
                        <a:srgbClr val="D1D5DB"/>
                      </a:solidFill>
                      <a:prstDash val="solid"/>
                      <a:round/>
                      <a:headEnd type="none" w="med" len="med"/>
                      <a:tailEnd type="none" w="med" len="med"/>
                    </a:lnT>
                    <a:lnB w="6350" cap="flat" cmpd="sng" algn="ctr">
                      <a:solidFill>
                        <a:srgbClr val="D1D5DB"/>
                      </a:solidFill>
                      <a:prstDash val="solid"/>
                      <a:round/>
                      <a:headEnd type="none" w="med" len="med"/>
                      <a:tailEnd type="none" w="med" len="med"/>
                    </a:lnB>
                    <a:solidFill>
                      <a:srgbClr val="F3F4F6"/>
                    </a:solidFill>
                  </a:tcPr>
                </a:tc>
              </a:tr>
              <a:tr h="586740">
                <a:tc>
                  <a:txBody>
                    <a:bodyPr/>
                    <a:lstStyle/>
                    <a:p>
                      <a:pPr indent="0" marL="0">
                        <a:buNone/>
                      </a:pPr>
                      <a:r>
                        <a:rPr lang="en-US" sz="1100" dirty="0">
                          <a:solidFill>
                            <a:srgbClr val="212121"/>
                          </a:solidFill>
                          <a:latin typeface="Calibri" pitchFamily="34" charset="0"/>
                          <a:ea typeface="Calibri" pitchFamily="34" charset="-122"/>
                          <a:cs typeface="Calibri" pitchFamily="34" charset="-120"/>
                        </a:rPr>
                        <a:t>Operational burden</a:t>
                      </a:r>
                      <a:endParaRPr lang="en-US" sz="1100" dirty="0">
                        <a:latin typeface="Calibri" charset="0"/>
                        <a:ea typeface="Calibri" charset="0"/>
                        <a:cs typeface="Calibri" charset="0"/>
                      </a:endParaRPr>
                    </a:p>
                  </a:txBody>
                  <a:tcPr marL="54864" marR="54864" marT="54864" marB="54864" anchor="ctr">
                    <a:lnL w="6350" cap="flat" cmpd="sng" algn="ctr">
                      <a:solidFill>
                        <a:srgbClr val="D1D5DB"/>
                      </a:solidFill>
                      <a:prstDash val="solid"/>
                      <a:round/>
                      <a:headEnd type="none" w="med" len="med"/>
                      <a:tailEnd type="none" w="med" len="med"/>
                    </a:lnL>
                    <a:lnR w="6350" cap="flat" cmpd="sng" algn="ctr">
                      <a:solidFill>
                        <a:srgbClr val="D1D5DB"/>
                      </a:solidFill>
                      <a:prstDash val="solid"/>
                      <a:round/>
                      <a:headEnd type="none" w="med" len="med"/>
                      <a:tailEnd type="none" w="med" len="med"/>
                    </a:lnR>
                    <a:lnT w="6350" cap="flat" cmpd="sng" algn="ctr">
                      <a:solidFill>
                        <a:srgbClr val="D1D5DB"/>
                      </a:solidFill>
                      <a:prstDash val="solid"/>
                      <a:round/>
                      <a:headEnd type="none" w="med" len="med"/>
                      <a:tailEnd type="none" w="med" len="med"/>
                    </a:lnT>
                    <a:lnB w="6350" cap="flat" cmpd="sng" algn="ctr">
                      <a:solidFill>
                        <a:srgbClr val="D1D5DB"/>
                      </a:solidFill>
                      <a:prstDash val="solid"/>
                      <a:round/>
                      <a:headEnd type="none" w="med" len="med"/>
                      <a:tailEnd type="none" w="med" len="med"/>
                    </a:lnB>
                    <a:solidFill>
                      <a:srgbClr val="FFFFFF"/>
                    </a:solidFill>
                  </a:tcPr>
                </a:tc>
                <a:tc>
                  <a:txBody>
                    <a:bodyPr/>
                    <a:lstStyle/>
                    <a:p>
                      <a:pPr indent="0" marL="0">
                        <a:buNone/>
                      </a:pPr>
                      <a:r>
                        <a:rPr lang="en-US" sz="1100" dirty="0">
                          <a:solidFill>
                            <a:srgbClr val="212121"/>
                          </a:solidFill>
                          <a:latin typeface="Calibri" pitchFamily="34" charset="0"/>
                          <a:ea typeface="Calibri" pitchFamily="34" charset="-122"/>
                          <a:cs typeface="Calibri" pitchFamily="34" charset="-120"/>
                        </a:rPr>
                        <a:t>Higher</a:t>
                      </a:r>
                      <a:endParaRPr lang="en-US" sz="1100" dirty="0">
                        <a:latin typeface="Calibri" charset="0"/>
                        <a:ea typeface="Calibri" charset="0"/>
                        <a:cs typeface="Calibri" charset="0"/>
                      </a:endParaRPr>
                    </a:p>
                  </a:txBody>
                  <a:tcPr marL="54864" marR="54864" marT="54864" marB="54864" anchor="ctr">
                    <a:lnL w="6350" cap="flat" cmpd="sng" algn="ctr">
                      <a:solidFill>
                        <a:srgbClr val="D1D5DB"/>
                      </a:solidFill>
                      <a:prstDash val="solid"/>
                      <a:round/>
                      <a:headEnd type="none" w="med" len="med"/>
                      <a:tailEnd type="none" w="med" len="med"/>
                    </a:lnL>
                    <a:lnR w="6350" cap="flat" cmpd="sng" algn="ctr">
                      <a:solidFill>
                        <a:srgbClr val="D1D5DB"/>
                      </a:solidFill>
                      <a:prstDash val="solid"/>
                      <a:round/>
                      <a:headEnd type="none" w="med" len="med"/>
                      <a:tailEnd type="none" w="med" len="med"/>
                    </a:lnR>
                    <a:lnT w="6350" cap="flat" cmpd="sng" algn="ctr">
                      <a:solidFill>
                        <a:srgbClr val="D1D5DB"/>
                      </a:solidFill>
                      <a:prstDash val="solid"/>
                      <a:round/>
                      <a:headEnd type="none" w="med" len="med"/>
                      <a:tailEnd type="none" w="med" len="med"/>
                    </a:lnT>
                    <a:lnB w="6350" cap="flat" cmpd="sng" algn="ctr">
                      <a:solidFill>
                        <a:srgbClr val="D1D5DB"/>
                      </a:solidFill>
                      <a:prstDash val="solid"/>
                      <a:round/>
                      <a:headEnd type="none" w="med" len="med"/>
                      <a:tailEnd type="none" w="med" len="med"/>
                    </a:lnB>
                    <a:solidFill>
                      <a:srgbClr val="FFFFFF"/>
                    </a:solidFill>
                  </a:tcPr>
                </a:tc>
                <a:tc>
                  <a:txBody>
                    <a:bodyPr/>
                    <a:lstStyle/>
                    <a:p>
                      <a:pPr indent="0" marL="0">
                        <a:buNone/>
                      </a:pPr>
                      <a:r>
                        <a:rPr lang="en-US" sz="1100" dirty="0">
                          <a:solidFill>
                            <a:srgbClr val="212121"/>
                          </a:solidFill>
                          <a:latin typeface="Calibri" pitchFamily="34" charset="0"/>
                          <a:ea typeface="Calibri" pitchFamily="34" charset="-122"/>
                          <a:cs typeface="Calibri" pitchFamily="34" charset="-120"/>
                        </a:rPr>
                        <a:t>Lower</a:t>
                      </a:r>
                      <a:endParaRPr lang="en-US" sz="1100" dirty="0">
                        <a:latin typeface="Calibri" charset="0"/>
                        <a:ea typeface="Calibri" charset="0"/>
                        <a:cs typeface="Calibri" charset="0"/>
                      </a:endParaRPr>
                    </a:p>
                  </a:txBody>
                  <a:tcPr marL="54864" marR="54864" marT="54864" marB="54864" anchor="ctr">
                    <a:lnL w="6350" cap="flat" cmpd="sng" algn="ctr">
                      <a:solidFill>
                        <a:srgbClr val="D1D5DB"/>
                      </a:solidFill>
                      <a:prstDash val="solid"/>
                      <a:round/>
                      <a:headEnd type="none" w="med" len="med"/>
                      <a:tailEnd type="none" w="med" len="med"/>
                    </a:lnL>
                    <a:lnR w="6350" cap="flat" cmpd="sng" algn="ctr">
                      <a:solidFill>
                        <a:srgbClr val="D1D5DB"/>
                      </a:solidFill>
                      <a:prstDash val="solid"/>
                      <a:round/>
                      <a:headEnd type="none" w="med" len="med"/>
                      <a:tailEnd type="none" w="med" len="med"/>
                    </a:lnR>
                    <a:lnT w="6350" cap="flat" cmpd="sng" algn="ctr">
                      <a:solidFill>
                        <a:srgbClr val="D1D5DB"/>
                      </a:solidFill>
                      <a:prstDash val="solid"/>
                      <a:round/>
                      <a:headEnd type="none" w="med" len="med"/>
                      <a:tailEnd type="none" w="med" len="med"/>
                    </a:lnT>
                    <a:lnB w="6350" cap="flat" cmpd="sng" algn="ctr">
                      <a:solidFill>
                        <a:srgbClr val="D1D5DB"/>
                      </a:solidFill>
                      <a:prstDash val="solid"/>
                      <a:round/>
                      <a:headEnd type="none" w="med" len="med"/>
                      <a:tailEnd type="none" w="med" len="med"/>
                    </a:lnB>
                    <a:solidFill>
                      <a:srgbClr val="FFFFFF"/>
                    </a:solidFill>
                  </a:tcPr>
                </a:tc>
              </a:tr>
            </a:tbl>
          </a:graphicData>
        </a:graphic>
      </p:graphicFrame>
      <p:sp>
        <p:nvSpPr>
          <p:cNvPr id="6" name="Shape 3"/>
          <p:cNvSpPr/>
          <p:nvPr/>
        </p:nvSpPr>
        <p:spPr>
          <a:xfrm>
            <a:off x="365760" y="4773168"/>
            <a:ext cx="8412480" cy="0"/>
          </a:xfrm>
          <a:prstGeom prst="line">
            <a:avLst/>
          </a:prstGeom>
          <a:noFill/>
          <a:ln w="6350">
            <a:solidFill>
              <a:srgbClr val="D1D5DB"/>
            </a:solidFill>
            <a:prstDash val="solid"/>
          </a:ln>
        </p:spPr>
      </p:sp>
      <p:sp>
        <p:nvSpPr>
          <p:cNvPr id="7" name="Text 4"/>
          <p:cNvSpPr/>
          <p:nvPr/>
        </p:nvSpPr>
        <p:spPr>
          <a:xfrm>
            <a:off x="384048" y="4818888"/>
            <a:ext cx="8275320" cy="182880"/>
          </a:xfrm>
          <a:prstGeom prst="rect">
            <a:avLst/>
          </a:prstGeom>
          <a:noFill/>
          <a:ln/>
        </p:spPr>
        <p:txBody>
          <a:bodyPr wrap="square" lIns="0" tIns="0" rIns="0" bIns="0" rtlCol="0" anchor="ctr">
            <a:normAutofit/>
          </a:bodyPr>
          <a:lstStyle/>
          <a:p>
            <a:pPr indent="0" marL="0">
              <a:buNone/>
            </a:pPr>
            <a:r>
              <a:rPr lang="en-US" sz="820" dirty="0">
                <a:solidFill>
                  <a:srgbClr val="6B7280"/>
                </a:solidFill>
                <a:latin typeface="Calibri" pitchFamily="34" charset="0"/>
                <a:ea typeface="Calibri" pitchFamily="34" charset="-122"/>
                <a:cs typeface="Calibri" pitchFamily="34" charset="-120"/>
              </a:rPr>
              <a:t>Source: https://learn.microsoft.com/en-us/agent-framework/agents/tools/local-mcp-tools?tabs=python</a:t>
            </a:r>
            <a:endParaRPr lang="en-US" sz="820" dirty="0"/>
          </a:p>
        </p:txBody>
      </p:sp>
    </p:spTree>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name="Slide 16">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0" y="0"/>
            <a:ext cx="54864" cy="5143500"/>
          </a:xfrm>
          <a:prstGeom prst="rect">
            <a:avLst/>
          </a:prstGeom>
          <a:solidFill>
            <a:srgbClr val="1E2761"/>
          </a:solidFill>
          <a:ln/>
        </p:spPr>
      </p:sp>
      <p:sp>
        <p:nvSpPr>
          <p:cNvPr id="3" name="Text 1"/>
          <p:cNvSpPr/>
          <p:nvPr/>
        </p:nvSpPr>
        <p:spPr>
          <a:xfrm>
            <a:off x="5486400" y="256032"/>
            <a:ext cx="3337560" cy="228600"/>
          </a:xfrm>
          <a:prstGeom prst="rect">
            <a:avLst/>
          </a:prstGeom>
          <a:noFill/>
          <a:ln/>
        </p:spPr>
        <p:txBody>
          <a:bodyPr wrap="square" lIns="0" tIns="0" rIns="0" bIns="0" rtlCol="0" anchor="ctr">
            <a:normAutofit/>
          </a:bodyPr>
          <a:lstStyle/>
          <a:p>
            <a:pPr algn="r" indent="0" marL="0">
              <a:buNone/>
            </a:pPr>
            <a:r>
              <a:rPr lang="en-US" sz="950" dirty="0">
                <a:solidFill>
                  <a:srgbClr val="6B7280"/>
                </a:solidFill>
                <a:latin typeface="Calibri" pitchFamily="34" charset="0"/>
                <a:ea typeface="Calibri" pitchFamily="34" charset="-122"/>
                <a:cs typeface="Calibri" pitchFamily="34" charset="-120"/>
              </a:rPr>
              <a:t>Day 3 · Module 5</a:t>
            </a:r>
            <a:endParaRPr lang="en-US" sz="950" dirty="0"/>
          </a:p>
        </p:txBody>
      </p:sp>
      <p:sp>
        <p:nvSpPr>
          <p:cNvPr id="4" name="Text 2"/>
          <p:cNvSpPr/>
          <p:nvPr/>
        </p:nvSpPr>
        <p:spPr>
          <a:xfrm>
            <a:off x="365760" y="310896"/>
            <a:ext cx="6583680" cy="603504"/>
          </a:xfrm>
          <a:prstGeom prst="rect">
            <a:avLst/>
          </a:prstGeom>
          <a:noFill/>
          <a:ln/>
        </p:spPr>
        <p:txBody>
          <a:bodyPr wrap="square" lIns="0" tIns="0" rIns="0" bIns="0" rtlCol="0" anchor="ctr">
            <a:normAutofit/>
          </a:bodyPr>
          <a:lstStyle/>
          <a:p>
            <a:pPr indent="0" marL="0">
              <a:buNone/>
            </a:pPr>
            <a:r>
              <a:rPr lang="en-US" sz="2800" b="1" dirty="0">
                <a:solidFill>
                  <a:srgbClr val="1E2761"/>
                </a:solidFill>
                <a:latin typeface="Calibri" pitchFamily="34" charset="0"/>
                <a:ea typeface="Calibri" pitchFamily="34" charset="-122"/>
                <a:cs typeface="Calibri" pitchFamily="34" charset="-120"/>
              </a:rPr>
              <a:t>Takeaways</a:t>
            </a:r>
            <a:endParaRPr lang="en-US" sz="2800" dirty="0"/>
          </a:p>
        </p:txBody>
      </p:sp>
      <p:sp>
        <p:nvSpPr>
          <p:cNvPr id="5" name="Shape 3"/>
          <p:cNvSpPr/>
          <p:nvPr/>
        </p:nvSpPr>
        <p:spPr>
          <a:xfrm>
            <a:off x="502920" y="1097280"/>
            <a:ext cx="8138160" cy="585216"/>
          </a:xfrm>
          <a:prstGeom prst="roundRect">
            <a:avLst/>
          </a:prstGeom>
          <a:solidFill>
            <a:srgbClr val="F3F4F6"/>
          </a:solidFill>
          <a:ln w="6350">
            <a:solidFill>
              <a:srgbClr val="D1D5DB"/>
            </a:solidFill>
            <a:prstDash val="solid"/>
          </a:ln>
        </p:spPr>
      </p:sp>
      <p:sp>
        <p:nvSpPr>
          <p:cNvPr id="6" name="Shape 4"/>
          <p:cNvSpPr/>
          <p:nvPr/>
        </p:nvSpPr>
        <p:spPr>
          <a:xfrm>
            <a:off x="667512" y="1225296"/>
            <a:ext cx="256032" cy="256032"/>
          </a:xfrm>
          <a:prstGeom prst="ellipse">
            <a:avLst/>
          </a:prstGeom>
          <a:solidFill>
            <a:srgbClr val="1E2761"/>
          </a:solidFill>
          <a:ln/>
        </p:spPr>
      </p:sp>
      <p:sp>
        <p:nvSpPr>
          <p:cNvPr id="7" name="Text 5"/>
          <p:cNvSpPr/>
          <p:nvPr/>
        </p:nvSpPr>
        <p:spPr>
          <a:xfrm>
            <a:off x="667512" y="1252728"/>
            <a:ext cx="256032" cy="137160"/>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ea typeface="Calibri" pitchFamily="34" charset="-122"/>
                <a:cs typeface="Calibri" pitchFamily="34" charset="-120"/>
              </a:rPr>
              <a:t>✓</a:t>
            </a:r>
            <a:endParaRPr lang="en-US" sz="900" dirty="0"/>
          </a:p>
        </p:txBody>
      </p:sp>
      <p:sp>
        <p:nvSpPr>
          <p:cNvPr id="8" name="Text 6"/>
          <p:cNvSpPr/>
          <p:nvPr/>
        </p:nvSpPr>
        <p:spPr>
          <a:xfrm>
            <a:off x="1042416" y="1207008"/>
            <a:ext cx="7315200" cy="402336"/>
          </a:xfrm>
          <a:prstGeom prst="rect">
            <a:avLst/>
          </a:prstGeom>
          <a:noFill/>
          <a:ln/>
        </p:spPr>
        <p:txBody>
          <a:bodyPr wrap="square" lIns="0" tIns="0" rIns="0" bIns="0" rtlCol="0" anchor="ctr">
            <a:normAutofit/>
          </a:bodyPr>
          <a:lstStyle/>
          <a:p>
            <a:pPr indent="0" marL="0">
              <a:buNone/>
            </a:pPr>
            <a:r>
              <a:rPr lang="en-US" sz="1300" dirty="0">
                <a:solidFill>
                  <a:srgbClr val="212121"/>
                </a:solidFill>
                <a:latin typeface="Calibri" pitchFamily="34" charset="0"/>
                <a:ea typeface="Calibri" pitchFamily="34" charset="-122"/>
                <a:cs typeface="Calibri" pitchFamily="34" charset="-120"/>
              </a:rPr>
              <a:t>You let the server transport determine the MAF MCP class.</a:t>
            </a:r>
            <a:endParaRPr lang="en-US" sz="1300" dirty="0"/>
          </a:p>
        </p:txBody>
      </p:sp>
      <p:sp>
        <p:nvSpPr>
          <p:cNvPr id="9" name="Shape 7"/>
          <p:cNvSpPr/>
          <p:nvPr/>
        </p:nvSpPr>
        <p:spPr>
          <a:xfrm>
            <a:off x="502920" y="1755648"/>
            <a:ext cx="8138160" cy="585216"/>
          </a:xfrm>
          <a:prstGeom prst="roundRect">
            <a:avLst/>
          </a:prstGeom>
          <a:solidFill>
            <a:srgbClr val="F3F4F6"/>
          </a:solidFill>
          <a:ln w="6350">
            <a:solidFill>
              <a:srgbClr val="D1D5DB"/>
            </a:solidFill>
            <a:prstDash val="solid"/>
          </a:ln>
        </p:spPr>
      </p:sp>
      <p:sp>
        <p:nvSpPr>
          <p:cNvPr id="10" name="Shape 8"/>
          <p:cNvSpPr/>
          <p:nvPr/>
        </p:nvSpPr>
        <p:spPr>
          <a:xfrm>
            <a:off x="667512" y="1883664"/>
            <a:ext cx="256032" cy="256032"/>
          </a:xfrm>
          <a:prstGeom prst="ellipse">
            <a:avLst/>
          </a:prstGeom>
          <a:solidFill>
            <a:srgbClr val="1E2761"/>
          </a:solidFill>
          <a:ln/>
        </p:spPr>
      </p:sp>
      <p:sp>
        <p:nvSpPr>
          <p:cNvPr id="11" name="Text 9"/>
          <p:cNvSpPr/>
          <p:nvPr/>
        </p:nvSpPr>
        <p:spPr>
          <a:xfrm>
            <a:off x="667512" y="1911096"/>
            <a:ext cx="256032" cy="137160"/>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ea typeface="Calibri" pitchFamily="34" charset="-122"/>
                <a:cs typeface="Calibri" pitchFamily="34" charset="-120"/>
              </a:rPr>
              <a:t>✓</a:t>
            </a:r>
            <a:endParaRPr lang="en-US" sz="900" dirty="0"/>
          </a:p>
        </p:txBody>
      </p:sp>
      <p:sp>
        <p:nvSpPr>
          <p:cNvPr id="12" name="Text 10"/>
          <p:cNvSpPr/>
          <p:nvPr/>
        </p:nvSpPr>
        <p:spPr>
          <a:xfrm>
            <a:off x="1042416" y="1865376"/>
            <a:ext cx="7315200" cy="402336"/>
          </a:xfrm>
          <a:prstGeom prst="rect">
            <a:avLst/>
          </a:prstGeom>
          <a:noFill/>
          <a:ln/>
        </p:spPr>
        <p:txBody>
          <a:bodyPr wrap="square" lIns="0" tIns="0" rIns="0" bIns="0" rtlCol="0" anchor="ctr">
            <a:normAutofit/>
          </a:bodyPr>
          <a:lstStyle/>
          <a:p>
            <a:pPr indent="0" marL="0">
              <a:buNone/>
            </a:pPr>
            <a:r>
              <a:rPr lang="en-US" sz="1300" dirty="0">
                <a:solidFill>
                  <a:srgbClr val="212121"/>
                </a:solidFill>
                <a:latin typeface="Calibri" pitchFamily="34" charset="0"/>
                <a:ea typeface="Calibri" pitchFamily="34" charset="-122"/>
                <a:cs typeface="Calibri" pitchFamily="34" charset="-120"/>
              </a:rPr>
              <a:t>You constrain discovery with an explicit allow-list.</a:t>
            </a:r>
            <a:endParaRPr lang="en-US" sz="1300" dirty="0"/>
          </a:p>
        </p:txBody>
      </p:sp>
      <p:sp>
        <p:nvSpPr>
          <p:cNvPr id="13" name="Shape 11"/>
          <p:cNvSpPr/>
          <p:nvPr/>
        </p:nvSpPr>
        <p:spPr>
          <a:xfrm>
            <a:off x="502920" y="2414016"/>
            <a:ext cx="8138160" cy="585216"/>
          </a:xfrm>
          <a:prstGeom prst="roundRect">
            <a:avLst/>
          </a:prstGeom>
          <a:solidFill>
            <a:srgbClr val="F3F4F6"/>
          </a:solidFill>
          <a:ln w="6350">
            <a:solidFill>
              <a:srgbClr val="D1D5DB"/>
            </a:solidFill>
            <a:prstDash val="solid"/>
          </a:ln>
        </p:spPr>
      </p:sp>
      <p:sp>
        <p:nvSpPr>
          <p:cNvPr id="14" name="Shape 12"/>
          <p:cNvSpPr/>
          <p:nvPr/>
        </p:nvSpPr>
        <p:spPr>
          <a:xfrm>
            <a:off x="667512" y="2542032"/>
            <a:ext cx="256032" cy="256032"/>
          </a:xfrm>
          <a:prstGeom prst="ellipse">
            <a:avLst/>
          </a:prstGeom>
          <a:solidFill>
            <a:srgbClr val="1E2761"/>
          </a:solidFill>
          <a:ln/>
        </p:spPr>
      </p:sp>
      <p:sp>
        <p:nvSpPr>
          <p:cNvPr id="15" name="Text 13"/>
          <p:cNvSpPr/>
          <p:nvPr/>
        </p:nvSpPr>
        <p:spPr>
          <a:xfrm>
            <a:off x="667512" y="2569464"/>
            <a:ext cx="256032" cy="137160"/>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ea typeface="Calibri" pitchFamily="34" charset="-122"/>
                <a:cs typeface="Calibri" pitchFamily="34" charset="-120"/>
              </a:rPr>
              <a:t>✓</a:t>
            </a:r>
            <a:endParaRPr lang="en-US" sz="900" dirty="0"/>
          </a:p>
        </p:txBody>
      </p:sp>
      <p:sp>
        <p:nvSpPr>
          <p:cNvPr id="16" name="Text 14"/>
          <p:cNvSpPr/>
          <p:nvPr/>
        </p:nvSpPr>
        <p:spPr>
          <a:xfrm>
            <a:off x="1042416" y="2523744"/>
            <a:ext cx="7315200" cy="402336"/>
          </a:xfrm>
          <a:prstGeom prst="rect">
            <a:avLst/>
          </a:prstGeom>
          <a:noFill/>
          <a:ln/>
        </p:spPr>
        <p:txBody>
          <a:bodyPr wrap="square" lIns="0" tIns="0" rIns="0" bIns="0" rtlCol="0" anchor="ctr">
            <a:normAutofit/>
          </a:bodyPr>
          <a:lstStyle/>
          <a:p>
            <a:pPr indent="0" marL="0">
              <a:buNone/>
            </a:pPr>
            <a:r>
              <a:rPr lang="en-US" sz="1300" dirty="0">
                <a:solidFill>
                  <a:srgbClr val="212121"/>
                </a:solidFill>
                <a:latin typeface="Calibri" pitchFamily="34" charset="0"/>
                <a:ea typeface="Calibri" pitchFamily="34" charset="-122"/>
                <a:cs typeface="Calibri" pitchFamily="34" charset="-120"/>
              </a:rPr>
              <a:t>You design header_provider for both tool-call and ambient requests.</a:t>
            </a:r>
            <a:endParaRPr lang="en-US" sz="1300" dirty="0"/>
          </a:p>
        </p:txBody>
      </p:sp>
      <p:sp>
        <p:nvSpPr>
          <p:cNvPr id="17" name="Shape 15"/>
          <p:cNvSpPr/>
          <p:nvPr/>
        </p:nvSpPr>
        <p:spPr>
          <a:xfrm>
            <a:off x="502920" y="3072384"/>
            <a:ext cx="8138160" cy="585216"/>
          </a:xfrm>
          <a:prstGeom prst="roundRect">
            <a:avLst/>
          </a:prstGeom>
          <a:solidFill>
            <a:srgbClr val="F3F4F6"/>
          </a:solidFill>
          <a:ln w="6350">
            <a:solidFill>
              <a:srgbClr val="D1D5DB"/>
            </a:solidFill>
            <a:prstDash val="solid"/>
          </a:ln>
        </p:spPr>
      </p:sp>
      <p:sp>
        <p:nvSpPr>
          <p:cNvPr id="18" name="Shape 16"/>
          <p:cNvSpPr/>
          <p:nvPr/>
        </p:nvSpPr>
        <p:spPr>
          <a:xfrm>
            <a:off x="667512" y="3200400"/>
            <a:ext cx="256032" cy="256032"/>
          </a:xfrm>
          <a:prstGeom prst="ellipse">
            <a:avLst/>
          </a:prstGeom>
          <a:solidFill>
            <a:srgbClr val="1E2761"/>
          </a:solidFill>
          <a:ln/>
        </p:spPr>
      </p:sp>
      <p:sp>
        <p:nvSpPr>
          <p:cNvPr id="19" name="Text 17"/>
          <p:cNvSpPr/>
          <p:nvPr/>
        </p:nvSpPr>
        <p:spPr>
          <a:xfrm>
            <a:off x="667512" y="3227832"/>
            <a:ext cx="256032" cy="137160"/>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ea typeface="Calibri" pitchFamily="34" charset="-122"/>
                <a:cs typeface="Calibri" pitchFamily="34" charset="-120"/>
              </a:rPr>
              <a:t>✓</a:t>
            </a:r>
            <a:endParaRPr lang="en-US" sz="900" dirty="0"/>
          </a:p>
        </p:txBody>
      </p:sp>
      <p:sp>
        <p:nvSpPr>
          <p:cNvPr id="20" name="Text 18"/>
          <p:cNvSpPr/>
          <p:nvPr/>
        </p:nvSpPr>
        <p:spPr>
          <a:xfrm>
            <a:off x="1042416" y="3182112"/>
            <a:ext cx="7315200" cy="402336"/>
          </a:xfrm>
          <a:prstGeom prst="rect">
            <a:avLst/>
          </a:prstGeom>
          <a:noFill/>
          <a:ln/>
        </p:spPr>
        <p:txBody>
          <a:bodyPr wrap="square" lIns="0" tIns="0" rIns="0" bIns="0" rtlCol="0" anchor="ctr">
            <a:normAutofit/>
          </a:bodyPr>
          <a:lstStyle/>
          <a:p>
            <a:pPr indent="0" marL="0">
              <a:buNone/>
            </a:pPr>
            <a:r>
              <a:rPr lang="en-US" sz="1300" dirty="0">
                <a:solidFill>
                  <a:srgbClr val="212121"/>
                </a:solidFill>
                <a:latin typeface="Calibri" pitchFamily="34" charset="0"/>
                <a:ea typeface="Calibri" pitchFamily="34" charset="-122"/>
                <a:cs typeface="Calibri" pitchFamily="34" charset="-120"/>
              </a:rPr>
              <a:t>You require approval for risky operations and inspect arguments.</a:t>
            </a:r>
            <a:endParaRPr lang="en-US" sz="1300" dirty="0"/>
          </a:p>
        </p:txBody>
      </p:sp>
      <p:sp>
        <p:nvSpPr>
          <p:cNvPr id="21" name="Shape 19"/>
          <p:cNvSpPr/>
          <p:nvPr/>
        </p:nvSpPr>
        <p:spPr>
          <a:xfrm>
            <a:off x="502920" y="3730752"/>
            <a:ext cx="8138160" cy="585216"/>
          </a:xfrm>
          <a:prstGeom prst="roundRect">
            <a:avLst/>
          </a:prstGeom>
          <a:solidFill>
            <a:srgbClr val="F3F4F6"/>
          </a:solidFill>
          <a:ln w="6350">
            <a:solidFill>
              <a:srgbClr val="D1D5DB"/>
            </a:solidFill>
            <a:prstDash val="solid"/>
          </a:ln>
        </p:spPr>
      </p:sp>
      <p:sp>
        <p:nvSpPr>
          <p:cNvPr id="22" name="Shape 20"/>
          <p:cNvSpPr/>
          <p:nvPr/>
        </p:nvSpPr>
        <p:spPr>
          <a:xfrm>
            <a:off x="667512" y="3858768"/>
            <a:ext cx="256032" cy="256032"/>
          </a:xfrm>
          <a:prstGeom prst="ellipse">
            <a:avLst/>
          </a:prstGeom>
          <a:solidFill>
            <a:srgbClr val="1E2761"/>
          </a:solidFill>
          <a:ln/>
        </p:spPr>
      </p:sp>
      <p:sp>
        <p:nvSpPr>
          <p:cNvPr id="23" name="Text 21"/>
          <p:cNvSpPr/>
          <p:nvPr/>
        </p:nvSpPr>
        <p:spPr>
          <a:xfrm>
            <a:off x="667512" y="3886200"/>
            <a:ext cx="256032" cy="137160"/>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ea typeface="Calibri" pitchFamily="34" charset="-122"/>
                <a:cs typeface="Calibri" pitchFamily="34" charset="-120"/>
              </a:rPr>
              <a:t>✓</a:t>
            </a:r>
            <a:endParaRPr lang="en-US" sz="900" dirty="0"/>
          </a:p>
        </p:txBody>
      </p:sp>
      <p:sp>
        <p:nvSpPr>
          <p:cNvPr id="24" name="Text 22"/>
          <p:cNvSpPr/>
          <p:nvPr/>
        </p:nvSpPr>
        <p:spPr>
          <a:xfrm>
            <a:off x="1042416" y="3840480"/>
            <a:ext cx="7315200" cy="402336"/>
          </a:xfrm>
          <a:prstGeom prst="rect">
            <a:avLst/>
          </a:prstGeom>
          <a:noFill/>
          <a:ln/>
        </p:spPr>
        <p:txBody>
          <a:bodyPr wrap="square" lIns="0" tIns="0" rIns="0" bIns="0" rtlCol="0" anchor="ctr">
            <a:normAutofit/>
          </a:bodyPr>
          <a:lstStyle/>
          <a:p>
            <a:pPr indent="0" marL="0">
              <a:buNone/>
            </a:pPr>
            <a:r>
              <a:rPr lang="en-US" sz="1300" dirty="0">
                <a:solidFill>
                  <a:srgbClr val="212121"/>
                </a:solidFill>
                <a:latin typeface="Calibri" pitchFamily="34" charset="0"/>
                <a:ea typeface="Calibri" pitchFamily="34" charset="-122"/>
                <a:cs typeface="Calibri" pitchFamily="34" charset="-120"/>
              </a:rPr>
              <a:t>You use async context managers to clean up every connection.</a:t>
            </a:r>
            <a:endParaRPr lang="en-US" sz="1300" dirty="0"/>
          </a:p>
        </p:txBody>
      </p:sp>
      <p:sp>
        <p:nvSpPr>
          <p:cNvPr id="25" name="Shape 23"/>
          <p:cNvSpPr/>
          <p:nvPr/>
        </p:nvSpPr>
        <p:spPr>
          <a:xfrm>
            <a:off x="365760" y="4773168"/>
            <a:ext cx="8412480" cy="0"/>
          </a:xfrm>
          <a:prstGeom prst="line">
            <a:avLst/>
          </a:prstGeom>
          <a:noFill/>
          <a:ln w="6350">
            <a:solidFill>
              <a:srgbClr val="D1D5DB"/>
            </a:solidFill>
            <a:prstDash val="solid"/>
          </a:ln>
        </p:spPr>
      </p:sp>
      <p:sp>
        <p:nvSpPr>
          <p:cNvPr id="26" name="Text 24"/>
          <p:cNvSpPr/>
          <p:nvPr/>
        </p:nvSpPr>
        <p:spPr>
          <a:xfrm>
            <a:off x="384048" y="4818888"/>
            <a:ext cx="8275320" cy="182880"/>
          </a:xfrm>
          <a:prstGeom prst="rect">
            <a:avLst/>
          </a:prstGeom>
          <a:noFill/>
          <a:ln/>
        </p:spPr>
        <p:txBody>
          <a:bodyPr wrap="square" lIns="0" tIns="0" rIns="0" bIns="0" rtlCol="0" anchor="ctr">
            <a:normAutofit/>
          </a:bodyPr>
          <a:lstStyle/>
          <a:p>
            <a:pPr indent="0" marL="0">
              <a:buNone/>
            </a:pPr>
            <a:r>
              <a:rPr lang="en-US" sz="820" dirty="0">
                <a:solidFill>
                  <a:srgbClr val="6B7280"/>
                </a:solidFill>
                <a:latin typeface="Calibri" pitchFamily="34" charset="0"/>
                <a:ea typeface="Calibri" pitchFamily="34" charset="-122"/>
                <a:cs typeface="Calibri" pitchFamily="34" charset="-120"/>
              </a:rPr>
              <a:t>Source: https://learn.microsoft.com/en-us/agent-framework/agents/tools/local-mcp-tools?tabs=python</a:t>
            </a:r>
            <a:endParaRPr lang="en-US" sz="820" dirty="0"/>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0</TotalTime>
  <Words>0</Words>
  <Application>Microsoft Office PowerPoint</Application>
  <PresentationFormat>On-screen Show (16:9)</PresentationFormat>
  <Paragraphs>0</Paragraphs>
  <Slides>16</Slides>
  <Notes>16</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16</vt:i4>
      </vt:variant>
    </vt:vector>
  </HeadingPairs>
  <TitlesOfParts>
    <vt:vector size="19" baseType="lpstr">
      <vt:lpstr>Arial</vt:lpstr>
      <vt:lpstr>Calibri</vt:lpstr>
      <vt:lpstr>Office Theme</vt:lpstr>
      <vt:lpstr>Slide 1</vt:lpstr>
      <vt:lpstr>Slide 2</vt:lpstr>
      <vt:lpstr>Slide 3</vt:lpstr>
      <vt:lpstr>Slide 4</vt:lpstr>
      <vt:lpstr>Slide 5</vt:lpstr>
      <vt:lpstr>Slide 6</vt:lpstr>
      <vt:lpstr>Slide 7</vt:lpstr>
      <vt:lpstr>Slide 8</vt:lpstr>
      <vt:lpstr>Slide 9</vt:lpstr>
      <vt:lpstr>Slide 10</vt:lpstr>
      <vt:lpstr>Slide 11</vt:lpstr>
      <vt:lpstr>Slide 12</vt:lpstr>
      <vt:lpstr>Slide 13</vt:lpstr>
      <vt:lpstr>Slide 14</vt:lpstr>
      <vt:lpstr>Slide 15</vt:lpstr>
      <vt:lpstr>Slide 16</vt:lpstr>
    </vt:vector>
  </TitlesOfParts>
  <Company>Building AI Apps and Agents Workshop</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MCP with Agent Framework</dc:title>
  <dc:subject>Day 3 — Single-Agent Runtime + MCP</dc:subject>
  <dc:creator>Building AI Apps and Agents Workshop</dc:creator>
  <cp:lastModifiedBy>Building AI Apps and Agents Workshop</cp:lastModifiedBy>
  <cp:revision>1</cp:revision>
  <dcterms:created xsi:type="dcterms:W3CDTF">2026-08-29T22:37:37Z</dcterms:created>
  <dcterms:modified xsi:type="dcterms:W3CDTF">2026-08-29T22:37:37Z</dcterms:modified>
</cp:coreProperties>
</file>