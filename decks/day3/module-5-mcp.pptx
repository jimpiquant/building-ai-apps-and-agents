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MCP standardizes how an application discovers and invokes tools exposed by a server. Keep the focus on the MAF client boundary, not undocumented wire-level protocol details.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"Base Protocol" section and its Utilities sub-pages (ping, cancellation, progress). All implementations MUST support Messages and Lifecycle; Authorization and the individual Utilities are optional. This is the layer MAF's MCP tools sit on top of — worth grounding once so later slides about tool calls make sense in context.
• GROUNDING SOURCE: https://modelcontextprotocol.io/specification/2025-06-18/basic
• GROUNDING SOURCE: https://modelcontextprotocol.io/specification/2025-06-18/basic/lifecycle
• GROUNDING SOURCE: https://modelcontextprotocol.io/specification/2025-06-18/basic/transports
• GROUNDING SOURCE: https://modelcontextprotocol.io/specification/2025-06-18/basic/authorization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"Client Features" section. These are capabilities a client (the MAF MCP tool, in our case) may optionally offer back to servers — all three require the client to declare the matching capability during initialization, and all three keep a human in the loop by design (the spec is explicit about this for sampling and elicitation).
• GROUNDING SOURCE: https://modelcontextprotocol.io/specification/2025-06-18/client/roots
• GROUNDING SOURCE: https://modelcontextprotocol.io/specification/2025-06-18/client/sampling
• GROUNDING SOURCE: https://modelcontextprotocol.io/specification/2025-06-18/client/elicitation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"Server Features" section and its Utilities sub-pages (completion, logging, pagination). Tools is the one this module focuses on end to end; Resources and Prompts are the other two things a server can expose, each with a different user-interaction model (application-driven vs. user-invoked).
• GROUNDING SOURCE: https://modelcontextprotocol.io/specification/2025-06-18/server/tools
• GROUNDING SOURCE: https://modelcontextprotocol.io/specification/2025-06-18/server/resources
• GROUNDING SOURCE: https://modelcontextprotocol.io/specification/2025-06-18/server/prompts
• GROUNDING SOURCE: https://modelcontextprotocol.io/specification/2025-06-18/server/utilities/logging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MCP specification's own sequence diagram for the tools message flow, reproduced verbatim (not redrawn) from the Tools page at modelcontextprotocol.io. The MAF MCP tool plays the "Client" role. Note this diagram starts at Discovery — the earlier connection-level handshake (capability negotiation) is defined separately on the spec's Lifecycle page and isn't shown here.
• GROUNDING SOURCE: https://modelcontextprotocol.io/specification/2025-06-18/server/tools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three documented Python classes. WebSocket support requires the mcp[ws] optional package. Transport choice follows the server; it is not an application preference you can swap unilaterally.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only commands and packages you have reviewed and pinned. The official pattern uses an async context manager so the local process and connection are closed.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MCPStdioTool + mcp-server-calculator pattern live; no matching sample file exists in the repo's 02-agents/mcp folder, so this demo is grounded directly in the Learn doc's own documented code.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documented FoundryChatClient sample uses MCPStreamableHTTPTool for a remote endpoint. Do not put tokens in slide code or source control; use a provider that acquires or refreshes credentials.
• GROUNDING SOURCE: https://learn.microsoft.com/en-us/agent-framework/agents/tools/local-mcp-tools?tabs=python
• GROUNDING SOURCE: https://learn.microsoft.com/en-us/python/api/agent-framework-core/agent_framework.mcpstreamablehttptool?view=agent-framework-python-latest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During a tool call, header_provider receives function_invocation_kwargs. Ambient requests such as initialization, discovery, and pings receive an empty dictionary. Therefore connection-time auth cannot depend only on a per-run value.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allowed_tools is a documented MCP constructor option. Progressive exposure is a separate experimental Python function-loop feature, not an MCP transport feature. Use it only if you need staged discovery and accept its experimental status.
• GROUNDING SOURCE: https://learn.microsoft.com/en-us/python/api/agent-framework-core/agent_framework.mcpstreamablehttptool?view=agent-framework-python-latest
• GROUNDING SOURCE: https://learn.microsoft.com/en-us/agent-framework/agents/tools/controlling-tool-availability?tabs=python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approval_mode can require approval for all tools, waive it for all tools, or apply a per-tool mapping on the MCP tool. A run that needs approval returns a user-input request; the application displays the name and arguments and resumes with the decision.
• GROUNDING SOURCE: https://learn.microsoft.com/en-us/python/api/agent-framework-core/agent_framework.mcpstreamablehttptool?view=agent-framework-python-latest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Adapts the approval pause/resume mechanic from function_tool_with_approval.py onto an MCP tool's approval_mode constructor option; no MCP-specific approval sample exists in the repo yet, so the API reference is the primary grounding source for the MCP-side wiring.
• GROUNDING SOURCE: https://learn.microsoft.com/en-us/python/api/agent-framework-core/agent_framework.mcpstreamablehttptool?view=agent-framework-python-latest
• GROUNDING SOURCE: https://github.com/microsoft/agent-framework/blob/main/python/samples/02-agents/tools/function_tool_with_approval.py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Treat remote tool descriptions, annotations, and results as untrusted input. Review the operator, data sharing, retention, costs, and permissions. Prefer first-party hosted servers over proxies when available.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Choose remote when a trusted service hosts and updates the endpoint. Choose local when the server is local-only or the client cannot complete remote authentication. Local means you own package and process security.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Transition to the official Azure DevOps remote server. It is a strong example of remote-first hosting, Entra authentication, server-side filtering, and distinct read/write tools.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5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MCP with Agent Framework</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Discover and invoke external tools through a controlled client boundary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Base Protocol</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Messages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JSON-RPC 2.0 requests, responses, and notifications are the only message shapes the protocol defines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Lifecycle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The initialize → initialized handshake negotiates protocol version and capabilities before normal operation begins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Transports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stdio (client launches the server as a subprocess) and Streamable HTTP (with optional SSE) are the two standard transports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Optional OAuth 2.1-based framework for HTTP transports; stdio implementations use environment credentials instead</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Ping (liveness check), Cancellation (notifications/cancelled), and Progress (progressToken updates) support long-running or unreliable connections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https://modelcontextprotocol.io/specification/2025-06-18/basic  ·  +3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Client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Roots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query which filesystem/URI boundaries a client exposes, so they know where they're allowed to operate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Sampling</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request an LLM completion through the client, keeping model access, prompt content, and approval under client control</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Elicitation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ask the user for additional structured input mid-interaction, validated against a JSON schema</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https://modelcontextprotocol.io/specification/2025-06-18/client/roots  ·  +2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Server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Tools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Model-callable functions that let an agent perform actions or invoke external systems — the loop covered next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Resources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Context and data (files, schemas, app-specific info) a user or model can bring into the conversation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Prompts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Reusable, user-triggered templates and workflows a server exposes, e.g. as slash commands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Completion (argument autocomplete), Logging (structured log levels), and Pagination (cursor-based paging for large list results)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  ·  +3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Tool Message Flow</a:t>
            </a:r>
            <a:endParaRPr lang="en-US" sz="2800" dirty="0"/>
          </a:p>
        </p:txBody>
      </p:sp>
      <p:pic>
        <p:nvPicPr>
          <p:cNvPr id="5" name="Image 0" descr="[object Object]">    </p:cNvPr>
          <p:cNvPicPr>
            <a:picLocks noChangeAspect="1"/>
          </p:cNvPicPr>
          <p:nvPr/>
        </p:nvPicPr>
        <p:blipFill>
          <a:blip r:embed="rId1"/>
          <a:stretch>
            <a:fillRect/>
          </a:stretch>
        </p:blipFill>
        <p:spPr>
          <a:xfrm>
            <a:off x="3025729" y="1078992"/>
            <a:ext cx="3092542" cy="3630168"/>
          </a:xfrm>
          <a:prstGeom prst="rect">
            <a:avLst/>
          </a:prstGeom>
        </p:spPr>
      </p:pic>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Pick the transport that matches the server</a:t>
            </a:r>
            <a:endParaRPr lang="en-US" sz="2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MAF type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Connection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 when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MCPStdioTool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child process over stdin/stdout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launch and trust a local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MCPStreamableHTTPTool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Remote HTTP with streamable responses/SSE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 hosted endpoint exposes MCP over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MCPWebsocketTool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WebSocket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The server explicitly provides a WebSocket endpoint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Local stdio is a child-process boundary</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MCPStdioTool(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command=</a:t>
            </a:r>
            <a:pPr indent="0" marL="0">
              <a:buNone/>
            </a:pPr>
            <a:r>
              <a:rPr lang="en-US" sz="1280" dirty="0">
                <a:solidFill>
                  <a:srgbClr val="E4C98A"/>
                </a:solidFill>
                <a:latin typeface="Consolas" pitchFamily="34" charset="0"/>
                <a:ea typeface="Consolas" pitchFamily="34" charset="-122"/>
                <a:cs typeface="Consolas" pitchFamily="34" charset="-120"/>
              </a:rPr>
              <a:t>"uvx"</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args=[</a:t>
            </a:r>
            <a:pPr indent="0" marL="0">
              <a:buNone/>
            </a:pPr>
            <a:r>
              <a:rPr lang="en-US" sz="1280" dirty="0">
                <a:solidFill>
                  <a:srgbClr val="E4C98A"/>
                </a:solidFill>
                <a:latin typeface="Consolas" pitchFamily="34" charset="0"/>
                <a:ea typeface="Consolas" pitchFamily="34" charset="-122"/>
                <a:cs typeface="Consolas" pitchFamily="34" charset="-120"/>
              </a:rPr>
              <a:t>"mcp-server-calculator"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"Calculate the total."</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Local stdio MCP tool call, end to end</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code live: connect to a local mcp-server-calculator child process, watch the agent discover and invoke a tool through it, and close the connection — client/server loop end to end.</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demos/day3/module-5-demo-1-stdio-mcp.md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HTTP belongs behind explicit auth</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MCPStreamableHTTPTool(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"docs"</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url=</a:t>
            </a:r>
            <a:pPr indent="0" marL="0">
              <a:buNone/>
            </a:pPr>
            <a:r>
              <a:rPr lang="en-US" sz="1280" dirty="0">
                <a:solidFill>
                  <a:srgbClr val="E4C98A"/>
                </a:solidFill>
                <a:latin typeface="Consolas" pitchFamily="34" charset="0"/>
                <a:ea typeface="Consolas" pitchFamily="34" charset="-122"/>
                <a:cs typeface="Consolas" pitchFamily="34" charset="-120"/>
              </a:rPr>
              <a:t>"https://learn.microsoft.com/api/mcp"</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allowed_tools=[</a:t>
            </a:r>
            <a:pPr indent="0" marL="0">
              <a:buNone/>
            </a:pPr>
            <a:r>
              <a:rPr lang="en-US" sz="1280" dirty="0">
                <a:solidFill>
                  <a:srgbClr val="E4C98A"/>
                </a:solidFill>
                <a:latin typeface="Consolas" pitchFamily="34" charset="0"/>
                <a:ea typeface="Consolas" pitchFamily="34" charset="-122"/>
                <a:cs typeface="Consolas" pitchFamily="34" charset="-120"/>
              </a:rPr>
              <a:t>"microsoft_docs_search"</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"Find the current guidance."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header_provider has two call shapes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Tool-call request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function_invocation_kwargs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Can derive request-scoped headers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Keep secrets outside model-visible arguments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Ambient request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Includes initialization, discovery, and pings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Provider must still acquire required connection auth</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Reduce the model's tool surface</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allowed_tools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Expose an explicit MCP allow-list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Clear names</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Avoid collisions by selecting or wrapping distinct tool names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Progressive exposure — EXPERIMENTAL</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tools for the next loop iteration only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Reset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Progressive tool changes re-arm on each new agent run</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approval_mode creates a human boundary</a:t>
            </a:r>
            <a:endParaRPr lang="en-US" sz="2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Appropriate use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always_require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exposed MCP tool needs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Unknown or high-risk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never_require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Calls proceed without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low-risk read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Per-tool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Different rules by tool name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 automatically; review writes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approval_mode pauses a write tool for review</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Set approval_mode="always_require" on the MCP tool and run a request that needs it: the run pauses with a user-input request naming the tool and arguments, and only resumes after an explicit approval decision — the same pause/resume mechanic the official function-tool sample demonstrates, wired onto an MCP tool.</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demos/day3/module-5-demo-2-approval-mode.md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Security is broader than authentication</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Trust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Review the server operator and package provenance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Narrow identity scopes and allowed_tools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Prompt injection</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Treat tool metadata and results as untrusted</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Log selected tool, arguments, approval, result status, and caller</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Local or remote?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local 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remote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Who hosts 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process or workstation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service provider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pin and manage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Provider manages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environment / server mechanism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Headers or service identity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Network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 remote endpoint required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Endpoint must be reachable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Operational burden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Higher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Lower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let the server transport determine the MAF MCP class.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constrain discovery with an explicit allow-list.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design header_provider for both tool-call and ambient requests.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require approval for risky operations and inspect arguments.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async context managers to clean up every connection.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with Agent Framework</dc:title>
  <dc:subject>Day 3 — Single-Agent Runtime + MCP</dc:subject>
  <dc:creator>Building AI Apps and Agents Workshop</dc:creator>
  <cp:lastModifiedBy>Building AI Apps and Agents Workshop</cp:lastModifiedBy>
  <cp:revision>1</cp:revision>
  <dcterms:created xsi:type="dcterms:W3CDTF">2026-08-29T18:47:06Z</dcterms:created>
  <dcterms:modified xsi:type="dcterms:W3CDTF">2026-08-29T18:47:06Z</dcterms:modified>
</cp:coreProperties>
</file>