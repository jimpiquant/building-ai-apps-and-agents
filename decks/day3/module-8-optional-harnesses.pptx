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Say that this module is optional and outside the 210-minute core. Learners already know the primitives; this compares an opinionated composition helper with a separate GitHub Copilot-backed Agent Framework integration.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value is recognition, not a new required architecture. Learners can now identify the sessions, context providers, middleware, approvals, and evaluation decisions the harness composes.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Harness composes existing Agent Framework building blocks; it does not define a second runtime. Python create_harness_agent takes a chat client and returns a configured normal Agent.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State current Python boundaries exactly. create_harness_agent is released. Background agents, file access, and looping remain experimental. Shell tooling comes from the pre-release agent-framework-tools package. Skills are opt-in in 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Correct the category error. GitHubCopilotAgent is a standard MAF agent service integration backed by the GitHub Copilot SDK. create_harness_agent expects a chat client. GitHubCopilotAgent is not documented as a chat client to pass into that factory.
• GROUNDING SOURCE: https://learn.microsoft.com/en-us/agent-framework/integrations/by-component/agent-services/github-copilot?tabs=python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Python integration supports sessions, streaming, context providers, function tools, Copilot SDK permissions, and MCP server configuration. Hosted Code Interpreter, File Search, and hosted Web Search are not exposed as those Agent Framework hosted tools.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By default the agent cannot execute shell commands, read or write files, or fetch URLs. Enabling those capabilities requires a permission handler. Official guidance recommends Docker or a dev container for agents with shell or file permissions.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precise wording: current official documentation presents these as separate construction paths and does not document passing GitHubCopilotAgent into create_harness_agent. Do not imply impossibility forever; say there is no official direct composition pattern today.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decision is about who owns scaffolding and which backend capabilities you need. A plain Agent maximizes explicit control, Harness supplies general task scaffolding, and GitHubCopilotAgent integrates the Copilot coding runtime.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End without assigning lab work. Learners should recognize the options and their boundaries, then return to the core primitives when making a production design.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8 · OPTIONAL · 20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OPTIONAL — Agent Harness + GitHub Copilot Agent</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Compare opinionated scaffolding with a separate coding-agent service integration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Why look now?</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 shortcut</a:t>
            </a:r>
            <a:endParaRPr lang="en-US" sz="1500" dirty="0"/>
          </a:p>
        </p:txBody>
      </p:sp>
      <p:sp>
        <p:nvSpPr>
          <p:cNvPr id="7" name="Text 5"/>
          <p:cNvSpPr/>
          <p:nvPr/>
        </p:nvSpPr>
        <p:spPr>
          <a:xfrm>
            <a:off x="512064"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Harness does not replace your understanding of sessions, context providers, middleware, or evaluation</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Harness shows scaffolding</a:t>
            </a:r>
            <a:endParaRPr lang="en-US" sz="1500" dirty="0"/>
          </a:p>
        </p:txBody>
      </p:sp>
      <p:sp>
        <p:nvSpPr>
          <p:cNvPr id="10" name="Text 8"/>
          <p:cNvSpPr/>
          <p:nvPr/>
        </p:nvSpPr>
        <p:spPr>
          <a:xfrm>
            <a:off x="4818888"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An opinionated, batteries-included composition</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Copilot shows another backend</a:t>
            </a:r>
            <a:endParaRPr lang="en-US" sz="1500" dirty="0"/>
          </a:p>
        </p:txBody>
      </p:sp>
      <p:sp>
        <p:nvSpPr>
          <p:cNvPr id="13" name="Text 11"/>
          <p:cNvSpPr/>
          <p:nvPr/>
        </p:nvSpPr>
        <p:spPr>
          <a:xfrm>
            <a:off x="512064"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 coding-oriented agent service/runtime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Optional by design</a:t>
            </a:r>
            <a:endParaRPr lang="en-US" sz="1500" dirty="0"/>
          </a:p>
        </p:txBody>
      </p:sp>
      <p:sp>
        <p:nvSpPr>
          <p:cNvPr id="16" name="Text 14"/>
          <p:cNvSpPr/>
          <p:nvPr/>
        </p:nvSpPr>
        <p:spPr>
          <a:xfrm>
            <a:off x="4818888"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Neither path replaces the primitives or is required for the Day 3 lab</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create_harness_agent architecture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client</a:t>
            </a:r>
            <a:endParaRPr lang="en-US" sz="1500" dirty="0"/>
          </a:p>
        </p:txBody>
      </p:sp>
      <p:sp>
        <p:nvSpPr>
          <p:cNvPr id="9" name="Text 7"/>
          <p:cNvSpPr/>
          <p:nvPr/>
        </p:nvSpPr>
        <p:spPr>
          <a:xfrm>
            <a:off x="512064" y="17011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Model connection you provide</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pipeline</a:t>
            </a:r>
            <a:endParaRPr lang="en-US" sz="1500" dirty="0"/>
          </a:p>
        </p:txBody>
      </p:sp>
      <p:sp>
        <p:nvSpPr>
          <p:cNvPr id="15" name="Text 13"/>
          <p:cNvSpPr/>
          <p:nvPr/>
        </p:nvSpPr>
        <p:spPr>
          <a:xfrm>
            <a:off x="3401568" y="17011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Function loop, message injection, per-call history, compaction</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Providers</a:t>
            </a:r>
            <a:endParaRPr lang="en-US" sz="1500" dirty="0"/>
          </a:p>
        </p:txBody>
      </p:sp>
      <p:sp>
        <p:nvSpPr>
          <p:cNvPr id="21" name="Text 19"/>
          <p:cNvSpPr/>
          <p:nvPr/>
        </p:nvSpPr>
        <p:spPr>
          <a:xfrm>
            <a:off x="6291072" y="17011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Session instructions, todos, modes, file memory, optional capabilities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Middleware</a:t>
            </a:r>
            <a:endParaRPr lang="en-US" sz="1500" dirty="0"/>
          </a:p>
        </p:txBody>
      </p:sp>
      <p:sp>
        <p:nvSpPr>
          <p:cNvPr id="26" name="Text 24"/>
          <p:cNvSpPr/>
          <p:nvPr/>
        </p:nvSpPr>
        <p:spPr>
          <a:xfrm>
            <a:off x="512064" y="35299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Approval, observability, optional bounded looping</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Application UX</a:t>
            </a:r>
            <a:endParaRPr lang="en-US" sz="1500" dirty="0"/>
          </a:p>
        </p:txBody>
      </p:sp>
      <p:sp>
        <p:nvSpPr>
          <p:cNvPr id="32" name="Text 30"/>
          <p:cNvSpPr/>
          <p:nvPr/>
        </p:nvSpPr>
        <p:spPr>
          <a:xfrm>
            <a:off x="3401568" y="35299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 streams, displays progress, and collects approvals</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Capability and release boundaries</a:t>
            </a:r>
            <a:endParaRPr lang="en-US" sz="2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447978"/>
                <a:gridCol w="3964502"/>
              </a:tblGrid>
              <a:tr h="5029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Capability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Python harness status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create_harness_agent factory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Released</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Todo tracking and plan/execute modes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File memory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Skills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Opt-in through provider or paths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Background agents, shared file access, looping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Experimental</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Shell tooling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Pre-release agent-framework-tools package</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GitHub Copilot is a separate agent integration</a:t>
            </a:r>
            <a:endParaRPr lang="en-US" sz="23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Harness Agent</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create_harness_agent(client=chat_client)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Opinionated composition over a chat 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Returns a configured MAF Agent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GitHubCopilotAgent</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Separate MAF agent service integration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GitHub Copilot SDK owns its runtime/tool loop</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Used directly as a standard MAF Agent</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  ·  +1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GitHub Copilot capabilities</a:t>
            </a:r>
            <a:endParaRPr lang="en-US" sz="2500" dirty="0"/>
          </a:p>
        </p:txBody>
      </p:sp>
      <p:sp>
        <p:nvSpPr>
          <p:cNvPr id="5" name="Shape 3"/>
          <p:cNvSpPr/>
          <p:nvPr/>
        </p:nvSpPr>
        <p:spPr>
          <a:xfrm>
            <a:off x="365760" y="1078992"/>
            <a:ext cx="2670048"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2377440" cy="549402"/>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Standard agent operations</a:t>
            </a:r>
            <a:endParaRPr lang="en-US" sz="1500" dirty="0"/>
          </a:p>
        </p:txBody>
      </p:sp>
      <p:sp>
        <p:nvSpPr>
          <p:cNvPr id="7" name="Text 5"/>
          <p:cNvSpPr/>
          <p:nvPr/>
        </p:nvSpPr>
        <p:spPr>
          <a:xfrm>
            <a:off x="512064" y="1802130"/>
            <a:ext cx="2377440" cy="84048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stream, and reuse a session</a:t>
            </a:r>
            <a:endParaRPr lang="en-US" sz="1150" dirty="0"/>
          </a:p>
        </p:txBody>
      </p:sp>
      <p:sp>
        <p:nvSpPr>
          <p:cNvPr id="8" name="Shape 6"/>
          <p:cNvSpPr/>
          <p:nvPr/>
        </p:nvSpPr>
        <p:spPr>
          <a:xfrm>
            <a:off x="3236976" y="1078992"/>
            <a:ext cx="2670048"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3383280" y="1197864"/>
            <a:ext cx="2377440"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Function tools</a:t>
            </a:r>
            <a:endParaRPr lang="en-US" sz="1500" dirty="0"/>
          </a:p>
        </p:txBody>
      </p:sp>
      <p:sp>
        <p:nvSpPr>
          <p:cNvPr id="10" name="Text 8"/>
          <p:cNvSpPr/>
          <p:nvPr/>
        </p:nvSpPr>
        <p:spPr>
          <a:xfrm>
            <a:off x="3383280" y="1564005"/>
            <a:ext cx="2377440"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Add custom callable tools</a:t>
            </a:r>
            <a:endParaRPr lang="en-US" sz="1150" dirty="0"/>
          </a:p>
        </p:txBody>
      </p:sp>
      <p:sp>
        <p:nvSpPr>
          <p:cNvPr id="11" name="Shape 9"/>
          <p:cNvSpPr/>
          <p:nvPr/>
        </p:nvSpPr>
        <p:spPr>
          <a:xfrm>
            <a:off x="6108192" y="1078992"/>
            <a:ext cx="2670048"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6254496" y="1197864"/>
            <a:ext cx="2377440"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Coding runtime</a:t>
            </a:r>
            <a:endParaRPr lang="en-US" sz="1500" dirty="0"/>
          </a:p>
        </p:txBody>
      </p:sp>
      <p:sp>
        <p:nvSpPr>
          <p:cNvPr id="13" name="Text 11"/>
          <p:cNvSpPr/>
          <p:nvPr/>
        </p:nvSpPr>
        <p:spPr>
          <a:xfrm>
            <a:off x="6254496" y="1564005"/>
            <a:ext cx="2377440"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Shell, file operations, and URL fetching when permitted</a:t>
            </a:r>
            <a:endParaRPr lang="en-US" sz="1150" dirty="0"/>
          </a:p>
        </p:txBody>
      </p:sp>
      <p:sp>
        <p:nvSpPr>
          <p:cNvPr id="14" name="Shape 12"/>
          <p:cNvSpPr/>
          <p:nvPr/>
        </p:nvSpPr>
        <p:spPr>
          <a:xfrm>
            <a:off x="365760" y="2935224"/>
            <a:ext cx="2670048"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512064" y="3054096"/>
            <a:ext cx="2377440"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MCP</a:t>
            </a:r>
            <a:endParaRPr lang="en-US" sz="1500" dirty="0"/>
          </a:p>
        </p:txBody>
      </p:sp>
      <p:sp>
        <p:nvSpPr>
          <p:cNvPr id="16" name="Text 14"/>
          <p:cNvSpPr/>
          <p:nvPr/>
        </p:nvSpPr>
        <p:spPr>
          <a:xfrm>
            <a:off x="512064" y="3420237"/>
            <a:ext cx="2377440"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Local stdio and remote HTTP server configuration</a:t>
            </a:r>
            <a:endParaRPr lang="en-US" sz="1150" dirty="0"/>
          </a:p>
        </p:txBody>
      </p:sp>
      <p:sp>
        <p:nvSpPr>
          <p:cNvPr id="17" name="Shape 15"/>
          <p:cNvSpPr/>
          <p:nvPr/>
        </p:nvSpPr>
        <p:spPr>
          <a:xfrm>
            <a:off x="3236976" y="2935224"/>
            <a:ext cx="2670048" cy="1655064"/>
          </a:xfrm>
          <a:prstGeom prst="roundRect">
            <a:avLst>
              <a:gd name="adj" fmla="val 3315"/>
            </a:avLst>
          </a:prstGeom>
          <a:solidFill>
            <a:srgbClr val="F3F4F6"/>
          </a:solidFill>
          <a:ln w="10160">
            <a:solidFill>
              <a:srgbClr val="D1D5DB"/>
            </a:solidFill>
            <a:prstDash val="solid"/>
          </a:ln>
        </p:spPr>
      </p:sp>
      <p:sp>
        <p:nvSpPr>
          <p:cNvPr id="18" name="Text 16"/>
          <p:cNvSpPr/>
          <p:nvPr/>
        </p:nvSpPr>
        <p:spPr>
          <a:xfrm>
            <a:off x="3383280" y="3054096"/>
            <a:ext cx="2377440"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Context providers</a:t>
            </a:r>
            <a:endParaRPr lang="en-US" sz="1500" dirty="0"/>
          </a:p>
        </p:txBody>
      </p:sp>
      <p:sp>
        <p:nvSpPr>
          <p:cNvPr id="19" name="Text 17"/>
          <p:cNvSpPr/>
          <p:nvPr/>
        </p:nvSpPr>
        <p:spPr>
          <a:xfrm>
            <a:off x="3383280" y="3420237"/>
            <a:ext cx="2377440"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before and after GitHub Copilot invocations</a:t>
            </a:r>
            <a:endParaRPr lang="en-US" sz="1150" dirty="0"/>
          </a:p>
        </p:txBody>
      </p:sp>
      <p:sp>
        <p:nvSpPr>
          <p:cNvPr id="20" name="Shape 18"/>
          <p:cNvSpPr/>
          <p:nvPr/>
        </p:nvSpPr>
        <p:spPr>
          <a:xfrm>
            <a:off x="365760" y="4773168"/>
            <a:ext cx="8412480" cy="0"/>
          </a:xfrm>
          <a:prstGeom prst="line">
            <a:avLst/>
          </a:prstGeom>
          <a:noFill/>
          <a:ln w="6350">
            <a:solidFill>
              <a:srgbClr val="D1D5DB"/>
            </a:solidFill>
            <a:prstDash val="solid"/>
          </a:ln>
        </p:spPr>
      </p:sp>
      <p:sp>
        <p:nvSpPr>
          <p:cNvPr id="21" name="Text 19"/>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Permissions are a hard boundary</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Default deny</a:t>
            </a:r>
            <a:endParaRPr lang="en-US" sz="1500" dirty="0"/>
          </a:p>
        </p:txBody>
      </p:sp>
      <p:sp>
        <p:nvSpPr>
          <p:cNvPr id="9" name="Text 7"/>
          <p:cNvSpPr/>
          <p:nvPr/>
        </p:nvSpPr>
        <p:spPr>
          <a:xfrm>
            <a:off x="512064" y="17011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No shell, file read/write, or URL fetch</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Permission handler</a:t>
            </a:r>
            <a:endParaRPr lang="en-US" sz="1500" dirty="0"/>
          </a:p>
        </p:txBody>
      </p:sp>
      <p:sp>
        <p:nvSpPr>
          <p:cNvPr id="15" name="Text 13"/>
          <p:cNvSpPr/>
          <p:nvPr/>
        </p:nvSpPr>
        <p:spPr>
          <a:xfrm>
            <a:off x="3401568" y="17011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application approves or denies requests</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Least privilege</a:t>
            </a:r>
            <a:endParaRPr lang="en-US" sz="1500" dirty="0"/>
          </a:p>
        </p:txBody>
      </p:sp>
      <p:sp>
        <p:nvSpPr>
          <p:cNvPr id="21" name="Text 19"/>
          <p:cNvSpPr/>
          <p:nvPr/>
        </p:nvSpPr>
        <p:spPr>
          <a:xfrm>
            <a:off x="6291072" y="17011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Limit workspace, credentials, and network access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Isolation</a:t>
            </a:r>
            <a:endParaRPr lang="en-US" sz="1500" dirty="0"/>
          </a:p>
        </p:txBody>
      </p:sp>
      <p:sp>
        <p:nvSpPr>
          <p:cNvPr id="26" name="Text 24"/>
          <p:cNvSpPr/>
          <p:nvPr/>
        </p:nvSpPr>
        <p:spPr>
          <a:xfrm>
            <a:off x="512064" y="35299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Prefer Docker or a dev container for shell/file permissions</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32" name="Text 30"/>
          <p:cNvSpPr/>
          <p:nvPr/>
        </p:nvSpPr>
        <p:spPr>
          <a:xfrm>
            <a:off x="3401568" y="35299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Record the request and decision</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No official direct composition pattern</a:t>
            </a:r>
            <a:endParaRPr lang="en-US" sz="23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Do not teach</a:t>
            </a:r>
            <a:endParaRPr lang="en-US" sz="1500" dirty="0"/>
          </a:p>
        </p:txBody>
      </p:sp>
      <p:sp>
        <p:nvSpPr>
          <p:cNvPr id="7" name="Text 5"/>
          <p:cNvSpPr/>
          <p:nvPr/>
        </p:nvSpPr>
        <p:spPr>
          <a:xfrm>
            <a:off x="512064"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create_harness_agent(client=GitHubCopilotAgent(...))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Why</a:t>
            </a:r>
            <a:endParaRPr lang="en-US" sz="1500" dirty="0"/>
          </a:p>
        </p:txBody>
      </p:sp>
      <p:sp>
        <p:nvSpPr>
          <p:cNvPr id="10" name="Text 8"/>
          <p:cNvSpPr/>
          <p:nvPr/>
        </p:nvSpPr>
        <p:spPr>
          <a:xfrm>
            <a:off x="4818888"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The factory contract is a chat client; GitHubCopilotAgent is an Agent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Supported view</a:t>
            </a:r>
            <a:endParaRPr lang="en-US" sz="1500" dirty="0"/>
          </a:p>
        </p:txBody>
      </p:sp>
      <p:sp>
        <p:nvSpPr>
          <p:cNvPr id="13" name="Text 11"/>
          <p:cNvSpPr/>
          <p:nvPr/>
        </p:nvSpPr>
        <p:spPr>
          <a:xfrm>
            <a:off x="512064"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Choose one construction path for the application boundary</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Future-proofing</a:t>
            </a:r>
            <a:endParaRPr lang="en-US" sz="1500" dirty="0"/>
          </a:p>
        </p:txBody>
      </p:sp>
      <p:sp>
        <p:nvSpPr>
          <p:cNvPr id="16" name="Text 14"/>
          <p:cNvSpPr/>
          <p:nvPr/>
        </p:nvSpPr>
        <p:spPr>
          <a:xfrm>
            <a:off x="4818888"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Re-check official docs if a composition API is released</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Choose the least opinionated fit</a:t>
            </a:r>
            <a:endParaRPr lang="en-US" sz="2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352006"/>
                <a:gridCol w="3680460"/>
                <a:gridCol w="3380014"/>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Best fit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You still own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Plain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Focused assistant with explicit composition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Every provider, tool, policy, and loop 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Harness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Long-running work needing opinionated scaffolding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Configuration, storage, permissions, UX,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GitHubCopilotAgent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Coding-oriented Copilot runtime capabilities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Permission handler, isolation, tools,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Harness as released, opinionated MAF scaffolding with experimental edges.</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let scaffolding hide sessions, providers, middleware, approvals, or evaluation.</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GitHubCopilotAgent as a separate standard MAF agent service integration.</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isolate and explicitly permission shell and file capabilities.</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assume an undocumented Harness + GitHubCopilotAgent composition.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OPTIONAL — Agent Harness + GitHub Copilot Agent</dc:title>
  <dc:subject>Day 3 — Single-Agent Runtime + MCP</dc:subject>
  <dc:creator>Building AI Apps and Agents Workshop</dc:creator>
  <cp:lastModifiedBy>Building AI Apps and Agents Workshop</cp:lastModifiedBy>
  <cp:revision>1</cp:revision>
  <dcterms:created xsi:type="dcterms:W3CDTF">2026-09-02T15:33:06Z</dcterms:created>
  <dcterms:modified xsi:type="dcterms:W3CDTF">2026-09-02T15:33:06Z</dcterms:modified>
</cp:coreProperties>
</file>