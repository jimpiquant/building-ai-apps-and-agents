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Say that this module is optional and outside the 210-minute core. Learners already know the primitives; this compares an opinionated composition helper with a separate GitHub Copilot-backed Agent Framework integration.
• GROUNDING SOURCE: https://learn.microsoft.com/en-us/agent-framework/concepts/harness?tabs=python
• GROUNDING SOURCE: https://learn.microsoft.com/en-us/agent-framework/integrations/by-component/agent-services/github-copilot?tabs=python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value is recognition, not a new required architecture. Learners can now identify the sessions, context providers, middleware, approvals, and evaluation decisions the harness composes.
• GROUNDING SOURCE: https://learn.microsoft.com/en-us/agent-framework/concepts/harness?tabs=python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Harness composes existing Agent Framework building blocks; it does not define a second runtime. Python create_harness_agent takes a chat client and returns a configured normal Agent.
• GROUNDING SOURCE: https://learn.microsoft.com/en-us/agent-framework/concepts/harness?tabs=python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State current Python boundaries exactly. create_harness_agent is released. Background agents, file access, and looping remain experimental. Shell tooling comes from the pre-release agent-framework-tools package. Skills are opt-in in Python.
• GROUNDING SOURCE: https://learn.microsoft.com/en-us/agent-framework/concepts/harness?tabs=python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Correct the category error. GitHubCopilotAgent is a standard MAF agent service integration backed by the GitHub Copilot SDK. create_harness_agent expects a chat client. GitHubCopilotAgent is not documented as a chat client to pass into that factory.
• GROUNDING SOURCE: https://learn.microsoft.com/en-us/agent-framework/integrations/by-component/agent-services/github-copilot?tabs=python
• GROUNDING SOURCE: https://learn.microsoft.com/en-us/agent-framework/concepts/harness?tabs=python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Python integration supports sessions, streaming, context providers, function tools, Copilot SDK permissions, and MCP server configuration. Hosted Code Interpreter, File Search, and hosted Web Search are not exposed as those Agent Framework hosted tools.
• GROUNDING SOURCE: https://learn.microsoft.com/en-us/agent-framework/integrations/by-component/agent-services/github-copilot?tabs=python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By default the agent cannot execute shell commands, read or write files, or fetch URLs. Enabling those capabilities requires a permission handler. Official guidance recommends Docker or a dev container for agents with shell or file permissions.
• GROUNDING SOURCE: https://learn.microsoft.com/en-us/agent-framework/integrations/by-component/agent-services/github-copilot?tabs=python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precise wording: current official documentation presents these as separate construction paths and does not document passing GitHubCopilotAgent into create_harness_agent. Do not imply impossibility forever; say there is no official direct composition pattern today.
• GROUNDING SOURCE: https://learn.microsoft.com/en-us/agent-framework/concepts/harness?tabs=python
• GROUNDING SOURCE: https://learn.microsoft.com/en-us/agent-framework/integrations/by-component/agent-services/github-copilot?tabs=python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decision is about who owns scaffolding and which backend capabilities you need. A plain Agent maximizes explicit control, Harness supplies general task scaffolding, and GitHubCopilotAgent integrates the Copilot coding runtime.
• GROUNDING SOURCE: https://learn.microsoft.com/en-us/agent-framework/concepts/harness?tabs=python
• GROUNDING SOURCE: https://learn.microsoft.com/en-us/agent-framework/integrations/by-component/agent-services/github-copilot?tabs=python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End without assigning lab work. Learners should recognize the options and their boundaries, then return to the core primitives when making a production design.
• GROUNDING SOURCE: https://learn.microsoft.com/en-us/agent-framework/concepts/harness?tabs=python
• GROUNDING SOURCE: https://learn.microsoft.com/en-us/agent-framework/integrations/by-component/agent-services/github-copilot?tabs=python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3 · MODULE 8 · OPTIONAL · 20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OPTIONAL — Agent Harness + GitHub Copilot Agent</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Compare opinionated scaffolding with a separate coding-agent service integration</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a:t>
            </a:r>
            <a:endParaRPr lang="en-US" sz="1000" dirty="0"/>
          </a:p>
        </p:txBody>
      </p:sp>
      <p:sp>
        <p:nvSpPr>
          <p:cNvPr id="6" name="Shape 4"/>
          <p:cNvSpPr/>
          <p:nvPr/>
        </p:nvSpPr>
        <p:spPr>
          <a:xfrm>
            <a:off x="365760" y="4224528"/>
            <a:ext cx="8412480" cy="0"/>
          </a:xfrm>
          <a:prstGeom prst="line">
            <a:avLst/>
          </a:prstGeom>
          <a:noFill/>
          <a:ln w="6350">
            <a:solidFill>
              <a:srgbClr val="CADCFC"/>
            </a:solidFill>
            <a:prstDash val="solid"/>
          </a:ln>
        </p:spPr>
      </p:sp>
      <p:sp>
        <p:nvSpPr>
          <p:cNvPr id="7" name="Text 5"/>
          <p:cNvSpPr/>
          <p:nvPr/>
        </p:nvSpPr>
        <p:spPr>
          <a:xfrm>
            <a:off x="384048" y="4270248"/>
            <a:ext cx="8275320" cy="182880"/>
          </a:xfrm>
          <a:prstGeom prst="rect">
            <a:avLst/>
          </a:prstGeom>
          <a:noFill/>
          <a:ln/>
        </p:spPr>
        <p:txBody>
          <a:bodyPr wrap="square" lIns="0" tIns="0" rIns="0" bIns="0" rtlCol="0" anchor="ctr">
            <a:normAutofit/>
          </a:bodyPr>
          <a:lstStyle/>
          <a:p>
            <a:pPr indent="0" marL="0">
              <a:buNone/>
            </a:pPr>
            <a:r>
              <a:rPr lang="en-US" sz="820" dirty="0">
                <a:solidFill>
                  <a:srgbClr val="CADCFC"/>
                </a:solidFill>
                <a:latin typeface="Calibri" pitchFamily="34" charset="0"/>
                <a:ea typeface="Calibri" pitchFamily="34" charset="-122"/>
                <a:cs typeface="Calibri" pitchFamily="34" charset="-120"/>
              </a:rPr>
              <a:t>Source: https://learn.microsoft.com/en-us/agent-framework/concepts/harness?tabs=python  ·  +1 in notes</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OPTIONAL — Why look now?</a:t>
            </a:r>
            <a:endParaRPr lang="en-US" sz="28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No shortcut</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Harness does not replace your understanding of sessions, context providers, middleware, or evaluation</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Harness shows scaffolding</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An opinionated, batteries-included composition</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Copilot shows another backend</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 coding-oriented agent service/runtime</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Optional by design</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Neither path replaces the primitives or is required for the Day 3 lab</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https://learn.microsoft.com/en-us/agent-framework/concepts/harness?tabs=python</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OPTIONAL — create_harness_agent architecture</a:t>
            </a:r>
            <a:endParaRPr lang="en-US" sz="2500" dirty="0"/>
          </a:p>
        </p:txBody>
      </p:sp>
      <p:sp>
        <p:nvSpPr>
          <p:cNvPr id="5" name="Shape 3"/>
          <p:cNvSpPr/>
          <p:nvPr/>
        </p:nvSpPr>
        <p:spPr>
          <a:xfrm>
            <a:off x="365760" y="1216152"/>
            <a:ext cx="2633472" cy="1572768"/>
          </a:xfrm>
          <a:prstGeom prst="roundRect">
            <a:avLst>
              <a:gd name="adj" fmla="val 3488"/>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Chat client</a:t>
            </a:r>
            <a:endParaRPr lang="en-US" sz="1500" dirty="0"/>
          </a:p>
        </p:txBody>
      </p:sp>
      <p:sp>
        <p:nvSpPr>
          <p:cNvPr id="9" name="Text 7"/>
          <p:cNvSpPr/>
          <p:nvPr/>
        </p:nvSpPr>
        <p:spPr>
          <a:xfrm>
            <a:off x="512064"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Model connection you provide</a:t>
            </a:r>
            <a:endParaRPr lang="en-US" sz="1150" dirty="0"/>
          </a:p>
        </p:txBody>
      </p:sp>
      <p:sp>
        <p:nvSpPr>
          <p:cNvPr id="10" name="Shape 8"/>
          <p:cNvSpPr/>
          <p:nvPr/>
        </p:nvSpPr>
        <p:spPr>
          <a:xfrm>
            <a:off x="3035808" y="1892808"/>
            <a:ext cx="164592" cy="219456"/>
          </a:xfrm>
          <a:prstGeom prst="chevron">
            <a:avLst/>
          </a:prstGeom>
          <a:solidFill>
            <a:srgbClr val="E8A87C"/>
          </a:solidFill>
          <a:ln/>
        </p:spPr>
      </p:sp>
      <p:sp>
        <p:nvSpPr>
          <p:cNvPr id="11" name="Shape 9"/>
          <p:cNvSpPr/>
          <p:nvPr/>
        </p:nvSpPr>
        <p:spPr>
          <a:xfrm>
            <a:off x="3255264" y="1216152"/>
            <a:ext cx="2633472" cy="1572768"/>
          </a:xfrm>
          <a:prstGeom prst="roundRect">
            <a:avLst>
              <a:gd name="adj" fmla="val 3488"/>
            </a:avLst>
          </a:prstGeom>
          <a:solidFill>
            <a:srgbClr val="F3F4F6"/>
          </a:solidFill>
          <a:ln w="10160">
            <a:solidFill>
              <a:srgbClr val="D1D5DB"/>
            </a:solidFill>
            <a:prstDash val="solid"/>
          </a:ln>
        </p:spPr>
      </p:sp>
      <p:sp>
        <p:nvSpPr>
          <p:cNvPr id="12" name="Shape 10"/>
          <p:cNvSpPr/>
          <p:nvPr/>
        </p:nvSpPr>
        <p:spPr>
          <a:xfrm>
            <a:off x="3364992" y="1335024"/>
            <a:ext cx="320040" cy="320040"/>
          </a:xfrm>
          <a:prstGeom prst="ellipse">
            <a:avLst/>
          </a:prstGeom>
          <a:solidFill>
            <a:srgbClr val="1E2761"/>
          </a:solidFill>
          <a:ln/>
        </p:spPr>
      </p:sp>
      <p:sp>
        <p:nvSpPr>
          <p:cNvPr id="13" name="Text 11"/>
          <p:cNvSpPr/>
          <p:nvPr/>
        </p:nvSpPr>
        <p:spPr>
          <a:xfrm>
            <a:off x="336499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785616"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Chat pipeline</a:t>
            </a:r>
            <a:endParaRPr lang="en-US" sz="1500" dirty="0"/>
          </a:p>
        </p:txBody>
      </p:sp>
      <p:sp>
        <p:nvSpPr>
          <p:cNvPr id="15" name="Text 13"/>
          <p:cNvSpPr/>
          <p:nvPr/>
        </p:nvSpPr>
        <p:spPr>
          <a:xfrm>
            <a:off x="3401568"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Function loop, message injection, per-call history, compaction</a:t>
            </a:r>
            <a:endParaRPr lang="en-US" sz="1150" dirty="0"/>
          </a:p>
        </p:txBody>
      </p:sp>
      <p:sp>
        <p:nvSpPr>
          <p:cNvPr id="16" name="Shape 14"/>
          <p:cNvSpPr/>
          <p:nvPr/>
        </p:nvSpPr>
        <p:spPr>
          <a:xfrm>
            <a:off x="5925312" y="1892808"/>
            <a:ext cx="164592" cy="219456"/>
          </a:xfrm>
          <a:prstGeom prst="chevron">
            <a:avLst/>
          </a:prstGeom>
          <a:solidFill>
            <a:srgbClr val="E8A87C"/>
          </a:solidFill>
          <a:ln/>
        </p:spPr>
      </p:sp>
      <p:sp>
        <p:nvSpPr>
          <p:cNvPr id="17" name="Shape 15"/>
          <p:cNvSpPr/>
          <p:nvPr/>
        </p:nvSpPr>
        <p:spPr>
          <a:xfrm>
            <a:off x="6144768" y="1216152"/>
            <a:ext cx="2633472" cy="1572768"/>
          </a:xfrm>
          <a:prstGeom prst="roundRect">
            <a:avLst>
              <a:gd name="adj" fmla="val 3488"/>
            </a:avLst>
          </a:prstGeom>
          <a:solidFill>
            <a:srgbClr val="F3F4F6"/>
          </a:solidFill>
          <a:ln w="10160">
            <a:solidFill>
              <a:srgbClr val="D1D5DB"/>
            </a:solidFill>
            <a:prstDash val="solid"/>
          </a:ln>
        </p:spPr>
      </p:sp>
      <p:sp>
        <p:nvSpPr>
          <p:cNvPr id="18" name="Shape 16"/>
          <p:cNvSpPr/>
          <p:nvPr/>
        </p:nvSpPr>
        <p:spPr>
          <a:xfrm>
            <a:off x="6254496" y="1335024"/>
            <a:ext cx="320040" cy="320040"/>
          </a:xfrm>
          <a:prstGeom prst="ellipse">
            <a:avLst/>
          </a:prstGeom>
          <a:solidFill>
            <a:srgbClr val="1E2761"/>
          </a:solidFill>
          <a:ln/>
        </p:spPr>
      </p:sp>
      <p:sp>
        <p:nvSpPr>
          <p:cNvPr id="19" name="Text 17"/>
          <p:cNvSpPr/>
          <p:nvPr/>
        </p:nvSpPr>
        <p:spPr>
          <a:xfrm>
            <a:off x="625449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6675120"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Providers</a:t>
            </a:r>
            <a:endParaRPr lang="en-US" sz="1500" dirty="0"/>
          </a:p>
        </p:txBody>
      </p:sp>
      <p:sp>
        <p:nvSpPr>
          <p:cNvPr id="21" name="Text 19"/>
          <p:cNvSpPr/>
          <p:nvPr/>
        </p:nvSpPr>
        <p:spPr>
          <a:xfrm>
            <a:off x="6291072"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Session instructions, todos, modes, file memory, optional capabilities</a:t>
            </a:r>
            <a:endParaRPr lang="en-US" sz="1150" dirty="0"/>
          </a:p>
        </p:txBody>
      </p:sp>
      <p:sp>
        <p:nvSpPr>
          <p:cNvPr id="22" name="Shape 20"/>
          <p:cNvSpPr/>
          <p:nvPr/>
        </p:nvSpPr>
        <p:spPr>
          <a:xfrm>
            <a:off x="365760" y="3044952"/>
            <a:ext cx="2633472" cy="1572768"/>
          </a:xfrm>
          <a:prstGeom prst="roundRect">
            <a:avLst>
              <a:gd name="adj" fmla="val 3488"/>
            </a:avLst>
          </a:prstGeom>
          <a:solidFill>
            <a:srgbClr val="F3F4F6"/>
          </a:solidFill>
          <a:ln w="10160">
            <a:solidFill>
              <a:srgbClr val="D1D5DB"/>
            </a:solidFill>
            <a:prstDash val="solid"/>
          </a:ln>
        </p:spPr>
      </p:sp>
      <p:sp>
        <p:nvSpPr>
          <p:cNvPr id="23" name="Shape 21"/>
          <p:cNvSpPr/>
          <p:nvPr/>
        </p:nvSpPr>
        <p:spPr>
          <a:xfrm>
            <a:off x="475488" y="3163824"/>
            <a:ext cx="320040" cy="320040"/>
          </a:xfrm>
          <a:prstGeom prst="ellipse">
            <a:avLst/>
          </a:prstGeom>
          <a:solidFill>
            <a:srgbClr val="1E2761"/>
          </a:solidFill>
          <a:ln/>
        </p:spPr>
      </p:sp>
      <p:sp>
        <p:nvSpPr>
          <p:cNvPr id="24" name="Text 22"/>
          <p:cNvSpPr/>
          <p:nvPr/>
        </p:nvSpPr>
        <p:spPr>
          <a:xfrm>
            <a:off x="475488" y="32141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5" name="Text 23"/>
          <p:cNvSpPr/>
          <p:nvPr/>
        </p:nvSpPr>
        <p:spPr>
          <a:xfrm>
            <a:off x="896112" y="31638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Middleware</a:t>
            </a:r>
            <a:endParaRPr lang="en-US" sz="1500" dirty="0"/>
          </a:p>
        </p:txBody>
      </p:sp>
      <p:sp>
        <p:nvSpPr>
          <p:cNvPr id="26" name="Text 24"/>
          <p:cNvSpPr/>
          <p:nvPr/>
        </p:nvSpPr>
        <p:spPr>
          <a:xfrm>
            <a:off x="512064" y="35478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Approval, observability, optional bounded looping</a:t>
            </a:r>
            <a:endParaRPr lang="en-US" sz="1150" dirty="0"/>
          </a:p>
        </p:txBody>
      </p:sp>
      <p:sp>
        <p:nvSpPr>
          <p:cNvPr id="27" name="Shape 25"/>
          <p:cNvSpPr/>
          <p:nvPr/>
        </p:nvSpPr>
        <p:spPr>
          <a:xfrm>
            <a:off x="3035808" y="3721608"/>
            <a:ext cx="164592" cy="219456"/>
          </a:xfrm>
          <a:prstGeom prst="chevron">
            <a:avLst/>
          </a:prstGeom>
          <a:solidFill>
            <a:srgbClr val="E8A87C"/>
          </a:solidFill>
          <a:ln/>
        </p:spPr>
      </p:sp>
      <p:sp>
        <p:nvSpPr>
          <p:cNvPr id="28" name="Shape 26"/>
          <p:cNvSpPr/>
          <p:nvPr/>
        </p:nvSpPr>
        <p:spPr>
          <a:xfrm>
            <a:off x="3255264" y="3044952"/>
            <a:ext cx="2633472" cy="1572768"/>
          </a:xfrm>
          <a:prstGeom prst="roundRect">
            <a:avLst>
              <a:gd name="adj" fmla="val 3488"/>
            </a:avLst>
          </a:prstGeom>
          <a:solidFill>
            <a:srgbClr val="CADCFC"/>
          </a:solidFill>
          <a:ln w="10160">
            <a:solidFill>
              <a:srgbClr val="1E2761"/>
            </a:solidFill>
            <a:prstDash val="solid"/>
          </a:ln>
        </p:spPr>
      </p:sp>
      <p:sp>
        <p:nvSpPr>
          <p:cNvPr id="29" name="Shape 27"/>
          <p:cNvSpPr/>
          <p:nvPr/>
        </p:nvSpPr>
        <p:spPr>
          <a:xfrm>
            <a:off x="3364992" y="3163824"/>
            <a:ext cx="320040" cy="320040"/>
          </a:xfrm>
          <a:prstGeom prst="ellipse">
            <a:avLst/>
          </a:prstGeom>
          <a:solidFill>
            <a:srgbClr val="1E2761"/>
          </a:solidFill>
          <a:ln/>
        </p:spPr>
      </p:sp>
      <p:sp>
        <p:nvSpPr>
          <p:cNvPr id="30" name="Text 28"/>
          <p:cNvSpPr/>
          <p:nvPr/>
        </p:nvSpPr>
        <p:spPr>
          <a:xfrm>
            <a:off x="3364992" y="32141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9"/>
          <p:cNvSpPr/>
          <p:nvPr/>
        </p:nvSpPr>
        <p:spPr>
          <a:xfrm>
            <a:off x="3785616" y="31638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Application UX</a:t>
            </a:r>
            <a:endParaRPr lang="en-US" sz="1500" dirty="0"/>
          </a:p>
        </p:txBody>
      </p:sp>
      <p:sp>
        <p:nvSpPr>
          <p:cNvPr id="32" name="Text 30"/>
          <p:cNvSpPr/>
          <p:nvPr/>
        </p:nvSpPr>
        <p:spPr>
          <a:xfrm>
            <a:off x="3401568" y="35478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Your app streams, displays progress, and collects approvals</a:t>
            </a:r>
            <a:endParaRPr lang="en-US" sz="1150" dirty="0"/>
          </a:p>
        </p:txBody>
      </p:sp>
      <p:sp>
        <p:nvSpPr>
          <p:cNvPr id="33" name="Shape 31"/>
          <p:cNvSpPr/>
          <p:nvPr/>
        </p:nvSpPr>
        <p:spPr>
          <a:xfrm>
            <a:off x="365760" y="4773168"/>
            <a:ext cx="8412480" cy="0"/>
          </a:xfrm>
          <a:prstGeom prst="line">
            <a:avLst/>
          </a:prstGeom>
          <a:noFill/>
          <a:ln w="6350">
            <a:solidFill>
              <a:srgbClr val="D1D5DB"/>
            </a:solidFill>
            <a:prstDash val="solid"/>
          </a:ln>
        </p:spPr>
      </p:sp>
      <p:sp>
        <p:nvSpPr>
          <p:cNvPr id="34" name="Text 32"/>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https://learn.microsoft.com/en-us/agent-framework/concepts/harness?tabs=python</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OPTIONAL — Capability and release boundaries</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4447978"/>
                <a:gridCol w="3964502"/>
              </a:tblGrid>
              <a:tr h="5029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Capability</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Python harness status</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02920">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create_harness_agent factory</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Released</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Todo tracking and plan/execute modes</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Enabled by default</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File memory</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Enabled by default</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Skills</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Opt-in through provider or paths</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Background agents, shared file access, looping</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Experimental</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Shell tooling</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50" dirty="0">
                          <a:solidFill>
                            <a:srgbClr val="212121"/>
                          </a:solidFill>
                          <a:latin typeface="Calibri" pitchFamily="34" charset="0"/>
                          <a:ea typeface="Calibri" pitchFamily="34" charset="-122"/>
                          <a:cs typeface="Calibri" pitchFamily="34" charset="-120"/>
                        </a:rPr>
                        <a:t>Pre-release agent-framework-tools package</a:t>
                      </a:r>
                      <a:endParaRPr lang="en-US" sz="9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https://learn.microsoft.com/en-us/agent-framework/concepts/harness?tabs=python</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300" b="1" dirty="0">
                <a:solidFill>
                  <a:srgbClr val="1E2761"/>
                </a:solidFill>
                <a:latin typeface="Calibri" pitchFamily="34" charset="0"/>
                <a:ea typeface="Calibri" pitchFamily="34" charset="-122"/>
                <a:cs typeface="Calibri" pitchFamily="34" charset="-120"/>
              </a:rPr>
              <a:t>OPTIONAL — GitHub Copilot is a separate agent integration</a:t>
            </a:r>
            <a:endParaRPr lang="en-US" sz="23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Harness Agent</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create_harness_agent(client=chat_client)</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Opinionated composition over a chat client</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Returns a configured MAF Agent</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GitHubCopilotAgent</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Separate MAF agent service integration</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GitHub Copilot SDK owns its runtime/tool loop</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Used directly as a standard MAF Agent</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https://learn.microsoft.com/en-us/agent-framework/integrations/by-component/agent-services/github-copilot?tabs=python  ·  +1 in notes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OPTIONAL — GitHub Copilot capabilities</a:t>
            </a:r>
            <a:endParaRPr lang="en-US" sz="2500" dirty="0"/>
          </a:p>
        </p:txBody>
      </p:sp>
      <p:sp>
        <p:nvSpPr>
          <p:cNvPr id="5" name="Shape 3"/>
          <p:cNvSpPr/>
          <p:nvPr/>
        </p:nvSpPr>
        <p:spPr>
          <a:xfrm>
            <a:off x="365760" y="1078992"/>
            <a:ext cx="2670048"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2377440"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Standard agent operations</a:t>
            </a:r>
            <a:endParaRPr lang="en-US" sz="1500" dirty="0"/>
          </a:p>
        </p:txBody>
      </p:sp>
      <p:sp>
        <p:nvSpPr>
          <p:cNvPr id="7" name="Text 5"/>
          <p:cNvSpPr/>
          <p:nvPr/>
        </p:nvSpPr>
        <p:spPr>
          <a:xfrm>
            <a:off x="512064" y="1581912"/>
            <a:ext cx="2377440"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Run, stream, and reuse a session</a:t>
            </a:r>
            <a:endParaRPr lang="en-US" sz="1150" dirty="0"/>
          </a:p>
        </p:txBody>
      </p:sp>
      <p:sp>
        <p:nvSpPr>
          <p:cNvPr id="8" name="Shape 6"/>
          <p:cNvSpPr/>
          <p:nvPr/>
        </p:nvSpPr>
        <p:spPr>
          <a:xfrm>
            <a:off x="3236976" y="1078992"/>
            <a:ext cx="2670048"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3383280" y="1197864"/>
            <a:ext cx="2377440"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Function tools</a:t>
            </a:r>
            <a:endParaRPr lang="en-US" sz="1500" dirty="0"/>
          </a:p>
        </p:txBody>
      </p:sp>
      <p:sp>
        <p:nvSpPr>
          <p:cNvPr id="10" name="Text 8"/>
          <p:cNvSpPr/>
          <p:nvPr/>
        </p:nvSpPr>
        <p:spPr>
          <a:xfrm>
            <a:off x="3383280" y="1581912"/>
            <a:ext cx="2377440"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Add custom callable tools</a:t>
            </a:r>
            <a:endParaRPr lang="en-US" sz="1150" dirty="0"/>
          </a:p>
        </p:txBody>
      </p:sp>
      <p:sp>
        <p:nvSpPr>
          <p:cNvPr id="11" name="Shape 9"/>
          <p:cNvSpPr/>
          <p:nvPr/>
        </p:nvSpPr>
        <p:spPr>
          <a:xfrm>
            <a:off x="6108192" y="1078992"/>
            <a:ext cx="2670048"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6254496" y="1197864"/>
            <a:ext cx="2377440"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Coding runtime</a:t>
            </a:r>
            <a:endParaRPr lang="en-US" sz="1500" dirty="0"/>
          </a:p>
        </p:txBody>
      </p:sp>
      <p:sp>
        <p:nvSpPr>
          <p:cNvPr id="13" name="Text 11"/>
          <p:cNvSpPr/>
          <p:nvPr/>
        </p:nvSpPr>
        <p:spPr>
          <a:xfrm>
            <a:off x="6254496" y="1581912"/>
            <a:ext cx="2377440"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Shell, file operations, and URL fetching when permitted</a:t>
            </a:r>
            <a:endParaRPr lang="en-US" sz="1150" dirty="0"/>
          </a:p>
        </p:txBody>
      </p:sp>
      <p:sp>
        <p:nvSpPr>
          <p:cNvPr id="14" name="Shape 12"/>
          <p:cNvSpPr/>
          <p:nvPr/>
        </p:nvSpPr>
        <p:spPr>
          <a:xfrm>
            <a:off x="365760" y="2935224"/>
            <a:ext cx="2670048"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512064" y="3054096"/>
            <a:ext cx="2377440"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MCP</a:t>
            </a:r>
            <a:endParaRPr lang="en-US" sz="1500" dirty="0"/>
          </a:p>
        </p:txBody>
      </p:sp>
      <p:sp>
        <p:nvSpPr>
          <p:cNvPr id="16" name="Text 14"/>
          <p:cNvSpPr/>
          <p:nvPr/>
        </p:nvSpPr>
        <p:spPr>
          <a:xfrm>
            <a:off x="512064" y="3438144"/>
            <a:ext cx="2377440"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Local stdio and remote HTTP server configuration</a:t>
            </a:r>
            <a:endParaRPr lang="en-US" sz="1150" dirty="0"/>
          </a:p>
        </p:txBody>
      </p:sp>
      <p:sp>
        <p:nvSpPr>
          <p:cNvPr id="17" name="Shape 15"/>
          <p:cNvSpPr/>
          <p:nvPr/>
        </p:nvSpPr>
        <p:spPr>
          <a:xfrm>
            <a:off x="3236976" y="2935224"/>
            <a:ext cx="2670048" cy="1655064"/>
          </a:xfrm>
          <a:prstGeom prst="roundRect">
            <a:avLst>
              <a:gd name="adj" fmla="val 3315"/>
            </a:avLst>
          </a:prstGeom>
          <a:solidFill>
            <a:srgbClr val="F3F4F6"/>
          </a:solidFill>
          <a:ln w="10160">
            <a:solidFill>
              <a:srgbClr val="D1D5DB"/>
            </a:solidFill>
            <a:prstDash val="solid"/>
          </a:ln>
        </p:spPr>
      </p:sp>
      <p:sp>
        <p:nvSpPr>
          <p:cNvPr id="18" name="Text 16"/>
          <p:cNvSpPr/>
          <p:nvPr/>
        </p:nvSpPr>
        <p:spPr>
          <a:xfrm>
            <a:off x="3383280" y="3054096"/>
            <a:ext cx="2377440"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Context providers</a:t>
            </a:r>
            <a:endParaRPr lang="en-US" sz="1500" dirty="0"/>
          </a:p>
        </p:txBody>
      </p:sp>
      <p:sp>
        <p:nvSpPr>
          <p:cNvPr id="19" name="Text 17"/>
          <p:cNvSpPr/>
          <p:nvPr/>
        </p:nvSpPr>
        <p:spPr>
          <a:xfrm>
            <a:off x="3383280" y="3438144"/>
            <a:ext cx="2377440"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Run before and after GitHub Copilot invocations</a:t>
            </a:r>
            <a:endParaRPr lang="en-US" sz="1150" dirty="0"/>
          </a:p>
        </p:txBody>
      </p:sp>
      <p:sp>
        <p:nvSpPr>
          <p:cNvPr id="20" name="Shape 18"/>
          <p:cNvSpPr/>
          <p:nvPr/>
        </p:nvSpPr>
        <p:spPr>
          <a:xfrm>
            <a:off x="365760" y="4773168"/>
            <a:ext cx="8412480" cy="0"/>
          </a:xfrm>
          <a:prstGeom prst="line">
            <a:avLst/>
          </a:prstGeom>
          <a:noFill/>
          <a:ln w="6350">
            <a:solidFill>
              <a:srgbClr val="D1D5DB"/>
            </a:solidFill>
            <a:prstDash val="solid"/>
          </a:ln>
        </p:spPr>
      </p:sp>
      <p:sp>
        <p:nvSpPr>
          <p:cNvPr id="21" name="Text 19"/>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https://learn.microsoft.com/en-us/agent-framework/integrations/by-component/agent-services/github-copilot?tabs=python</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OPTIONAL — Permissions are a hard boundary</a:t>
            </a:r>
            <a:endParaRPr lang="en-US" sz="2500" dirty="0"/>
          </a:p>
        </p:txBody>
      </p:sp>
      <p:sp>
        <p:nvSpPr>
          <p:cNvPr id="5" name="Shape 3"/>
          <p:cNvSpPr/>
          <p:nvPr/>
        </p:nvSpPr>
        <p:spPr>
          <a:xfrm>
            <a:off x="365760" y="1216152"/>
            <a:ext cx="2633472" cy="1572768"/>
          </a:xfrm>
          <a:prstGeom prst="roundRect">
            <a:avLst>
              <a:gd name="adj" fmla="val 3488"/>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Default deny</a:t>
            </a:r>
            <a:endParaRPr lang="en-US" sz="1500" dirty="0"/>
          </a:p>
        </p:txBody>
      </p:sp>
      <p:sp>
        <p:nvSpPr>
          <p:cNvPr id="9" name="Text 7"/>
          <p:cNvSpPr/>
          <p:nvPr/>
        </p:nvSpPr>
        <p:spPr>
          <a:xfrm>
            <a:off x="512064"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No shell, file read/write, or URL fetch</a:t>
            </a:r>
            <a:endParaRPr lang="en-US" sz="1150" dirty="0"/>
          </a:p>
        </p:txBody>
      </p:sp>
      <p:sp>
        <p:nvSpPr>
          <p:cNvPr id="10" name="Shape 8"/>
          <p:cNvSpPr/>
          <p:nvPr/>
        </p:nvSpPr>
        <p:spPr>
          <a:xfrm>
            <a:off x="3035808" y="1892808"/>
            <a:ext cx="164592" cy="219456"/>
          </a:xfrm>
          <a:prstGeom prst="chevron">
            <a:avLst/>
          </a:prstGeom>
          <a:solidFill>
            <a:srgbClr val="E8A87C"/>
          </a:solidFill>
          <a:ln/>
        </p:spPr>
      </p:sp>
      <p:sp>
        <p:nvSpPr>
          <p:cNvPr id="11" name="Shape 9"/>
          <p:cNvSpPr/>
          <p:nvPr/>
        </p:nvSpPr>
        <p:spPr>
          <a:xfrm>
            <a:off x="3255264" y="1216152"/>
            <a:ext cx="2633472" cy="1572768"/>
          </a:xfrm>
          <a:prstGeom prst="roundRect">
            <a:avLst>
              <a:gd name="adj" fmla="val 3488"/>
            </a:avLst>
          </a:prstGeom>
          <a:solidFill>
            <a:srgbClr val="F3F4F6"/>
          </a:solidFill>
          <a:ln w="10160">
            <a:solidFill>
              <a:srgbClr val="D1D5DB"/>
            </a:solidFill>
            <a:prstDash val="solid"/>
          </a:ln>
        </p:spPr>
      </p:sp>
      <p:sp>
        <p:nvSpPr>
          <p:cNvPr id="12" name="Shape 10"/>
          <p:cNvSpPr/>
          <p:nvPr/>
        </p:nvSpPr>
        <p:spPr>
          <a:xfrm>
            <a:off x="3364992" y="1335024"/>
            <a:ext cx="320040" cy="320040"/>
          </a:xfrm>
          <a:prstGeom prst="ellipse">
            <a:avLst/>
          </a:prstGeom>
          <a:solidFill>
            <a:srgbClr val="1E2761"/>
          </a:solidFill>
          <a:ln/>
        </p:spPr>
      </p:sp>
      <p:sp>
        <p:nvSpPr>
          <p:cNvPr id="13" name="Text 11"/>
          <p:cNvSpPr/>
          <p:nvPr/>
        </p:nvSpPr>
        <p:spPr>
          <a:xfrm>
            <a:off x="336499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785616"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Permission handler</a:t>
            </a:r>
            <a:endParaRPr lang="en-US" sz="1500" dirty="0"/>
          </a:p>
        </p:txBody>
      </p:sp>
      <p:sp>
        <p:nvSpPr>
          <p:cNvPr id="15" name="Text 13"/>
          <p:cNvSpPr/>
          <p:nvPr/>
        </p:nvSpPr>
        <p:spPr>
          <a:xfrm>
            <a:off x="3401568"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Your application approves or denies requests</a:t>
            </a:r>
            <a:endParaRPr lang="en-US" sz="1150" dirty="0"/>
          </a:p>
        </p:txBody>
      </p:sp>
      <p:sp>
        <p:nvSpPr>
          <p:cNvPr id="16" name="Shape 14"/>
          <p:cNvSpPr/>
          <p:nvPr/>
        </p:nvSpPr>
        <p:spPr>
          <a:xfrm>
            <a:off x="5925312" y="1892808"/>
            <a:ext cx="164592" cy="219456"/>
          </a:xfrm>
          <a:prstGeom prst="chevron">
            <a:avLst/>
          </a:prstGeom>
          <a:solidFill>
            <a:srgbClr val="E8A87C"/>
          </a:solidFill>
          <a:ln/>
        </p:spPr>
      </p:sp>
      <p:sp>
        <p:nvSpPr>
          <p:cNvPr id="17" name="Shape 15"/>
          <p:cNvSpPr/>
          <p:nvPr/>
        </p:nvSpPr>
        <p:spPr>
          <a:xfrm>
            <a:off x="6144768" y="1216152"/>
            <a:ext cx="2633472" cy="1572768"/>
          </a:xfrm>
          <a:prstGeom prst="roundRect">
            <a:avLst>
              <a:gd name="adj" fmla="val 3488"/>
            </a:avLst>
          </a:prstGeom>
          <a:solidFill>
            <a:srgbClr val="F3F4F6"/>
          </a:solidFill>
          <a:ln w="10160">
            <a:solidFill>
              <a:srgbClr val="D1D5DB"/>
            </a:solidFill>
            <a:prstDash val="solid"/>
          </a:ln>
        </p:spPr>
      </p:sp>
      <p:sp>
        <p:nvSpPr>
          <p:cNvPr id="18" name="Shape 16"/>
          <p:cNvSpPr/>
          <p:nvPr/>
        </p:nvSpPr>
        <p:spPr>
          <a:xfrm>
            <a:off x="6254496" y="1335024"/>
            <a:ext cx="320040" cy="320040"/>
          </a:xfrm>
          <a:prstGeom prst="ellipse">
            <a:avLst/>
          </a:prstGeom>
          <a:solidFill>
            <a:srgbClr val="1E2761"/>
          </a:solidFill>
          <a:ln/>
        </p:spPr>
      </p:sp>
      <p:sp>
        <p:nvSpPr>
          <p:cNvPr id="19" name="Text 17"/>
          <p:cNvSpPr/>
          <p:nvPr/>
        </p:nvSpPr>
        <p:spPr>
          <a:xfrm>
            <a:off x="625449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6675120"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Least privilege</a:t>
            </a:r>
            <a:endParaRPr lang="en-US" sz="1500" dirty="0"/>
          </a:p>
        </p:txBody>
      </p:sp>
      <p:sp>
        <p:nvSpPr>
          <p:cNvPr id="21" name="Text 19"/>
          <p:cNvSpPr/>
          <p:nvPr/>
        </p:nvSpPr>
        <p:spPr>
          <a:xfrm>
            <a:off x="6291072" y="17190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Limit workspace, credentials, and network access</a:t>
            </a:r>
            <a:endParaRPr lang="en-US" sz="1150" dirty="0"/>
          </a:p>
        </p:txBody>
      </p:sp>
      <p:sp>
        <p:nvSpPr>
          <p:cNvPr id="22" name="Shape 20"/>
          <p:cNvSpPr/>
          <p:nvPr/>
        </p:nvSpPr>
        <p:spPr>
          <a:xfrm>
            <a:off x="365760" y="3044952"/>
            <a:ext cx="2633472" cy="1572768"/>
          </a:xfrm>
          <a:prstGeom prst="roundRect">
            <a:avLst>
              <a:gd name="adj" fmla="val 3488"/>
            </a:avLst>
          </a:prstGeom>
          <a:solidFill>
            <a:srgbClr val="F3F4F6"/>
          </a:solidFill>
          <a:ln w="10160">
            <a:solidFill>
              <a:srgbClr val="D1D5DB"/>
            </a:solidFill>
            <a:prstDash val="solid"/>
          </a:ln>
        </p:spPr>
      </p:sp>
      <p:sp>
        <p:nvSpPr>
          <p:cNvPr id="23" name="Shape 21"/>
          <p:cNvSpPr/>
          <p:nvPr/>
        </p:nvSpPr>
        <p:spPr>
          <a:xfrm>
            <a:off x="475488" y="3163824"/>
            <a:ext cx="320040" cy="320040"/>
          </a:xfrm>
          <a:prstGeom prst="ellipse">
            <a:avLst/>
          </a:prstGeom>
          <a:solidFill>
            <a:srgbClr val="1E2761"/>
          </a:solidFill>
          <a:ln/>
        </p:spPr>
      </p:sp>
      <p:sp>
        <p:nvSpPr>
          <p:cNvPr id="24" name="Text 22"/>
          <p:cNvSpPr/>
          <p:nvPr/>
        </p:nvSpPr>
        <p:spPr>
          <a:xfrm>
            <a:off x="475488" y="32141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5" name="Text 23"/>
          <p:cNvSpPr/>
          <p:nvPr/>
        </p:nvSpPr>
        <p:spPr>
          <a:xfrm>
            <a:off x="896112" y="31638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Isolation</a:t>
            </a:r>
            <a:endParaRPr lang="en-US" sz="1500" dirty="0"/>
          </a:p>
        </p:txBody>
      </p:sp>
      <p:sp>
        <p:nvSpPr>
          <p:cNvPr id="26" name="Text 24"/>
          <p:cNvSpPr/>
          <p:nvPr/>
        </p:nvSpPr>
        <p:spPr>
          <a:xfrm>
            <a:off x="512064" y="35478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Prefer Docker or a dev container for shell/file permissions</a:t>
            </a:r>
            <a:endParaRPr lang="en-US" sz="1150" dirty="0"/>
          </a:p>
        </p:txBody>
      </p:sp>
      <p:sp>
        <p:nvSpPr>
          <p:cNvPr id="27" name="Shape 25"/>
          <p:cNvSpPr/>
          <p:nvPr/>
        </p:nvSpPr>
        <p:spPr>
          <a:xfrm>
            <a:off x="3035808" y="3721608"/>
            <a:ext cx="164592" cy="219456"/>
          </a:xfrm>
          <a:prstGeom prst="chevron">
            <a:avLst/>
          </a:prstGeom>
          <a:solidFill>
            <a:srgbClr val="E8A87C"/>
          </a:solidFill>
          <a:ln/>
        </p:spPr>
      </p:sp>
      <p:sp>
        <p:nvSpPr>
          <p:cNvPr id="28" name="Shape 26"/>
          <p:cNvSpPr/>
          <p:nvPr/>
        </p:nvSpPr>
        <p:spPr>
          <a:xfrm>
            <a:off x="3255264" y="3044952"/>
            <a:ext cx="2633472" cy="1572768"/>
          </a:xfrm>
          <a:prstGeom prst="roundRect">
            <a:avLst>
              <a:gd name="adj" fmla="val 3488"/>
            </a:avLst>
          </a:prstGeom>
          <a:solidFill>
            <a:srgbClr val="CADCFC"/>
          </a:solidFill>
          <a:ln w="10160">
            <a:solidFill>
              <a:srgbClr val="1E2761"/>
            </a:solidFill>
            <a:prstDash val="solid"/>
          </a:ln>
        </p:spPr>
      </p:sp>
      <p:sp>
        <p:nvSpPr>
          <p:cNvPr id="29" name="Shape 27"/>
          <p:cNvSpPr/>
          <p:nvPr/>
        </p:nvSpPr>
        <p:spPr>
          <a:xfrm>
            <a:off x="3364992" y="3163824"/>
            <a:ext cx="320040" cy="320040"/>
          </a:xfrm>
          <a:prstGeom prst="ellipse">
            <a:avLst/>
          </a:prstGeom>
          <a:solidFill>
            <a:srgbClr val="1E2761"/>
          </a:solidFill>
          <a:ln/>
        </p:spPr>
      </p:sp>
      <p:sp>
        <p:nvSpPr>
          <p:cNvPr id="30" name="Text 28"/>
          <p:cNvSpPr/>
          <p:nvPr/>
        </p:nvSpPr>
        <p:spPr>
          <a:xfrm>
            <a:off x="3364992" y="32141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9"/>
          <p:cNvSpPr/>
          <p:nvPr/>
        </p:nvSpPr>
        <p:spPr>
          <a:xfrm>
            <a:off x="3785616" y="31638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Audit</a:t>
            </a:r>
            <a:endParaRPr lang="en-US" sz="1500" dirty="0"/>
          </a:p>
        </p:txBody>
      </p:sp>
      <p:sp>
        <p:nvSpPr>
          <p:cNvPr id="32" name="Text 30"/>
          <p:cNvSpPr/>
          <p:nvPr/>
        </p:nvSpPr>
        <p:spPr>
          <a:xfrm>
            <a:off x="3401568" y="3547872"/>
            <a:ext cx="2340864" cy="950976"/>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Record the request and decision</a:t>
            </a:r>
            <a:endParaRPr lang="en-US" sz="1150" dirty="0"/>
          </a:p>
        </p:txBody>
      </p:sp>
      <p:sp>
        <p:nvSpPr>
          <p:cNvPr id="33" name="Shape 31"/>
          <p:cNvSpPr/>
          <p:nvPr/>
        </p:nvSpPr>
        <p:spPr>
          <a:xfrm>
            <a:off x="365760" y="4773168"/>
            <a:ext cx="8412480" cy="0"/>
          </a:xfrm>
          <a:prstGeom prst="line">
            <a:avLst/>
          </a:prstGeom>
          <a:noFill/>
          <a:ln w="6350">
            <a:solidFill>
              <a:srgbClr val="D1D5DB"/>
            </a:solidFill>
            <a:prstDash val="solid"/>
          </a:ln>
        </p:spPr>
      </p:sp>
      <p:sp>
        <p:nvSpPr>
          <p:cNvPr id="34" name="Text 32"/>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https://learn.microsoft.com/en-us/agent-framework/integrations/by-component/agent-services/github-copilot?tabs=python</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300" b="1" dirty="0">
                <a:solidFill>
                  <a:srgbClr val="1E2761"/>
                </a:solidFill>
                <a:latin typeface="Calibri" pitchFamily="34" charset="0"/>
                <a:ea typeface="Calibri" pitchFamily="34" charset="-122"/>
                <a:cs typeface="Calibri" pitchFamily="34" charset="-120"/>
              </a:rPr>
              <a:t>OPTIONAL — No official direct composition pattern</a:t>
            </a:r>
            <a:endParaRPr lang="en-US" sz="23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Do not teach</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create_harness_agent(client=GitHubCopilotAgent(...))</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Why</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The factory contract is a chat client; GitHubCopilotAgent is an Agent</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Supported view</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Choose one construction path for the application boundary</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Future-proofing</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Re-check official docs if a composition API is released</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https://learn.microsoft.com/en-us/agent-framework/concepts/harness?tabs=python  ·  +1 in notes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OPTIONAL — Choose the least opinionated fit</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1352006"/>
                <a:gridCol w="3680460"/>
                <a:gridCol w="3380014"/>
              </a:tblGrid>
              <a:tr h="6583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Choice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Best fit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 still own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Plain Agent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Focused assistant with explicit composition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Every provider, tool, policy, and loop choice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Harness Agent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Long-running work needing opinionated scaffolding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Configuration, storage, permissions, UX, eval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658368">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GitHubCopilotAgent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Coding-oriented Copilot runtime capabilities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Permission handler, isolation, tools, eval</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https://learn.microsoft.com/en-us/agent-framework/concepts/harness?tabs=python  ·  +1 in notes</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8 · OPTIONAL</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OPTIONAL — Takeaways</a:t>
            </a:r>
            <a:endParaRPr lang="en-US" sz="2800" dirty="0"/>
          </a:p>
        </p:txBody>
      </p:sp>
      <p:sp>
        <p:nvSpPr>
          <p:cNvPr id="5" name="Shape 3"/>
          <p:cNvSpPr/>
          <p:nvPr/>
        </p:nvSpPr>
        <p:spPr>
          <a:xfrm>
            <a:off x="502920" y="1097280"/>
            <a:ext cx="8138160" cy="585216"/>
          </a:xfrm>
          <a:prstGeom prst="roundRect">
            <a:avLst/>
          </a:prstGeom>
          <a:solidFill>
            <a:srgbClr val="F3F4F6"/>
          </a:solidFill>
          <a:ln w="6350">
            <a:solidFill>
              <a:srgbClr val="D1D5DB"/>
            </a:solidFill>
            <a:prstDash val="solid"/>
          </a:ln>
        </p:spPr>
      </p:sp>
      <p:sp>
        <p:nvSpPr>
          <p:cNvPr id="6" name="Shape 4"/>
          <p:cNvSpPr/>
          <p:nvPr/>
        </p:nvSpPr>
        <p:spPr>
          <a:xfrm>
            <a:off x="667512" y="1225296"/>
            <a:ext cx="256032" cy="256032"/>
          </a:xfrm>
          <a:prstGeom prst="ellipse">
            <a:avLst/>
          </a:prstGeom>
          <a:solidFill>
            <a:srgbClr val="1E2761"/>
          </a:solidFill>
          <a:ln/>
        </p:spPr>
      </p:sp>
      <p:sp>
        <p:nvSpPr>
          <p:cNvPr id="7" name="Text 5"/>
          <p:cNvSpPr/>
          <p:nvPr/>
        </p:nvSpPr>
        <p:spPr>
          <a:xfrm>
            <a:off x="667512" y="1252728"/>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8" name="Text 6"/>
          <p:cNvSpPr/>
          <p:nvPr/>
        </p:nvSpPr>
        <p:spPr>
          <a:xfrm>
            <a:off x="1042416" y="1207008"/>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treat Harness as released, opinionated MAF scaffolding with experimental edges.</a:t>
            </a:r>
            <a:endParaRPr lang="en-US" sz="1300" dirty="0"/>
          </a:p>
        </p:txBody>
      </p:sp>
      <p:sp>
        <p:nvSpPr>
          <p:cNvPr id="9" name="Shape 7"/>
          <p:cNvSpPr/>
          <p:nvPr/>
        </p:nvSpPr>
        <p:spPr>
          <a:xfrm>
            <a:off x="502920" y="1755648"/>
            <a:ext cx="8138160" cy="585216"/>
          </a:xfrm>
          <a:prstGeom prst="roundRect">
            <a:avLst/>
          </a:prstGeom>
          <a:solidFill>
            <a:srgbClr val="F3F4F6"/>
          </a:solidFill>
          <a:ln w="6350">
            <a:solidFill>
              <a:srgbClr val="D1D5DB"/>
            </a:solidFill>
            <a:prstDash val="solid"/>
          </a:ln>
        </p:spPr>
      </p:sp>
      <p:sp>
        <p:nvSpPr>
          <p:cNvPr id="10" name="Shape 8"/>
          <p:cNvSpPr/>
          <p:nvPr/>
        </p:nvSpPr>
        <p:spPr>
          <a:xfrm>
            <a:off x="667512" y="1883664"/>
            <a:ext cx="256032" cy="256032"/>
          </a:xfrm>
          <a:prstGeom prst="ellipse">
            <a:avLst/>
          </a:prstGeom>
          <a:solidFill>
            <a:srgbClr val="1E2761"/>
          </a:solidFill>
          <a:ln/>
        </p:spPr>
      </p:sp>
      <p:sp>
        <p:nvSpPr>
          <p:cNvPr id="11" name="Text 9"/>
          <p:cNvSpPr/>
          <p:nvPr/>
        </p:nvSpPr>
        <p:spPr>
          <a:xfrm>
            <a:off x="667512" y="1911096"/>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1042416" y="1865376"/>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do not let scaffolding hide sessions, providers, middleware, approvals, or evaluation.</a:t>
            </a:r>
            <a:endParaRPr lang="en-US" sz="1300" dirty="0"/>
          </a:p>
        </p:txBody>
      </p:sp>
      <p:sp>
        <p:nvSpPr>
          <p:cNvPr id="13" name="Shape 11"/>
          <p:cNvSpPr/>
          <p:nvPr/>
        </p:nvSpPr>
        <p:spPr>
          <a:xfrm>
            <a:off x="502920" y="2414016"/>
            <a:ext cx="8138160" cy="585216"/>
          </a:xfrm>
          <a:prstGeom prst="roundRect">
            <a:avLst/>
          </a:prstGeom>
          <a:solidFill>
            <a:srgbClr val="F3F4F6"/>
          </a:solidFill>
          <a:ln w="6350">
            <a:solidFill>
              <a:srgbClr val="D1D5DB"/>
            </a:solidFill>
            <a:prstDash val="solid"/>
          </a:ln>
        </p:spPr>
      </p:sp>
      <p:sp>
        <p:nvSpPr>
          <p:cNvPr id="14" name="Shape 12"/>
          <p:cNvSpPr/>
          <p:nvPr/>
        </p:nvSpPr>
        <p:spPr>
          <a:xfrm>
            <a:off x="667512" y="2542032"/>
            <a:ext cx="256032" cy="256032"/>
          </a:xfrm>
          <a:prstGeom prst="ellipse">
            <a:avLst/>
          </a:prstGeom>
          <a:solidFill>
            <a:srgbClr val="1E2761"/>
          </a:solidFill>
          <a:ln/>
        </p:spPr>
      </p:sp>
      <p:sp>
        <p:nvSpPr>
          <p:cNvPr id="15" name="Text 13"/>
          <p:cNvSpPr/>
          <p:nvPr/>
        </p:nvSpPr>
        <p:spPr>
          <a:xfrm>
            <a:off x="667512" y="2569464"/>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42416" y="2523744"/>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treat GitHubCopilotAgent as a separate standard MAF agent service integration.</a:t>
            </a:r>
            <a:endParaRPr lang="en-US" sz="1300" dirty="0"/>
          </a:p>
        </p:txBody>
      </p:sp>
      <p:sp>
        <p:nvSpPr>
          <p:cNvPr id="17" name="Shape 15"/>
          <p:cNvSpPr/>
          <p:nvPr/>
        </p:nvSpPr>
        <p:spPr>
          <a:xfrm>
            <a:off x="502920" y="3072384"/>
            <a:ext cx="8138160" cy="585216"/>
          </a:xfrm>
          <a:prstGeom prst="roundRect">
            <a:avLst/>
          </a:prstGeom>
          <a:solidFill>
            <a:srgbClr val="F3F4F6"/>
          </a:solidFill>
          <a:ln w="6350">
            <a:solidFill>
              <a:srgbClr val="D1D5DB"/>
            </a:solidFill>
            <a:prstDash val="solid"/>
          </a:ln>
        </p:spPr>
      </p:sp>
      <p:sp>
        <p:nvSpPr>
          <p:cNvPr id="18" name="Shape 16"/>
          <p:cNvSpPr/>
          <p:nvPr/>
        </p:nvSpPr>
        <p:spPr>
          <a:xfrm>
            <a:off x="667512" y="3200400"/>
            <a:ext cx="256032" cy="256032"/>
          </a:xfrm>
          <a:prstGeom prst="ellipse">
            <a:avLst/>
          </a:prstGeom>
          <a:solidFill>
            <a:srgbClr val="1E2761"/>
          </a:solidFill>
          <a:ln/>
        </p:spPr>
      </p:sp>
      <p:sp>
        <p:nvSpPr>
          <p:cNvPr id="19" name="Text 17"/>
          <p:cNvSpPr/>
          <p:nvPr/>
        </p:nvSpPr>
        <p:spPr>
          <a:xfrm>
            <a:off x="667512" y="3227832"/>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042416" y="3182112"/>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isolate and explicitly permission shell and file capabilities.</a:t>
            </a:r>
            <a:endParaRPr lang="en-US" sz="1300" dirty="0"/>
          </a:p>
        </p:txBody>
      </p:sp>
      <p:sp>
        <p:nvSpPr>
          <p:cNvPr id="21" name="Shape 19"/>
          <p:cNvSpPr/>
          <p:nvPr/>
        </p:nvSpPr>
        <p:spPr>
          <a:xfrm>
            <a:off x="502920" y="3730752"/>
            <a:ext cx="8138160" cy="585216"/>
          </a:xfrm>
          <a:prstGeom prst="roundRect">
            <a:avLst/>
          </a:prstGeom>
          <a:solidFill>
            <a:srgbClr val="F3F4F6"/>
          </a:solidFill>
          <a:ln w="6350">
            <a:solidFill>
              <a:srgbClr val="D1D5DB"/>
            </a:solidFill>
            <a:prstDash val="solid"/>
          </a:ln>
        </p:spPr>
      </p:sp>
      <p:sp>
        <p:nvSpPr>
          <p:cNvPr id="22" name="Shape 20"/>
          <p:cNvSpPr/>
          <p:nvPr/>
        </p:nvSpPr>
        <p:spPr>
          <a:xfrm>
            <a:off x="667512" y="3858768"/>
            <a:ext cx="256032" cy="256032"/>
          </a:xfrm>
          <a:prstGeom prst="ellipse">
            <a:avLst/>
          </a:prstGeom>
          <a:solidFill>
            <a:srgbClr val="1E2761"/>
          </a:solidFill>
          <a:ln/>
        </p:spPr>
      </p:sp>
      <p:sp>
        <p:nvSpPr>
          <p:cNvPr id="23" name="Text 21"/>
          <p:cNvSpPr/>
          <p:nvPr/>
        </p:nvSpPr>
        <p:spPr>
          <a:xfrm>
            <a:off x="667512" y="3886200"/>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042416" y="3840480"/>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do not assume an undocumented Harness + GitHubCopilotAgent composition.</a:t>
            </a:r>
            <a:endParaRPr lang="en-US" sz="1300" dirty="0"/>
          </a:p>
        </p:txBody>
      </p:sp>
      <p:sp>
        <p:nvSpPr>
          <p:cNvPr id="25" name="Shape 23"/>
          <p:cNvSpPr/>
          <p:nvPr/>
        </p:nvSpPr>
        <p:spPr>
          <a:xfrm>
            <a:off x="365760" y="4773168"/>
            <a:ext cx="8412480" cy="0"/>
          </a:xfrm>
          <a:prstGeom prst="line">
            <a:avLst/>
          </a:prstGeom>
          <a:noFill/>
          <a:ln w="6350">
            <a:solidFill>
              <a:srgbClr val="D1D5DB"/>
            </a:solidFill>
            <a:prstDash val="solid"/>
          </a:ln>
        </p:spPr>
      </p:sp>
      <p:sp>
        <p:nvSpPr>
          <p:cNvPr id="26" name="Text 2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https://learn.microsoft.com/en-us/agent-framework/concepts/harness?tabs=python  ·  +1 in notes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OPTIONAL — Agent Harness + GitHub Copilot Agent</dc:title>
  <dc:subject>Day 3 — Single-Agent Runtime + MCP</dc:subject>
  <dc:creator>Building AI Apps and Agents Workshop</dc:creator>
  <cp:lastModifiedBy>Building AI Apps and Agents Workshop</cp:lastModifiedBy>
  <cp:revision>1</cp:revision>
  <dcterms:created xsi:type="dcterms:W3CDTF">2026-08-31T14:45:52Z</dcterms:created>
  <dcterms:modified xsi:type="dcterms:W3CDTF">2026-08-31T14:45:52Z</dcterms:modified>
</cp:coreProperties>
</file>