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Frame two distinct contracts: streaming improves perceived responsiveness, while structured output improves downstream reliability. You can combine them, but parsing happens only after completion.
• GROUNDING SOURCE: https://learn.microsoft.com/en-us/agent-framework/concepts/agents/running-agents?tabs=python
• GROUNDING SOURCE: https://learn.microsoft.com/en-us/agent-framework/agents/structured-outputs?tabs=python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run method is the same. Without stream=True, await an AgentResponse. With stream=True, iterate a ResponseStream and optionally finalize it.
• GROUNDING SOURCE: https://learn.microsoft.com/en-us/agent-framework/concepts/agents/running-agents?tabs=python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Pattern one is display-only iteration. Pattern two iterates and then finalizes. Pattern three skips display and lets get_final_response consume the stream. Pick based on the application's UX and data contract.
• GROUNDING SOURCE: https://learn.microsoft.com/en-us/agent-framework/concepts/agents/running-agents?tabs=python
• GROUNDING SOURCE: https://learn.microsoft.com/en-us/agent-framework/agents/structured-outputs?tabs=python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Avoid teaching a stream as just text chunks. Update.text is convenient, but contents can represent function calls, results, reasoning, usage, and other typed events supported by the client. Consumers should branch on content types they understand.
• GROUNDING SOURCE: https://learn.microsoft.com/en-us/agent-framework/concepts/agents/running-agents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Correct a common SDK-shape mistake. response_format is nested in options. Instructions and tools are direct run kwargs when overriding them for one invocation.
• GROUNDING SOURCE: https://learn.microsoft.com/en-us/agent-framework/concepts/agents/running-agents?tabs=python
• GROUNDING SOURCE: https://learn.microsoft.com/en-us/agent-framework/agents/structured-outputs?tabs=python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model class becomes the requested schema when the underlying client supports structured outputs. On success, response.value is a TriageResult instance. Do not promise support for every model or agent type.
• GROUNDING SOURCE: https://learn.microsoft.com/en-us/agent-framework/agents/structured-outputs?tabs=python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Use a mapping when the schema is dynamic or comes from configuration. In this mode response.value is parsed JSON, typically a dict or list, rather than a Pydantic instance.
• GROUNDING SOURCE: https://learn.microsoft.com/en-us/agent-framework/agents/structured-outputs?tabs=python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Tie this to the workshop scenario. The assistant can answer from docs, request more information, or recommend an Azure DevOps work item. The typed result is an application contract, not permission to execute a write.
• GROUNDING SOURCE: https://learn.microsoft.com/en-us/agent-framework/agents/structured-outputs?tabs=python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This is the canonical combined pattern. You may display update.text, but the value you trust comes from the final response after the stream has completed.
• GROUNDING SOURCE: https://learn.microsoft.com/en-us/agent-framework/agents/structured-outputs?tabs=python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Placeholder marker slide — the runbook has full narration, setup, and fallback plan. Runs the previous slide's exact combined pattern live against the Day 2 docs assistant, now returning a Day-3-shaped TriageResult.
• GROUNDING SOURCE: https://learn.microsoft.com/en-us/agent-framework/agents/structured-outputs?tabs=python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 token prefix can be syntactically incomplete and semantically unstable. Do not parse or trigger business actions from partial JSON. Finalization assembles the response and applies structured-output parsing.
• GROUNDING SOURCE: https://learn.microsoft.com/en-us/agent-framework/agents/structured-outputs?tabs=python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Keep the claim narrow. Agent supports structured outputs when paired with a compatible chat client and model. Examples in this course use FoundryChatClient where documented; attendees must verify the selected deployment supports the requested format.
• GROUNDING SOURCE: https://learn.microsoft.com/en-us/agent-framework/agents/structured-outputs?tabs=python
• GROUNDING SOURCE: https://learn.microsoft.com/en-us/agent-framework/integrations/by-component/model-providers/microsoft-foundry?tabs=python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Ask which row fits each UI. A console can stream text; a workflow handoff should usually consume a structured final value; a rich UI can do both.
• GROUNDING SOURCE: https://learn.microsoft.com/en-us/agent-framework/concepts/agents/running-agents?tabs=python
• GROUNDING SOURCE: https://learn.microsoft.com/en-us/agent-framework/agents/structured-outputs?tabs=python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Close with the two-contract model. Preview compaction as a separate concern: it changes which history reaches a self-managed agent, not how a response stream is consumed.
• GROUNDING SOURCE: https://learn.microsoft.com/en-us/agent-framework/agents/structured-outputs?tabs=python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548640" y="457200"/>
            <a:ext cx="8046720" cy="365760"/>
          </a:xfrm>
          <a:prstGeom prst="rect">
            <a:avLst/>
          </a:prstGeom>
          <a:noFill/>
          <a:ln/>
        </p:spPr>
        <p:txBody>
          <a:bodyPr wrap="square" rtlCol="0" anchor="ctr"/>
          <a:lstStyle/>
          <a:p>
            <a:pPr indent="0" marL="0">
              <a:buNone/>
            </a:pPr>
            <a:r>
              <a:rPr lang="en-US" sz="1000" spc="400" kern="0" dirty="0">
                <a:solidFill>
                  <a:srgbClr val="CADCFC"/>
                </a:solidFill>
                <a:latin typeface="Calibri" pitchFamily="34" charset="0"/>
                <a:ea typeface="Calibri" pitchFamily="34" charset="-122"/>
                <a:cs typeface="Calibri" pitchFamily="34" charset="-120"/>
              </a:rPr>
              <a:t>DAY 3 · MODULE 2 · 30 MIN</a:t>
            </a:r>
            <a:endParaRPr lang="en-US" sz="1000" dirty="0"/>
          </a:p>
        </p:txBody>
      </p:sp>
      <p:sp>
        <p:nvSpPr>
          <p:cNvPr id="3" name="Text 1"/>
          <p:cNvSpPr/>
          <p:nvPr/>
        </p:nvSpPr>
        <p:spPr>
          <a:xfrm>
            <a:off x="548640" y="1737360"/>
            <a:ext cx="8046720" cy="1280160"/>
          </a:xfrm>
          <a:prstGeom prst="rect">
            <a:avLst/>
          </a:prstGeom>
          <a:noFill/>
          <a:ln/>
        </p:spPr>
        <p:txBody>
          <a:bodyPr wrap="square"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Streaming &amp; Structured Outputs</a:t>
            </a:r>
            <a:endParaRPr lang="en-US" sz="4000" dirty="0"/>
          </a:p>
        </p:txBody>
      </p:sp>
      <p:sp>
        <p:nvSpPr>
          <p:cNvPr id="4" name="Text 2"/>
          <p:cNvSpPr/>
          <p:nvPr/>
        </p:nvSpPr>
        <p:spPr>
          <a:xfrm>
            <a:off x="548640" y="3017520"/>
            <a:ext cx="8046720" cy="640080"/>
          </a:xfrm>
          <a:prstGeom prst="rect">
            <a:avLst/>
          </a:prstGeom>
          <a:noFill/>
          <a:ln/>
        </p:spPr>
        <p:txBody>
          <a:bodyPr wrap="square" rtlCol="0" anchor="ctr"/>
          <a:lstStyle/>
          <a:p>
            <a:pPr indent="0" marL="0">
              <a:buNone/>
            </a:pPr>
            <a:r>
              <a:rPr lang="en-US" sz="1800" dirty="0">
                <a:solidFill>
                  <a:srgbClr val="CADCFC"/>
                </a:solidFill>
                <a:latin typeface="Calibri" pitchFamily="34" charset="0"/>
                <a:ea typeface="Calibri" pitchFamily="34" charset="-122"/>
                <a:cs typeface="Calibri" pitchFamily="34" charset="-120"/>
              </a:rPr>
              <a:t>Deliver progress now and a validated value at completion</a:t>
            </a:r>
            <a:endParaRPr lang="en-US" sz="1800" dirty="0"/>
          </a:p>
        </p:txBody>
      </p:sp>
      <p:sp>
        <p:nvSpPr>
          <p:cNvPr id="5" name="Text 3"/>
          <p:cNvSpPr/>
          <p:nvPr/>
        </p:nvSpPr>
        <p:spPr>
          <a:xfrm>
            <a:off x="548640" y="4572000"/>
            <a:ext cx="8046720" cy="365760"/>
          </a:xfrm>
          <a:prstGeom prst="rect">
            <a:avLst/>
          </a:prstGeom>
          <a:noFill/>
          <a:ln/>
        </p:spPr>
        <p:txBody>
          <a:bodyPr wrap="square" rtlCol="0" anchor="ctr"/>
          <a:lstStyle/>
          <a:p>
            <a:pPr indent="0" marL="0">
              <a:buNone/>
            </a:pPr>
            <a:r>
              <a:rPr lang="en-US" sz="1000" dirty="0">
                <a:solidFill>
                  <a:srgbClr val="CADCFC"/>
                </a:solidFill>
                <a:latin typeface="Calibri" pitchFamily="34" charset="0"/>
                <a:ea typeface="Calibri" pitchFamily="34" charset="-122"/>
                <a:cs typeface="Calibri" pitchFamily="34" charset="-120"/>
              </a:rPr>
              <a:t>Building AI Apps and Agents</a:t>
            </a:r>
            <a:endParaRPr lang="en-US" sz="1000" dirty="0"/>
          </a:p>
        </p:txBody>
      </p:sp>
      <p:sp>
        <p:nvSpPr>
          <p:cNvPr id="6" name="Shape 4"/>
          <p:cNvSpPr/>
          <p:nvPr/>
        </p:nvSpPr>
        <p:spPr>
          <a:xfrm>
            <a:off x="365760" y="4224528"/>
            <a:ext cx="8412480" cy="0"/>
          </a:xfrm>
          <a:prstGeom prst="line">
            <a:avLst/>
          </a:prstGeom>
          <a:noFill/>
          <a:ln w="6350">
            <a:solidFill>
              <a:srgbClr val="CADCFC"/>
            </a:solidFill>
            <a:prstDash val="solid"/>
          </a:ln>
        </p:spPr>
      </p:sp>
      <p:sp>
        <p:nvSpPr>
          <p:cNvPr id="7" name="Text 5"/>
          <p:cNvSpPr/>
          <p:nvPr/>
        </p:nvSpPr>
        <p:spPr>
          <a:xfrm>
            <a:off x="384048" y="4270248"/>
            <a:ext cx="8275320" cy="182880"/>
          </a:xfrm>
          <a:prstGeom prst="rect">
            <a:avLst/>
          </a:prstGeom>
          <a:noFill/>
          <a:ln/>
        </p:spPr>
        <p:txBody>
          <a:bodyPr wrap="square" lIns="0" tIns="0" rIns="0" bIns="0" rtlCol="0" anchor="ctr">
            <a:normAutofit/>
          </a:bodyPr>
          <a:lstStyle/>
          <a:p>
            <a:pPr indent="0" marL="0">
              <a:buNone/>
            </a:pPr>
            <a:r>
              <a:rPr lang="en-US" sz="820" dirty="0">
                <a:solidFill>
                  <a:srgbClr val="CADCFC"/>
                </a:solidFill>
                <a:latin typeface="Calibri" pitchFamily="34" charset="0"/>
                <a:ea typeface="Calibri" pitchFamily="34" charset="-122"/>
                <a:cs typeface="Calibri" pitchFamily="34" charset="-120"/>
              </a:rPr>
              <a:t>Source: https://learn.microsoft.com/en-us/agent-framework/concepts/agents/running-agents?tabs=python  ·  +1 in notes</a:t>
            </a:r>
            <a:endParaRPr lang="en-US" sz="82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2</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One run API, two return shapes</a:t>
            </a:r>
            <a:endParaRPr lang="en-US" sz="2800" dirty="0"/>
          </a:p>
        </p:txBody>
      </p:sp>
      <p:sp>
        <p:nvSpPr>
          <p:cNvPr id="5" name="Shape 3"/>
          <p:cNvSpPr/>
          <p:nvPr/>
        </p:nvSpPr>
        <p:spPr>
          <a:xfrm>
            <a:off x="365760" y="1078992"/>
            <a:ext cx="4114800" cy="3493008"/>
          </a:xfrm>
          <a:prstGeom prst="roundRect">
            <a:avLst/>
          </a:prstGeom>
          <a:solidFill>
            <a:srgbClr val="F3F4F6"/>
          </a:solidFill>
          <a:ln w="11430">
            <a:solidFill>
              <a:srgbClr val="D1D5DB"/>
            </a:solidFill>
            <a:prstDash val="solid"/>
          </a:ln>
        </p:spPr>
      </p:sp>
      <p:sp>
        <p:nvSpPr>
          <p:cNvPr id="6" name="Text 4"/>
          <p:cNvSpPr/>
          <p:nvPr/>
        </p:nvSpPr>
        <p:spPr>
          <a:xfrm>
            <a:off x="566928" y="1298448"/>
            <a:ext cx="3712464" cy="411480"/>
          </a:xfrm>
          <a:prstGeom prst="rect">
            <a:avLst/>
          </a:prstGeom>
          <a:noFill/>
          <a:ln/>
        </p:spPr>
        <p:txBody>
          <a:bodyPr wrap="square" lIns="0" tIns="0" rIns="0" bIns="0" rtlCol="0" anchor="ctr">
            <a:normAutofit/>
          </a:bodyPr>
          <a:lstStyle/>
          <a:p>
            <a:pPr indent="0" marL="0">
              <a:buNone/>
            </a:pPr>
            <a:r>
              <a:rPr lang="en-US" sz="2000" b="1" dirty="0">
                <a:solidFill>
                  <a:srgbClr val="1E2761"/>
                </a:solidFill>
                <a:latin typeface="Calibri" pitchFamily="34" charset="0"/>
                <a:ea typeface="Calibri" pitchFamily="34" charset="-122"/>
                <a:cs typeface="Calibri" pitchFamily="34" charset="-120"/>
              </a:rPr>
              <a:t>Non-streaming</a:t>
            </a:r>
            <a:endParaRPr lang="en-US" sz="2000" dirty="0"/>
          </a:p>
        </p:txBody>
      </p:sp>
      <p:sp>
        <p:nvSpPr>
          <p:cNvPr id="7" name="Text 5"/>
          <p:cNvSpPr/>
          <p:nvPr/>
        </p:nvSpPr>
        <p:spPr>
          <a:xfrm>
            <a:off x="594360" y="1828800"/>
            <a:ext cx="3639312" cy="2395728"/>
          </a:xfrm>
          <a:prstGeom prst="rect">
            <a:avLst/>
          </a:prstGeom>
          <a:noFill/>
          <a:ln/>
        </p:spPr>
        <p:txBody>
          <a:bodyPr wrap="square" lIns="381" tIns="381" rIns="381" bIns="381" rtlCol="0" anchor="ctr">
            <a:normAutofit/>
          </a:bodyPr>
          <a:lstStyle/>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await agent.run(...)</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Returns AgentResponse</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Read .text, .value, and typed contents</a:t>
            </a:r>
            <a:endParaRPr lang="en-US" sz="1300" dirty="0"/>
          </a:p>
        </p:txBody>
      </p:sp>
      <p:sp>
        <p:nvSpPr>
          <p:cNvPr id="8" name="Shape 6"/>
          <p:cNvSpPr/>
          <p:nvPr/>
        </p:nvSpPr>
        <p:spPr>
          <a:xfrm>
            <a:off x="4663440" y="1078992"/>
            <a:ext cx="4114800" cy="3493008"/>
          </a:xfrm>
          <a:prstGeom prst="roundRect">
            <a:avLst/>
          </a:prstGeom>
          <a:solidFill>
            <a:srgbClr val="CADCFC"/>
          </a:solidFill>
          <a:ln w="11430">
            <a:solidFill>
              <a:srgbClr val="1E2761"/>
            </a:solidFill>
            <a:prstDash val="solid"/>
          </a:ln>
        </p:spPr>
      </p:sp>
      <p:sp>
        <p:nvSpPr>
          <p:cNvPr id="9" name="Text 7"/>
          <p:cNvSpPr/>
          <p:nvPr/>
        </p:nvSpPr>
        <p:spPr>
          <a:xfrm>
            <a:off x="4864608" y="1298448"/>
            <a:ext cx="3712464" cy="411480"/>
          </a:xfrm>
          <a:prstGeom prst="rect">
            <a:avLst/>
          </a:prstGeom>
          <a:noFill/>
          <a:ln/>
        </p:spPr>
        <p:txBody>
          <a:bodyPr wrap="square" lIns="0" tIns="0" rIns="0" bIns="0" rtlCol="0" anchor="ctr">
            <a:normAutofit/>
          </a:bodyPr>
          <a:lstStyle/>
          <a:p>
            <a:pPr indent="0" marL="0">
              <a:buNone/>
            </a:pPr>
            <a:r>
              <a:rPr lang="en-US" sz="2000" b="1" dirty="0">
                <a:solidFill>
                  <a:srgbClr val="1E2761"/>
                </a:solidFill>
                <a:latin typeface="Calibri" pitchFamily="34" charset="0"/>
                <a:ea typeface="Calibri" pitchFamily="34" charset="-122"/>
                <a:cs typeface="Calibri" pitchFamily="34" charset="-120"/>
              </a:rPr>
              <a:t>Streaming</a:t>
            </a:r>
            <a:endParaRPr lang="en-US" sz="2000" dirty="0"/>
          </a:p>
        </p:txBody>
      </p:sp>
      <p:sp>
        <p:nvSpPr>
          <p:cNvPr id="10" name="Text 8"/>
          <p:cNvSpPr/>
          <p:nvPr/>
        </p:nvSpPr>
        <p:spPr>
          <a:xfrm>
            <a:off x="4892040" y="1828800"/>
            <a:ext cx="3639312" cy="2395728"/>
          </a:xfrm>
          <a:prstGeom prst="rect">
            <a:avLst/>
          </a:prstGeom>
          <a:noFill/>
          <a:ln/>
        </p:spPr>
        <p:txBody>
          <a:bodyPr wrap="square" lIns="381" tIns="381" rIns="381" bIns="381" rtlCol="0" anchor="ctr">
            <a:normAutofit/>
          </a:bodyPr>
          <a:lstStyle/>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agent.run(..., stream=True)</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Returns ResponseStream</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Iterate AgentResponseUpdate values</a:t>
            </a:r>
            <a:endParaRPr lang="en-US" sz="1300" dirty="0"/>
          </a:p>
        </p:txBody>
      </p:sp>
      <p:sp>
        <p:nvSpPr>
          <p:cNvPr id="11" name="Shape 9"/>
          <p:cNvSpPr/>
          <p:nvPr/>
        </p:nvSpPr>
        <p:spPr>
          <a:xfrm>
            <a:off x="365760" y="4773168"/>
            <a:ext cx="8412480" cy="0"/>
          </a:xfrm>
          <a:prstGeom prst="line">
            <a:avLst/>
          </a:prstGeom>
          <a:noFill/>
          <a:ln w="6350">
            <a:solidFill>
              <a:srgbClr val="D1D5DB"/>
            </a:solidFill>
            <a:prstDash val="solid"/>
          </a:ln>
        </p:spPr>
      </p:sp>
      <p:sp>
        <p:nvSpPr>
          <p:cNvPr id="12" name="Text 10"/>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https://learn.microsoft.com/en-us/agent-framework/concepts/agents/running-agents?tabs=python</a:t>
            </a:r>
            <a:endParaRPr lang="en-US" sz="8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2</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Three ways to consume ResponseStream</a:t>
            </a:r>
            <a:endParaRPr lang="en-US" sz="2500" dirty="0"/>
          </a:p>
        </p:txBody>
      </p:sp>
      <p:sp>
        <p:nvSpPr>
          <p:cNvPr id="5" name="Shape 3"/>
          <p:cNvSpPr/>
          <p:nvPr/>
        </p:nvSpPr>
        <p:spPr>
          <a:xfrm>
            <a:off x="365760" y="1216152"/>
            <a:ext cx="2633472" cy="2148840"/>
          </a:xfrm>
          <a:prstGeom prst="roundRect">
            <a:avLst>
              <a:gd name="adj" fmla="val 2553"/>
            </a:avLst>
          </a:prstGeom>
          <a:solidFill>
            <a:srgbClr val="CADCFC"/>
          </a:solidFill>
          <a:ln w="10160">
            <a:solidFill>
              <a:srgbClr val="1E2761"/>
            </a:solidFill>
            <a:prstDash val="solid"/>
          </a:ln>
        </p:spPr>
      </p:sp>
      <p:sp>
        <p:nvSpPr>
          <p:cNvPr id="6" name="Shape 4"/>
          <p:cNvSpPr/>
          <p:nvPr/>
        </p:nvSpPr>
        <p:spPr>
          <a:xfrm>
            <a:off x="475488" y="1335024"/>
            <a:ext cx="320040" cy="320040"/>
          </a:xfrm>
          <a:prstGeom prst="ellipse">
            <a:avLst/>
          </a:prstGeom>
          <a:solidFill>
            <a:srgbClr val="1E2761"/>
          </a:solidFill>
          <a:ln/>
        </p:spPr>
      </p:sp>
      <p:sp>
        <p:nvSpPr>
          <p:cNvPr id="7" name="Text 5"/>
          <p:cNvSpPr/>
          <p:nvPr/>
        </p:nvSpPr>
        <p:spPr>
          <a:xfrm>
            <a:off x="475488" y="13853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8" name="Text 6"/>
          <p:cNvSpPr/>
          <p:nvPr/>
        </p:nvSpPr>
        <p:spPr>
          <a:xfrm>
            <a:off x="896112" y="1335024"/>
            <a:ext cx="1975104"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Iterate only</a:t>
            </a:r>
            <a:endParaRPr lang="en-US" sz="1500" dirty="0"/>
          </a:p>
        </p:txBody>
      </p:sp>
      <p:sp>
        <p:nvSpPr>
          <p:cNvPr id="9" name="Text 7"/>
          <p:cNvSpPr/>
          <p:nvPr/>
        </p:nvSpPr>
        <p:spPr>
          <a:xfrm>
            <a:off x="512064" y="1719072"/>
            <a:ext cx="2340864" cy="1527048"/>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Render each update as it arrives</a:t>
            </a:r>
            <a:endParaRPr lang="en-US" sz="1150" dirty="0"/>
          </a:p>
        </p:txBody>
      </p:sp>
      <p:sp>
        <p:nvSpPr>
          <p:cNvPr id="10" name="Shape 8"/>
          <p:cNvSpPr/>
          <p:nvPr/>
        </p:nvSpPr>
        <p:spPr>
          <a:xfrm>
            <a:off x="3035808" y="2180844"/>
            <a:ext cx="164592" cy="219456"/>
          </a:xfrm>
          <a:prstGeom prst="chevron">
            <a:avLst/>
          </a:prstGeom>
          <a:solidFill>
            <a:srgbClr val="E8A87C"/>
          </a:solidFill>
          <a:ln/>
        </p:spPr>
      </p:sp>
      <p:sp>
        <p:nvSpPr>
          <p:cNvPr id="11" name="Shape 9"/>
          <p:cNvSpPr/>
          <p:nvPr/>
        </p:nvSpPr>
        <p:spPr>
          <a:xfrm>
            <a:off x="3255264" y="1216152"/>
            <a:ext cx="2633472" cy="2148840"/>
          </a:xfrm>
          <a:prstGeom prst="roundRect">
            <a:avLst>
              <a:gd name="adj" fmla="val 2553"/>
            </a:avLst>
          </a:prstGeom>
          <a:solidFill>
            <a:srgbClr val="F3F4F6"/>
          </a:solidFill>
          <a:ln w="10160">
            <a:solidFill>
              <a:srgbClr val="D1D5DB"/>
            </a:solidFill>
            <a:prstDash val="solid"/>
          </a:ln>
        </p:spPr>
      </p:sp>
      <p:sp>
        <p:nvSpPr>
          <p:cNvPr id="12" name="Shape 10"/>
          <p:cNvSpPr/>
          <p:nvPr/>
        </p:nvSpPr>
        <p:spPr>
          <a:xfrm>
            <a:off x="3364992" y="1335024"/>
            <a:ext cx="320040" cy="320040"/>
          </a:xfrm>
          <a:prstGeom prst="ellipse">
            <a:avLst/>
          </a:prstGeom>
          <a:solidFill>
            <a:srgbClr val="1E2761"/>
          </a:solidFill>
          <a:ln/>
        </p:spPr>
      </p:sp>
      <p:sp>
        <p:nvSpPr>
          <p:cNvPr id="13" name="Text 11"/>
          <p:cNvSpPr/>
          <p:nvPr/>
        </p:nvSpPr>
        <p:spPr>
          <a:xfrm>
            <a:off x="3364992" y="13853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14" name="Text 12"/>
          <p:cNvSpPr/>
          <p:nvPr/>
        </p:nvSpPr>
        <p:spPr>
          <a:xfrm>
            <a:off x="3785616" y="1335024"/>
            <a:ext cx="1975104"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Iterate + finalize</a:t>
            </a:r>
            <a:endParaRPr lang="en-US" sz="1500" dirty="0"/>
          </a:p>
        </p:txBody>
      </p:sp>
      <p:sp>
        <p:nvSpPr>
          <p:cNvPr id="15" name="Text 13"/>
          <p:cNvSpPr/>
          <p:nvPr/>
        </p:nvSpPr>
        <p:spPr>
          <a:xfrm>
            <a:off x="3401568" y="1719072"/>
            <a:ext cx="2340864" cy="1527048"/>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Render updates, then await get_final_response()</a:t>
            </a:r>
            <a:endParaRPr lang="en-US" sz="1150" dirty="0"/>
          </a:p>
        </p:txBody>
      </p:sp>
      <p:sp>
        <p:nvSpPr>
          <p:cNvPr id="16" name="Shape 14"/>
          <p:cNvSpPr/>
          <p:nvPr/>
        </p:nvSpPr>
        <p:spPr>
          <a:xfrm>
            <a:off x="5925312" y="2180844"/>
            <a:ext cx="164592" cy="219456"/>
          </a:xfrm>
          <a:prstGeom prst="chevron">
            <a:avLst/>
          </a:prstGeom>
          <a:solidFill>
            <a:srgbClr val="E8A87C"/>
          </a:solidFill>
          <a:ln/>
        </p:spPr>
      </p:sp>
      <p:sp>
        <p:nvSpPr>
          <p:cNvPr id="17" name="Shape 15"/>
          <p:cNvSpPr/>
          <p:nvPr/>
        </p:nvSpPr>
        <p:spPr>
          <a:xfrm>
            <a:off x="6144768" y="1216152"/>
            <a:ext cx="2633472" cy="2148840"/>
          </a:xfrm>
          <a:prstGeom prst="roundRect">
            <a:avLst>
              <a:gd name="adj" fmla="val 2553"/>
            </a:avLst>
          </a:prstGeom>
          <a:solidFill>
            <a:srgbClr val="CADCFC"/>
          </a:solidFill>
          <a:ln w="10160">
            <a:solidFill>
              <a:srgbClr val="1E2761"/>
            </a:solidFill>
            <a:prstDash val="solid"/>
          </a:ln>
        </p:spPr>
      </p:sp>
      <p:sp>
        <p:nvSpPr>
          <p:cNvPr id="18" name="Shape 16"/>
          <p:cNvSpPr/>
          <p:nvPr/>
        </p:nvSpPr>
        <p:spPr>
          <a:xfrm>
            <a:off x="6254496" y="1335024"/>
            <a:ext cx="320040" cy="320040"/>
          </a:xfrm>
          <a:prstGeom prst="ellipse">
            <a:avLst/>
          </a:prstGeom>
          <a:solidFill>
            <a:srgbClr val="1E2761"/>
          </a:solidFill>
          <a:ln/>
        </p:spPr>
      </p:sp>
      <p:sp>
        <p:nvSpPr>
          <p:cNvPr id="19" name="Text 17"/>
          <p:cNvSpPr/>
          <p:nvPr/>
        </p:nvSpPr>
        <p:spPr>
          <a:xfrm>
            <a:off x="6254496" y="13853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3</a:t>
            </a:r>
            <a:endParaRPr lang="en-US" sz="900" dirty="0"/>
          </a:p>
        </p:txBody>
      </p:sp>
      <p:sp>
        <p:nvSpPr>
          <p:cNvPr id="20" name="Text 18"/>
          <p:cNvSpPr/>
          <p:nvPr/>
        </p:nvSpPr>
        <p:spPr>
          <a:xfrm>
            <a:off x="6675120" y="1335024"/>
            <a:ext cx="1975104"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Finalize only</a:t>
            </a:r>
            <a:endParaRPr lang="en-US" sz="1500" dirty="0"/>
          </a:p>
        </p:txBody>
      </p:sp>
      <p:sp>
        <p:nvSpPr>
          <p:cNvPr id="21" name="Text 19"/>
          <p:cNvSpPr/>
          <p:nvPr/>
        </p:nvSpPr>
        <p:spPr>
          <a:xfrm>
            <a:off x="6291072" y="1719072"/>
            <a:ext cx="2340864" cy="1527048"/>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Skip iteration; finalizer consumes the stream</a:t>
            </a:r>
            <a:endParaRPr lang="en-US" sz="1150" dirty="0"/>
          </a:p>
        </p:txBody>
      </p:sp>
      <p:sp>
        <p:nvSpPr>
          <p:cNvPr id="22" name="Shape 20"/>
          <p:cNvSpPr/>
          <p:nvPr/>
        </p:nvSpPr>
        <p:spPr>
          <a:xfrm>
            <a:off x="365760" y="4773168"/>
            <a:ext cx="8412480" cy="0"/>
          </a:xfrm>
          <a:prstGeom prst="line">
            <a:avLst/>
          </a:prstGeom>
          <a:noFill/>
          <a:ln w="6350">
            <a:solidFill>
              <a:srgbClr val="D1D5DB"/>
            </a:solidFill>
            <a:prstDash val="solid"/>
          </a:ln>
        </p:spPr>
      </p:sp>
      <p:sp>
        <p:nvSpPr>
          <p:cNvPr id="23" name="Text 21"/>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https://learn.microsoft.com/en-us/agent-framework/concepts/agents/running-agents?tabs=python  ·  +1 in notes</a:t>
            </a:r>
            <a:endParaRPr lang="en-US" sz="8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2</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Updates carry typed contents</a:t>
            </a:r>
            <a:endParaRPr lang="en-US" sz="2800" dirty="0"/>
          </a:p>
        </p:txBody>
      </p:sp>
      <p:sp>
        <p:nvSpPr>
          <p:cNvPr id="5" name="Shape 3"/>
          <p:cNvSpPr/>
          <p:nvPr/>
        </p:nvSpPr>
        <p:spPr>
          <a:xfrm>
            <a:off x="365760" y="1078992"/>
            <a:ext cx="4105656" cy="1655064"/>
          </a:xfrm>
          <a:prstGeom prst="roundRect">
            <a:avLst>
              <a:gd name="adj" fmla="val 3315"/>
            </a:avLst>
          </a:prstGeom>
          <a:solidFill>
            <a:srgbClr val="CADCFC"/>
          </a:solidFill>
          <a:ln w="10160">
            <a:solidFill>
              <a:srgbClr val="1E2761"/>
            </a:solidFill>
            <a:prstDash val="solid"/>
          </a:ln>
        </p:spPr>
      </p:sp>
      <p:sp>
        <p:nvSpPr>
          <p:cNvPr id="6" name="Text 4"/>
          <p:cNvSpPr/>
          <p:nvPr/>
        </p:nvSpPr>
        <p:spPr>
          <a:xfrm>
            <a:off x="512064" y="1197864"/>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Text</a:t>
            </a:r>
            <a:endParaRPr lang="en-US" sz="1500" dirty="0"/>
          </a:p>
        </p:txBody>
      </p:sp>
      <p:sp>
        <p:nvSpPr>
          <p:cNvPr id="7" name="Text 5"/>
          <p:cNvSpPr/>
          <p:nvPr/>
        </p:nvSpPr>
        <p:spPr>
          <a:xfrm>
            <a:off x="512064" y="1581912"/>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Convenient update.text for display</a:t>
            </a:r>
            <a:endParaRPr lang="en-US" sz="1150" dirty="0"/>
          </a:p>
        </p:txBody>
      </p:sp>
      <p:sp>
        <p:nvSpPr>
          <p:cNvPr id="8" name="Shape 6"/>
          <p:cNvSpPr/>
          <p:nvPr/>
        </p:nvSpPr>
        <p:spPr>
          <a:xfrm>
            <a:off x="4672584" y="1078992"/>
            <a:ext cx="4105656" cy="1655064"/>
          </a:xfrm>
          <a:prstGeom prst="roundRect">
            <a:avLst>
              <a:gd name="adj" fmla="val 3315"/>
            </a:avLst>
          </a:prstGeom>
          <a:solidFill>
            <a:srgbClr val="F3F4F6"/>
          </a:solidFill>
          <a:ln w="10160">
            <a:solidFill>
              <a:srgbClr val="D1D5DB"/>
            </a:solidFill>
            <a:prstDash val="solid"/>
          </a:ln>
        </p:spPr>
      </p:sp>
      <p:sp>
        <p:nvSpPr>
          <p:cNvPr id="9" name="Text 7"/>
          <p:cNvSpPr/>
          <p:nvPr/>
        </p:nvSpPr>
        <p:spPr>
          <a:xfrm>
            <a:off x="4818888" y="1197864"/>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Function activity</a:t>
            </a:r>
            <a:endParaRPr lang="en-US" sz="1500" dirty="0"/>
          </a:p>
        </p:txBody>
      </p:sp>
      <p:sp>
        <p:nvSpPr>
          <p:cNvPr id="10" name="Text 8"/>
          <p:cNvSpPr/>
          <p:nvPr/>
        </p:nvSpPr>
        <p:spPr>
          <a:xfrm>
            <a:off x="4818888" y="1581912"/>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Calls and results can arrive as typed contents</a:t>
            </a:r>
            <a:endParaRPr lang="en-US" sz="1150" dirty="0"/>
          </a:p>
        </p:txBody>
      </p:sp>
      <p:sp>
        <p:nvSpPr>
          <p:cNvPr id="11" name="Shape 9"/>
          <p:cNvSpPr/>
          <p:nvPr/>
        </p:nvSpPr>
        <p:spPr>
          <a:xfrm>
            <a:off x="365760" y="2935224"/>
            <a:ext cx="4105656" cy="1655064"/>
          </a:xfrm>
          <a:prstGeom prst="roundRect">
            <a:avLst>
              <a:gd name="adj" fmla="val 3315"/>
            </a:avLst>
          </a:prstGeom>
          <a:solidFill>
            <a:srgbClr val="F3F4F6"/>
          </a:solidFill>
          <a:ln w="10160">
            <a:solidFill>
              <a:srgbClr val="D1D5DB"/>
            </a:solidFill>
            <a:prstDash val="solid"/>
          </a:ln>
        </p:spPr>
      </p:sp>
      <p:sp>
        <p:nvSpPr>
          <p:cNvPr id="12" name="Text 10"/>
          <p:cNvSpPr/>
          <p:nvPr/>
        </p:nvSpPr>
        <p:spPr>
          <a:xfrm>
            <a:off x="512064" y="3054096"/>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Metadata</a:t>
            </a:r>
            <a:endParaRPr lang="en-US" sz="1500" dirty="0"/>
          </a:p>
        </p:txBody>
      </p:sp>
      <p:sp>
        <p:nvSpPr>
          <p:cNvPr id="13" name="Text 11"/>
          <p:cNvSpPr/>
          <p:nvPr/>
        </p:nvSpPr>
        <p:spPr>
          <a:xfrm>
            <a:off x="512064" y="3438144"/>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Response IDs, roles, usage, and provider data may be present</a:t>
            </a:r>
            <a:endParaRPr lang="en-US" sz="1150" dirty="0"/>
          </a:p>
        </p:txBody>
      </p:sp>
      <p:sp>
        <p:nvSpPr>
          <p:cNvPr id="14" name="Shape 12"/>
          <p:cNvSpPr/>
          <p:nvPr/>
        </p:nvSpPr>
        <p:spPr>
          <a:xfrm>
            <a:off x="4672584" y="2935224"/>
            <a:ext cx="4105656" cy="1655064"/>
          </a:xfrm>
          <a:prstGeom prst="roundRect">
            <a:avLst>
              <a:gd name="adj" fmla="val 3315"/>
            </a:avLst>
          </a:prstGeom>
          <a:solidFill>
            <a:srgbClr val="F3F4F6"/>
          </a:solidFill>
          <a:ln w="10160">
            <a:solidFill>
              <a:srgbClr val="D1D5DB"/>
            </a:solidFill>
            <a:prstDash val="solid"/>
          </a:ln>
        </p:spPr>
      </p:sp>
      <p:sp>
        <p:nvSpPr>
          <p:cNvPr id="15" name="Text 13"/>
          <p:cNvSpPr/>
          <p:nvPr/>
        </p:nvSpPr>
        <p:spPr>
          <a:xfrm>
            <a:off x="4818888" y="3054096"/>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Rule</a:t>
            </a:r>
            <a:endParaRPr lang="en-US" sz="1500" dirty="0"/>
          </a:p>
        </p:txBody>
      </p:sp>
      <p:sp>
        <p:nvSpPr>
          <p:cNvPr id="16" name="Text 14"/>
          <p:cNvSpPr/>
          <p:nvPr/>
        </p:nvSpPr>
        <p:spPr>
          <a:xfrm>
            <a:off x="4818888" y="3438144"/>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Ignore unknown types safely; do not flatten every event into text</a:t>
            </a:r>
            <a:endParaRPr lang="en-US" sz="1150" dirty="0"/>
          </a:p>
        </p:txBody>
      </p:sp>
      <p:sp>
        <p:nvSpPr>
          <p:cNvPr id="17" name="Shape 15"/>
          <p:cNvSpPr/>
          <p:nvPr/>
        </p:nvSpPr>
        <p:spPr>
          <a:xfrm>
            <a:off x="365760" y="4773168"/>
            <a:ext cx="8412480" cy="0"/>
          </a:xfrm>
          <a:prstGeom prst="line">
            <a:avLst/>
          </a:prstGeom>
          <a:noFill/>
          <a:ln w="6350">
            <a:solidFill>
              <a:srgbClr val="D1D5DB"/>
            </a:solidFill>
            <a:prstDash val="solid"/>
          </a:ln>
        </p:spPr>
      </p:sp>
      <p:sp>
        <p:nvSpPr>
          <p:cNvPr id="18" name="Text 16"/>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https://learn.microsoft.com/en-us/agent-framework/concepts/agents/running-agents</a:t>
            </a:r>
            <a:endParaRPr lang="en-US" sz="8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2</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Put each option in the right lane</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078992"/>
          <a:ext cx="8412480" cy="914400"/>
        </p:xfrm>
        <a:graphic>
          <a:graphicData uri="http://schemas.openxmlformats.org/drawingml/2006/table">
            <a:tbl>
              <a:tblPr/>
              <a:tblGrid>
                <a:gridCol w="2804160"/>
                <a:gridCol w="2804160"/>
                <a:gridCol w="2804160"/>
              </a:tblGrid>
              <a:tr h="58674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Concern</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Run shape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Why</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Structured schema</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options={"response_format": TriageResult}</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Chat-client option</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Per-run tools</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tools=[...]</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Direct agent run kwarg</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Per-run instructions</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instructions="..."</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Direct agent run kwarg</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Streaming</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stream=True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Selects ResponseStream</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Conversation continuity</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session=session</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Reuses AgentSession</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
        <p:nvSpPr>
          <p:cNvPr id="6" name="Shape 3"/>
          <p:cNvSpPr/>
          <p:nvPr/>
        </p:nvSpPr>
        <p:spPr>
          <a:xfrm>
            <a:off x="365760" y="4773168"/>
            <a:ext cx="8412480" cy="0"/>
          </a:xfrm>
          <a:prstGeom prst="line">
            <a:avLst/>
          </a:prstGeom>
          <a:noFill/>
          <a:ln w="6350">
            <a:solidFill>
              <a:srgbClr val="D1D5DB"/>
            </a:solidFill>
            <a:prstDash val="solid"/>
          </a:ln>
        </p:spPr>
      </p:sp>
      <p:sp>
        <p:nvSpPr>
          <p:cNvPr id="7" name="Text 4"/>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https://learn.microsoft.com/en-us/agent-framework/concepts/agents/running-agents?tabs=python  ·  +1 in notes</a:t>
            </a:r>
            <a:endParaRPr lang="en-US" sz="8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2</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Pydantic gives you a typed value</a:t>
            </a:r>
            <a:endParaRPr lang="en-US" sz="2800" dirty="0"/>
          </a:p>
        </p:txBody>
      </p:sp>
      <p:sp>
        <p:nvSpPr>
          <p:cNvPr id="5" name="Shape 3"/>
          <p:cNvSpPr/>
          <p:nvPr/>
        </p:nvSpPr>
        <p:spPr>
          <a:xfrm>
            <a:off x="365760" y="1115568"/>
            <a:ext cx="8412480" cy="2980944"/>
          </a:xfrm>
          <a:prstGeom prst="rect">
            <a:avLst/>
          </a:prstGeom>
          <a:solidFill>
            <a:srgbClr val="1D1E22"/>
          </a:solidFill>
          <a:ln w="9525">
            <a:solidFill>
              <a:srgbClr val="2A2B2E"/>
            </a:solidFill>
            <a:prstDash val="solid"/>
          </a:ln>
        </p:spPr>
      </p:sp>
      <p:sp>
        <p:nvSpPr>
          <p:cNvPr id="6" name="Text 4"/>
          <p:cNvSpPr/>
          <p:nvPr/>
        </p:nvSpPr>
        <p:spPr>
          <a:xfrm>
            <a:off x="502920" y="1207008"/>
            <a:ext cx="8138160" cy="2798064"/>
          </a:xfrm>
          <a:prstGeom prst="rect">
            <a:avLst/>
          </a:prstGeom>
          <a:noFill/>
          <a:ln/>
        </p:spPr>
        <p:txBody>
          <a:bodyPr wrap="square" lIns="0" tIns="0" rIns="0" bIns="0" rtlCol="0" anchor="t"/>
          <a:lstStyle/>
          <a:p>
            <a:pPr indent="0" marL="0">
              <a:buNone/>
            </a:pPr>
            <a:r>
              <a:rPr lang="en-US" sz="1280" dirty="0">
                <a:solidFill>
                  <a:srgbClr val="A996B6"/>
                </a:solidFill>
                <a:latin typeface="Consolas" pitchFamily="34" charset="0"/>
                <a:ea typeface="Consolas" pitchFamily="34" charset="-122"/>
                <a:cs typeface="Consolas" pitchFamily="34" charset="-120"/>
              </a:rPr>
              <a:t>from</a:t>
            </a:r>
            <a:pPr indent="0" marL="0">
              <a:buNone/>
            </a:pPr>
            <a:r>
              <a:rPr lang="en-US" sz="1280" dirty="0">
                <a:solidFill>
                  <a:srgbClr val="FFFFFF"/>
                </a:solidFill>
                <a:latin typeface="Consolas" pitchFamily="34" charset="0"/>
                <a:ea typeface="Consolas" pitchFamily="34" charset="-122"/>
                <a:cs typeface="Consolas" pitchFamily="34" charset="-120"/>
              </a:rPr>
              <a:t> pydantic </a:t>
            </a:r>
            <a:pPr indent="0" marL="0">
              <a:buNone/>
            </a:pPr>
            <a:r>
              <a:rPr lang="en-US" sz="1280" dirty="0">
                <a:solidFill>
                  <a:srgbClr val="A996B6"/>
                </a:solidFill>
                <a:latin typeface="Consolas" pitchFamily="34" charset="0"/>
                <a:ea typeface="Consolas" pitchFamily="34" charset="-122"/>
                <a:cs typeface="Consolas" pitchFamily="34" charset="-120"/>
              </a:rPr>
              <a:t>import</a:t>
            </a:r>
            <a:pPr indent="0" marL="0">
              <a:buNone/>
            </a:pPr>
            <a:r>
              <a:rPr lang="en-US" sz="1280" dirty="0">
                <a:solidFill>
                  <a:srgbClr val="FFFFFF"/>
                </a:solidFill>
                <a:latin typeface="Consolas" pitchFamily="34" charset="0"/>
                <a:ea typeface="Consolas" pitchFamily="34" charset="-122"/>
                <a:cs typeface="Consolas" pitchFamily="34" charset="-120"/>
              </a:rPr>
              <a:t> BaseModel
</a:t>
            </a:r>
            <a:pPr indent="0" marL="0">
              <a:buNone/>
            </a:pPr>
            <a:r>
              <a:rPr lang="en-US" sz="1280" dirty="0">
                <a:solidFill>
                  <a:srgbClr val="A996B6"/>
                </a:solidFill>
                <a:latin typeface="Consolas" pitchFamily="34" charset="0"/>
                <a:ea typeface="Consolas" pitchFamily="34" charset="-122"/>
                <a:cs typeface="Consolas" pitchFamily="34" charset="-120"/>
              </a:rPr>
              <a:t>class</a:t>
            </a:r>
            <a:pPr indent="0" marL="0">
              <a:buNone/>
            </a:pPr>
            <a:r>
              <a:rPr lang="en-US" sz="1280" dirty="0">
                <a:solidFill>
                  <a:srgbClr val="FFFFFF"/>
                </a:solidFill>
                <a:latin typeface="Consolas" pitchFamily="34" charset="0"/>
                <a:ea typeface="Consolas" pitchFamily="34" charset="-122"/>
                <a:cs typeface="Consolas" pitchFamily="34" charset="-120"/>
              </a:rPr>
              <a:t> TriageResult(BaseModel):</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route: str</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summary: str</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needs_work_item: bool</a:t>
            </a:r>
            <a:endParaRPr lang="en-US" sz="1280" dirty="0"/>
          </a:p>
          <a:p>
            <a:pPr indent="0" marL="0">
              <a:buNone/>
            </a:pP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response = </a:t>
            </a:r>
            <a:endParaRPr lang="en-US" sz="1280" dirty="0"/>
          </a:p>
          <a:p>
            <a:pPr indent="0" marL="0">
              <a:buNone/>
            </a:pPr>
            <a:r>
              <a:rPr lang="en-US" sz="1280" dirty="0">
                <a:solidFill>
                  <a:srgbClr val="A996B6"/>
                </a:solidFill>
                <a:latin typeface="Consolas" pitchFamily="34" charset="0"/>
                <a:ea typeface="Consolas" pitchFamily="34" charset="-122"/>
                <a:cs typeface="Consolas" pitchFamily="34" charset="-120"/>
              </a:rPr>
              <a:t>await</a:t>
            </a:r>
            <a:pPr indent="0" marL="0">
              <a:buNone/>
            </a:pPr>
            <a:r>
              <a:rPr lang="en-US" sz="1280" dirty="0">
                <a:solidFill>
                  <a:srgbClr val="FFFFFF"/>
                </a:solidFill>
                <a:latin typeface="Consolas" pitchFamily="34" charset="0"/>
                <a:ea typeface="Consolas" pitchFamily="34" charset="-122"/>
                <a:cs typeface="Consolas" pitchFamily="34" charset="-120"/>
              </a:rPr>
              <a:t> agent.run(</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request,</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options={</a:t>
            </a:r>
            <a:endParaRPr lang="en-US" sz="1280" dirty="0"/>
          </a:p>
          <a:p>
            <a:pPr indent="0" marL="0">
              <a:buNone/>
            </a:pPr>
            <a:r>
              <a:rPr lang="en-US" sz="1280" dirty="0">
                <a:solidFill>
                  <a:srgbClr val="E4C98A"/>
                </a:solidFill>
                <a:latin typeface="Consolas" pitchFamily="34" charset="0"/>
                <a:ea typeface="Consolas" pitchFamily="34" charset="-122"/>
                <a:cs typeface="Consolas" pitchFamily="34" charset="-120"/>
              </a:rPr>
              <a:t>"response_format"</a:t>
            </a:r>
            <a:pPr indent="0" marL="0">
              <a:buNone/>
            </a:pPr>
            <a:r>
              <a:rPr lang="en-US" sz="1280" dirty="0">
                <a:solidFill>
                  <a:srgbClr val="FFFFFF"/>
                </a:solidFill>
                <a:latin typeface="Consolas" pitchFamily="34" charset="0"/>
                <a:ea typeface="Consolas" pitchFamily="34" charset="-122"/>
                <a:cs typeface="Consolas" pitchFamily="34" charset="-120"/>
              </a:rPr>
              <a:t>: TriageResult},</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triage: TriageResult = response.value</a:t>
            </a:r>
            <a:endParaRPr lang="en-US" sz="1280" dirty="0"/>
          </a:p>
        </p:txBody>
      </p:sp>
      <p:sp>
        <p:nvSpPr>
          <p:cNvPr id="7" name="Shape 5"/>
          <p:cNvSpPr/>
          <p:nvPr/>
        </p:nvSpPr>
        <p:spPr>
          <a:xfrm>
            <a:off x="365760" y="4773168"/>
            <a:ext cx="8412480" cy="0"/>
          </a:xfrm>
          <a:prstGeom prst="line">
            <a:avLst/>
          </a:prstGeom>
          <a:noFill/>
          <a:ln w="6350">
            <a:solidFill>
              <a:srgbClr val="D1D5DB"/>
            </a:solidFill>
            <a:prstDash val="solid"/>
          </a:ln>
        </p:spPr>
      </p:sp>
      <p:sp>
        <p:nvSpPr>
          <p:cNvPr id="8" name="Text 6"/>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https://learn.microsoft.com/en-us/agent-framework/agents/structured-outputs?tabs=python</a:t>
            </a:r>
            <a:endParaRPr lang="en-US" sz="8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2</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JSON Schema works without a model class</a:t>
            </a:r>
            <a:endParaRPr lang="en-US" sz="2500" dirty="0"/>
          </a:p>
        </p:txBody>
      </p:sp>
      <p:sp>
        <p:nvSpPr>
          <p:cNvPr id="5" name="Shape 3"/>
          <p:cNvSpPr/>
          <p:nvPr/>
        </p:nvSpPr>
        <p:spPr>
          <a:xfrm>
            <a:off x="365760" y="1115568"/>
            <a:ext cx="8412480" cy="2560320"/>
          </a:xfrm>
          <a:prstGeom prst="rect">
            <a:avLst/>
          </a:prstGeom>
          <a:solidFill>
            <a:srgbClr val="1D1E22"/>
          </a:solidFill>
          <a:ln w="9525">
            <a:solidFill>
              <a:srgbClr val="2A2B2E"/>
            </a:solidFill>
            <a:prstDash val="solid"/>
          </a:ln>
        </p:spPr>
      </p:sp>
      <p:sp>
        <p:nvSpPr>
          <p:cNvPr id="6" name="Text 4"/>
          <p:cNvSpPr/>
          <p:nvPr/>
        </p:nvSpPr>
        <p:spPr>
          <a:xfrm>
            <a:off x="502920" y="1207008"/>
            <a:ext cx="8138160" cy="2377440"/>
          </a:xfrm>
          <a:prstGeom prst="rect">
            <a:avLst/>
          </a:prstGeom>
          <a:noFill/>
          <a:ln/>
        </p:spPr>
        <p:txBody>
          <a:bodyPr wrap="square" lIns="0" tIns="0" rIns="0" bIns="0" rtlCol="0" anchor="t"/>
          <a:lstStyle/>
          <a:p>
            <a:pPr indent="0" marL="0">
              <a:buNone/>
            </a:pPr>
            <a:r>
              <a:rPr lang="en-US" sz="1280" dirty="0">
                <a:solidFill>
                  <a:srgbClr val="FFFFFF"/>
                </a:solidFill>
                <a:latin typeface="Consolas" pitchFamily="34" charset="0"/>
                <a:ea typeface="Consolas" pitchFamily="34" charset="-122"/>
                <a:cs typeface="Consolas" pitchFamily="34" charset="-120"/>
              </a:rPr>
              <a:t>schema = {</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a:t>
            </a:r>
            <a:endParaRPr lang="en-US" sz="1280" dirty="0"/>
          </a:p>
          <a:p>
            <a:pPr indent="0" marL="0">
              <a:buNone/>
            </a:pPr>
            <a:r>
              <a:rPr lang="en-US" sz="1280" dirty="0">
                <a:solidFill>
                  <a:srgbClr val="E4C98A"/>
                </a:solidFill>
                <a:latin typeface="Consolas" pitchFamily="34" charset="0"/>
                <a:ea typeface="Consolas" pitchFamily="34" charset="-122"/>
                <a:cs typeface="Consolas" pitchFamily="34" charset="-120"/>
              </a:rPr>
              <a:t>"type"</a:t>
            </a:r>
            <a:pPr indent="0" marL="0">
              <a:buNone/>
            </a:pPr>
            <a:r>
              <a:rPr lang="en-US" sz="1280" dirty="0">
                <a:solidFill>
                  <a:srgbClr val="FFFFFF"/>
                </a:solidFill>
                <a:latin typeface="Consolas" pitchFamily="34" charset="0"/>
                <a:ea typeface="Consolas" pitchFamily="34" charset="-122"/>
                <a:cs typeface="Consolas" pitchFamily="34" charset="-120"/>
              </a:rPr>
              <a:t>: </a:t>
            </a:r>
            <a:pPr indent="0" marL="0">
              <a:buNone/>
            </a:pPr>
            <a:r>
              <a:rPr lang="en-US" sz="1280" dirty="0">
                <a:solidFill>
                  <a:srgbClr val="E4C98A"/>
                </a:solidFill>
                <a:latin typeface="Consolas" pitchFamily="34" charset="0"/>
                <a:ea typeface="Consolas" pitchFamily="34" charset="-122"/>
                <a:cs typeface="Consolas" pitchFamily="34" charset="-120"/>
              </a:rPr>
              <a:t>"object"</a:t>
            </a:r>
            <a:pPr indent="0" marL="0">
              <a:buNone/>
            </a:pPr>
            <a:r>
              <a:rPr lang="en-US" sz="1280" dirty="0">
                <a:solidFill>
                  <a:srgbClr val="FFFFFF"/>
                </a:solidFill>
                <a:latin typeface="Consolas" pitchFamily="34" charset="0"/>
                <a:ea typeface="Consolas" pitchFamily="34" charset="-122"/>
                <a:cs typeface="Consolas" pitchFamily="34" charset="-120"/>
              </a:rPr>
              <a:t>,</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a:t>
            </a:r>
            <a:endParaRPr lang="en-US" sz="1280" dirty="0"/>
          </a:p>
          <a:p>
            <a:pPr indent="0" marL="0">
              <a:buNone/>
            </a:pPr>
            <a:r>
              <a:rPr lang="en-US" sz="1280" dirty="0">
                <a:solidFill>
                  <a:srgbClr val="E4C98A"/>
                </a:solidFill>
                <a:latin typeface="Consolas" pitchFamily="34" charset="0"/>
                <a:ea typeface="Consolas" pitchFamily="34" charset="-122"/>
                <a:cs typeface="Consolas" pitchFamily="34" charset="-120"/>
              </a:rPr>
              <a:t>"properties"</a:t>
            </a:r>
            <a:pPr indent="0" marL="0">
              <a:buNone/>
            </a:pPr>
            <a:r>
              <a:rPr lang="en-US" sz="1280" dirty="0">
                <a:solidFill>
                  <a:srgbClr val="FFFFFF"/>
                </a:solidFill>
                <a:latin typeface="Consolas" pitchFamily="34" charset="0"/>
                <a:ea typeface="Consolas" pitchFamily="34" charset="-122"/>
                <a:cs typeface="Consolas" pitchFamily="34" charset="-120"/>
              </a:rPr>
              <a:t>: {</a:t>
            </a:r>
            <a:pPr indent="0" marL="0">
              <a:buNone/>
            </a:pPr>
            <a:r>
              <a:rPr lang="en-US" sz="1280" dirty="0">
                <a:solidFill>
                  <a:srgbClr val="E4C98A"/>
                </a:solidFill>
                <a:latin typeface="Consolas" pitchFamily="34" charset="0"/>
                <a:ea typeface="Consolas" pitchFamily="34" charset="-122"/>
                <a:cs typeface="Consolas" pitchFamily="34" charset="-120"/>
              </a:rPr>
              <a:t>"route"</a:t>
            </a:r>
            <a:pPr indent="0" marL="0">
              <a:buNone/>
            </a:pPr>
            <a:r>
              <a:rPr lang="en-US" sz="1280" dirty="0">
                <a:solidFill>
                  <a:srgbClr val="FFFFFF"/>
                </a:solidFill>
                <a:latin typeface="Consolas" pitchFamily="34" charset="0"/>
                <a:ea typeface="Consolas" pitchFamily="34" charset="-122"/>
                <a:cs typeface="Consolas" pitchFamily="34" charset="-120"/>
              </a:rPr>
              <a:t>: {</a:t>
            </a:r>
            <a:pPr indent="0" marL="0">
              <a:buNone/>
            </a:pPr>
            <a:r>
              <a:rPr lang="en-US" sz="1280" dirty="0">
                <a:solidFill>
                  <a:srgbClr val="E4C98A"/>
                </a:solidFill>
                <a:latin typeface="Consolas" pitchFamily="34" charset="0"/>
                <a:ea typeface="Consolas" pitchFamily="34" charset="-122"/>
                <a:cs typeface="Consolas" pitchFamily="34" charset="-120"/>
              </a:rPr>
              <a:t>"type"</a:t>
            </a:r>
            <a:pPr indent="0" marL="0">
              <a:buNone/>
            </a:pPr>
            <a:r>
              <a:rPr lang="en-US" sz="1280" dirty="0">
                <a:solidFill>
                  <a:srgbClr val="FFFFFF"/>
                </a:solidFill>
                <a:latin typeface="Consolas" pitchFamily="34" charset="0"/>
                <a:ea typeface="Consolas" pitchFamily="34" charset="-122"/>
                <a:cs typeface="Consolas" pitchFamily="34" charset="-120"/>
              </a:rPr>
              <a:t>: </a:t>
            </a:r>
            <a:pPr indent="0" marL="0">
              <a:buNone/>
            </a:pPr>
            <a:r>
              <a:rPr lang="en-US" sz="1280" dirty="0">
                <a:solidFill>
                  <a:srgbClr val="E4C98A"/>
                </a:solidFill>
                <a:latin typeface="Consolas" pitchFamily="34" charset="0"/>
                <a:ea typeface="Consolas" pitchFamily="34" charset="-122"/>
                <a:cs typeface="Consolas" pitchFamily="34" charset="-120"/>
              </a:rPr>
              <a:t>"string"</a:t>
            </a:r>
            <a:pPr indent="0" marL="0">
              <a:buNone/>
            </a:pPr>
            <a:r>
              <a:rPr lang="en-US" sz="1280" dirty="0">
                <a:solidFill>
                  <a:srgbClr val="FFFFFF"/>
                </a:solidFill>
                <a:latin typeface="Consolas" pitchFamily="34" charset="0"/>
                <a:ea typeface="Consolas" pitchFamily="34" charset="-122"/>
                <a:cs typeface="Consolas" pitchFamily="34" charset="-120"/>
              </a:rPr>
              <a:t>}},</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a:t>
            </a:r>
            <a:endParaRPr lang="en-US" sz="1280" dirty="0"/>
          </a:p>
          <a:p>
            <a:pPr indent="0" marL="0">
              <a:buNone/>
            </a:pPr>
            <a:r>
              <a:rPr lang="en-US" sz="1280" dirty="0">
                <a:solidFill>
                  <a:srgbClr val="E4C98A"/>
                </a:solidFill>
                <a:latin typeface="Consolas" pitchFamily="34" charset="0"/>
                <a:ea typeface="Consolas" pitchFamily="34" charset="-122"/>
                <a:cs typeface="Consolas" pitchFamily="34" charset="-120"/>
              </a:rPr>
              <a:t>"required"</a:t>
            </a:r>
            <a:pPr indent="0" marL="0">
              <a:buNone/>
            </a:pPr>
            <a:r>
              <a:rPr lang="en-US" sz="1280" dirty="0">
                <a:solidFill>
                  <a:srgbClr val="FFFFFF"/>
                </a:solidFill>
                <a:latin typeface="Consolas" pitchFamily="34" charset="0"/>
                <a:ea typeface="Consolas" pitchFamily="34" charset="-122"/>
                <a:cs typeface="Consolas" pitchFamily="34" charset="-120"/>
              </a:rPr>
              <a:t>: [</a:t>
            </a:r>
            <a:pPr indent="0" marL="0">
              <a:buNone/>
            </a:pPr>
            <a:r>
              <a:rPr lang="en-US" sz="1280" dirty="0">
                <a:solidFill>
                  <a:srgbClr val="E4C98A"/>
                </a:solidFill>
                <a:latin typeface="Consolas" pitchFamily="34" charset="0"/>
                <a:ea typeface="Consolas" pitchFamily="34" charset="-122"/>
                <a:cs typeface="Consolas" pitchFamily="34" charset="-120"/>
              </a:rPr>
              <a:t>"route"</a:t>
            </a:r>
            <a:pPr indent="0" marL="0">
              <a:buNone/>
            </a:pPr>
            <a:r>
              <a:rPr lang="en-US" sz="1280" dirty="0">
                <a:solidFill>
                  <a:srgbClr val="FFFFFF"/>
                </a:solidFill>
                <a:latin typeface="Consolas" pitchFamily="34" charset="0"/>
                <a:ea typeface="Consolas" pitchFamily="34" charset="-122"/>
                <a:cs typeface="Consolas" pitchFamily="34" charset="-120"/>
              </a:rPr>
              <a:t>],</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a:t>
            </a:r>
            <a:endParaRPr lang="en-US" sz="1280" dirty="0"/>
          </a:p>
          <a:p>
            <a:pPr indent="0" marL="0">
              <a:buNone/>
            </a:pP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response = </a:t>
            </a:r>
            <a:endParaRPr lang="en-US" sz="1280" dirty="0"/>
          </a:p>
          <a:p>
            <a:pPr indent="0" marL="0">
              <a:buNone/>
            </a:pPr>
            <a:r>
              <a:rPr lang="en-US" sz="1280" dirty="0">
                <a:solidFill>
                  <a:srgbClr val="A996B6"/>
                </a:solidFill>
                <a:latin typeface="Consolas" pitchFamily="34" charset="0"/>
                <a:ea typeface="Consolas" pitchFamily="34" charset="-122"/>
                <a:cs typeface="Consolas" pitchFamily="34" charset="-120"/>
              </a:rPr>
              <a:t>await</a:t>
            </a:r>
            <a:pPr indent="0" marL="0">
              <a:buNone/>
            </a:pPr>
            <a:r>
              <a:rPr lang="en-US" sz="1280" dirty="0">
                <a:solidFill>
                  <a:srgbClr val="FFFFFF"/>
                </a:solidFill>
                <a:latin typeface="Consolas" pitchFamily="34" charset="0"/>
                <a:ea typeface="Consolas" pitchFamily="34" charset="-122"/>
                <a:cs typeface="Consolas" pitchFamily="34" charset="-120"/>
              </a:rPr>
              <a:t> agent.run(</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request, options={</a:t>
            </a:r>
            <a:endParaRPr lang="en-US" sz="1280" dirty="0"/>
          </a:p>
          <a:p>
            <a:pPr indent="0" marL="0">
              <a:buNone/>
            </a:pPr>
            <a:r>
              <a:rPr lang="en-US" sz="1280" dirty="0">
                <a:solidFill>
                  <a:srgbClr val="E4C98A"/>
                </a:solidFill>
                <a:latin typeface="Consolas" pitchFamily="34" charset="0"/>
                <a:ea typeface="Consolas" pitchFamily="34" charset="-122"/>
                <a:cs typeface="Consolas" pitchFamily="34" charset="-120"/>
              </a:rPr>
              <a:t>"response_format"</a:t>
            </a:r>
            <a:pPr indent="0" marL="0">
              <a:buNone/>
            </a:pPr>
            <a:r>
              <a:rPr lang="en-US" sz="1280" dirty="0">
                <a:solidFill>
                  <a:srgbClr val="FFFFFF"/>
                </a:solidFill>
                <a:latin typeface="Consolas" pitchFamily="34" charset="0"/>
                <a:ea typeface="Consolas" pitchFamily="34" charset="-122"/>
                <a:cs typeface="Consolas" pitchFamily="34" charset="-120"/>
              </a:rPr>
              <a:t>: schema}</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result = response.value  </a:t>
            </a:r>
            <a:endParaRPr lang="en-US" sz="1280" dirty="0"/>
          </a:p>
          <a:p>
            <a:pPr indent="0" marL="0">
              <a:buNone/>
            </a:pPr>
            <a:r>
              <a:rPr lang="en-US" sz="1280" i="1" dirty="0">
                <a:solidFill>
                  <a:srgbClr val="666666"/>
                </a:solidFill>
                <a:latin typeface="Consolas" pitchFamily="34" charset="0"/>
                <a:ea typeface="Consolas" pitchFamily="34" charset="-122"/>
                <a:cs typeface="Consolas" pitchFamily="34" charset="-120"/>
              </a:rPr>
              <a:t># parsed JSON</a:t>
            </a:r>
            <a:endParaRPr lang="en-US" sz="1280" dirty="0"/>
          </a:p>
        </p:txBody>
      </p:sp>
      <p:sp>
        <p:nvSpPr>
          <p:cNvPr id="7" name="Shape 5"/>
          <p:cNvSpPr/>
          <p:nvPr/>
        </p:nvSpPr>
        <p:spPr>
          <a:xfrm>
            <a:off x="365760" y="4773168"/>
            <a:ext cx="8412480" cy="0"/>
          </a:xfrm>
          <a:prstGeom prst="line">
            <a:avLst/>
          </a:prstGeom>
          <a:noFill/>
          <a:ln w="6350">
            <a:solidFill>
              <a:srgbClr val="D1D5DB"/>
            </a:solidFill>
            <a:prstDash val="solid"/>
          </a:ln>
        </p:spPr>
      </p:sp>
      <p:sp>
        <p:nvSpPr>
          <p:cNvPr id="8" name="Text 6"/>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https://learn.microsoft.com/en-us/agent-framework/agents/structured-outputs?tabs=python</a:t>
            </a:r>
            <a:endParaRPr lang="en-US" sz="8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2</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TriageResult fits your docs assistant</a:t>
            </a:r>
            <a:endParaRPr lang="en-US" sz="2500" dirty="0"/>
          </a:p>
        </p:txBody>
      </p:sp>
      <p:sp>
        <p:nvSpPr>
          <p:cNvPr id="5" name="Shape 3"/>
          <p:cNvSpPr/>
          <p:nvPr/>
        </p:nvSpPr>
        <p:spPr>
          <a:xfrm>
            <a:off x="365760" y="1216152"/>
            <a:ext cx="1911096" cy="2148840"/>
          </a:xfrm>
          <a:prstGeom prst="roundRect">
            <a:avLst>
              <a:gd name="adj" fmla="val 2871"/>
            </a:avLst>
          </a:prstGeom>
          <a:solidFill>
            <a:srgbClr val="CADCFC"/>
          </a:solidFill>
          <a:ln w="10160">
            <a:solidFill>
              <a:srgbClr val="1E2761"/>
            </a:solidFill>
            <a:prstDash val="solid"/>
          </a:ln>
        </p:spPr>
      </p:sp>
      <p:sp>
        <p:nvSpPr>
          <p:cNvPr id="6" name="Shape 4"/>
          <p:cNvSpPr/>
          <p:nvPr/>
        </p:nvSpPr>
        <p:spPr>
          <a:xfrm>
            <a:off x="475488" y="1335024"/>
            <a:ext cx="320040" cy="320040"/>
          </a:xfrm>
          <a:prstGeom prst="ellipse">
            <a:avLst/>
          </a:prstGeom>
          <a:solidFill>
            <a:srgbClr val="1E2761"/>
          </a:solidFill>
          <a:ln/>
        </p:spPr>
      </p:sp>
      <p:sp>
        <p:nvSpPr>
          <p:cNvPr id="7" name="Text 5"/>
          <p:cNvSpPr/>
          <p:nvPr/>
        </p:nvSpPr>
        <p:spPr>
          <a:xfrm>
            <a:off x="475488" y="13853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8" name="Text 6"/>
          <p:cNvSpPr/>
          <p:nvPr/>
        </p:nvSpPr>
        <p:spPr>
          <a:xfrm>
            <a:off x="896112" y="1335024"/>
            <a:ext cx="125272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Classify</a:t>
            </a:r>
            <a:endParaRPr lang="en-US" sz="1500" dirty="0"/>
          </a:p>
        </p:txBody>
      </p:sp>
      <p:sp>
        <p:nvSpPr>
          <p:cNvPr id="9" name="Text 7"/>
          <p:cNvSpPr/>
          <p:nvPr/>
        </p:nvSpPr>
        <p:spPr>
          <a:xfrm>
            <a:off x="512064" y="1719072"/>
            <a:ext cx="1618488" cy="1527048"/>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route: answer, clarify, or work_item</a:t>
            </a:r>
            <a:endParaRPr lang="en-US" sz="1150" dirty="0"/>
          </a:p>
        </p:txBody>
      </p:sp>
      <p:sp>
        <p:nvSpPr>
          <p:cNvPr id="10" name="Shape 8"/>
          <p:cNvSpPr/>
          <p:nvPr/>
        </p:nvSpPr>
        <p:spPr>
          <a:xfrm>
            <a:off x="2313432" y="2180844"/>
            <a:ext cx="164592" cy="219456"/>
          </a:xfrm>
          <a:prstGeom prst="chevron">
            <a:avLst/>
          </a:prstGeom>
          <a:solidFill>
            <a:srgbClr val="E8A87C"/>
          </a:solidFill>
          <a:ln/>
        </p:spPr>
      </p:sp>
      <p:sp>
        <p:nvSpPr>
          <p:cNvPr id="11" name="Shape 9"/>
          <p:cNvSpPr/>
          <p:nvPr/>
        </p:nvSpPr>
        <p:spPr>
          <a:xfrm>
            <a:off x="2532888" y="1216152"/>
            <a:ext cx="1911096" cy="2148840"/>
          </a:xfrm>
          <a:prstGeom prst="roundRect">
            <a:avLst>
              <a:gd name="adj" fmla="val 2871"/>
            </a:avLst>
          </a:prstGeom>
          <a:solidFill>
            <a:srgbClr val="F3F4F6"/>
          </a:solidFill>
          <a:ln w="10160">
            <a:solidFill>
              <a:srgbClr val="D1D5DB"/>
            </a:solidFill>
            <a:prstDash val="solid"/>
          </a:ln>
        </p:spPr>
      </p:sp>
      <p:sp>
        <p:nvSpPr>
          <p:cNvPr id="12" name="Shape 10"/>
          <p:cNvSpPr/>
          <p:nvPr/>
        </p:nvSpPr>
        <p:spPr>
          <a:xfrm>
            <a:off x="2642616" y="1335024"/>
            <a:ext cx="320040" cy="320040"/>
          </a:xfrm>
          <a:prstGeom prst="ellipse">
            <a:avLst/>
          </a:prstGeom>
          <a:solidFill>
            <a:srgbClr val="1E2761"/>
          </a:solidFill>
          <a:ln/>
        </p:spPr>
      </p:sp>
      <p:sp>
        <p:nvSpPr>
          <p:cNvPr id="13" name="Text 11"/>
          <p:cNvSpPr/>
          <p:nvPr/>
        </p:nvSpPr>
        <p:spPr>
          <a:xfrm>
            <a:off x="2642616" y="13853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14" name="Text 12"/>
          <p:cNvSpPr/>
          <p:nvPr/>
        </p:nvSpPr>
        <p:spPr>
          <a:xfrm>
            <a:off x="3063240" y="1335024"/>
            <a:ext cx="125272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Summarize</a:t>
            </a:r>
            <a:endParaRPr lang="en-US" sz="1500" dirty="0"/>
          </a:p>
        </p:txBody>
      </p:sp>
      <p:sp>
        <p:nvSpPr>
          <p:cNvPr id="15" name="Text 13"/>
          <p:cNvSpPr/>
          <p:nvPr/>
        </p:nvSpPr>
        <p:spPr>
          <a:xfrm>
            <a:off x="2679192" y="1719072"/>
            <a:ext cx="1618488" cy="1527048"/>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concise issue statement for your UI</a:t>
            </a:r>
            <a:endParaRPr lang="en-US" sz="1150" dirty="0"/>
          </a:p>
        </p:txBody>
      </p:sp>
      <p:sp>
        <p:nvSpPr>
          <p:cNvPr id="16" name="Shape 14"/>
          <p:cNvSpPr/>
          <p:nvPr/>
        </p:nvSpPr>
        <p:spPr>
          <a:xfrm>
            <a:off x="4480560" y="2180844"/>
            <a:ext cx="164592" cy="219456"/>
          </a:xfrm>
          <a:prstGeom prst="chevron">
            <a:avLst/>
          </a:prstGeom>
          <a:solidFill>
            <a:srgbClr val="E8A87C"/>
          </a:solidFill>
          <a:ln/>
        </p:spPr>
      </p:sp>
      <p:sp>
        <p:nvSpPr>
          <p:cNvPr id="17" name="Shape 15"/>
          <p:cNvSpPr/>
          <p:nvPr/>
        </p:nvSpPr>
        <p:spPr>
          <a:xfrm>
            <a:off x="4700016" y="1216152"/>
            <a:ext cx="1911096" cy="2148840"/>
          </a:xfrm>
          <a:prstGeom prst="roundRect">
            <a:avLst>
              <a:gd name="adj" fmla="val 2871"/>
            </a:avLst>
          </a:prstGeom>
          <a:solidFill>
            <a:srgbClr val="F3F4F6"/>
          </a:solidFill>
          <a:ln w="10160">
            <a:solidFill>
              <a:srgbClr val="D1D5DB"/>
            </a:solidFill>
            <a:prstDash val="solid"/>
          </a:ln>
        </p:spPr>
      </p:sp>
      <p:sp>
        <p:nvSpPr>
          <p:cNvPr id="18" name="Shape 16"/>
          <p:cNvSpPr/>
          <p:nvPr/>
        </p:nvSpPr>
        <p:spPr>
          <a:xfrm>
            <a:off x="4809744" y="1335024"/>
            <a:ext cx="320040" cy="320040"/>
          </a:xfrm>
          <a:prstGeom prst="ellipse">
            <a:avLst/>
          </a:prstGeom>
          <a:solidFill>
            <a:srgbClr val="1E2761"/>
          </a:solidFill>
          <a:ln/>
        </p:spPr>
      </p:sp>
      <p:sp>
        <p:nvSpPr>
          <p:cNvPr id="19" name="Text 17"/>
          <p:cNvSpPr/>
          <p:nvPr/>
        </p:nvSpPr>
        <p:spPr>
          <a:xfrm>
            <a:off x="4809744" y="13853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3</a:t>
            </a:r>
            <a:endParaRPr lang="en-US" sz="900" dirty="0"/>
          </a:p>
        </p:txBody>
      </p:sp>
      <p:sp>
        <p:nvSpPr>
          <p:cNvPr id="20" name="Text 18"/>
          <p:cNvSpPr/>
          <p:nvPr/>
        </p:nvSpPr>
        <p:spPr>
          <a:xfrm>
            <a:off x="5230368" y="1335024"/>
            <a:ext cx="125272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Signal</a:t>
            </a:r>
            <a:endParaRPr lang="en-US" sz="1500" dirty="0"/>
          </a:p>
        </p:txBody>
      </p:sp>
      <p:sp>
        <p:nvSpPr>
          <p:cNvPr id="21" name="Text 19"/>
          <p:cNvSpPr/>
          <p:nvPr/>
        </p:nvSpPr>
        <p:spPr>
          <a:xfrm>
            <a:off x="4846320" y="1719072"/>
            <a:ext cx="1618488" cy="1527048"/>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needs_work_item is a recommendation</a:t>
            </a:r>
            <a:endParaRPr lang="en-US" sz="1150" dirty="0"/>
          </a:p>
        </p:txBody>
      </p:sp>
      <p:sp>
        <p:nvSpPr>
          <p:cNvPr id="22" name="Shape 20"/>
          <p:cNvSpPr/>
          <p:nvPr/>
        </p:nvSpPr>
        <p:spPr>
          <a:xfrm>
            <a:off x="6647688" y="2180844"/>
            <a:ext cx="164592" cy="219456"/>
          </a:xfrm>
          <a:prstGeom prst="chevron">
            <a:avLst/>
          </a:prstGeom>
          <a:solidFill>
            <a:srgbClr val="E8A87C"/>
          </a:solidFill>
          <a:ln/>
        </p:spPr>
      </p:sp>
      <p:sp>
        <p:nvSpPr>
          <p:cNvPr id="23" name="Shape 21"/>
          <p:cNvSpPr/>
          <p:nvPr/>
        </p:nvSpPr>
        <p:spPr>
          <a:xfrm>
            <a:off x="6867144" y="1216152"/>
            <a:ext cx="1911096" cy="2148840"/>
          </a:xfrm>
          <a:prstGeom prst="roundRect">
            <a:avLst>
              <a:gd name="adj" fmla="val 2871"/>
            </a:avLst>
          </a:prstGeom>
          <a:solidFill>
            <a:srgbClr val="CADCFC"/>
          </a:solidFill>
          <a:ln w="10160">
            <a:solidFill>
              <a:srgbClr val="1E2761"/>
            </a:solidFill>
            <a:prstDash val="solid"/>
          </a:ln>
        </p:spPr>
      </p:sp>
      <p:sp>
        <p:nvSpPr>
          <p:cNvPr id="24" name="Shape 22"/>
          <p:cNvSpPr/>
          <p:nvPr/>
        </p:nvSpPr>
        <p:spPr>
          <a:xfrm>
            <a:off x="6976872" y="1335024"/>
            <a:ext cx="320040" cy="320040"/>
          </a:xfrm>
          <a:prstGeom prst="ellipse">
            <a:avLst/>
          </a:prstGeom>
          <a:solidFill>
            <a:srgbClr val="1E2761"/>
          </a:solidFill>
          <a:ln/>
        </p:spPr>
      </p:sp>
      <p:sp>
        <p:nvSpPr>
          <p:cNvPr id="25" name="Text 23"/>
          <p:cNvSpPr/>
          <p:nvPr/>
        </p:nvSpPr>
        <p:spPr>
          <a:xfrm>
            <a:off x="6976872" y="13853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4</a:t>
            </a:r>
            <a:endParaRPr lang="en-US" sz="900" dirty="0"/>
          </a:p>
        </p:txBody>
      </p:sp>
      <p:sp>
        <p:nvSpPr>
          <p:cNvPr id="26" name="Text 24"/>
          <p:cNvSpPr/>
          <p:nvPr/>
        </p:nvSpPr>
        <p:spPr>
          <a:xfrm>
            <a:off x="7397496" y="1335024"/>
            <a:ext cx="125272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Authorize</a:t>
            </a:r>
            <a:endParaRPr lang="en-US" sz="1500" dirty="0"/>
          </a:p>
        </p:txBody>
      </p:sp>
      <p:sp>
        <p:nvSpPr>
          <p:cNvPr id="27" name="Text 25"/>
          <p:cNvSpPr/>
          <p:nvPr/>
        </p:nvSpPr>
        <p:spPr>
          <a:xfrm>
            <a:off x="7013448" y="1719072"/>
            <a:ext cx="1618488" cy="1527048"/>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your app still controls whether a write is offered or approved</a:t>
            </a:r>
            <a:endParaRPr lang="en-US" sz="1150" dirty="0"/>
          </a:p>
        </p:txBody>
      </p:sp>
      <p:sp>
        <p:nvSpPr>
          <p:cNvPr id="28" name="Shape 26"/>
          <p:cNvSpPr/>
          <p:nvPr/>
        </p:nvSpPr>
        <p:spPr>
          <a:xfrm>
            <a:off x="365760" y="4773168"/>
            <a:ext cx="8412480" cy="0"/>
          </a:xfrm>
          <a:prstGeom prst="line">
            <a:avLst/>
          </a:prstGeom>
          <a:noFill/>
          <a:ln w="6350">
            <a:solidFill>
              <a:srgbClr val="D1D5DB"/>
            </a:solidFill>
            <a:prstDash val="solid"/>
          </a:ln>
        </p:spPr>
      </p:sp>
      <p:sp>
        <p:nvSpPr>
          <p:cNvPr id="29" name="Text 27"/>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https://learn.microsoft.com/en-us/agent-framework/agents/structured-outputs?tabs=python</a:t>
            </a:r>
            <a:endParaRPr lang="en-US" sz="8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2</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Combine streaming and structure</a:t>
            </a:r>
            <a:endParaRPr lang="en-US" sz="2800" dirty="0"/>
          </a:p>
        </p:txBody>
      </p:sp>
      <p:sp>
        <p:nvSpPr>
          <p:cNvPr id="5" name="Shape 3"/>
          <p:cNvSpPr/>
          <p:nvPr/>
        </p:nvSpPr>
        <p:spPr>
          <a:xfrm>
            <a:off x="365760" y="1115568"/>
            <a:ext cx="8412480" cy="3191256"/>
          </a:xfrm>
          <a:prstGeom prst="rect">
            <a:avLst/>
          </a:prstGeom>
          <a:solidFill>
            <a:srgbClr val="1D1E22"/>
          </a:solidFill>
          <a:ln w="9525">
            <a:solidFill>
              <a:srgbClr val="2A2B2E"/>
            </a:solidFill>
            <a:prstDash val="solid"/>
          </a:ln>
        </p:spPr>
      </p:sp>
      <p:sp>
        <p:nvSpPr>
          <p:cNvPr id="6" name="Text 4"/>
          <p:cNvSpPr/>
          <p:nvPr/>
        </p:nvSpPr>
        <p:spPr>
          <a:xfrm>
            <a:off x="502920" y="1207008"/>
            <a:ext cx="8138160" cy="3008376"/>
          </a:xfrm>
          <a:prstGeom prst="rect">
            <a:avLst/>
          </a:prstGeom>
          <a:noFill/>
          <a:ln/>
        </p:spPr>
        <p:txBody>
          <a:bodyPr wrap="square" lIns="0" tIns="0" rIns="0" bIns="0" rtlCol="0" anchor="t"/>
          <a:lstStyle/>
          <a:p>
            <a:pPr indent="0" marL="0">
              <a:buNone/>
            </a:pPr>
            <a:r>
              <a:rPr lang="en-US" sz="1080" dirty="0">
                <a:solidFill>
                  <a:srgbClr val="FFFFFF"/>
                </a:solidFill>
                <a:latin typeface="Consolas" pitchFamily="34" charset="0"/>
                <a:ea typeface="Consolas" pitchFamily="34" charset="-122"/>
                <a:cs typeface="Consolas" pitchFamily="34" charset="-120"/>
              </a:rPr>
              <a:t>stream = agent.run(</a:t>
            </a:r>
            <a:endParaRPr lang="en-US" sz="1080" dirty="0"/>
          </a:p>
          <a:p>
            <a:pPr indent="0" marL="0">
              <a:buNone/>
            </a:pPr>
            <a:r>
              <a:rPr lang="en-US" sz="1080" dirty="0">
                <a:solidFill>
                  <a:srgbClr val="FFFFFF"/>
                </a:solidFill>
                <a:latin typeface="Consolas" pitchFamily="34" charset="0"/>
                <a:ea typeface="Consolas" pitchFamily="34" charset="-122"/>
                <a:cs typeface="Consolas" pitchFamily="34" charset="-120"/>
              </a:rPr>
              <a:t>    request,</a:t>
            </a:r>
            <a:endParaRPr lang="en-US" sz="1080" dirty="0"/>
          </a:p>
          <a:p>
            <a:pPr indent="0" marL="0">
              <a:buNone/>
            </a:pPr>
            <a:r>
              <a:rPr lang="en-US" sz="1080" dirty="0">
                <a:solidFill>
                  <a:srgbClr val="FFFFFF"/>
                </a:solidFill>
                <a:latin typeface="Consolas" pitchFamily="34" charset="0"/>
                <a:ea typeface="Consolas" pitchFamily="34" charset="-122"/>
                <a:cs typeface="Consolas" pitchFamily="34" charset="-120"/>
              </a:rPr>
              <a:t>    stream=</a:t>
            </a:r>
            <a:endParaRPr lang="en-US" sz="1080" dirty="0"/>
          </a:p>
          <a:p>
            <a:pPr indent="0" marL="0">
              <a:buNone/>
            </a:pPr>
            <a:r>
              <a:rPr lang="en-US" sz="1080" dirty="0">
                <a:solidFill>
                  <a:srgbClr val="A996B6"/>
                </a:solidFill>
                <a:latin typeface="Consolas" pitchFamily="34" charset="0"/>
                <a:ea typeface="Consolas" pitchFamily="34" charset="-122"/>
                <a:cs typeface="Consolas" pitchFamily="34" charset="-120"/>
              </a:rPr>
              <a:t>True</a:t>
            </a:r>
            <a:pPr indent="0" marL="0">
              <a:buNone/>
            </a:pPr>
            <a:r>
              <a:rPr lang="en-US" sz="1080" dirty="0">
                <a:solidFill>
                  <a:srgbClr val="FFFFFF"/>
                </a:solidFill>
                <a:latin typeface="Consolas" pitchFamily="34" charset="0"/>
                <a:ea typeface="Consolas" pitchFamily="34" charset="-122"/>
                <a:cs typeface="Consolas" pitchFamily="34" charset="-120"/>
              </a:rPr>
              <a:t>,</a:t>
            </a:r>
            <a:endParaRPr lang="en-US" sz="1080" dirty="0"/>
          </a:p>
          <a:p>
            <a:pPr indent="0" marL="0">
              <a:buNone/>
            </a:pPr>
            <a:r>
              <a:rPr lang="en-US" sz="1080" dirty="0">
                <a:solidFill>
                  <a:srgbClr val="FFFFFF"/>
                </a:solidFill>
                <a:latin typeface="Consolas" pitchFamily="34" charset="0"/>
                <a:ea typeface="Consolas" pitchFamily="34" charset="-122"/>
                <a:cs typeface="Consolas" pitchFamily="34" charset="-120"/>
              </a:rPr>
              <a:t>    session=session,</a:t>
            </a:r>
            <a:endParaRPr lang="en-US" sz="1080" dirty="0"/>
          </a:p>
          <a:p>
            <a:pPr indent="0" marL="0">
              <a:buNone/>
            </a:pPr>
            <a:r>
              <a:rPr lang="en-US" sz="1080" dirty="0">
                <a:solidFill>
                  <a:srgbClr val="FFFFFF"/>
                </a:solidFill>
                <a:latin typeface="Consolas" pitchFamily="34" charset="0"/>
                <a:ea typeface="Consolas" pitchFamily="34" charset="-122"/>
                <a:cs typeface="Consolas" pitchFamily="34" charset="-120"/>
              </a:rPr>
              <a:t>    options={</a:t>
            </a:r>
            <a:endParaRPr lang="en-US" sz="1080" dirty="0"/>
          </a:p>
          <a:p>
            <a:pPr indent="0" marL="0">
              <a:buNone/>
            </a:pPr>
            <a:r>
              <a:rPr lang="en-US" sz="1080" dirty="0">
                <a:solidFill>
                  <a:srgbClr val="E4C98A"/>
                </a:solidFill>
                <a:latin typeface="Consolas" pitchFamily="34" charset="0"/>
                <a:ea typeface="Consolas" pitchFamily="34" charset="-122"/>
                <a:cs typeface="Consolas" pitchFamily="34" charset="-120"/>
              </a:rPr>
              <a:t>"response_format"</a:t>
            </a:r>
            <a:pPr indent="0" marL="0">
              <a:buNone/>
            </a:pPr>
            <a:r>
              <a:rPr lang="en-US" sz="1080" dirty="0">
                <a:solidFill>
                  <a:srgbClr val="FFFFFF"/>
                </a:solidFill>
                <a:latin typeface="Consolas" pitchFamily="34" charset="0"/>
                <a:ea typeface="Consolas" pitchFamily="34" charset="-122"/>
                <a:cs typeface="Consolas" pitchFamily="34" charset="-120"/>
              </a:rPr>
              <a:t>: TriageResult},
)
</a:t>
            </a:r>
            <a:pPr indent="0" marL="0">
              <a:buNone/>
            </a:pPr>
            <a:r>
              <a:rPr lang="en-US" sz="1080" dirty="0">
                <a:solidFill>
                  <a:srgbClr val="A996B6"/>
                </a:solidFill>
                <a:latin typeface="Consolas" pitchFamily="34" charset="0"/>
                <a:ea typeface="Consolas" pitchFamily="34" charset="-122"/>
                <a:cs typeface="Consolas" pitchFamily="34" charset="-120"/>
              </a:rPr>
              <a:t>async</a:t>
            </a:r>
            <a:pPr indent="0" marL="0">
              <a:buNone/>
            </a:pPr>
            <a:r>
              <a:rPr lang="en-US" sz="1080" dirty="0">
                <a:solidFill>
                  <a:srgbClr val="FFFFFF"/>
                </a:solidFill>
                <a:latin typeface="Consolas" pitchFamily="34" charset="0"/>
                <a:ea typeface="Consolas" pitchFamily="34" charset="-122"/>
                <a:cs typeface="Consolas" pitchFamily="34" charset="-120"/>
              </a:rPr>
              <a:t> </a:t>
            </a:r>
            <a:pPr indent="0" marL="0">
              <a:buNone/>
            </a:pPr>
            <a:r>
              <a:rPr lang="en-US" sz="1080" dirty="0">
                <a:solidFill>
                  <a:srgbClr val="A996B6"/>
                </a:solidFill>
                <a:latin typeface="Consolas" pitchFamily="34" charset="0"/>
                <a:ea typeface="Consolas" pitchFamily="34" charset="-122"/>
                <a:cs typeface="Consolas" pitchFamily="34" charset="-120"/>
              </a:rPr>
              <a:t>for</a:t>
            </a:r>
            <a:pPr indent="0" marL="0">
              <a:buNone/>
            </a:pPr>
            <a:r>
              <a:rPr lang="en-US" sz="1080" dirty="0">
                <a:solidFill>
                  <a:srgbClr val="FFFFFF"/>
                </a:solidFill>
                <a:latin typeface="Consolas" pitchFamily="34" charset="0"/>
                <a:ea typeface="Consolas" pitchFamily="34" charset="-122"/>
                <a:cs typeface="Consolas" pitchFamily="34" charset="-120"/>
              </a:rPr>
              <a:t> update </a:t>
            </a:r>
            <a:pPr indent="0" marL="0">
              <a:buNone/>
            </a:pPr>
            <a:r>
              <a:rPr lang="en-US" sz="1080" dirty="0">
                <a:solidFill>
                  <a:srgbClr val="A996B6"/>
                </a:solidFill>
                <a:latin typeface="Consolas" pitchFamily="34" charset="0"/>
                <a:ea typeface="Consolas" pitchFamily="34" charset="-122"/>
                <a:cs typeface="Consolas" pitchFamily="34" charset="-120"/>
              </a:rPr>
              <a:t>in</a:t>
            </a:r>
            <a:pPr indent="0" marL="0">
              <a:buNone/>
            </a:pPr>
            <a:r>
              <a:rPr lang="en-US" sz="1080" dirty="0">
                <a:solidFill>
                  <a:srgbClr val="FFFFFF"/>
                </a:solidFill>
                <a:latin typeface="Consolas" pitchFamily="34" charset="0"/>
                <a:ea typeface="Consolas" pitchFamily="34" charset="-122"/>
                <a:cs typeface="Consolas" pitchFamily="34" charset="-120"/>
              </a:rPr>
              <a:t> stream:</a:t>
            </a:r>
            <a:endParaRPr lang="en-US" sz="1080" dirty="0"/>
          </a:p>
          <a:p>
            <a:pPr indent="0" marL="0">
              <a:buNone/>
            </a:pPr>
            <a:r>
              <a:rPr lang="en-US" sz="1080" dirty="0">
                <a:solidFill>
                  <a:srgbClr val="FFFFFF"/>
                </a:solidFill>
                <a:latin typeface="Consolas" pitchFamily="34" charset="0"/>
                <a:ea typeface="Consolas" pitchFamily="34" charset="-122"/>
                <a:cs typeface="Consolas" pitchFamily="34" charset="-120"/>
              </a:rPr>
              <a:t>    </a:t>
            </a:r>
            <a:endParaRPr lang="en-US" sz="1080" dirty="0"/>
          </a:p>
          <a:p>
            <a:pPr indent="0" marL="0">
              <a:buNone/>
            </a:pPr>
            <a:r>
              <a:rPr lang="en-US" sz="1080" dirty="0">
                <a:solidFill>
                  <a:srgbClr val="A996B6"/>
                </a:solidFill>
                <a:latin typeface="Consolas" pitchFamily="34" charset="0"/>
                <a:ea typeface="Consolas" pitchFamily="34" charset="-122"/>
                <a:cs typeface="Consolas" pitchFamily="34" charset="-120"/>
              </a:rPr>
              <a:t>if</a:t>
            </a:r>
            <a:pPr indent="0" marL="0">
              <a:buNone/>
            </a:pPr>
            <a:r>
              <a:rPr lang="en-US" sz="1080" dirty="0">
                <a:solidFill>
                  <a:srgbClr val="FFFFFF"/>
                </a:solidFill>
                <a:latin typeface="Consolas" pitchFamily="34" charset="0"/>
                <a:ea typeface="Consolas" pitchFamily="34" charset="-122"/>
                <a:cs typeface="Consolas" pitchFamily="34" charset="-120"/>
              </a:rPr>
              <a:t> update.text:</a:t>
            </a:r>
            <a:endParaRPr lang="en-US" sz="1080" dirty="0"/>
          </a:p>
          <a:p>
            <a:pPr indent="0" marL="0">
              <a:buNone/>
            </a:pPr>
            <a:r>
              <a:rPr lang="en-US" sz="1080" dirty="0">
                <a:solidFill>
                  <a:srgbClr val="FFFFFF"/>
                </a:solidFill>
                <a:latin typeface="Consolas" pitchFamily="34" charset="0"/>
                <a:ea typeface="Consolas" pitchFamily="34" charset="-122"/>
                <a:cs typeface="Consolas" pitchFamily="34" charset="-120"/>
              </a:rPr>
              <a:t>        render(update.text)</a:t>
            </a:r>
            <a:endParaRPr lang="en-US" sz="1080" dirty="0"/>
          </a:p>
          <a:p>
            <a:pPr indent="0" marL="0">
              <a:buNone/>
            </a:pPr>
            <a:endParaRPr lang="en-US" sz="1080" dirty="0"/>
          </a:p>
          <a:p>
            <a:pPr indent="0" marL="0">
              <a:buNone/>
            </a:pPr>
            <a:r>
              <a:rPr lang="en-US" sz="1080" dirty="0">
                <a:solidFill>
                  <a:srgbClr val="FFFFFF"/>
                </a:solidFill>
                <a:latin typeface="Consolas" pitchFamily="34" charset="0"/>
                <a:ea typeface="Consolas" pitchFamily="34" charset="-122"/>
                <a:cs typeface="Consolas" pitchFamily="34" charset="-120"/>
              </a:rPr>
              <a:t>final = </a:t>
            </a:r>
            <a:endParaRPr lang="en-US" sz="1080" dirty="0"/>
          </a:p>
          <a:p>
            <a:pPr indent="0" marL="0">
              <a:buNone/>
            </a:pPr>
            <a:r>
              <a:rPr lang="en-US" sz="1080" dirty="0">
                <a:solidFill>
                  <a:srgbClr val="A996B6"/>
                </a:solidFill>
                <a:latin typeface="Consolas" pitchFamily="34" charset="0"/>
                <a:ea typeface="Consolas" pitchFamily="34" charset="-122"/>
                <a:cs typeface="Consolas" pitchFamily="34" charset="-120"/>
              </a:rPr>
              <a:t>await</a:t>
            </a:r>
            <a:pPr indent="0" marL="0">
              <a:buNone/>
            </a:pPr>
            <a:r>
              <a:rPr lang="en-US" sz="1080" dirty="0">
                <a:solidFill>
                  <a:srgbClr val="FFFFFF"/>
                </a:solidFill>
                <a:latin typeface="Consolas" pitchFamily="34" charset="0"/>
                <a:ea typeface="Consolas" pitchFamily="34" charset="-122"/>
                <a:cs typeface="Consolas" pitchFamily="34" charset="-120"/>
              </a:rPr>
              <a:t> stream.get_final_response()</a:t>
            </a:r>
            <a:endParaRPr lang="en-US" sz="1080" dirty="0"/>
          </a:p>
          <a:p>
            <a:pPr indent="0" marL="0">
              <a:buNone/>
            </a:pPr>
            <a:r>
              <a:rPr lang="en-US" sz="1080" dirty="0">
                <a:solidFill>
                  <a:srgbClr val="FFFFFF"/>
                </a:solidFill>
                <a:latin typeface="Consolas" pitchFamily="34" charset="0"/>
                <a:ea typeface="Consolas" pitchFamily="34" charset="-122"/>
                <a:cs typeface="Consolas" pitchFamily="34" charset="-120"/>
              </a:rPr>
              <a:t>triage = final.value</a:t>
            </a:r>
            <a:endParaRPr lang="en-US" sz="1080" dirty="0"/>
          </a:p>
        </p:txBody>
      </p:sp>
      <p:sp>
        <p:nvSpPr>
          <p:cNvPr id="7" name="Shape 5"/>
          <p:cNvSpPr/>
          <p:nvPr/>
        </p:nvSpPr>
        <p:spPr>
          <a:xfrm>
            <a:off x="365760" y="4773168"/>
            <a:ext cx="8412480" cy="0"/>
          </a:xfrm>
          <a:prstGeom prst="line">
            <a:avLst/>
          </a:prstGeom>
          <a:noFill/>
          <a:ln w="6350">
            <a:solidFill>
              <a:srgbClr val="D1D5DB"/>
            </a:solidFill>
            <a:prstDash val="solid"/>
          </a:ln>
        </p:spPr>
      </p:sp>
      <p:sp>
        <p:nvSpPr>
          <p:cNvPr id="8" name="Text 6"/>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https://learn.microsoft.com/en-us/agent-framework/agents/structured-outputs?tabs=python</a:t>
            </a:r>
            <a:endParaRPr lang="en-US" sz="8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CADCFC"/>
        </a:solidFill>
      </p:bgPr>
    </p:bg>
    <p:spTree>
      <p:nvGrpSpPr>
        <p:cNvPr id="1" name=""/>
        <p:cNvGrpSpPr/>
        <p:nvPr/>
      </p:nvGrpSpPr>
      <p:grpSpPr>
        <a:xfrm>
          <a:off x="0" y="0"/>
          <a:ext cx="0" cy="0"/>
          <a:chOff x="0" y="0"/>
          <a:chExt cx="0" cy="0"/>
        </a:xfrm>
      </p:grpSpPr>
      <p:sp>
        <p:nvSpPr>
          <p:cNvPr id="2" name="Shape 0"/>
          <p:cNvSpPr/>
          <p:nvPr/>
        </p:nvSpPr>
        <p:spPr>
          <a:xfrm>
            <a:off x="0" y="0"/>
            <a:ext cx="146304" cy="5143500"/>
          </a:xfrm>
          <a:prstGeom prst="rect">
            <a:avLst/>
          </a:prstGeom>
          <a:solidFill>
            <a:srgbClr val="1E2761"/>
          </a:solidFill>
          <a:ln/>
        </p:spPr>
      </p:sp>
      <p:sp>
        <p:nvSpPr>
          <p:cNvPr id="3" name="Text 1"/>
          <p:cNvSpPr/>
          <p:nvPr/>
        </p:nvSpPr>
        <p:spPr>
          <a:xfrm>
            <a:off x="5669280" y="274320"/>
            <a:ext cx="329184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Day 3 · Module 2 · Demo</a:t>
            </a:r>
            <a:endParaRPr lang="en-US" sz="1000" dirty="0"/>
          </a:p>
        </p:txBody>
      </p:sp>
      <p:sp>
        <p:nvSpPr>
          <p:cNvPr id="4" name="Text 2"/>
          <p:cNvSpPr/>
          <p:nvPr/>
        </p:nvSpPr>
        <p:spPr>
          <a:xfrm>
            <a:off x="548640" y="1051560"/>
            <a:ext cx="5486400" cy="502920"/>
          </a:xfrm>
          <a:prstGeom prst="rect">
            <a:avLst/>
          </a:prstGeom>
          <a:noFill/>
          <a:ln/>
        </p:spPr>
        <p:txBody>
          <a:bodyPr wrap="square" lIns="0" tIns="0" rIns="0" bIns="0" rtlCol="0" anchor="ctr"/>
          <a:lstStyle/>
          <a:p>
            <a:pPr indent="0" marL="0">
              <a:buNone/>
            </a:pPr>
            <a:r>
              <a:rPr lang="en-US" sz="3200" b="1" spc="800" kern="0" dirty="0">
                <a:solidFill>
                  <a:srgbClr val="1E2761"/>
                </a:solidFill>
                <a:latin typeface="Calibri" pitchFamily="34" charset="0"/>
                <a:ea typeface="Calibri" pitchFamily="34" charset="-122"/>
                <a:cs typeface="Calibri" pitchFamily="34" charset="-120"/>
              </a:rPr>
              <a:t>DEMO</a:t>
            </a:r>
            <a:endParaRPr lang="en-US" sz="3200" dirty="0"/>
          </a:p>
        </p:txBody>
      </p:sp>
      <p:sp>
        <p:nvSpPr>
          <p:cNvPr id="5" name="Text 3"/>
          <p:cNvSpPr/>
          <p:nvPr/>
        </p:nvSpPr>
        <p:spPr>
          <a:xfrm>
            <a:off x="548640" y="1691640"/>
            <a:ext cx="8046720" cy="914400"/>
          </a:xfrm>
          <a:prstGeom prst="rect">
            <a:avLst/>
          </a:prstGeom>
          <a:noFill/>
          <a:ln/>
        </p:spPr>
        <p:txBody>
          <a:bodyPr wrap="square" lIns="0" tIns="0" rIns="0" bIns="0"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Watch it stream, then get the typed TriageResult</a:t>
            </a:r>
            <a:endParaRPr lang="en-US" sz="3000" dirty="0"/>
          </a:p>
        </p:txBody>
      </p:sp>
      <p:sp>
        <p:nvSpPr>
          <p:cNvPr id="6" name="Text 4"/>
          <p:cNvSpPr/>
          <p:nvPr/>
        </p:nvSpPr>
        <p:spPr>
          <a:xfrm>
            <a:off x="6583680" y="1051560"/>
            <a:ext cx="2194560" cy="502920"/>
          </a:xfrm>
          <a:prstGeom prst="rect">
            <a:avLst/>
          </a:prstGeom>
          <a:noFill/>
          <a:ln/>
        </p:spPr>
        <p:txBody>
          <a:bodyPr wrap="square" lIns="0" tIns="0" rIns="0" bIns="0" rtlCol="0" anchor="ctr"/>
          <a:lstStyle/>
          <a:p>
            <a:pPr algn="r" indent="0" marL="0">
              <a:buNone/>
            </a:pPr>
            <a:r>
              <a:rPr lang="en-US" sz="1800" i="1" dirty="0">
                <a:solidFill>
                  <a:srgbClr val="6B7280"/>
                </a:solidFill>
                <a:latin typeface="Calibri" pitchFamily="34" charset="0"/>
                <a:ea typeface="Calibri" pitchFamily="34" charset="-122"/>
                <a:cs typeface="Calibri" pitchFamily="34" charset="-120"/>
              </a:rPr>
              <a:t>~5 min</a:t>
            </a:r>
            <a:endParaRPr lang="en-US" sz="1800" dirty="0"/>
          </a:p>
        </p:txBody>
      </p:sp>
      <p:sp>
        <p:nvSpPr>
          <p:cNvPr id="7" name="Text 5"/>
          <p:cNvSpPr/>
          <p:nvPr/>
        </p:nvSpPr>
        <p:spPr>
          <a:xfrm>
            <a:off x="548640" y="2788920"/>
            <a:ext cx="8046720" cy="1371600"/>
          </a:xfrm>
          <a:prstGeom prst="rect">
            <a:avLst/>
          </a:prstGeom>
          <a:noFill/>
          <a:ln/>
        </p:spPr>
        <p:txBody>
          <a:bodyPr wrap="square" lIns="0" tIns="0" rIns="0" bIns="0" rtlCol="0" anchor="ctr"/>
          <a:lstStyle/>
          <a:p>
            <a:pPr indent="0" marL="0">
              <a:spcAft>
                <a:spcPts val="600"/>
              </a:spcAft>
              <a:buNone/>
            </a:pPr>
            <a:r>
              <a:rPr lang="en-US" sz="1600" dirty="0">
                <a:solidFill>
                  <a:srgbClr val="212121"/>
                </a:solidFill>
                <a:latin typeface="Calibri" pitchFamily="34" charset="0"/>
                <a:ea typeface="Calibri" pitchFamily="34" charset="-122"/>
                <a:cs typeface="Calibri" pitchFamily="34" charset="-120"/>
              </a:rPr>
              <a:t>Run the previous slide's exact combined pattern live: text tokens render as they arrive, then stream.get_final_response().value prints a validated TriageResult — the two-contract model made concrete on the Day 2 docs assistant.</a:t>
            </a:r>
            <a:endParaRPr lang="en-US" sz="1600" dirty="0"/>
          </a:p>
        </p:txBody>
      </p:sp>
      <p:sp>
        <p:nvSpPr>
          <p:cNvPr id="8" name="Text 6"/>
          <p:cNvSpPr/>
          <p:nvPr/>
        </p:nvSpPr>
        <p:spPr>
          <a:xfrm>
            <a:off x="548640" y="4434840"/>
            <a:ext cx="8046720" cy="320040"/>
          </a:xfrm>
          <a:prstGeom prst="rect">
            <a:avLst/>
          </a:prstGeom>
          <a:noFill/>
          <a:ln/>
        </p:spPr>
        <p:txBody>
          <a:bodyPr wrap="square" lIns="0" tIns="0" rIns="0" bIns="0"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Runbook: demos/day3/module-2-demo-1-stream-then-triage.md</a:t>
            </a:r>
            <a:endParaRPr lang="en-US" sz="1100" dirty="0"/>
          </a:p>
        </p:txBody>
      </p:sp>
      <p:sp>
        <p:nvSpPr>
          <p:cNvPr id="9" name="Shape 7"/>
          <p:cNvSpPr/>
          <p:nvPr/>
        </p:nvSpPr>
        <p:spPr>
          <a:xfrm>
            <a:off x="365760" y="4773168"/>
            <a:ext cx="8412480" cy="0"/>
          </a:xfrm>
          <a:prstGeom prst="line">
            <a:avLst/>
          </a:prstGeom>
          <a:noFill/>
          <a:ln w="6350">
            <a:solidFill>
              <a:srgbClr val="D1D5DB"/>
            </a:solidFill>
            <a:prstDash val="solid"/>
          </a:ln>
        </p:spPr>
      </p:sp>
      <p:sp>
        <p:nvSpPr>
          <p:cNvPr id="10" name="Text 8"/>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https://learn.microsoft.com/en-us/agent-framework/agents/structured-outputs?tabs=python</a:t>
            </a:r>
            <a:endParaRPr lang="en-US" sz="8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2</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Partial JSON is display data, not a value</a:t>
            </a:r>
            <a:endParaRPr lang="en-US" sz="2500" dirty="0"/>
          </a:p>
        </p:txBody>
      </p:sp>
      <p:sp>
        <p:nvSpPr>
          <p:cNvPr id="5" name="Shape 3"/>
          <p:cNvSpPr/>
          <p:nvPr/>
        </p:nvSpPr>
        <p:spPr>
          <a:xfrm>
            <a:off x="365760" y="1078992"/>
            <a:ext cx="4114800" cy="3493008"/>
          </a:xfrm>
          <a:prstGeom prst="roundRect">
            <a:avLst/>
          </a:prstGeom>
          <a:solidFill>
            <a:srgbClr val="F3F4F6"/>
          </a:solidFill>
          <a:ln w="11430">
            <a:solidFill>
              <a:srgbClr val="D1D5DB"/>
            </a:solidFill>
            <a:prstDash val="solid"/>
          </a:ln>
        </p:spPr>
      </p:sp>
      <p:sp>
        <p:nvSpPr>
          <p:cNvPr id="6" name="Text 4"/>
          <p:cNvSpPr/>
          <p:nvPr/>
        </p:nvSpPr>
        <p:spPr>
          <a:xfrm>
            <a:off x="566928" y="1298448"/>
            <a:ext cx="3712464" cy="411480"/>
          </a:xfrm>
          <a:prstGeom prst="rect">
            <a:avLst/>
          </a:prstGeom>
          <a:noFill/>
          <a:ln/>
        </p:spPr>
        <p:txBody>
          <a:bodyPr wrap="square" lIns="0" tIns="0" rIns="0" bIns="0" rtlCol="0" anchor="ctr">
            <a:normAutofit/>
          </a:bodyPr>
          <a:lstStyle/>
          <a:p>
            <a:pPr indent="0" marL="0">
              <a:buNone/>
            </a:pPr>
            <a:r>
              <a:rPr lang="en-US" sz="2000" b="1" dirty="0">
                <a:solidFill>
                  <a:srgbClr val="1E2761"/>
                </a:solidFill>
                <a:latin typeface="Calibri" pitchFamily="34" charset="0"/>
                <a:ea typeface="Calibri" pitchFamily="34" charset="-122"/>
                <a:cs typeface="Calibri" pitchFamily="34" charset="-120"/>
              </a:rPr>
              <a:t>During the stream</a:t>
            </a:r>
            <a:endParaRPr lang="en-US" sz="2000" dirty="0"/>
          </a:p>
        </p:txBody>
      </p:sp>
      <p:sp>
        <p:nvSpPr>
          <p:cNvPr id="7" name="Text 5"/>
          <p:cNvSpPr/>
          <p:nvPr/>
        </p:nvSpPr>
        <p:spPr>
          <a:xfrm>
            <a:off x="594360" y="1828800"/>
            <a:ext cx="3639312" cy="2395728"/>
          </a:xfrm>
          <a:prstGeom prst="rect">
            <a:avLst/>
          </a:prstGeom>
          <a:noFill/>
          <a:ln/>
        </p:spPr>
        <p:txBody>
          <a:bodyPr wrap="square" lIns="381" tIns="381" rIns="381" bIns="381" rtlCol="0" anchor="ctr">
            <a:normAutofit/>
          </a:bodyPr>
          <a:lstStyle/>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JSON may be incomplete</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Fields may not have arrived</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Do not parse or act</a:t>
            </a:r>
            <a:endParaRPr lang="en-US" sz="1300" dirty="0"/>
          </a:p>
        </p:txBody>
      </p:sp>
      <p:sp>
        <p:nvSpPr>
          <p:cNvPr id="8" name="Shape 6"/>
          <p:cNvSpPr/>
          <p:nvPr/>
        </p:nvSpPr>
        <p:spPr>
          <a:xfrm>
            <a:off x="4663440" y="1078992"/>
            <a:ext cx="4114800" cy="3493008"/>
          </a:xfrm>
          <a:prstGeom prst="roundRect">
            <a:avLst/>
          </a:prstGeom>
          <a:solidFill>
            <a:srgbClr val="CADCFC"/>
          </a:solidFill>
          <a:ln w="11430">
            <a:solidFill>
              <a:srgbClr val="1E2761"/>
            </a:solidFill>
            <a:prstDash val="solid"/>
          </a:ln>
        </p:spPr>
      </p:sp>
      <p:sp>
        <p:nvSpPr>
          <p:cNvPr id="9" name="Text 7"/>
          <p:cNvSpPr/>
          <p:nvPr/>
        </p:nvSpPr>
        <p:spPr>
          <a:xfrm>
            <a:off x="4864608" y="1298448"/>
            <a:ext cx="3712464" cy="411480"/>
          </a:xfrm>
          <a:prstGeom prst="rect">
            <a:avLst/>
          </a:prstGeom>
          <a:noFill/>
          <a:ln/>
        </p:spPr>
        <p:txBody>
          <a:bodyPr wrap="square" lIns="0" tIns="0" rIns="0" bIns="0" rtlCol="0" anchor="ctr">
            <a:normAutofit/>
          </a:bodyPr>
          <a:lstStyle/>
          <a:p>
            <a:pPr indent="0" marL="0">
              <a:buNone/>
            </a:pPr>
            <a:r>
              <a:rPr lang="en-US" sz="2000" b="1" dirty="0">
                <a:solidFill>
                  <a:srgbClr val="1E2761"/>
                </a:solidFill>
                <a:latin typeface="Calibri" pitchFamily="34" charset="0"/>
                <a:ea typeface="Calibri" pitchFamily="34" charset="-122"/>
                <a:cs typeface="Calibri" pitchFamily="34" charset="-120"/>
              </a:rPr>
              <a:t>After completion</a:t>
            </a:r>
            <a:endParaRPr lang="en-US" sz="2000" dirty="0"/>
          </a:p>
        </p:txBody>
      </p:sp>
      <p:sp>
        <p:nvSpPr>
          <p:cNvPr id="10" name="Text 8"/>
          <p:cNvSpPr/>
          <p:nvPr/>
        </p:nvSpPr>
        <p:spPr>
          <a:xfrm>
            <a:off x="4892040" y="1828800"/>
            <a:ext cx="3639312" cy="2395728"/>
          </a:xfrm>
          <a:prstGeom prst="rect">
            <a:avLst/>
          </a:prstGeom>
          <a:noFill/>
          <a:ln/>
        </p:spPr>
        <p:txBody>
          <a:bodyPr wrap="square" lIns="381" tIns="381" rIns="381" bIns="381" rtlCol="0" anchor="ctr">
            <a:normAutofit/>
          </a:bodyPr>
          <a:lstStyle/>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Await get_final_response()</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Read validated .value</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Apply business rules and approvals</a:t>
            </a:r>
            <a:endParaRPr lang="en-US" sz="1300" dirty="0"/>
          </a:p>
        </p:txBody>
      </p:sp>
      <p:sp>
        <p:nvSpPr>
          <p:cNvPr id="11" name="Shape 9"/>
          <p:cNvSpPr/>
          <p:nvPr/>
        </p:nvSpPr>
        <p:spPr>
          <a:xfrm>
            <a:off x="365760" y="4773168"/>
            <a:ext cx="8412480" cy="0"/>
          </a:xfrm>
          <a:prstGeom prst="line">
            <a:avLst/>
          </a:prstGeom>
          <a:noFill/>
          <a:ln w="6350">
            <a:solidFill>
              <a:srgbClr val="D1D5DB"/>
            </a:solidFill>
            <a:prstDash val="solid"/>
          </a:ln>
        </p:spPr>
      </p:sp>
      <p:sp>
        <p:nvSpPr>
          <p:cNvPr id="12" name="Text 10"/>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https://learn.microsoft.com/en-us/agent-framework/agents/structured-outputs?tabs=python</a:t>
            </a:r>
            <a:endParaRPr lang="en-US" sz="8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2</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Support follows the underlying client</a:t>
            </a:r>
            <a:endParaRPr lang="en-US" sz="2500" dirty="0"/>
          </a:p>
        </p:txBody>
      </p:sp>
      <p:sp>
        <p:nvSpPr>
          <p:cNvPr id="5" name="Shape 3"/>
          <p:cNvSpPr/>
          <p:nvPr/>
        </p:nvSpPr>
        <p:spPr>
          <a:xfrm>
            <a:off x="365760" y="1078992"/>
            <a:ext cx="4105656" cy="1655064"/>
          </a:xfrm>
          <a:prstGeom prst="roundRect">
            <a:avLst>
              <a:gd name="adj" fmla="val 3315"/>
            </a:avLst>
          </a:prstGeom>
          <a:solidFill>
            <a:srgbClr val="CADCFC"/>
          </a:solidFill>
          <a:ln w="10160">
            <a:solidFill>
              <a:srgbClr val="1E2761"/>
            </a:solidFill>
            <a:prstDash val="solid"/>
          </a:ln>
        </p:spPr>
      </p:sp>
      <p:sp>
        <p:nvSpPr>
          <p:cNvPr id="6" name="Text 4"/>
          <p:cNvSpPr/>
          <p:nvPr/>
        </p:nvSpPr>
        <p:spPr>
          <a:xfrm>
            <a:off x="512064" y="1197864"/>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Framework</a:t>
            </a:r>
            <a:endParaRPr lang="en-US" sz="1500" dirty="0"/>
          </a:p>
        </p:txBody>
      </p:sp>
      <p:sp>
        <p:nvSpPr>
          <p:cNvPr id="7" name="Text 5"/>
          <p:cNvSpPr/>
          <p:nvPr/>
        </p:nvSpPr>
        <p:spPr>
          <a:xfrm>
            <a:off x="512064" y="1581912"/>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Agent forwards the response format through the client</a:t>
            </a:r>
            <a:endParaRPr lang="en-US" sz="1150" dirty="0"/>
          </a:p>
        </p:txBody>
      </p:sp>
      <p:sp>
        <p:nvSpPr>
          <p:cNvPr id="8" name="Shape 6"/>
          <p:cNvSpPr/>
          <p:nvPr/>
        </p:nvSpPr>
        <p:spPr>
          <a:xfrm>
            <a:off x="4672584" y="1078992"/>
            <a:ext cx="4105656" cy="1655064"/>
          </a:xfrm>
          <a:prstGeom prst="roundRect">
            <a:avLst>
              <a:gd name="adj" fmla="val 3315"/>
            </a:avLst>
          </a:prstGeom>
          <a:solidFill>
            <a:srgbClr val="F3F4F6"/>
          </a:solidFill>
          <a:ln w="10160">
            <a:solidFill>
              <a:srgbClr val="D1D5DB"/>
            </a:solidFill>
            <a:prstDash val="solid"/>
          </a:ln>
        </p:spPr>
      </p:sp>
      <p:sp>
        <p:nvSpPr>
          <p:cNvPr id="9" name="Text 7"/>
          <p:cNvSpPr/>
          <p:nvPr/>
        </p:nvSpPr>
        <p:spPr>
          <a:xfrm>
            <a:off x="4818888" y="1197864"/>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Client</a:t>
            </a:r>
            <a:endParaRPr lang="en-US" sz="1500" dirty="0"/>
          </a:p>
        </p:txBody>
      </p:sp>
      <p:sp>
        <p:nvSpPr>
          <p:cNvPr id="10" name="Text 8"/>
          <p:cNvSpPr/>
          <p:nvPr/>
        </p:nvSpPr>
        <p:spPr>
          <a:xfrm>
            <a:off x="4818888" y="1581912"/>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Must implement compatible structured-output behavior</a:t>
            </a:r>
            <a:endParaRPr lang="en-US" sz="1150" dirty="0"/>
          </a:p>
        </p:txBody>
      </p:sp>
      <p:sp>
        <p:nvSpPr>
          <p:cNvPr id="11" name="Shape 9"/>
          <p:cNvSpPr/>
          <p:nvPr/>
        </p:nvSpPr>
        <p:spPr>
          <a:xfrm>
            <a:off x="365760" y="2935224"/>
            <a:ext cx="4105656" cy="1655064"/>
          </a:xfrm>
          <a:prstGeom prst="roundRect">
            <a:avLst>
              <a:gd name="adj" fmla="val 3315"/>
            </a:avLst>
          </a:prstGeom>
          <a:solidFill>
            <a:srgbClr val="F3F4F6"/>
          </a:solidFill>
          <a:ln w="10160">
            <a:solidFill>
              <a:srgbClr val="D1D5DB"/>
            </a:solidFill>
            <a:prstDash val="solid"/>
          </a:ln>
        </p:spPr>
      </p:sp>
      <p:sp>
        <p:nvSpPr>
          <p:cNvPr id="12" name="Text 10"/>
          <p:cNvSpPr/>
          <p:nvPr/>
        </p:nvSpPr>
        <p:spPr>
          <a:xfrm>
            <a:off x="512064" y="3054096"/>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Model</a:t>
            </a:r>
            <a:endParaRPr lang="en-US" sz="1500" dirty="0"/>
          </a:p>
        </p:txBody>
      </p:sp>
      <p:sp>
        <p:nvSpPr>
          <p:cNvPr id="13" name="Text 11"/>
          <p:cNvSpPr/>
          <p:nvPr/>
        </p:nvSpPr>
        <p:spPr>
          <a:xfrm>
            <a:off x="512064" y="3438144"/>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Must support the requested response format</a:t>
            </a:r>
            <a:endParaRPr lang="en-US" sz="1150" dirty="0"/>
          </a:p>
        </p:txBody>
      </p:sp>
      <p:sp>
        <p:nvSpPr>
          <p:cNvPr id="14" name="Shape 12"/>
          <p:cNvSpPr/>
          <p:nvPr/>
        </p:nvSpPr>
        <p:spPr>
          <a:xfrm>
            <a:off x="4672584" y="2935224"/>
            <a:ext cx="4105656" cy="1655064"/>
          </a:xfrm>
          <a:prstGeom prst="roundRect">
            <a:avLst>
              <a:gd name="adj" fmla="val 3315"/>
            </a:avLst>
          </a:prstGeom>
          <a:solidFill>
            <a:srgbClr val="F3F4F6"/>
          </a:solidFill>
          <a:ln w="10160">
            <a:solidFill>
              <a:srgbClr val="D1D5DB"/>
            </a:solidFill>
            <a:prstDash val="solid"/>
          </a:ln>
        </p:spPr>
      </p:sp>
      <p:sp>
        <p:nvSpPr>
          <p:cNvPr id="15" name="Text 13"/>
          <p:cNvSpPr/>
          <p:nvPr/>
        </p:nvSpPr>
        <p:spPr>
          <a:xfrm>
            <a:off x="4818888" y="3054096"/>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Practice</a:t>
            </a:r>
            <a:endParaRPr lang="en-US" sz="1500" dirty="0"/>
          </a:p>
        </p:txBody>
      </p:sp>
      <p:sp>
        <p:nvSpPr>
          <p:cNvPr id="16" name="Text 14"/>
          <p:cNvSpPr/>
          <p:nvPr/>
        </p:nvSpPr>
        <p:spPr>
          <a:xfrm>
            <a:off x="4818888" y="3438144"/>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Test the exact deployment and handle invalid values</a:t>
            </a:r>
            <a:endParaRPr lang="en-US" sz="1150" dirty="0"/>
          </a:p>
        </p:txBody>
      </p:sp>
      <p:sp>
        <p:nvSpPr>
          <p:cNvPr id="17" name="Shape 15"/>
          <p:cNvSpPr/>
          <p:nvPr/>
        </p:nvSpPr>
        <p:spPr>
          <a:xfrm>
            <a:off x="365760" y="4773168"/>
            <a:ext cx="8412480" cy="0"/>
          </a:xfrm>
          <a:prstGeom prst="line">
            <a:avLst/>
          </a:prstGeom>
          <a:noFill/>
          <a:ln w="6350">
            <a:solidFill>
              <a:srgbClr val="D1D5DB"/>
            </a:solidFill>
            <a:prstDash val="solid"/>
          </a:ln>
        </p:spPr>
      </p:sp>
      <p:sp>
        <p:nvSpPr>
          <p:cNvPr id="18" name="Text 16"/>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https://learn.microsoft.com/en-us/agent-framework/agents/structured-outputs?tabs=python  ·  +1 in notes</a:t>
            </a:r>
            <a:endParaRPr lang="en-US" sz="8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2</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Choose the response contract</a:t>
            </a:r>
            <a:endParaRPr lang="en-US" sz="28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365760" y="1078992"/>
          <a:ext cx="8412480" cy="914400"/>
        </p:xfrm>
        <a:graphic>
          <a:graphicData uri="http://schemas.openxmlformats.org/drawingml/2006/table">
            <a:tbl>
              <a:tblPr/>
              <a:tblGrid>
                <a:gridCol w="4206240"/>
                <a:gridCol w="4206240"/>
              </a:tblGrid>
              <a:tr h="58674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Need</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Pattern</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Fastest simple code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Await AgentResponse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Progressive display</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Iterate ResponseStream</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Typed handoff</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Await response and read .value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Progressive display + typed handoff</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Iterate, then get_final_response().value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Dynamic contract</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JSON Schema mapping</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
        <p:nvSpPr>
          <p:cNvPr id="6" name="Shape 3"/>
          <p:cNvSpPr/>
          <p:nvPr/>
        </p:nvSpPr>
        <p:spPr>
          <a:xfrm>
            <a:off x="365760" y="4773168"/>
            <a:ext cx="8412480" cy="0"/>
          </a:xfrm>
          <a:prstGeom prst="line">
            <a:avLst/>
          </a:prstGeom>
          <a:noFill/>
          <a:ln w="6350">
            <a:solidFill>
              <a:srgbClr val="D1D5DB"/>
            </a:solidFill>
            <a:prstDash val="solid"/>
          </a:ln>
        </p:spPr>
      </p:sp>
      <p:sp>
        <p:nvSpPr>
          <p:cNvPr id="7" name="Text 4"/>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https://learn.microsoft.com/en-us/agent-framework/concepts/agents/running-agents?tabs=python  ·  +1 in notes</a:t>
            </a:r>
            <a:endParaRPr lang="en-US" sz="8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2</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Takeaways</a:t>
            </a:r>
            <a:endParaRPr lang="en-US" sz="2800" dirty="0"/>
          </a:p>
        </p:txBody>
      </p:sp>
      <p:sp>
        <p:nvSpPr>
          <p:cNvPr id="5" name="Shape 3"/>
          <p:cNvSpPr/>
          <p:nvPr/>
        </p:nvSpPr>
        <p:spPr>
          <a:xfrm>
            <a:off x="502920" y="1097280"/>
            <a:ext cx="8138160" cy="585216"/>
          </a:xfrm>
          <a:prstGeom prst="roundRect">
            <a:avLst/>
          </a:prstGeom>
          <a:solidFill>
            <a:srgbClr val="F3F4F6"/>
          </a:solidFill>
          <a:ln w="6350">
            <a:solidFill>
              <a:srgbClr val="D1D5DB"/>
            </a:solidFill>
            <a:prstDash val="solid"/>
          </a:ln>
        </p:spPr>
      </p:sp>
      <p:sp>
        <p:nvSpPr>
          <p:cNvPr id="6" name="Shape 4"/>
          <p:cNvSpPr/>
          <p:nvPr/>
        </p:nvSpPr>
        <p:spPr>
          <a:xfrm>
            <a:off x="667512" y="1225296"/>
            <a:ext cx="256032" cy="256032"/>
          </a:xfrm>
          <a:prstGeom prst="ellipse">
            <a:avLst/>
          </a:prstGeom>
          <a:solidFill>
            <a:srgbClr val="1E2761"/>
          </a:solidFill>
          <a:ln/>
        </p:spPr>
      </p:sp>
      <p:sp>
        <p:nvSpPr>
          <p:cNvPr id="7" name="Text 5"/>
          <p:cNvSpPr/>
          <p:nvPr/>
        </p:nvSpPr>
        <p:spPr>
          <a:xfrm>
            <a:off x="667512" y="1252728"/>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8" name="Text 6"/>
          <p:cNvSpPr/>
          <p:nvPr/>
        </p:nvSpPr>
        <p:spPr>
          <a:xfrm>
            <a:off x="1042416" y="1207008"/>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use one run API and choose AgentResponse or ResponseStream.</a:t>
            </a:r>
            <a:endParaRPr lang="en-US" sz="1300" dirty="0"/>
          </a:p>
        </p:txBody>
      </p:sp>
      <p:sp>
        <p:nvSpPr>
          <p:cNvPr id="9" name="Shape 7"/>
          <p:cNvSpPr/>
          <p:nvPr/>
        </p:nvSpPr>
        <p:spPr>
          <a:xfrm>
            <a:off x="502920" y="1755648"/>
            <a:ext cx="8138160" cy="585216"/>
          </a:xfrm>
          <a:prstGeom prst="roundRect">
            <a:avLst/>
          </a:prstGeom>
          <a:solidFill>
            <a:srgbClr val="F3F4F6"/>
          </a:solidFill>
          <a:ln w="6350">
            <a:solidFill>
              <a:srgbClr val="D1D5DB"/>
            </a:solidFill>
            <a:prstDash val="solid"/>
          </a:ln>
        </p:spPr>
      </p:sp>
      <p:sp>
        <p:nvSpPr>
          <p:cNvPr id="10" name="Shape 8"/>
          <p:cNvSpPr/>
          <p:nvPr/>
        </p:nvSpPr>
        <p:spPr>
          <a:xfrm>
            <a:off x="667512" y="1883664"/>
            <a:ext cx="256032" cy="256032"/>
          </a:xfrm>
          <a:prstGeom prst="ellipse">
            <a:avLst/>
          </a:prstGeom>
          <a:solidFill>
            <a:srgbClr val="1E2761"/>
          </a:solidFill>
          <a:ln/>
        </p:spPr>
      </p:sp>
      <p:sp>
        <p:nvSpPr>
          <p:cNvPr id="11" name="Text 9"/>
          <p:cNvSpPr/>
          <p:nvPr/>
        </p:nvSpPr>
        <p:spPr>
          <a:xfrm>
            <a:off x="667512" y="1911096"/>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12" name="Text 10"/>
          <p:cNvSpPr/>
          <p:nvPr/>
        </p:nvSpPr>
        <p:spPr>
          <a:xfrm>
            <a:off x="1042416" y="1865376"/>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treat updates as typed contents, not only text.</a:t>
            </a:r>
            <a:endParaRPr lang="en-US" sz="1300" dirty="0"/>
          </a:p>
        </p:txBody>
      </p:sp>
      <p:sp>
        <p:nvSpPr>
          <p:cNvPr id="13" name="Shape 11"/>
          <p:cNvSpPr/>
          <p:nvPr/>
        </p:nvSpPr>
        <p:spPr>
          <a:xfrm>
            <a:off x="502920" y="2414016"/>
            <a:ext cx="8138160" cy="585216"/>
          </a:xfrm>
          <a:prstGeom prst="roundRect">
            <a:avLst/>
          </a:prstGeom>
          <a:solidFill>
            <a:srgbClr val="F3F4F6"/>
          </a:solidFill>
          <a:ln w="6350">
            <a:solidFill>
              <a:srgbClr val="D1D5DB"/>
            </a:solidFill>
            <a:prstDash val="solid"/>
          </a:ln>
        </p:spPr>
      </p:sp>
      <p:sp>
        <p:nvSpPr>
          <p:cNvPr id="14" name="Shape 12"/>
          <p:cNvSpPr/>
          <p:nvPr/>
        </p:nvSpPr>
        <p:spPr>
          <a:xfrm>
            <a:off x="667512" y="2542032"/>
            <a:ext cx="256032" cy="256032"/>
          </a:xfrm>
          <a:prstGeom prst="ellipse">
            <a:avLst/>
          </a:prstGeom>
          <a:solidFill>
            <a:srgbClr val="1E2761"/>
          </a:solidFill>
          <a:ln/>
        </p:spPr>
      </p:sp>
      <p:sp>
        <p:nvSpPr>
          <p:cNvPr id="15" name="Text 13"/>
          <p:cNvSpPr/>
          <p:nvPr/>
        </p:nvSpPr>
        <p:spPr>
          <a:xfrm>
            <a:off x="667512" y="2569464"/>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16" name="Text 14"/>
          <p:cNvSpPr/>
          <p:nvPr/>
        </p:nvSpPr>
        <p:spPr>
          <a:xfrm>
            <a:off x="1042416" y="2523744"/>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put response_format inside options.</a:t>
            </a:r>
            <a:endParaRPr lang="en-US" sz="1300" dirty="0"/>
          </a:p>
        </p:txBody>
      </p:sp>
      <p:sp>
        <p:nvSpPr>
          <p:cNvPr id="17" name="Shape 15"/>
          <p:cNvSpPr/>
          <p:nvPr/>
        </p:nvSpPr>
        <p:spPr>
          <a:xfrm>
            <a:off x="502920" y="3072384"/>
            <a:ext cx="8138160" cy="585216"/>
          </a:xfrm>
          <a:prstGeom prst="roundRect">
            <a:avLst/>
          </a:prstGeom>
          <a:solidFill>
            <a:srgbClr val="F3F4F6"/>
          </a:solidFill>
          <a:ln w="6350">
            <a:solidFill>
              <a:srgbClr val="D1D5DB"/>
            </a:solidFill>
            <a:prstDash val="solid"/>
          </a:ln>
        </p:spPr>
      </p:sp>
      <p:sp>
        <p:nvSpPr>
          <p:cNvPr id="18" name="Shape 16"/>
          <p:cNvSpPr/>
          <p:nvPr/>
        </p:nvSpPr>
        <p:spPr>
          <a:xfrm>
            <a:off x="667512" y="3200400"/>
            <a:ext cx="256032" cy="256032"/>
          </a:xfrm>
          <a:prstGeom prst="ellipse">
            <a:avLst/>
          </a:prstGeom>
          <a:solidFill>
            <a:srgbClr val="1E2761"/>
          </a:solidFill>
          <a:ln/>
        </p:spPr>
      </p:sp>
      <p:sp>
        <p:nvSpPr>
          <p:cNvPr id="19" name="Text 17"/>
          <p:cNvSpPr/>
          <p:nvPr/>
        </p:nvSpPr>
        <p:spPr>
          <a:xfrm>
            <a:off x="667512" y="3227832"/>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20" name="Text 18"/>
          <p:cNvSpPr/>
          <p:nvPr/>
        </p:nvSpPr>
        <p:spPr>
          <a:xfrm>
            <a:off x="1042416" y="3182112"/>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parse structured output only after the stream completes.</a:t>
            </a:r>
            <a:endParaRPr lang="en-US" sz="1300" dirty="0"/>
          </a:p>
        </p:txBody>
      </p:sp>
      <p:sp>
        <p:nvSpPr>
          <p:cNvPr id="21" name="Shape 19"/>
          <p:cNvSpPr/>
          <p:nvPr/>
        </p:nvSpPr>
        <p:spPr>
          <a:xfrm>
            <a:off x="502920" y="3730752"/>
            <a:ext cx="8138160" cy="585216"/>
          </a:xfrm>
          <a:prstGeom prst="roundRect">
            <a:avLst/>
          </a:prstGeom>
          <a:solidFill>
            <a:srgbClr val="CADCFC"/>
          </a:solidFill>
          <a:ln w="6350">
            <a:solidFill>
              <a:srgbClr val="D1D5DB"/>
            </a:solidFill>
            <a:prstDash val="solid"/>
          </a:ln>
        </p:spPr>
      </p:sp>
      <p:sp>
        <p:nvSpPr>
          <p:cNvPr id="22" name="Shape 20"/>
          <p:cNvSpPr/>
          <p:nvPr/>
        </p:nvSpPr>
        <p:spPr>
          <a:xfrm>
            <a:off x="667512" y="3858768"/>
            <a:ext cx="256032" cy="256032"/>
          </a:xfrm>
          <a:prstGeom prst="ellipse">
            <a:avLst/>
          </a:prstGeom>
          <a:solidFill>
            <a:srgbClr val="1E2761"/>
          </a:solidFill>
          <a:ln/>
        </p:spPr>
      </p:sp>
      <p:sp>
        <p:nvSpPr>
          <p:cNvPr id="23" name="Text 21"/>
          <p:cNvSpPr/>
          <p:nvPr/>
        </p:nvSpPr>
        <p:spPr>
          <a:xfrm>
            <a:off x="667512" y="3886200"/>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24" name="Text 22"/>
          <p:cNvSpPr/>
          <p:nvPr/>
        </p:nvSpPr>
        <p:spPr>
          <a:xfrm>
            <a:off x="1042416" y="3840480"/>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verify support with your exact Foundry client and model.</a:t>
            </a:r>
            <a:endParaRPr lang="en-US" sz="1300" dirty="0"/>
          </a:p>
        </p:txBody>
      </p:sp>
      <p:sp>
        <p:nvSpPr>
          <p:cNvPr id="25" name="Shape 23"/>
          <p:cNvSpPr/>
          <p:nvPr/>
        </p:nvSpPr>
        <p:spPr>
          <a:xfrm>
            <a:off x="365760" y="4773168"/>
            <a:ext cx="8412480" cy="0"/>
          </a:xfrm>
          <a:prstGeom prst="line">
            <a:avLst/>
          </a:prstGeom>
          <a:noFill/>
          <a:ln w="6350">
            <a:solidFill>
              <a:srgbClr val="D1D5DB"/>
            </a:solidFill>
            <a:prstDash val="solid"/>
          </a:ln>
        </p:spPr>
      </p:sp>
      <p:sp>
        <p:nvSpPr>
          <p:cNvPr id="26" name="Text 24"/>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https://learn.microsoft.com/en-us/agent-framework/agents/structured-outputs?tabs=python</a:t>
            </a:r>
            <a:endParaRPr lang="en-US" sz="8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Building AI Apps and Agents Workshop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Streaming &amp; Structured Outputs</dc:title>
  <dc:subject>Day 3 — Single-Agent Runtime + MCP</dc:subject>
  <dc:creator>Building AI Apps and Agents Workshop</dc:creator>
  <cp:lastModifiedBy>Building AI Apps and Agents Workshop</cp:lastModifiedBy>
  <cp:revision>1</cp:revision>
  <dcterms:created xsi:type="dcterms:W3CDTF">2026-08-25T20:34:55Z</dcterms:created>
  <dcterms:modified xsi:type="dcterms:W3CDTF">2026-08-25T20:34:55Z</dcterms:modified>
</cp:coreProperties>
</file>