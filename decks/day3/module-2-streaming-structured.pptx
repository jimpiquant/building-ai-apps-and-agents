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a common SDK-shape mistake. response_format is nested in options. Instructions and tools are direct run kwargs when overriding them for one invocation.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 claim narrow. Agent supports structured outputs when paired with a compatible chat client and model. Examples in this course use FoundryChatClient where documented; attendees must verify the selected deployment supports the requested format.
• GROUNDING SOURCE: https://learn.microsoft.com/en-us/agent-framework/agents/structured-outputs?tabs=python
• GROUNDING SOURCE: https://learn.microsoft.com/en-us/agent-framework/integrations/by-component/model-providers/microsoft-foundry?tabs=python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Non-streaming</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await agent.run(...)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AgentResponse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Read .text, .value, and typed contents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Streaming</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agent.run(..., stream=True)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ResponseStream</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Iterate AgentResponseUpdate values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Shape 3"/>
          <p:cNvSpPr/>
          <p:nvPr/>
        </p:nvSpPr>
        <p:spPr>
          <a:xfrm>
            <a:off x="365760" y="1216152"/>
            <a:ext cx="2633472" cy="2148840"/>
          </a:xfrm>
          <a:prstGeom prst="roundRect">
            <a:avLst>
              <a:gd name="adj" fmla="val 2553"/>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Iterate only</a:t>
            </a:r>
            <a:endParaRPr lang="en-US" sz="1500" dirty="0"/>
          </a:p>
        </p:txBody>
      </p:sp>
      <p:sp>
        <p:nvSpPr>
          <p:cNvPr id="9" name="Text 7"/>
          <p:cNvSpPr/>
          <p:nvPr/>
        </p:nvSpPr>
        <p:spPr>
          <a:xfrm>
            <a:off x="512064"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Render each update as it arrives</a:t>
            </a:r>
            <a:endParaRPr lang="en-US" sz="1150" dirty="0"/>
          </a:p>
        </p:txBody>
      </p:sp>
      <p:sp>
        <p:nvSpPr>
          <p:cNvPr id="10" name="Shape 8"/>
          <p:cNvSpPr/>
          <p:nvPr/>
        </p:nvSpPr>
        <p:spPr>
          <a:xfrm>
            <a:off x="3035808" y="2180844"/>
            <a:ext cx="164592" cy="219456"/>
          </a:xfrm>
          <a:prstGeom prst="chevron">
            <a:avLst/>
          </a:prstGeom>
          <a:solidFill>
            <a:srgbClr val="E8A87C"/>
          </a:solidFill>
          <a:ln/>
        </p:spPr>
      </p:sp>
      <p:sp>
        <p:nvSpPr>
          <p:cNvPr id="11" name="Shape 9"/>
          <p:cNvSpPr/>
          <p:nvPr/>
        </p:nvSpPr>
        <p:spPr>
          <a:xfrm>
            <a:off x="3255264" y="1216152"/>
            <a:ext cx="2633472" cy="2148840"/>
          </a:xfrm>
          <a:prstGeom prst="roundRect">
            <a:avLst>
              <a:gd name="adj" fmla="val 2553"/>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Iterate + finalize</a:t>
            </a:r>
            <a:endParaRPr lang="en-US" sz="1500" dirty="0"/>
          </a:p>
        </p:txBody>
      </p:sp>
      <p:sp>
        <p:nvSpPr>
          <p:cNvPr id="15" name="Text 13"/>
          <p:cNvSpPr/>
          <p:nvPr/>
        </p:nvSpPr>
        <p:spPr>
          <a:xfrm>
            <a:off x="3401568"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Render updates, then await get_final_response()</a:t>
            </a:r>
            <a:endParaRPr lang="en-US" sz="1150" dirty="0"/>
          </a:p>
        </p:txBody>
      </p:sp>
      <p:sp>
        <p:nvSpPr>
          <p:cNvPr id="16" name="Shape 14"/>
          <p:cNvSpPr/>
          <p:nvPr/>
        </p:nvSpPr>
        <p:spPr>
          <a:xfrm>
            <a:off x="5925312" y="2180844"/>
            <a:ext cx="164592" cy="219456"/>
          </a:xfrm>
          <a:prstGeom prst="chevron">
            <a:avLst/>
          </a:prstGeom>
          <a:solidFill>
            <a:srgbClr val="E8A87C"/>
          </a:solidFill>
          <a:ln/>
        </p:spPr>
      </p:sp>
      <p:sp>
        <p:nvSpPr>
          <p:cNvPr id="17" name="Shape 15"/>
          <p:cNvSpPr/>
          <p:nvPr/>
        </p:nvSpPr>
        <p:spPr>
          <a:xfrm>
            <a:off x="6144768" y="1216152"/>
            <a:ext cx="2633472" cy="2148840"/>
          </a:xfrm>
          <a:prstGeom prst="roundRect">
            <a:avLst>
              <a:gd name="adj" fmla="val 2553"/>
            </a:avLst>
          </a:prstGeom>
          <a:solidFill>
            <a:srgbClr val="CADCFC"/>
          </a:solidFill>
          <a:ln w="10160">
            <a:solidFill>
              <a:srgbClr val="1E2761"/>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Finalize only</a:t>
            </a:r>
            <a:endParaRPr lang="en-US" sz="1500" dirty="0"/>
          </a:p>
        </p:txBody>
      </p:sp>
      <p:sp>
        <p:nvSpPr>
          <p:cNvPr id="21" name="Text 19"/>
          <p:cNvSpPr/>
          <p:nvPr/>
        </p:nvSpPr>
        <p:spPr>
          <a:xfrm>
            <a:off x="6291072"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Skip iteration; finalizer consumes the stream</a:t>
            </a:r>
            <a:endParaRPr lang="en-US" sz="1150" dirty="0"/>
          </a:p>
        </p:txBody>
      </p:sp>
      <p:sp>
        <p:nvSpPr>
          <p:cNvPr id="22" name="Shape 20"/>
          <p:cNvSpPr/>
          <p:nvPr/>
        </p:nvSpPr>
        <p:spPr>
          <a:xfrm>
            <a:off x="365760" y="4773168"/>
            <a:ext cx="8412480" cy="0"/>
          </a:xfrm>
          <a:prstGeom prst="line">
            <a:avLst/>
          </a:prstGeom>
          <a:noFill/>
          <a:ln w="6350">
            <a:solidFill>
              <a:srgbClr val="D1D5DB"/>
            </a:solidFill>
            <a:prstDash val="solid"/>
          </a:ln>
        </p:spPr>
      </p:sp>
      <p:sp>
        <p:nvSpPr>
          <p:cNvPr id="23" name="Text 21"/>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Text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Convenient update.text for display</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activity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Calls and results can arrive as typed contents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Metadata</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Response IDs, roles, usage, and provider data may be present</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Rule</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Ignore unknown types safely; do not flatten every event into text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Put each option in the right lane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Concern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Run shape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Structured schema</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options={"response_format": TriageResult}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Chat-client option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Per-run 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Direct agent run kwarg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Per-run instructions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instructions="..."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Direct agent run kwarg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stream=True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Selects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Conversation continuity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session=session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Reuses AgentSession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F3F4F6"/>
          </a:solidFill>
          <a:ln w="6350">
            <a:solidFill>
              <a:srgbClr val="D1D5DB"/>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from pydantic import BaseModel</a:t>
            </a:r>
            <a:endParaRPr lang="en-US" sz="1280" dirty="0"/>
          </a:p>
          <a:p>
            <a:pPr indent="0" marL="0">
              <a:buNone/>
            </a:pP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class TriageResult(BaseModel):</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response = await agent.run(</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options={"response_format": TriageResult},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F3F4F6"/>
          </a:solidFill>
          <a:ln w="6350">
            <a:solidFill>
              <a:srgbClr val="D1D5DB"/>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"type": "object",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"properties": {"route": {"type": "string"}},</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"required": ["route"],</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response = await agent.run(</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request, options={"response_format": schema}</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result = response.value  #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TriageResult fits your docs assistant</a:t>
            </a:r>
            <a:endParaRPr lang="en-US" sz="2500" dirty="0"/>
          </a:p>
        </p:txBody>
      </p:sp>
      <p:sp>
        <p:nvSpPr>
          <p:cNvPr id="5" name="Shape 3"/>
          <p:cNvSpPr/>
          <p:nvPr/>
        </p:nvSpPr>
        <p:spPr>
          <a:xfrm>
            <a:off x="365760" y="1216152"/>
            <a:ext cx="1911096" cy="2148840"/>
          </a:xfrm>
          <a:prstGeom prst="roundRect">
            <a:avLst>
              <a:gd name="adj" fmla="val 2871"/>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Classify</a:t>
            </a:r>
            <a:endParaRPr lang="en-US" sz="1500" dirty="0"/>
          </a:p>
        </p:txBody>
      </p:sp>
      <p:sp>
        <p:nvSpPr>
          <p:cNvPr id="9" name="Text 7"/>
          <p:cNvSpPr/>
          <p:nvPr/>
        </p:nvSpPr>
        <p:spPr>
          <a:xfrm>
            <a:off x="512064"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route: answer, clarify, or work_item</a:t>
            </a:r>
            <a:endParaRPr lang="en-US" sz="1150" dirty="0"/>
          </a:p>
        </p:txBody>
      </p:sp>
      <p:sp>
        <p:nvSpPr>
          <p:cNvPr id="10" name="Shape 8"/>
          <p:cNvSpPr/>
          <p:nvPr/>
        </p:nvSpPr>
        <p:spPr>
          <a:xfrm>
            <a:off x="2313432" y="2180844"/>
            <a:ext cx="164592" cy="219456"/>
          </a:xfrm>
          <a:prstGeom prst="chevron">
            <a:avLst/>
          </a:prstGeom>
          <a:solidFill>
            <a:srgbClr val="E8A87C"/>
          </a:solidFill>
          <a:ln/>
        </p:spPr>
      </p:sp>
      <p:sp>
        <p:nvSpPr>
          <p:cNvPr id="11" name="Shape 9"/>
          <p:cNvSpPr/>
          <p:nvPr/>
        </p:nvSpPr>
        <p:spPr>
          <a:xfrm>
            <a:off x="2532888" y="1216152"/>
            <a:ext cx="1911096" cy="2148840"/>
          </a:xfrm>
          <a:prstGeom prst="roundRect">
            <a:avLst>
              <a:gd name="adj" fmla="val 2871"/>
            </a:avLst>
          </a:prstGeom>
          <a:solidFill>
            <a:srgbClr val="F3F4F6"/>
          </a:solidFill>
          <a:ln w="10160">
            <a:solidFill>
              <a:srgbClr val="D1D5DB"/>
            </a:solidFill>
            <a:prstDash val="solid"/>
          </a:ln>
        </p:spPr>
      </p:sp>
      <p:sp>
        <p:nvSpPr>
          <p:cNvPr id="12" name="Shape 10"/>
          <p:cNvSpPr/>
          <p:nvPr/>
        </p:nvSpPr>
        <p:spPr>
          <a:xfrm>
            <a:off x="2642616" y="1335024"/>
            <a:ext cx="320040" cy="320040"/>
          </a:xfrm>
          <a:prstGeom prst="ellipse">
            <a:avLst/>
          </a:prstGeom>
          <a:solidFill>
            <a:srgbClr val="1E2761"/>
          </a:solidFill>
          <a:ln/>
        </p:spPr>
      </p:sp>
      <p:sp>
        <p:nvSpPr>
          <p:cNvPr id="13" name="Text 11"/>
          <p:cNvSpPr/>
          <p:nvPr/>
        </p:nvSpPr>
        <p:spPr>
          <a:xfrm>
            <a:off x="264261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063240"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Summarize</a:t>
            </a:r>
            <a:endParaRPr lang="en-US" sz="1500" dirty="0"/>
          </a:p>
        </p:txBody>
      </p:sp>
      <p:sp>
        <p:nvSpPr>
          <p:cNvPr id="15" name="Text 13"/>
          <p:cNvSpPr/>
          <p:nvPr/>
        </p:nvSpPr>
        <p:spPr>
          <a:xfrm>
            <a:off x="2679192"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concise issue statement for your UI</a:t>
            </a:r>
            <a:endParaRPr lang="en-US" sz="1150" dirty="0"/>
          </a:p>
        </p:txBody>
      </p:sp>
      <p:sp>
        <p:nvSpPr>
          <p:cNvPr id="16" name="Shape 14"/>
          <p:cNvSpPr/>
          <p:nvPr/>
        </p:nvSpPr>
        <p:spPr>
          <a:xfrm>
            <a:off x="4480560" y="2180844"/>
            <a:ext cx="164592" cy="219456"/>
          </a:xfrm>
          <a:prstGeom prst="chevron">
            <a:avLst/>
          </a:prstGeom>
          <a:solidFill>
            <a:srgbClr val="E8A87C"/>
          </a:solidFill>
          <a:ln/>
        </p:spPr>
      </p:sp>
      <p:sp>
        <p:nvSpPr>
          <p:cNvPr id="17" name="Shape 15"/>
          <p:cNvSpPr/>
          <p:nvPr/>
        </p:nvSpPr>
        <p:spPr>
          <a:xfrm>
            <a:off x="4700016" y="1216152"/>
            <a:ext cx="1911096" cy="2148840"/>
          </a:xfrm>
          <a:prstGeom prst="roundRect">
            <a:avLst>
              <a:gd name="adj" fmla="val 2871"/>
            </a:avLst>
          </a:prstGeom>
          <a:solidFill>
            <a:srgbClr val="F3F4F6"/>
          </a:solidFill>
          <a:ln w="10160">
            <a:solidFill>
              <a:srgbClr val="D1D5DB"/>
            </a:solidFill>
            <a:prstDash val="solid"/>
          </a:ln>
        </p:spPr>
      </p:sp>
      <p:sp>
        <p:nvSpPr>
          <p:cNvPr id="18" name="Shape 16"/>
          <p:cNvSpPr/>
          <p:nvPr/>
        </p:nvSpPr>
        <p:spPr>
          <a:xfrm>
            <a:off x="4809744" y="1335024"/>
            <a:ext cx="320040" cy="320040"/>
          </a:xfrm>
          <a:prstGeom prst="ellipse">
            <a:avLst/>
          </a:prstGeom>
          <a:solidFill>
            <a:srgbClr val="1E2761"/>
          </a:solidFill>
          <a:ln/>
        </p:spPr>
      </p:sp>
      <p:sp>
        <p:nvSpPr>
          <p:cNvPr id="19" name="Text 17"/>
          <p:cNvSpPr/>
          <p:nvPr/>
        </p:nvSpPr>
        <p:spPr>
          <a:xfrm>
            <a:off x="4809744"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5230368"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Signal</a:t>
            </a:r>
            <a:endParaRPr lang="en-US" sz="1500" dirty="0"/>
          </a:p>
        </p:txBody>
      </p:sp>
      <p:sp>
        <p:nvSpPr>
          <p:cNvPr id="21" name="Text 19"/>
          <p:cNvSpPr/>
          <p:nvPr/>
        </p:nvSpPr>
        <p:spPr>
          <a:xfrm>
            <a:off x="4846320"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needs_work_item is a recommendation</a:t>
            </a:r>
            <a:endParaRPr lang="en-US" sz="1150" dirty="0"/>
          </a:p>
        </p:txBody>
      </p:sp>
      <p:sp>
        <p:nvSpPr>
          <p:cNvPr id="22" name="Shape 20"/>
          <p:cNvSpPr/>
          <p:nvPr/>
        </p:nvSpPr>
        <p:spPr>
          <a:xfrm>
            <a:off x="6647688" y="2180844"/>
            <a:ext cx="164592" cy="219456"/>
          </a:xfrm>
          <a:prstGeom prst="chevron">
            <a:avLst/>
          </a:prstGeom>
          <a:solidFill>
            <a:srgbClr val="E8A87C"/>
          </a:solidFill>
          <a:ln/>
        </p:spPr>
      </p:sp>
      <p:sp>
        <p:nvSpPr>
          <p:cNvPr id="23" name="Shape 21"/>
          <p:cNvSpPr/>
          <p:nvPr/>
        </p:nvSpPr>
        <p:spPr>
          <a:xfrm>
            <a:off x="6867144" y="1216152"/>
            <a:ext cx="1911096" cy="2148840"/>
          </a:xfrm>
          <a:prstGeom prst="roundRect">
            <a:avLst>
              <a:gd name="adj" fmla="val 2871"/>
            </a:avLst>
          </a:prstGeom>
          <a:solidFill>
            <a:srgbClr val="CADCFC"/>
          </a:solidFill>
          <a:ln w="10160">
            <a:solidFill>
              <a:srgbClr val="1E2761"/>
            </a:solidFill>
            <a:prstDash val="solid"/>
          </a:ln>
        </p:spPr>
      </p:sp>
      <p:sp>
        <p:nvSpPr>
          <p:cNvPr id="24" name="Shape 22"/>
          <p:cNvSpPr/>
          <p:nvPr/>
        </p:nvSpPr>
        <p:spPr>
          <a:xfrm>
            <a:off x="6976872" y="1335024"/>
            <a:ext cx="320040" cy="320040"/>
          </a:xfrm>
          <a:prstGeom prst="ellipse">
            <a:avLst/>
          </a:prstGeom>
          <a:solidFill>
            <a:srgbClr val="1E2761"/>
          </a:solidFill>
          <a:ln/>
        </p:spPr>
      </p:sp>
      <p:sp>
        <p:nvSpPr>
          <p:cNvPr id="25" name="Text 23"/>
          <p:cNvSpPr/>
          <p:nvPr/>
        </p:nvSpPr>
        <p:spPr>
          <a:xfrm>
            <a:off x="697687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4"/>
          <p:cNvSpPr/>
          <p:nvPr/>
        </p:nvSpPr>
        <p:spPr>
          <a:xfrm>
            <a:off x="7397496"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Authorize</a:t>
            </a:r>
            <a:endParaRPr lang="en-US" sz="1500" dirty="0"/>
          </a:p>
        </p:txBody>
      </p:sp>
      <p:sp>
        <p:nvSpPr>
          <p:cNvPr id="27" name="Text 25"/>
          <p:cNvSpPr/>
          <p:nvPr/>
        </p:nvSpPr>
        <p:spPr>
          <a:xfrm>
            <a:off x="7013448"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still controls whether a write is offered or approved</a:t>
            </a:r>
            <a:endParaRPr lang="en-US" sz="1150" dirty="0"/>
          </a:p>
        </p:txBody>
      </p:sp>
      <p:sp>
        <p:nvSpPr>
          <p:cNvPr id="28" name="Shape 26"/>
          <p:cNvSpPr/>
          <p:nvPr/>
        </p:nvSpPr>
        <p:spPr>
          <a:xfrm>
            <a:off x="365760" y="4773168"/>
            <a:ext cx="8412480" cy="0"/>
          </a:xfrm>
          <a:prstGeom prst="line">
            <a:avLst/>
          </a:prstGeom>
          <a:noFill/>
          <a:ln w="6350">
            <a:solidFill>
              <a:srgbClr val="D1D5DB"/>
            </a:solidFill>
            <a:prstDash val="solid"/>
          </a:ln>
        </p:spPr>
      </p:sp>
      <p:sp>
        <p:nvSpPr>
          <p:cNvPr id="29" name="Text 2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F3F4F6"/>
          </a:solidFill>
          <a:ln w="6350">
            <a:solidFill>
              <a:srgbClr val="D1D5DB"/>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lstStyle/>
          <a:p>
            <a:pPr indent="0" marL="0">
              <a:buNone/>
            </a:pPr>
            <a:r>
              <a:rPr lang="en-US" sz="1080" dirty="0">
                <a:solidFill>
                  <a:srgbClr val="212121"/>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stream=True,</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options={"response_format": TriageResult},</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a:t>
            </a:r>
            <a:endParaRPr lang="en-US" sz="1080" dirty="0"/>
          </a:p>
          <a:p>
            <a:pPr indent="0" marL="0">
              <a:buNone/>
            </a:pP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async for update in stream:</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if update.text:</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final = await stream.get_final_response()</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During the stream</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JSON may be incomplete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Fields may not have arrived</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parse or act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After completion</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Await get_final_response()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Read validated .value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Apply business rules and approvals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Support follows the underlying client</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Framework</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Agent forwards the response format through the client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Client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Must implement compatible structured-output behavior</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Model</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Must support the requested response format</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Practice</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Test the exact deployment and handle invalid values</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2026-08-25T19:30:38Z</dcterms:created>
  <dcterms:modified xsi:type="dcterms:W3CDTF">2026-08-25T19:30:38Z</dcterms:modified>
</cp:coreProperties>
</file>