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Text 3"/>
          <p:cNvSpPr/>
          <p:nvPr/>
        </p:nvSpPr>
        <p:spPr>
          <a:xfrm>
            <a:off x="365760" y="1078992"/>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Non-streaming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await agent.run(...)</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AgentResponse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Read .text, .value, and typed contents</a:t>
            </a:r>
            <a:endParaRPr lang="en-US" sz="1400" dirty="0"/>
          </a:p>
        </p:txBody>
      </p:sp>
      <p:sp>
        <p:nvSpPr>
          <p:cNvPr id="6" name="Shape 4"/>
          <p:cNvSpPr/>
          <p:nvPr/>
        </p:nvSpPr>
        <p:spPr>
          <a:xfrm>
            <a:off x="365760" y="2304560"/>
            <a:ext cx="8412480" cy="493057"/>
          </a:xfrm>
          <a:prstGeom prst="rect">
            <a:avLst/>
          </a:prstGeom>
          <a:solidFill>
            <a:srgbClr val="1D1E22"/>
          </a:solidFill>
          <a:ln w="9525">
            <a:solidFill>
              <a:srgbClr val="2A2B2E"/>
            </a:solidFill>
            <a:prstDash val="solid"/>
          </a:ln>
        </p:spPr>
      </p:sp>
      <p:sp>
        <p:nvSpPr>
          <p:cNvPr id="7" name="Text 5"/>
          <p:cNvSpPr/>
          <p:nvPr/>
        </p:nvSpPr>
        <p:spPr>
          <a:xfrm>
            <a:off x="502920" y="2396000"/>
            <a:ext cx="8138160" cy="310177"/>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Consolas" pitchFamily="34" charset="0"/>
                <a:ea typeface="Consolas" pitchFamily="34" charset="-122"/>
                <a:cs typeface="Consolas" pitchFamily="34" charset="-120"/>
              </a:rPr>
              <a:t>result = </a:t>
            </a:r>
            <a:pPr indent="0" marL="0">
              <a:buNone/>
            </a:pPr>
            <a:r>
              <a:rPr lang="en-US" sz="1150" dirty="0">
                <a:solidFill>
                  <a:srgbClr val="A996B6"/>
                </a:solidFill>
                <a:latin typeface="Consolas" pitchFamily="34" charset="0"/>
                <a:ea typeface="Consolas" pitchFamily="34" charset="-122"/>
                <a:cs typeface="Consolas" pitchFamily="34" charset="-120"/>
              </a:rPr>
              <a:t>await</a:t>
            </a:r>
            <a:pPr indent="0" marL="0">
              <a:buNone/>
            </a:pPr>
            <a:r>
              <a:rPr lang="en-US" sz="1150" dirty="0">
                <a:solidFill>
                  <a:srgbClr val="FFFFFF"/>
                </a:solidFill>
                <a:latin typeface="Consolas" pitchFamily="34" charset="0"/>
                <a:ea typeface="Consolas" pitchFamily="34" charset="-122"/>
                <a:cs typeface="Consolas" pitchFamily="34" charset="-120"/>
              </a:rPr>
              <a:t> agent.run(</a:t>
            </a:r>
            <a:pPr indent="0" marL="0">
              <a:buNone/>
            </a:pPr>
            <a:r>
              <a:rPr lang="en-US" sz="11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print(result.text)</a:t>
            </a:r>
            <a:endParaRPr lang="en-US" sz="1150" dirty="0"/>
          </a:p>
        </p:txBody>
      </p:sp>
      <p:sp>
        <p:nvSpPr>
          <p:cNvPr id="8" name="Text 6"/>
          <p:cNvSpPr/>
          <p:nvPr/>
        </p:nvSpPr>
        <p:spPr>
          <a:xfrm>
            <a:off x="365760" y="2925633"/>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agent.run(..., stream=True)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ResponseStream</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Iterate AgentResponseUpdate values</a:t>
            </a:r>
            <a:endParaRPr lang="en-US" sz="1400" dirty="0"/>
          </a:p>
        </p:txBody>
      </p:sp>
      <p:sp>
        <p:nvSpPr>
          <p:cNvPr id="9" name="Shape 7"/>
          <p:cNvSpPr/>
          <p:nvPr/>
        </p:nvSpPr>
        <p:spPr>
          <a:xfrm>
            <a:off x="365760" y="4151200"/>
            <a:ext cx="8412480" cy="557960"/>
          </a:xfrm>
          <a:prstGeom prst="rect">
            <a:avLst/>
          </a:prstGeom>
          <a:solidFill>
            <a:srgbClr val="1D1E22"/>
          </a:solidFill>
          <a:ln w="9525">
            <a:solidFill>
              <a:srgbClr val="2A2B2E"/>
            </a:solidFill>
            <a:prstDash val="solid"/>
          </a:ln>
        </p:spPr>
      </p:sp>
      <p:sp>
        <p:nvSpPr>
          <p:cNvPr id="10" name="Text 8"/>
          <p:cNvSpPr/>
          <p:nvPr/>
        </p:nvSpPr>
        <p:spPr>
          <a:xfrm>
            <a:off x="502920" y="4242640"/>
            <a:ext cx="8138160" cy="375080"/>
          </a:xfrm>
          <a:prstGeom prst="rect">
            <a:avLst/>
          </a:prstGeom>
          <a:noFill/>
          <a:ln/>
        </p:spPr>
        <p:txBody>
          <a:bodyPr wrap="square" lIns="0" tIns="0" rIns="0" bIns="0" rtlCol="0" anchor="t">
            <a:normAutofit/>
          </a:bodyPr>
          <a:lstStyle/>
          <a:p>
            <a:pPr indent="0" marL="0">
              <a:buNone/>
            </a:pPr>
            <a:r>
              <a:rPr lang="en-US" sz="950" dirty="0">
                <a:solidFill>
                  <a:srgbClr val="A996B6"/>
                </a:solidFill>
                <a:latin typeface="Consolas" pitchFamily="34" charset="0"/>
                <a:ea typeface="Consolas" pitchFamily="34" charset="-122"/>
                <a:cs typeface="Consolas" pitchFamily="34" charset="-120"/>
              </a:rPr>
              <a:t>async</a:t>
            </a:r>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for</a:t>
            </a:r>
            <a:pPr indent="0" marL="0">
              <a:buNone/>
            </a:pPr>
            <a:r>
              <a:rPr lang="en-US" sz="950" dirty="0">
                <a:solidFill>
                  <a:srgbClr val="FFFFFF"/>
                </a:solidFill>
                <a:latin typeface="Consolas" pitchFamily="34" charset="0"/>
                <a:ea typeface="Consolas" pitchFamily="34" charset="-122"/>
                <a:cs typeface="Consolas" pitchFamily="34" charset="-120"/>
              </a:rPr>
              <a:t> update </a:t>
            </a:r>
            <a:pPr indent="0" marL="0">
              <a:buNone/>
            </a:pPr>
            <a:r>
              <a:rPr lang="en-US" sz="950" dirty="0">
                <a:solidFill>
                  <a:srgbClr val="A996B6"/>
                </a:solidFill>
                <a:latin typeface="Consolas" pitchFamily="34" charset="0"/>
                <a:ea typeface="Consolas" pitchFamily="34" charset="-122"/>
                <a:cs typeface="Consolas" pitchFamily="34" charset="-120"/>
              </a:rPr>
              <a:t>in</a:t>
            </a:r>
            <a:pPr indent="0" marL="0">
              <a:buNone/>
            </a:pPr>
            <a:r>
              <a:rPr lang="en-US" sz="950" dirty="0">
                <a:solidFill>
                  <a:srgbClr val="FFFFFF"/>
                </a:solidFill>
                <a:latin typeface="Consolas" pitchFamily="34" charset="0"/>
                <a:ea typeface="Consolas" pitchFamily="34" charset="-122"/>
                <a:cs typeface="Consolas" pitchFamily="34" charset="-120"/>
              </a:rPr>
              <a:t> agent.run(</a:t>
            </a:r>
            <a:pPr indent="0" marL="0">
              <a:buNone/>
            </a:pPr>
            <a:r>
              <a:rPr lang="en-US" sz="9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950" dirty="0">
                <a:solidFill>
                  <a:srgbClr val="FFFFFF"/>
                </a:solidFill>
                <a:latin typeface="Consolas" pitchFamily="34" charset="0"/>
                <a:ea typeface="Consolas" pitchFamily="34" charset="-122"/>
                <a:cs typeface="Consolas" pitchFamily="34" charset="-120"/>
              </a:rPr>
              <a:t>, stream=</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if</a:t>
            </a:r>
            <a:pPr indent="0" marL="0">
              <a:buNone/>
            </a:pPr>
            <a:r>
              <a:rPr lang="en-US" sz="950" dirty="0">
                <a:solidFill>
                  <a:srgbClr val="FFFFFF"/>
                </a:solidFill>
                <a:latin typeface="Consolas" pitchFamily="34" charset="0"/>
                <a:ea typeface="Consolas" pitchFamily="34" charset="-122"/>
                <a:cs typeface="Consolas" pitchFamily="34" charset="-120"/>
              </a:rPr>
              <a:t> update.text: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print(update.text, end=</a:t>
            </a:r>
            <a:pPr indent="0" marL="0">
              <a:buNone/>
            </a:pPr>
            <a:r>
              <a:rPr lang="en-US" sz="950" dirty="0">
                <a:solidFill>
                  <a:srgbClr val="E4C98A"/>
                </a:solidFill>
                <a:latin typeface="Consolas" pitchFamily="34" charset="0"/>
                <a:ea typeface="Consolas" pitchFamily="34" charset="-122"/>
                <a:cs typeface="Consolas" pitchFamily="34" charset="-120"/>
              </a:rPr>
              <a:t>""</a:t>
            </a:r>
            <a:pPr indent="0" marL="0">
              <a:buNone/>
            </a:pPr>
            <a:r>
              <a:rPr lang="en-US" sz="950" dirty="0">
                <a:solidFill>
                  <a:srgbClr val="FFFFFF"/>
                </a:solidFill>
                <a:latin typeface="Consolas" pitchFamily="34" charset="0"/>
                <a:ea typeface="Consolas" pitchFamily="34" charset="-122"/>
                <a:cs typeface="Consolas" pitchFamily="34" charset="-120"/>
              </a:rPr>
              <a:t>, flush=</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each update as it arrives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Finalize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Skip iteration; finalizer consumes the stream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 finalize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updates, then await get_final_response()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Text 3"/>
          <p:cNvSpPr/>
          <p:nvPr/>
        </p:nvSpPr>
        <p:spPr>
          <a:xfrm>
            <a:off x="365760" y="1078992"/>
            <a:ext cx="8412480" cy="1502508"/>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Text</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Convenient update.text for display</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Function activity</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Calls and results can arrive as typed contents</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Metadata</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Response IDs, roles, usage, and provider data may be present</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Rule</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Ignore unknown types safely; do not flatten every event into text</a:t>
            </a:r>
            <a:endParaRPr lang="en-US" sz="1400" dirty="0"/>
          </a:p>
        </p:txBody>
      </p:sp>
      <p:sp>
        <p:nvSpPr>
          <p:cNvPr id="6" name="Shape 4"/>
          <p:cNvSpPr/>
          <p:nvPr/>
        </p:nvSpPr>
        <p:spPr>
          <a:xfrm>
            <a:off x="365760" y="2709516"/>
            <a:ext cx="8412480" cy="1999644"/>
          </a:xfrm>
          <a:prstGeom prst="rect">
            <a:avLst/>
          </a:prstGeom>
          <a:solidFill>
            <a:srgbClr val="1D1E22"/>
          </a:solidFill>
          <a:ln w="9525">
            <a:solidFill>
              <a:srgbClr val="2A2B2E"/>
            </a:solidFill>
            <a:prstDash val="solid"/>
          </a:ln>
        </p:spPr>
      </p:sp>
      <p:sp>
        <p:nvSpPr>
          <p:cNvPr id="7" name="Text 5"/>
          <p:cNvSpPr/>
          <p:nvPr/>
        </p:nvSpPr>
        <p:spPr>
          <a:xfrm>
            <a:off x="502920" y="2800956"/>
            <a:ext cx="8138160" cy="1816764"/>
          </a:xfrm>
          <a:prstGeom prst="rect">
            <a:avLst/>
          </a:prstGeom>
          <a:noFill/>
          <a:ln/>
        </p:spPr>
        <p:txBody>
          <a:bodyPr wrap="square" lIns="0" tIns="0" rIns="0" bIns="0" rtlCol="0" anchor="t">
            <a:normAutofit/>
          </a:bodyPr>
          <a:lstStyle/>
          <a:p>
            <a:pPr indent="0" marL="0">
              <a:buNone/>
            </a:pPr>
            <a:r>
              <a:rPr lang="en-US" sz="1050" i="1" dirty="0">
                <a:solidFill>
                  <a:srgbClr val="666666"/>
                </a:solidFill>
                <a:latin typeface="Consolas" pitchFamily="34" charset="0"/>
                <a:ea typeface="Consolas" pitchFamily="34" charset="-122"/>
                <a:cs typeface="Consolas" pitchFamily="34" charset="-120"/>
              </a:rPr>
              <a:t># Access content from responses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response = </a:t>
            </a:r>
            <a:pPr indent="0" marL="0">
              <a:buNone/>
            </a:pPr>
            <a:r>
              <a:rPr lang="en-US" sz="1050" dirty="0">
                <a:solidFill>
                  <a:srgbClr val="A996B6"/>
                </a:solidFill>
                <a:latin typeface="Consolas" pitchFamily="34" charset="0"/>
                <a:ea typeface="Consolas" pitchFamily="34" charset="-122"/>
                <a:cs typeface="Consolas" pitchFamily="34" charset="-120"/>
              </a:rPr>
              <a:t>await</a:t>
            </a:r>
            <a:pPr indent="0" marL="0">
              <a:buNone/>
            </a:pPr>
            <a:r>
              <a:rPr lang="en-US" sz="1050" dirty="0">
                <a:solidFill>
                  <a:srgbClr val="FFFFFF"/>
                </a:solidFill>
                <a:latin typeface="Consolas" pitchFamily="34" charset="0"/>
                <a:ea typeface="Consolas" pitchFamily="34" charset="-122"/>
                <a:cs typeface="Consolas" pitchFamily="34" charset="-120"/>
              </a:rPr>
              <a:t> agent.run(</a:t>
            </a:r>
            <a:pPr indent="0" marL="0">
              <a:buNone/>
            </a:pPr>
            <a:r>
              <a:rPr lang="en-US" sz="1050" dirty="0">
                <a:solidFill>
                  <a:srgbClr val="E4C98A"/>
                </a:solidFill>
                <a:latin typeface="Consolas" pitchFamily="34" charset="0"/>
                <a:ea typeface="Consolas" pitchFamily="34" charset="-122"/>
                <a:cs typeface="Consolas" pitchFamily="34" charset="-120"/>
              </a:rPr>
              <a:t>"Describe the image"</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message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response.messages: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content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message.contents: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f"Text: {content.text}"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f"Data URI: {content.from_data}"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f"External URI: {content.uri}"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p:txBody>
      </p:sp>
      <p:sp>
        <p:nvSpPr>
          <p:cNvPr id="8" name="Shape 6"/>
          <p:cNvSpPr/>
          <p:nvPr/>
        </p:nvSpPr>
        <p:spPr>
          <a:xfrm>
            <a:off x="365760" y="4773168"/>
            <a:ext cx="8412480" cy="0"/>
          </a:xfrm>
          <a:prstGeom prst="line">
            <a:avLst/>
          </a:prstGeom>
          <a:noFill/>
          <a:ln w="6350">
            <a:solidFill>
              <a:srgbClr val="D1D5DB"/>
            </a:solidFill>
            <a:prstDash val="solid"/>
          </a:ln>
        </p:spPr>
      </p:sp>
      <p:sp>
        <p:nvSpPr>
          <p:cNvPr id="9" name="Text 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1D1E22"/>
          </a:solidFill>
          <a:ln w="9525">
            <a:solidFill>
              <a:srgbClr val="2A2B2E"/>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from</a:t>
            </a:r>
            <a:pPr indent="0" marL="0">
              <a:buNone/>
            </a:pPr>
            <a:r>
              <a:rPr lang="en-US" sz="1280" dirty="0">
                <a:solidFill>
                  <a:srgbClr val="FFFFFF"/>
                </a:solidFill>
                <a:latin typeface="Consolas" pitchFamily="34" charset="0"/>
                <a:ea typeface="Consolas" pitchFamily="34" charset="-122"/>
                <a:cs typeface="Consolas" pitchFamily="34" charset="-120"/>
              </a:rPr>
              <a:t> pydantic </a:t>
            </a:r>
            <a:pPr indent="0" marL="0">
              <a:buNone/>
            </a:pPr>
            <a:r>
              <a:rPr lang="en-US" sz="1280" dirty="0">
                <a:solidFill>
                  <a:srgbClr val="A996B6"/>
                </a:solidFill>
                <a:latin typeface="Consolas" pitchFamily="34" charset="0"/>
                <a:ea typeface="Consolas" pitchFamily="34" charset="-122"/>
                <a:cs typeface="Consolas" pitchFamily="34" charset="-120"/>
              </a:rPr>
              <a:t>import</a:t>
            </a:r>
            <a:pPr indent="0" marL="0">
              <a:buNone/>
            </a:pPr>
            <a:r>
              <a:rPr lang="en-US" sz="1280" dirty="0">
                <a:solidFill>
                  <a:srgbClr val="FFFFFF"/>
                </a:solidFill>
                <a:latin typeface="Consolas" pitchFamily="34" charset="0"/>
                <a:ea typeface="Consolas" pitchFamily="34" charset="-122"/>
                <a:cs typeface="Consolas" pitchFamily="34" charset="-120"/>
              </a:rPr>
              <a:t> BaseModel</a:t>
            </a:r>
            <a:endParaRPr lang="en-US" sz="1280" dirty="0"/>
          </a:p>
          <a:p>
            <a:pPr indent="0" marL="0">
              <a:buNone/>
            </a:pPr>
            <a:endParaRPr lang="en-US" sz="1280" dirty="0"/>
          </a:p>
          <a:p>
            <a:pPr indent="0" marL="0">
              <a:buNone/>
            </a:pPr>
            <a:r>
              <a:rPr lang="en-US" sz="1280" dirty="0">
                <a:solidFill>
                  <a:srgbClr val="A996B6"/>
                </a:solidFill>
                <a:latin typeface="Consolas" pitchFamily="34" charset="0"/>
                <a:ea typeface="Consolas" pitchFamily="34" charset="-122"/>
                <a:cs typeface="Consolas" pitchFamily="34" charset="-120"/>
              </a:rPr>
              <a:t>class</a:t>
            </a:r>
            <a:pPr indent="0" marL="0">
              <a:buNone/>
            </a:pPr>
            <a:r>
              <a:rPr lang="en-US" sz="1280" dirty="0">
                <a:solidFill>
                  <a:srgbClr val="FFFFFF"/>
                </a:solidFill>
                <a:latin typeface="Consolas" pitchFamily="34" charset="0"/>
                <a:ea typeface="Consolas" pitchFamily="34" charset="-122"/>
                <a:cs typeface="Consolas" pitchFamily="34" charset="-120"/>
              </a:rPr>
              <a:t> TriageResult(BaseModel):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TriageResult},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1D1E22"/>
          </a:solidFill>
          <a:ln w="9525">
            <a:solidFill>
              <a:srgbClr val="2A2B2E"/>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"object"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"properties"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"string"</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"required"</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schema}</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result = response.value  </a:t>
            </a:r>
            <a:pPr indent="0" marL="0">
              <a:buNone/>
            </a:pPr>
            <a:r>
              <a:rPr lang="en-US" sz="1280" i="1" dirty="0">
                <a:solidFill>
                  <a:srgbClr val="666666"/>
                </a:solidFill>
                <a:latin typeface="Consolas" pitchFamily="34" charset="0"/>
                <a:ea typeface="Consolas" pitchFamily="34" charset="-122"/>
                <a:cs typeface="Consolas" pitchFamily="34" charset="-120"/>
              </a:rPr>
              <a:t>#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Example: TriageResult fits your docs assistant</a:t>
            </a:r>
            <a:endParaRPr lang="en-US" sz="23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Classify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route: answer, clarify, or work_item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Summarize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concise issue statement for your UI</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Signal</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needs_work_item is a recommendation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your app still controls whether a write is offered or approved</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1D1E22"/>
          </a:solidFill>
          <a:ln w="9525">
            <a:solidFill>
              <a:srgbClr val="2A2B2E"/>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normAutofit/>
          </a:bodyPr>
          <a:lstStyle/>
          <a:p>
            <a:pPr indent="0" marL="0">
              <a:buNone/>
            </a:pPr>
            <a:r>
              <a:rPr lang="en-US" sz="1080" dirty="0">
                <a:solidFill>
                  <a:srgbClr val="FFFFFF"/>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stream=</a:t>
            </a:r>
            <a:pPr indent="0" marL="0">
              <a:buNone/>
            </a:pPr>
            <a:r>
              <a:rPr lang="en-US" sz="1080" dirty="0">
                <a:solidFill>
                  <a:srgbClr val="A996B6"/>
                </a:solidFill>
                <a:latin typeface="Consolas" pitchFamily="34" charset="0"/>
                <a:ea typeface="Consolas" pitchFamily="34" charset="-122"/>
                <a:cs typeface="Consolas" pitchFamily="34" charset="-120"/>
              </a:rPr>
              <a:t>True</a:t>
            </a:r>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options={</a:t>
            </a:r>
            <a:pPr indent="0" marL="0">
              <a:buNone/>
            </a:pPr>
            <a:r>
              <a:rPr lang="en-US" sz="1080" dirty="0">
                <a:solidFill>
                  <a:srgbClr val="E4C98A"/>
                </a:solidFill>
                <a:latin typeface="Consolas" pitchFamily="34" charset="0"/>
                <a:ea typeface="Consolas" pitchFamily="34" charset="-122"/>
                <a:cs typeface="Consolas" pitchFamily="34" charset="-120"/>
              </a:rPr>
              <a:t>"response_format"</a:t>
            </a:r>
            <a:pPr indent="0" marL="0">
              <a:buNone/>
            </a:pPr>
            <a:r>
              <a:rPr lang="en-US" sz="1080" dirty="0">
                <a:solidFill>
                  <a:srgbClr val="FFFFFF"/>
                </a:solidFill>
                <a:latin typeface="Consolas" pitchFamily="34" charset="0"/>
                <a:ea typeface="Consolas" pitchFamily="34" charset="-122"/>
                <a:cs typeface="Consolas" pitchFamily="34" charset="-120"/>
              </a:rPr>
              <a:t>: TriageResult},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async</a:t>
            </a:r>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for</a:t>
            </a:r>
            <a:pPr indent="0" marL="0">
              <a:buNone/>
            </a:pPr>
            <a:r>
              <a:rPr lang="en-US" sz="1080" dirty="0">
                <a:solidFill>
                  <a:srgbClr val="FFFFFF"/>
                </a:solidFill>
                <a:latin typeface="Consolas" pitchFamily="34" charset="0"/>
                <a:ea typeface="Consolas" pitchFamily="34" charset="-122"/>
                <a:cs typeface="Consolas" pitchFamily="34" charset="-120"/>
              </a:rPr>
              <a:t> update </a:t>
            </a:r>
            <a:pPr indent="0" marL="0">
              <a:buNone/>
            </a:pPr>
            <a:r>
              <a:rPr lang="en-US" sz="1080" dirty="0">
                <a:solidFill>
                  <a:srgbClr val="A996B6"/>
                </a:solidFill>
                <a:latin typeface="Consolas" pitchFamily="34" charset="0"/>
                <a:ea typeface="Consolas" pitchFamily="34" charset="-122"/>
                <a:cs typeface="Consolas" pitchFamily="34" charset="-120"/>
              </a:rPr>
              <a:t>in</a:t>
            </a:r>
            <a:pPr indent="0" marL="0">
              <a:buNone/>
            </a:pPr>
            <a:r>
              <a:rPr lang="en-US" sz="1080" dirty="0">
                <a:solidFill>
                  <a:srgbClr val="FFFFFF"/>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if</a:t>
            </a:r>
            <a:pPr indent="0" marL="0">
              <a:buNone/>
            </a:pPr>
            <a:r>
              <a:rPr lang="en-US" sz="1080" dirty="0">
                <a:solidFill>
                  <a:srgbClr val="FFFFFF"/>
                </a:solidFill>
                <a:latin typeface="Consolas" pitchFamily="34" charset="0"/>
                <a:ea typeface="Consolas" pitchFamily="34" charset="-122"/>
                <a:cs typeface="Consolas" pitchFamily="34" charset="-120"/>
              </a:rPr>
              <a:t> update.text: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final = </a:t>
            </a:r>
            <a:pPr indent="0" marL="0">
              <a:buNone/>
            </a:pPr>
            <a:r>
              <a:rPr lang="en-US" sz="1080" dirty="0">
                <a:solidFill>
                  <a:srgbClr val="A996B6"/>
                </a:solidFill>
                <a:latin typeface="Consolas" pitchFamily="34" charset="0"/>
                <a:ea typeface="Consolas" pitchFamily="34" charset="-122"/>
                <a:cs typeface="Consolas" pitchFamily="34" charset="-120"/>
              </a:rPr>
              <a:t>await</a:t>
            </a:r>
            <a:pPr indent="0" marL="0">
              <a:buNone/>
            </a:pPr>
            <a:r>
              <a:rPr lang="en-US" sz="1080" dirty="0">
                <a:solidFill>
                  <a:srgbClr val="FFFFFF"/>
                </a:solidFill>
                <a:latin typeface="Consolas" pitchFamily="34" charset="0"/>
                <a:ea typeface="Consolas" pitchFamily="34" charset="-122"/>
                <a:cs typeface="Consolas" pitchFamily="34" charset="-120"/>
              </a:rPr>
              <a:t> stream.get_final_response()</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During the stream</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JSON may be incomplete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Fields may not have arrived</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Do not parse or act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After completion</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Await get_final_response()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Read validated .value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Apply business rules and approvals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3925824"/>
                <a:gridCol w="4486656"/>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2026-09-02T15:33:06Z</dcterms:created>
  <dcterms:modified xsi:type="dcterms:W3CDTF">2026-09-02T15:33:06Z</dcterms:modified>
</cp:coreProperties>
</file>