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two distinct contracts: streaming improves perceived responsiveness, while structured output improves downstream reliability. You can combine them, but parsing happens only after completion.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method is the same. Without stream=True, await an AgentResponse. With stream=True, iterate a ResponseStream and optionally finalize it.
• GROUNDING SOURCE: https://learn.microsoft.com/en-us/agent-framework/concepts/agents/running-agents?tabs=python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Pattern one is display-only iteration. Pattern two iterates and then finalizes. Pattern three skips display and lets get_final_response consume the stream. Pick based on the application's UX and data contract.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Avoid teaching a stream as just text chunks. Update.text is convenient, but contents can represent function calls, results, reasoning, usage, and other typed events supported by the client. Consumers should branch on content types they understand.
• GROUNDING SOURCE: https://learn.microsoft.com/en-us/agent-framework/concepts/agents/running-agents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class becomes the requested schema when the underlying client supports structured outputs. On success, response.value is a TriageResult instance. Do not promise support for every model or agent type.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a mapping when the schema is dynamic or comes from configuration. In this mode response.value is parsed JSON, typically a dict or list, rather than a Pydantic instance.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Tie this to the workshop scenario. The assistant can answer from docs, request more information, or recommend an Azure DevOps work item. The typed result is an application contract, not permission to execute a write.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canonical combined pattern. You may display update.text, but the value you trust comes from the final response after the stream has completed.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combined pattern live against the Day 2 docs assistant, now returning a Day-3-shaped TriageResult.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token prefix can be syntactically incomplete and semantically unstable. Do not parse or trigger business actions from partial JSON. Finalization assembles the response and applies structured-output parsing.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Ask which row fits each UI. A console can stream text; a workflow handoff should usually consume a structured final value; a rich UI can do both.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with the two-contract model. Preview compaction as a separate concern: it changes which history reaches a self-managed agent, not how a response stream is consumed.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2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Streaming &amp; Structured Outputs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Deliver progress now and a validated value at completion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One run API, two return shapes</a:t>
            </a:r>
            <a:endParaRPr lang="en-US" sz="2800" dirty="0"/>
          </a:p>
        </p:txBody>
      </p:sp>
      <p:sp>
        <p:nvSpPr>
          <p:cNvPr id="5" name="Text 3"/>
          <p:cNvSpPr/>
          <p:nvPr/>
        </p:nvSpPr>
        <p:spPr>
          <a:xfrm>
            <a:off x="365760" y="1078992"/>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Non-streaming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await agent.run(...)</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AgentResponse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Read .text, .value, and typed contents</a:t>
            </a:r>
            <a:endParaRPr lang="en-US" sz="1400" dirty="0"/>
          </a:p>
        </p:txBody>
      </p:sp>
      <p:sp>
        <p:nvSpPr>
          <p:cNvPr id="6" name="Shape 4"/>
          <p:cNvSpPr/>
          <p:nvPr/>
        </p:nvSpPr>
        <p:spPr>
          <a:xfrm>
            <a:off x="365760" y="2304560"/>
            <a:ext cx="8412480" cy="493057"/>
          </a:xfrm>
          <a:prstGeom prst="rect">
            <a:avLst/>
          </a:prstGeom>
          <a:solidFill>
            <a:srgbClr val="1D1E22"/>
          </a:solidFill>
          <a:ln w="9525">
            <a:solidFill>
              <a:srgbClr val="2A2B2E"/>
            </a:solidFill>
            <a:prstDash val="solid"/>
          </a:ln>
        </p:spPr>
      </p:sp>
      <p:sp>
        <p:nvSpPr>
          <p:cNvPr id="7" name="Text 5"/>
          <p:cNvSpPr/>
          <p:nvPr/>
        </p:nvSpPr>
        <p:spPr>
          <a:xfrm>
            <a:off x="502920" y="2396000"/>
            <a:ext cx="8138160" cy="310177"/>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Consolas" pitchFamily="34" charset="0"/>
                <a:ea typeface="Consolas" pitchFamily="34" charset="-122"/>
                <a:cs typeface="Consolas" pitchFamily="34" charset="-120"/>
              </a:rPr>
              <a:t>result = </a:t>
            </a:r>
            <a:pPr indent="0" marL="0">
              <a:buNone/>
            </a:pPr>
            <a:r>
              <a:rPr lang="en-US" sz="1150" dirty="0">
                <a:solidFill>
                  <a:srgbClr val="A996B6"/>
                </a:solidFill>
                <a:latin typeface="Consolas" pitchFamily="34" charset="0"/>
                <a:ea typeface="Consolas" pitchFamily="34" charset="-122"/>
                <a:cs typeface="Consolas" pitchFamily="34" charset="-120"/>
              </a:rPr>
              <a:t>await</a:t>
            </a:r>
            <a:pPr indent="0" marL="0">
              <a:buNone/>
            </a:pPr>
            <a:r>
              <a:rPr lang="en-US" sz="1150" dirty="0">
                <a:solidFill>
                  <a:srgbClr val="FFFFFF"/>
                </a:solidFill>
                <a:latin typeface="Consolas" pitchFamily="34" charset="0"/>
                <a:ea typeface="Consolas" pitchFamily="34" charset="-122"/>
                <a:cs typeface="Consolas" pitchFamily="34" charset="-120"/>
              </a:rPr>
              <a:t> agent.run(</a:t>
            </a:r>
            <a:pPr indent="0" marL="0">
              <a:buNone/>
            </a:pPr>
            <a:r>
              <a:rPr lang="en-US" sz="11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print(result.text)</a:t>
            </a:r>
            <a:endParaRPr lang="en-US" sz="1150" dirty="0"/>
          </a:p>
        </p:txBody>
      </p:sp>
      <p:sp>
        <p:nvSpPr>
          <p:cNvPr id="8" name="Text 6"/>
          <p:cNvSpPr/>
          <p:nvPr/>
        </p:nvSpPr>
        <p:spPr>
          <a:xfrm>
            <a:off x="365760" y="2925633"/>
            <a:ext cx="8412480" cy="1097552"/>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Streaming</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agent.run(..., stream=True)</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Returns ResponseStream</a:t>
            </a:r>
            <a:endParaRPr lang="en-US" sz="1400" dirty="0"/>
          </a:p>
          <a:p>
            <a:pPr lvl="1" marL="457200" indent="-228600">
              <a:spcAft>
                <a:spcPts val="1000"/>
              </a:spcAft>
              <a:buSzPct val="100000"/>
              <a:buChar char="•"/>
            </a:pPr>
            <a:r>
              <a:rPr lang="en-US" sz="1400" dirty="0">
                <a:solidFill>
                  <a:srgbClr val="212121"/>
                </a:solidFill>
                <a:latin typeface="Calibri" pitchFamily="34" charset="0"/>
                <a:ea typeface="Calibri" pitchFamily="34" charset="-122"/>
                <a:cs typeface="Calibri" pitchFamily="34" charset="-120"/>
              </a:rPr>
              <a:t>Iterate AgentResponseUpdate values</a:t>
            </a:r>
            <a:endParaRPr lang="en-US" sz="1400" dirty="0"/>
          </a:p>
        </p:txBody>
      </p:sp>
      <p:sp>
        <p:nvSpPr>
          <p:cNvPr id="9" name="Shape 7"/>
          <p:cNvSpPr/>
          <p:nvPr/>
        </p:nvSpPr>
        <p:spPr>
          <a:xfrm>
            <a:off x="365760" y="4151200"/>
            <a:ext cx="8412480" cy="557960"/>
          </a:xfrm>
          <a:prstGeom prst="rect">
            <a:avLst/>
          </a:prstGeom>
          <a:solidFill>
            <a:srgbClr val="1D1E22"/>
          </a:solidFill>
          <a:ln w="9525">
            <a:solidFill>
              <a:srgbClr val="2A2B2E"/>
            </a:solidFill>
            <a:prstDash val="solid"/>
          </a:ln>
        </p:spPr>
      </p:sp>
      <p:sp>
        <p:nvSpPr>
          <p:cNvPr id="10" name="Text 8"/>
          <p:cNvSpPr/>
          <p:nvPr/>
        </p:nvSpPr>
        <p:spPr>
          <a:xfrm>
            <a:off x="502920" y="4242640"/>
            <a:ext cx="8138160" cy="375080"/>
          </a:xfrm>
          <a:prstGeom prst="rect">
            <a:avLst/>
          </a:prstGeom>
          <a:noFill/>
          <a:ln/>
        </p:spPr>
        <p:txBody>
          <a:bodyPr wrap="square" lIns="0" tIns="0" rIns="0" bIns="0" rtlCol="0" anchor="t">
            <a:normAutofit/>
          </a:bodyPr>
          <a:lstStyle/>
          <a:p>
            <a:pPr indent="0" marL="0">
              <a:buNone/>
            </a:pPr>
            <a:r>
              <a:rPr lang="en-US" sz="950" dirty="0">
                <a:solidFill>
                  <a:srgbClr val="A996B6"/>
                </a:solidFill>
                <a:latin typeface="Consolas" pitchFamily="34" charset="0"/>
                <a:ea typeface="Consolas" pitchFamily="34" charset="-122"/>
                <a:cs typeface="Consolas" pitchFamily="34" charset="-120"/>
              </a:rPr>
              <a:t>async</a:t>
            </a:r>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for</a:t>
            </a:r>
            <a:pPr indent="0" marL="0">
              <a:buNone/>
            </a:pPr>
            <a:r>
              <a:rPr lang="en-US" sz="950" dirty="0">
                <a:solidFill>
                  <a:srgbClr val="FFFFFF"/>
                </a:solidFill>
                <a:latin typeface="Consolas" pitchFamily="34" charset="0"/>
                <a:ea typeface="Consolas" pitchFamily="34" charset="-122"/>
                <a:cs typeface="Consolas" pitchFamily="34" charset="-120"/>
              </a:rPr>
              <a:t> update </a:t>
            </a:r>
            <a:pPr indent="0" marL="0">
              <a:buNone/>
            </a:pPr>
            <a:r>
              <a:rPr lang="en-US" sz="950" dirty="0">
                <a:solidFill>
                  <a:srgbClr val="A996B6"/>
                </a:solidFill>
                <a:latin typeface="Consolas" pitchFamily="34" charset="0"/>
                <a:ea typeface="Consolas" pitchFamily="34" charset="-122"/>
                <a:cs typeface="Consolas" pitchFamily="34" charset="-120"/>
              </a:rPr>
              <a:t>in</a:t>
            </a:r>
            <a:pPr indent="0" marL="0">
              <a:buNone/>
            </a:pPr>
            <a:r>
              <a:rPr lang="en-US" sz="950" dirty="0">
                <a:solidFill>
                  <a:srgbClr val="FFFFFF"/>
                </a:solidFill>
                <a:latin typeface="Consolas" pitchFamily="34" charset="0"/>
                <a:ea typeface="Consolas" pitchFamily="34" charset="-122"/>
                <a:cs typeface="Consolas" pitchFamily="34" charset="-120"/>
              </a:rPr>
              <a:t> agent.run(</a:t>
            </a:r>
            <a:pPr indent="0" marL="0">
              <a:buNone/>
            </a:pPr>
            <a:r>
              <a:rPr lang="en-US" sz="950" dirty="0">
                <a:solidFill>
                  <a:srgbClr val="E4C98A"/>
                </a:solidFill>
                <a:latin typeface="Consolas" pitchFamily="34" charset="0"/>
                <a:ea typeface="Consolas" pitchFamily="34" charset="-122"/>
                <a:cs typeface="Consolas" pitchFamily="34" charset="-120"/>
              </a:rPr>
              <a:t>"What is the weather like in Amsterdam?"</a:t>
            </a:r>
            <a:pPr indent="0" marL="0">
              <a:buNone/>
            </a:pPr>
            <a:r>
              <a:rPr lang="en-US" sz="950" dirty="0">
                <a:solidFill>
                  <a:srgbClr val="FFFFFF"/>
                </a:solidFill>
                <a:latin typeface="Consolas" pitchFamily="34" charset="0"/>
                <a:ea typeface="Consolas" pitchFamily="34" charset="-122"/>
                <a:cs typeface="Consolas" pitchFamily="34" charset="-120"/>
              </a:rPr>
              <a:t>, stream=</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a:t>
            </a:r>
            <a:pPr indent="0" marL="0">
              <a:buNone/>
            </a:pPr>
            <a:r>
              <a:rPr lang="en-US" sz="950" dirty="0">
                <a:solidFill>
                  <a:srgbClr val="A996B6"/>
                </a:solidFill>
                <a:latin typeface="Consolas" pitchFamily="34" charset="0"/>
                <a:ea typeface="Consolas" pitchFamily="34" charset="-122"/>
                <a:cs typeface="Consolas" pitchFamily="34" charset="-120"/>
              </a:rPr>
              <a:t>if</a:t>
            </a:r>
            <a:pPr indent="0" marL="0">
              <a:buNone/>
            </a:pPr>
            <a:r>
              <a:rPr lang="en-US" sz="950" dirty="0">
                <a:solidFill>
                  <a:srgbClr val="FFFFFF"/>
                </a:solidFill>
                <a:latin typeface="Consolas" pitchFamily="34" charset="0"/>
                <a:ea typeface="Consolas" pitchFamily="34" charset="-122"/>
                <a:cs typeface="Consolas" pitchFamily="34" charset="-120"/>
              </a:rPr>
              <a:t> update.text:</a:t>
            </a:r>
            <a:endParaRPr lang="en-US" sz="950" dirty="0"/>
          </a:p>
          <a:p>
            <a:pPr indent="0" marL="0">
              <a:buNone/>
            </a:pPr>
            <a:r>
              <a:rPr lang="en-US" sz="950" dirty="0">
                <a:solidFill>
                  <a:srgbClr val="FFFFFF"/>
                </a:solidFill>
                <a:latin typeface="Consolas" pitchFamily="34" charset="0"/>
                <a:ea typeface="Consolas" pitchFamily="34" charset="-122"/>
                <a:cs typeface="Consolas" pitchFamily="34" charset="-120"/>
              </a:rPr>
              <a:t>        print(update.text, end=</a:t>
            </a:r>
            <a:pPr indent="0" marL="0">
              <a:buNone/>
            </a:pPr>
            <a:r>
              <a:rPr lang="en-US" sz="950" dirty="0">
                <a:solidFill>
                  <a:srgbClr val="E4C98A"/>
                </a:solidFill>
                <a:latin typeface="Consolas" pitchFamily="34" charset="0"/>
                <a:ea typeface="Consolas" pitchFamily="34" charset="-122"/>
                <a:cs typeface="Consolas" pitchFamily="34" charset="-120"/>
              </a:rPr>
              <a:t>""</a:t>
            </a:r>
            <a:pPr indent="0" marL="0">
              <a:buNone/>
            </a:pPr>
            <a:r>
              <a:rPr lang="en-US" sz="950" dirty="0">
                <a:solidFill>
                  <a:srgbClr val="FFFFFF"/>
                </a:solidFill>
                <a:latin typeface="Consolas" pitchFamily="34" charset="0"/>
                <a:ea typeface="Consolas" pitchFamily="34" charset="-122"/>
                <a:cs typeface="Consolas" pitchFamily="34" charset="-120"/>
              </a:rPr>
              <a:t>, flush=</a:t>
            </a:r>
            <a:pPr indent="0" marL="0">
              <a:buNone/>
            </a:pPr>
            <a:r>
              <a:rPr lang="en-US" sz="950" dirty="0">
                <a:solidFill>
                  <a:srgbClr val="A996B6"/>
                </a:solidFill>
                <a:latin typeface="Consolas" pitchFamily="34" charset="0"/>
                <a:ea typeface="Consolas" pitchFamily="34" charset="-122"/>
                <a:cs typeface="Consolas" pitchFamily="34" charset="-120"/>
              </a:rPr>
              <a:t>True</a:t>
            </a:r>
            <a:pPr indent="0" marL="0">
              <a:buNone/>
            </a:pPr>
            <a:r>
              <a:rPr lang="en-US" sz="950" dirty="0">
                <a:solidFill>
                  <a:srgbClr val="FFFFFF"/>
                </a:solidFill>
                <a:latin typeface="Consolas" pitchFamily="34" charset="0"/>
                <a:ea typeface="Consolas" pitchFamily="34" charset="-122"/>
                <a:cs typeface="Consolas" pitchFamily="34" charset="-120"/>
              </a:rPr>
              <a:t>)</a:t>
            </a:r>
            <a:endParaRPr lang="en-US" sz="95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Three ways to consume ResponseStream</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each update as it arrives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Finalize only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Skip iteration; finalizer consumes the stream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Iterate + finalize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Render updates, then await get_final_response()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Updates carry typed contents</a:t>
            </a:r>
            <a:endParaRPr lang="en-US" sz="2800" dirty="0"/>
          </a:p>
        </p:txBody>
      </p:sp>
      <p:sp>
        <p:nvSpPr>
          <p:cNvPr id="5" name="Text 3"/>
          <p:cNvSpPr/>
          <p:nvPr/>
        </p:nvSpPr>
        <p:spPr>
          <a:xfrm>
            <a:off x="365760" y="1078992"/>
            <a:ext cx="8412480" cy="1502508"/>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Text</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Convenient update.text for display</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Function activity</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Calls and results can arrive as typed contents</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Metadata</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Response IDs, roles, usage, and provider data may be present</a:t>
            </a:r>
            <a:endParaRPr lang="en-US" sz="1400" dirty="0"/>
          </a:p>
          <a:p>
            <a:pPr marL="342900" indent="-342900">
              <a:spcAft>
                <a:spcPts val="1000"/>
              </a:spcAft>
              <a:buSzPct val="100000"/>
              <a:buChar char="•"/>
            </a:pPr>
            <a:r>
              <a:rPr lang="en-US" sz="1400" b="1" dirty="0">
                <a:solidFill>
                  <a:srgbClr val="1E2761"/>
                </a:solidFill>
                <a:latin typeface="Calibri" pitchFamily="34" charset="0"/>
                <a:ea typeface="Calibri" pitchFamily="34" charset="-122"/>
                <a:cs typeface="Calibri" pitchFamily="34" charset="-120"/>
              </a:rPr>
              <a:t>Rule</a:t>
            </a:r>
            <a:pPr indent="0" marL="0">
              <a:spcAft>
                <a:spcPts val="1000"/>
              </a:spcAft>
              <a:buNone/>
            </a:pPr>
            <a:r>
              <a:rPr lang="en-US" sz="1400" dirty="0">
                <a:solidFill>
                  <a:srgbClr val="212121"/>
                </a:solidFill>
                <a:latin typeface="Calibri" pitchFamily="34" charset="0"/>
                <a:ea typeface="Calibri" pitchFamily="34" charset="-122"/>
                <a:cs typeface="Calibri" pitchFamily="34" charset="-120"/>
              </a:rPr>
              <a:t>  —  Ignore unknown types safely; do not flatten every event into text</a:t>
            </a:r>
            <a:endParaRPr lang="en-US" sz="1400" dirty="0"/>
          </a:p>
        </p:txBody>
      </p:sp>
      <p:sp>
        <p:nvSpPr>
          <p:cNvPr id="6" name="Shape 4"/>
          <p:cNvSpPr/>
          <p:nvPr/>
        </p:nvSpPr>
        <p:spPr>
          <a:xfrm>
            <a:off x="365760" y="2709516"/>
            <a:ext cx="8412480" cy="1999644"/>
          </a:xfrm>
          <a:prstGeom prst="rect">
            <a:avLst/>
          </a:prstGeom>
          <a:solidFill>
            <a:srgbClr val="1D1E22"/>
          </a:solidFill>
          <a:ln w="9525">
            <a:solidFill>
              <a:srgbClr val="2A2B2E"/>
            </a:solidFill>
            <a:prstDash val="solid"/>
          </a:ln>
        </p:spPr>
      </p:sp>
      <p:sp>
        <p:nvSpPr>
          <p:cNvPr id="7" name="Text 5"/>
          <p:cNvSpPr/>
          <p:nvPr/>
        </p:nvSpPr>
        <p:spPr>
          <a:xfrm>
            <a:off x="502920" y="2800956"/>
            <a:ext cx="8138160" cy="1816764"/>
          </a:xfrm>
          <a:prstGeom prst="rect">
            <a:avLst/>
          </a:prstGeom>
          <a:noFill/>
          <a:ln/>
        </p:spPr>
        <p:txBody>
          <a:bodyPr wrap="square" lIns="0" tIns="0" rIns="0" bIns="0" rtlCol="0" anchor="t">
            <a:normAutofit/>
          </a:bodyPr>
          <a:lstStyle/>
          <a:p>
            <a:pPr indent="0" marL="0">
              <a:buNone/>
            </a:pPr>
            <a:r>
              <a:rPr lang="en-US" sz="1050" i="1" dirty="0">
                <a:solidFill>
                  <a:srgbClr val="666666"/>
                </a:solidFill>
                <a:latin typeface="Consolas" pitchFamily="34" charset="0"/>
                <a:ea typeface="Consolas" pitchFamily="34" charset="-122"/>
                <a:cs typeface="Consolas" pitchFamily="34" charset="-120"/>
              </a:rPr>
              <a:t># Access content from responses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response = </a:t>
            </a:r>
            <a:pPr indent="0" marL="0">
              <a:buNone/>
            </a:pPr>
            <a:r>
              <a:rPr lang="en-US" sz="1050" dirty="0">
                <a:solidFill>
                  <a:srgbClr val="A996B6"/>
                </a:solidFill>
                <a:latin typeface="Consolas" pitchFamily="34" charset="0"/>
                <a:ea typeface="Consolas" pitchFamily="34" charset="-122"/>
                <a:cs typeface="Consolas" pitchFamily="34" charset="-120"/>
              </a:rPr>
              <a:t>await</a:t>
            </a:r>
            <a:pPr indent="0" marL="0">
              <a:buNone/>
            </a:pPr>
            <a:r>
              <a:rPr lang="en-US" sz="1050" dirty="0">
                <a:solidFill>
                  <a:srgbClr val="FFFFFF"/>
                </a:solidFill>
                <a:latin typeface="Consolas" pitchFamily="34" charset="0"/>
                <a:ea typeface="Consolas" pitchFamily="34" charset="-122"/>
                <a:cs typeface="Consolas" pitchFamily="34" charset="-120"/>
              </a:rPr>
              <a:t> agent.run(</a:t>
            </a:r>
            <a:pPr indent="0" marL="0">
              <a:buNone/>
            </a:pPr>
            <a:r>
              <a:rPr lang="en-US" sz="1050" dirty="0">
                <a:solidFill>
                  <a:srgbClr val="E4C98A"/>
                </a:solidFill>
                <a:latin typeface="Consolas" pitchFamily="34" charset="0"/>
                <a:ea typeface="Consolas" pitchFamily="34" charset="-122"/>
                <a:cs typeface="Consolas" pitchFamily="34" charset="-120"/>
              </a:rPr>
              <a:t>"Describe the image"</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message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response.messages: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for</a:t>
            </a:r>
            <a:pPr indent="0" marL="0">
              <a:buNone/>
            </a:pPr>
            <a:r>
              <a:rPr lang="en-US" sz="1050" dirty="0">
                <a:solidFill>
                  <a:srgbClr val="FFFFFF"/>
                </a:solidFill>
                <a:latin typeface="Consolas" pitchFamily="34" charset="0"/>
                <a:ea typeface="Consolas" pitchFamily="34" charset="-122"/>
                <a:cs typeface="Consolas" pitchFamily="34" charset="-120"/>
              </a:rPr>
              <a:t> content </a:t>
            </a:r>
            <a:pPr indent="0" marL="0">
              <a:buNone/>
            </a:pPr>
            <a:r>
              <a:rPr lang="en-US" sz="1050" dirty="0">
                <a:solidFill>
                  <a:srgbClr val="A996B6"/>
                </a:solidFill>
                <a:latin typeface="Consolas" pitchFamily="34" charset="0"/>
                <a:ea typeface="Consolas" pitchFamily="34" charset="-122"/>
                <a:cs typeface="Consolas" pitchFamily="34" charset="-120"/>
              </a:rPr>
              <a:t>in</a:t>
            </a:r>
            <a:pPr indent="0" marL="0">
              <a:buNone/>
            </a:pPr>
            <a:r>
              <a:rPr lang="en-US" sz="1050" dirty="0">
                <a:solidFill>
                  <a:srgbClr val="FFFFFF"/>
                </a:solidFill>
                <a:latin typeface="Consolas" pitchFamily="34" charset="0"/>
                <a:ea typeface="Consolas" pitchFamily="34" charset="-122"/>
                <a:cs typeface="Consolas" pitchFamily="34" charset="-120"/>
              </a:rPr>
              <a:t> message.contents: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f"Text: {content.text}"</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f"Data URI: {content.from_data}"</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a:t>
            </a:r>
            <a:pPr indent="0" marL="0">
              <a:buNone/>
            </a:pPr>
            <a:r>
              <a:rPr lang="en-US" sz="1050" dirty="0">
                <a:solidFill>
                  <a:srgbClr val="A996B6"/>
                </a:solidFill>
                <a:latin typeface="Consolas" pitchFamily="34" charset="0"/>
                <a:ea typeface="Consolas" pitchFamily="34" charset="-122"/>
                <a:cs typeface="Consolas" pitchFamily="34" charset="-120"/>
              </a:rPr>
              <a:t>elif</a:t>
            </a:r>
            <a:pPr indent="0" marL="0">
              <a:buNone/>
            </a:pPr>
            <a:r>
              <a:rPr lang="en-US" sz="1050" dirty="0">
                <a:solidFill>
                  <a:srgbClr val="FFFFFF"/>
                </a:solidFill>
                <a:latin typeface="Consolas" pitchFamily="34" charset="0"/>
                <a:ea typeface="Consolas" pitchFamily="34" charset="-122"/>
                <a:cs typeface="Consolas" pitchFamily="34" charset="-120"/>
              </a:rPr>
              <a:t> content.type == </a:t>
            </a:r>
            <a:pPr indent="0" marL="0">
              <a:buNone/>
            </a:pPr>
            <a:r>
              <a:rPr lang="en-US" sz="1050" dirty="0">
                <a:solidFill>
                  <a:srgbClr val="E4C98A"/>
                </a:solidFill>
                <a:latin typeface="Consolas" pitchFamily="34" charset="0"/>
                <a:ea typeface="Consolas" pitchFamily="34" charset="-122"/>
                <a:cs typeface="Consolas" pitchFamily="34" charset="-120"/>
              </a:rPr>
              <a: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print(</a:t>
            </a:r>
            <a:pPr indent="0" marL="0">
              <a:buNone/>
            </a:pPr>
            <a:r>
              <a:rPr lang="en-US" sz="1050" dirty="0">
                <a:solidFill>
                  <a:srgbClr val="E4C98A"/>
                </a:solidFill>
                <a:latin typeface="Consolas" pitchFamily="34" charset="0"/>
                <a:ea typeface="Consolas" pitchFamily="34" charset="-122"/>
                <a:cs typeface="Consolas" pitchFamily="34" charset="-120"/>
              </a:rPr>
              <a:t>f"External URI: {content.uri}"</a:t>
            </a:r>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p:txBody>
      </p:sp>
      <p:sp>
        <p:nvSpPr>
          <p:cNvPr id="8" name="Shape 6"/>
          <p:cNvSpPr/>
          <p:nvPr/>
        </p:nvSpPr>
        <p:spPr>
          <a:xfrm>
            <a:off x="365760" y="4773168"/>
            <a:ext cx="8412480" cy="0"/>
          </a:xfrm>
          <a:prstGeom prst="line">
            <a:avLst/>
          </a:prstGeom>
          <a:noFill/>
          <a:ln w="6350">
            <a:solidFill>
              <a:srgbClr val="D1D5DB"/>
            </a:solidFill>
            <a:prstDash val="solid"/>
          </a:ln>
        </p:spPr>
      </p:sp>
      <p:sp>
        <p:nvSpPr>
          <p:cNvPr id="9" name="Text 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Pydantic gives you a typed value</a:t>
            </a:r>
            <a:endParaRPr lang="en-US" sz="2800" dirty="0"/>
          </a:p>
        </p:txBody>
      </p:sp>
      <p:sp>
        <p:nvSpPr>
          <p:cNvPr id="5" name="Shape 3"/>
          <p:cNvSpPr/>
          <p:nvPr/>
        </p:nvSpPr>
        <p:spPr>
          <a:xfrm>
            <a:off x="365760" y="1115568"/>
            <a:ext cx="8412480" cy="2980944"/>
          </a:xfrm>
          <a:prstGeom prst="rect">
            <a:avLst/>
          </a:prstGeom>
          <a:solidFill>
            <a:srgbClr val="1D1E22"/>
          </a:solidFill>
          <a:ln w="9525">
            <a:solidFill>
              <a:srgbClr val="2A2B2E"/>
            </a:solidFill>
            <a:prstDash val="solid"/>
          </a:ln>
        </p:spPr>
      </p:sp>
      <p:sp>
        <p:nvSpPr>
          <p:cNvPr id="6" name="Text 4"/>
          <p:cNvSpPr/>
          <p:nvPr/>
        </p:nvSpPr>
        <p:spPr>
          <a:xfrm>
            <a:off x="502920" y="1207008"/>
            <a:ext cx="8138160" cy="2798064"/>
          </a:xfrm>
          <a:prstGeom prst="rect">
            <a:avLst/>
          </a:prstGeom>
          <a:noFill/>
          <a:ln/>
        </p:spPr>
        <p:txBody>
          <a:bodyPr wrap="square" lIns="0" tIns="0" rIns="0" bIns="0" rtlCol="0" anchor="t">
            <a:normAutofit/>
          </a:bodyPr>
          <a:lstStyle/>
          <a:p>
            <a:pPr indent="0" marL="0">
              <a:buNone/>
            </a:pPr>
            <a:r>
              <a:rPr lang="en-US" sz="1280" dirty="0">
                <a:solidFill>
                  <a:srgbClr val="A996B6"/>
                </a:solidFill>
                <a:latin typeface="Consolas" pitchFamily="34" charset="0"/>
                <a:ea typeface="Consolas" pitchFamily="34" charset="-122"/>
                <a:cs typeface="Consolas" pitchFamily="34" charset="-120"/>
              </a:rPr>
              <a:t>from</a:t>
            </a:r>
            <a:pPr indent="0" marL="0">
              <a:buNone/>
            </a:pPr>
            <a:r>
              <a:rPr lang="en-US" sz="1280" dirty="0">
                <a:solidFill>
                  <a:srgbClr val="FFFFFF"/>
                </a:solidFill>
                <a:latin typeface="Consolas" pitchFamily="34" charset="0"/>
                <a:ea typeface="Consolas" pitchFamily="34" charset="-122"/>
                <a:cs typeface="Consolas" pitchFamily="34" charset="-120"/>
              </a:rPr>
              <a:t> pydantic </a:t>
            </a:r>
            <a:pPr indent="0" marL="0">
              <a:buNone/>
            </a:pPr>
            <a:r>
              <a:rPr lang="en-US" sz="1280" dirty="0">
                <a:solidFill>
                  <a:srgbClr val="A996B6"/>
                </a:solidFill>
                <a:latin typeface="Consolas" pitchFamily="34" charset="0"/>
                <a:ea typeface="Consolas" pitchFamily="34" charset="-122"/>
                <a:cs typeface="Consolas" pitchFamily="34" charset="-120"/>
              </a:rPr>
              <a:t>import</a:t>
            </a:r>
            <a:pPr indent="0" marL="0">
              <a:buNone/>
            </a:pPr>
            <a:r>
              <a:rPr lang="en-US" sz="1280" dirty="0">
                <a:solidFill>
                  <a:srgbClr val="FFFFFF"/>
                </a:solidFill>
                <a:latin typeface="Consolas" pitchFamily="34" charset="0"/>
                <a:ea typeface="Consolas" pitchFamily="34" charset="-122"/>
                <a:cs typeface="Consolas" pitchFamily="34" charset="-120"/>
              </a:rPr>
              <a:t> BaseModel</a:t>
            </a:r>
            <a:endParaRPr lang="en-US" sz="1280" dirty="0"/>
          </a:p>
          <a:p>
            <a:pPr indent="0" marL="0">
              <a:buNone/>
            </a:pPr>
            <a:endParaRPr lang="en-US" sz="1280" dirty="0"/>
          </a:p>
          <a:p>
            <a:pPr indent="0" marL="0">
              <a:buNone/>
            </a:pPr>
            <a:r>
              <a:rPr lang="en-US" sz="1280" dirty="0">
                <a:solidFill>
                  <a:srgbClr val="A996B6"/>
                </a:solidFill>
                <a:latin typeface="Consolas" pitchFamily="34" charset="0"/>
                <a:ea typeface="Consolas" pitchFamily="34" charset="-122"/>
                <a:cs typeface="Consolas" pitchFamily="34" charset="-120"/>
              </a:rPr>
              <a:t>class</a:t>
            </a:r>
            <a:pPr indent="0" marL="0">
              <a:buNone/>
            </a:pPr>
            <a:r>
              <a:rPr lang="en-US" sz="1280" dirty="0">
                <a:solidFill>
                  <a:srgbClr val="FFFFFF"/>
                </a:solidFill>
                <a:latin typeface="Consolas" pitchFamily="34" charset="0"/>
                <a:ea typeface="Consolas" pitchFamily="34" charset="-122"/>
                <a:cs typeface="Consolas" pitchFamily="34" charset="-120"/>
              </a:rPr>
              <a:t> TriageResult(BaseModel):</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route: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summary: str</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needs_work_item: bool</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TriageResult},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triage: TriageResult = response.value</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JSON Schema works without a model class</a:t>
            </a:r>
            <a:endParaRPr lang="en-US" sz="2500" dirty="0"/>
          </a:p>
        </p:txBody>
      </p:sp>
      <p:sp>
        <p:nvSpPr>
          <p:cNvPr id="5" name="Shape 3"/>
          <p:cNvSpPr/>
          <p:nvPr/>
        </p:nvSpPr>
        <p:spPr>
          <a:xfrm>
            <a:off x="365760" y="1115568"/>
            <a:ext cx="8412480" cy="2560320"/>
          </a:xfrm>
          <a:prstGeom prst="rect">
            <a:avLst/>
          </a:prstGeom>
          <a:solidFill>
            <a:srgbClr val="1D1E22"/>
          </a:solidFill>
          <a:ln w="9525">
            <a:solidFill>
              <a:srgbClr val="2A2B2E"/>
            </a:solidFill>
            <a:prstDash val="solid"/>
          </a:ln>
        </p:spPr>
      </p:sp>
      <p:sp>
        <p:nvSpPr>
          <p:cNvPr id="6" name="Text 4"/>
          <p:cNvSpPr/>
          <p:nvPr/>
        </p:nvSpPr>
        <p:spPr>
          <a:xfrm>
            <a:off x="502920" y="1207008"/>
            <a:ext cx="8138160" cy="237744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schema =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"object"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"properties"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"type"</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"string"</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"required"</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"route"</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response = </a:t>
            </a:r>
            <a:pPr indent="0" marL="0">
              <a:buNone/>
            </a:pPr>
            <a:r>
              <a:rPr lang="en-US" sz="1280" dirty="0">
                <a:solidFill>
                  <a:srgbClr val="A996B6"/>
                </a:solidFill>
                <a:latin typeface="Consolas" pitchFamily="34" charset="0"/>
                <a:ea typeface="Consolas" pitchFamily="34" charset="-122"/>
                <a:cs typeface="Consolas" pitchFamily="34" charset="-120"/>
              </a:rPr>
              <a:t>await</a:t>
            </a:r>
            <a:pPr indent="0" marL="0">
              <a:buNone/>
            </a:pPr>
            <a:r>
              <a:rPr lang="en-US" sz="1280" dirty="0">
                <a:solidFill>
                  <a:srgbClr val="FFFFFF"/>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request, options={</a:t>
            </a:r>
            <a:pPr indent="0" marL="0">
              <a:buNone/>
            </a:pPr>
            <a:r>
              <a:rPr lang="en-US" sz="1280" dirty="0">
                <a:solidFill>
                  <a:srgbClr val="E4C98A"/>
                </a:solidFill>
                <a:latin typeface="Consolas" pitchFamily="34" charset="0"/>
                <a:ea typeface="Consolas" pitchFamily="34" charset="-122"/>
                <a:cs typeface="Consolas" pitchFamily="34" charset="-120"/>
              </a:rPr>
              <a:t>"response_format"</a:t>
            </a:r>
            <a:pPr indent="0" marL="0">
              <a:buNone/>
            </a:pPr>
            <a:r>
              <a:rPr lang="en-US" sz="1280" dirty="0">
                <a:solidFill>
                  <a:srgbClr val="FFFFFF"/>
                </a:solidFill>
                <a:latin typeface="Consolas" pitchFamily="34" charset="0"/>
                <a:ea typeface="Consolas" pitchFamily="34" charset="-122"/>
                <a:cs typeface="Consolas" pitchFamily="34" charset="-120"/>
              </a:rPr>
              <a:t>: schema}</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result = response.value  </a:t>
            </a:r>
            <a:pPr indent="0" marL="0">
              <a:buNone/>
            </a:pPr>
            <a:r>
              <a:rPr lang="en-US" sz="1280" i="1" dirty="0">
                <a:solidFill>
                  <a:srgbClr val="666666"/>
                </a:solidFill>
                <a:latin typeface="Consolas" pitchFamily="34" charset="0"/>
                <a:ea typeface="Consolas" pitchFamily="34" charset="-122"/>
                <a:cs typeface="Consolas" pitchFamily="34" charset="-120"/>
              </a:rPr>
              <a:t># parsed JSON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Example: TriageResult fits your docs assistant</a:t>
            </a:r>
            <a:endParaRPr lang="en-US" sz="23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Classify</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route: answer, clarify, or work_item</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Summarize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concise issue statement for your UI</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Signal</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needs_work_item is a recommendation</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Authorize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your app still controls whether a write is offered or approved</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Combine streaming and structure</a:t>
            </a:r>
            <a:endParaRPr lang="en-US" sz="2800" dirty="0"/>
          </a:p>
        </p:txBody>
      </p:sp>
      <p:sp>
        <p:nvSpPr>
          <p:cNvPr id="5" name="Shape 3"/>
          <p:cNvSpPr/>
          <p:nvPr/>
        </p:nvSpPr>
        <p:spPr>
          <a:xfrm>
            <a:off x="365760" y="1115568"/>
            <a:ext cx="8412480" cy="3191256"/>
          </a:xfrm>
          <a:prstGeom prst="rect">
            <a:avLst/>
          </a:prstGeom>
          <a:solidFill>
            <a:srgbClr val="1D1E22"/>
          </a:solidFill>
          <a:ln w="9525">
            <a:solidFill>
              <a:srgbClr val="2A2B2E"/>
            </a:solidFill>
            <a:prstDash val="solid"/>
          </a:ln>
        </p:spPr>
      </p:sp>
      <p:sp>
        <p:nvSpPr>
          <p:cNvPr id="6" name="Text 4"/>
          <p:cNvSpPr/>
          <p:nvPr/>
        </p:nvSpPr>
        <p:spPr>
          <a:xfrm>
            <a:off x="502920" y="1207008"/>
            <a:ext cx="8138160" cy="3008376"/>
          </a:xfrm>
          <a:prstGeom prst="rect">
            <a:avLst/>
          </a:prstGeom>
          <a:noFill/>
          <a:ln/>
        </p:spPr>
        <p:txBody>
          <a:bodyPr wrap="square" lIns="0" tIns="0" rIns="0" bIns="0" rtlCol="0" anchor="t">
            <a:normAutofit/>
          </a:bodyPr>
          <a:lstStyle/>
          <a:p>
            <a:pPr indent="0" marL="0">
              <a:buNone/>
            </a:pPr>
            <a:r>
              <a:rPr lang="en-US" sz="1080" dirty="0">
                <a:solidFill>
                  <a:srgbClr val="FFFFFF"/>
                </a:solidFill>
                <a:latin typeface="Consolas" pitchFamily="34" charset="0"/>
                <a:ea typeface="Consolas" pitchFamily="34" charset="-122"/>
                <a:cs typeface="Consolas" pitchFamily="34" charset="-120"/>
              </a:rPr>
              <a:t>stream = agent.run(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request,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stream=</a:t>
            </a:r>
            <a:pPr indent="0" marL="0">
              <a:buNone/>
            </a:pPr>
            <a:r>
              <a:rPr lang="en-US" sz="1080" dirty="0">
                <a:solidFill>
                  <a:srgbClr val="A996B6"/>
                </a:solidFill>
                <a:latin typeface="Consolas" pitchFamily="34" charset="0"/>
                <a:ea typeface="Consolas" pitchFamily="34" charset="-122"/>
                <a:cs typeface="Consolas" pitchFamily="34" charset="-120"/>
              </a:rPr>
              <a:t>True</a:t>
            </a:r>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session=session,</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options={</a:t>
            </a:r>
            <a:pPr indent="0" marL="0">
              <a:buNone/>
            </a:pPr>
            <a:r>
              <a:rPr lang="en-US" sz="1080" dirty="0">
                <a:solidFill>
                  <a:srgbClr val="E4C98A"/>
                </a:solidFill>
                <a:latin typeface="Consolas" pitchFamily="34" charset="0"/>
                <a:ea typeface="Consolas" pitchFamily="34" charset="-122"/>
                <a:cs typeface="Consolas" pitchFamily="34" charset="-120"/>
              </a:rPr>
              <a:t>"response_format"</a:t>
            </a:r>
            <a:pPr indent="0" marL="0">
              <a:buNone/>
            </a:pPr>
            <a:r>
              <a:rPr lang="en-US" sz="1080" dirty="0">
                <a:solidFill>
                  <a:srgbClr val="FFFFFF"/>
                </a:solidFill>
                <a:latin typeface="Consolas" pitchFamily="34" charset="0"/>
                <a:ea typeface="Consolas" pitchFamily="34" charset="-122"/>
                <a:cs typeface="Consolas" pitchFamily="34" charset="-120"/>
              </a:rPr>
              <a:t>: TriageResult},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a:t>
            </a:r>
            <a:endParaRPr lang="en-US" sz="1080" dirty="0"/>
          </a:p>
          <a:p>
            <a:pPr indent="0" marL="0">
              <a:buNone/>
            </a:pPr>
            <a:endParaRPr lang="en-US" sz="1080" dirty="0"/>
          </a:p>
          <a:p>
            <a:pPr indent="0" marL="0">
              <a:buNone/>
            </a:pPr>
            <a:r>
              <a:rPr lang="en-US" sz="1080" dirty="0">
                <a:solidFill>
                  <a:srgbClr val="A996B6"/>
                </a:solidFill>
                <a:latin typeface="Consolas" pitchFamily="34" charset="0"/>
                <a:ea typeface="Consolas" pitchFamily="34" charset="-122"/>
                <a:cs typeface="Consolas" pitchFamily="34" charset="-120"/>
              </a:rPr>
              <a:t>async</a:t>
            </a:r>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for</a:t>
            </a:r>
            <a:pPr indent="0" marL="0">
              <a:buNone/>
            </a:pPr>
            <a:r>
              <a:rPr lang="en-US" sz="1080" dirty="0">
                <a:solidFill>
                  <a:srgbClr val="FFFFFF"/>
                </a:solidFill>
                <a:latin typeface="Consolas" pitchFamily="34" charset="0"/>
                <a:ea typeface="Consolas" pitchFamily="34" charset="-122"/>
                <a:cs typeface="Consolas" pitchFamily="34" charset="-120"/>
              </a:rPr>
              <a:t> update </a:t>
            </a:r>
            <a:pPr indent="0" marL="0">
              <a:buNone/>
            </a:pPr>
            <a:r>
              <a:rPr lang="en-US" sz="1080" dirty="0">
                <a:solidFill>
                  <a:srgbClr val="A996B6"/>
                </a:solidFill>
                <a:latin typeface="Consolas" pitchFamily="34" charset="0"/>
                <a:ea typeface="Consolas" pitchFamily="34" charset="-122"/>
                <a:cs typeface="Consolas" pitchFamily="34" charset="-120"/>
              </a:rPr>
              <a:t>in</a:t>
            </a:r>
            <a:pPr indent="0" marL="0">
              <a:buNone/>
            </a:pPr>
            <a:r>
              <a:rPr lang="en-US" sz="1080" dirty="0">
                <a:solidFill>
                  <a:srgbClr val="FFFFFF"/>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a:t>
            </a:r>
            <a:pPr indent="0" marL="0">
              <a:buNone/>
            </a:pPr>
            <a:r>
              <a:rPr lang="en-US" sz="1080" dirty="0">
                <a:solidFill>
                  <a:srgbClr val="A996B6"/>
                </a:solidFill>
                <a:latin typeface="Consolas" pitchFamily="34" charset="0"/>
                <a:ea typeface="Consolas" pitchFamily="34" charset="-122"/>
                <a:cs typeface="Consolas" pitchFamily="34" charset="-120"/>
              </a:rPr>
              <a:t>if</a:t>
            </a:r>
            <a:pPr indent="0" marL="0">
              <a:buNone/>
            </a:pPr>
            <a:r>
              <a:rPr lang="en-US" sz="1080" dirty="0">
                <a:solidFill>
                  <a:srgbClr val="FFFFFF"/>
                </a:solidFill>
                <a:latin typeface="Consolas" pitchFamily="34" charset="0"/>
                <a:ea typeface="Consolas" pitchFamily="34" charset="-122"/>
                <a:cs typeface="Consolas" pitchFamily="34" charset="-120"/>
              </a:rPr>
              <a:t> update.text:</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        render(update.text)</a:t>
            </a:r>
            <a:endParaRPr lang="en-US" sz="1080" dirty="0"/>
          </a:p>
          <a:p>
            <a:pPr indent="0" marL="0">
              <a:buNone/>
            </a:pP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final = </a:t>
            </a:r>
            <a:pPr indent="0" marL="0">
              <a:buNone/>
            </a:pPr>
            <a:r>
              <a:rPr lang="en-US" sz="1080" dirty="0">
                <a:solidFill>
                  <a:srgbClr val="A996B6"/>
                </a:solidFill>
                <a:latin typeface="Consolas" pitchFamily="34" charset="0"/>
                <a:ea typeface="Consolas" pitchFamily="34" charset="-122"/>
                <a:cs typeface="Consolas" pitchFamily="34" charset="-120"/>
              </a:rPr>
              <a:t>await</a:t>
            </a:r>
            <a:pPr indent="0" marL="0">
              <a:buNone/>
            </a:pPr>
            <a:r>
              <a:rPr lang="en-US" sz="1080" dirty="0">
                <a:solidFill>
                  <a:srgbClr val="FFFFFF"/>
                </a:solidFill>
                <a:latin typeface="Consolas" pitchFamily="34" charset="0"/>
                <a:ea typeface="Consolas" pitchFamily="34" charset="-122"/>
                <a:cs typeface="Consolas" pitchFamily="34" charset="-120"/>
              </a:rPr>
              <a:t> stream.get_final_response()</a:t>
            </a:r>
            <a:endParaRPr lang="en-US" sz="1080" dirty="0"/>
          </a:p>
          <a:p>
            <a:pPr indent="0" marL="0">
              <a:buNone/>
            </a:pPr>
            <a:r>
              <a:rPr lang="en-US" sz="1080" dirty="0">
                <a:solidFill>
                  <a:srgbClr val="FFFFFF"/>
                </a:solidFill>
                <a:latin typeface="Consolas" pitchFamily="34" charset="0"/>
                <a:ea typeface="Consolas" pitchFamily="34" charset="-122"/>
                <a:cs typeface="Consolas" pitchFamily="34" charset="-120"/>
              </a:rPr>
              <a:t>triage = final.value</a:t>
            </a:r>
            <a:endParaRPr lang="en-US" sz="10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Watch it stream, then get the typed TriageResult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combined pattern live: text tokens render as they arrive, then stream.get_final_response().value prints a validated TriageResult — the two-contract model made concrete on the Day 2 docs assistant.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demos/day3/module-2-demo-1-stream-then-triage.md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Partial JSON is display data, not a value</a:t>
            </a:r>
            <a:endParaRPr lang="en-US" sz="25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During the stream</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JSON may be incomplete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Fields may not have arrived</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Do not parse or act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After completion</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Await get_final_response()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Read validated .value</a:t>
            </a:r>
            <a:endParaRPr lang="en-US" sz="1600" dirty="0"/>
          </a:p>
          <a:p>
            <a:pPr lvl="1" marL="457200" indent="-228600">
              <a:spcAft>
                <a:spcPts val="1000"/>
              </a:spcAft>
              <a:buSzPct val="100000"/>
              <a:buChar char="•"/>
            </a:pPr>
            <a:r>
              <a:rPr lang="en-US" sz="1600" dirty="0">
                <a:solidFill>
                  <a:srgbClr val="212121"/>
                </a:solidFill>
                <a:latin typeface="Calibri" pitchFamily="34" charset="0"/>
                <a:ea typeface="Calibri" pitchFamily="34" charset="-122"/>
                <a:cs typeface="Calibri" pitchFamily="34" charset="-120"/>
              </a:rPr>
              <a:t>Apply business rules and approvals</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Choose the response contract</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Fastest simple code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AgentResponse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response and read .value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 + 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then get_final_response().value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Dynamic contract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JSON Schema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one run API and choose AgentResponse or ResponseStream.</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updates as typed contents, not only text.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put response_format inside options.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parse structured output only after the stream completes.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verify support with your exact Foundry client and model.</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Streaming &amp; Structured Outputs</dc:title>
  <dc:subject>Day 3 — Single-Agent Runtime + MCP</dc:subject>
  <dc:creator>Building AI Apps and Agents Workshop</dc:creator>
  <cp:lastModifiedBy>Building AI Apps and Agents Workshop</cp:lastModifiedBy>
  <cp:revision>1</cp:revision>
  <dcterms:created xsi:type="dcterms:W3CDTF">2026-08-29T18:47:06Z</dcterms:created>
  <dcterms:modified xsi:type="dcterms:W3CDTF">2026-08-29T18:47:06Z</dcterms:modified>
</cp:coreProperties>
</file>