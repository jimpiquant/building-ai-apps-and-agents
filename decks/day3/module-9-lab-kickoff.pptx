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notesMasterIdLst>
    <p:notesMasterId r:id="rId10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notesMaster" Target="notesMasters/notesMaster1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This module frames a proposed future lab. No Day 3 lab files are created in this change.
• GROUNDING SOURCE: https://learn.microsoft.com/en-us/agent-framework/concepts/agents/conversations/session?tabs=python
• GROUNDING SOURCE: https://learn.microsoft.com/en-us/agent-framework/agents/structured-outputs?tabs=python
• GROUNDING SOURCE: https://learn.microsoft.com/en-us/agent-framework/agents/evaluation?tabs=python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This sequence composes the day's primitives. It is a proposed lab flow only; the repository intentionally has no labs/day3 implementation yet.
• GROUNDING SOURCE: https://learn.microsoft.com/en-us/agent-framework/concepts/agents/conversations/session?tabs=python
• GROUNDING SOURCE: https://learn.microsoft.com/en-us/agent-framework/agents/structured-outputs?tabs=python
• GROUNDING SOURCE: https://learn.microsoft.com/en-us/agent-framework/agents/evaluation?tabs=python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Part A proves continuity and the response contract. Part B adds cross-cutting controls without changing the core docs-assistant instructions or tools.
• GROUNDING SOURCE: https://learn.microsoft.com/en-us/agent-framework/concepts/agents/conversations/session?tabs=python
• GROUNDING SOURCE: https://learn.microsoft.com/en-us/agent-framework/agents/structured-outputs?tabs=python
• GROUNDING SOURCE: https://learn.microsoft.com/en-us/agent-framework/concepts/agents/middleware/?tabs=python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Part C uses only the read dispatcher with the wit toolset and read-only header. Part D enables only the needed write tool and requires approval after showing the current record and proposed arguments.
• GROUNDING SOURCE: https://learn.microsoft.com/en-us/azure/devops/mcp-server/remote-mcp-server?view=azure-devops
• GROUNDING SOURCE: https://learn.microsoft.com/en-us/agent-framework/agents/tools/tool-approval?tabs=python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Include positive read, positive write, and no-tool cases. Ground truth must include the consolidated tool plus action. Repeat enough to observe variation, then report the observed rate without inventing a universal threshold.
• GROUNDING SOURCE: https://learn.microsoft.com/en-us/agent-framework/agents/evaluation?tabs=python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Do not claim setup has already happened. A future lab author must supply a dedicated Entra-backed Azure DevOps Services organization/project, Foundry project and judge deployment, least-privilege identity, and known work-item fixtures.
• GROUNDING SOURCE: https://learn.microsoft.com/en-us/azure/devops/mcp-server/remote-mcp-server?view=azure-devops
• GROUNDING SOURCE: https://learn.microsoft.com/en-us/agent-framework/agents/evaluation?tabs=python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Definition of done is behavioral, not an arbitrary score. Troubleshoot from auth to discovery to selection to execution. Preserve the read-first boundary while debugging.
• GROUNDING SOURCE: https://learn.microsoft.com/en-us/agent-framework/agents/evaluation?tabs=python
• GROUNDING SOURCE: https://learn.microsoft.com/en-us/azure/devops/mcp-server/remote-mcp-server?view=azure-devops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Close the core Day 3 live time here. Learners have all required primitives for the proposed future lab.
• GROUNDING SOURCE: https://learn.microsoft.com/en-us/agent-framework/agents/evaluation?tabs=python
• GROUNDING SOURCE: https://learn.microsoft.com/en-us/azure/devops/mcp-server/remote-mcp-server?view=azure-devops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8046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spc="400" kern="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· MODULE 9 · 15 MIN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48640" y="1737360"/>
            <a:ext cx="804672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Lab Kickoff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548640" y="3017520"/>
            <a:ext cx="80467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Frame a proposed lab that composes Day 3's primitives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548640" y="4572000"/>
            <a:ext cx="8046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Building AI Apps and Agents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365760" y="4224528"/>
            <a:ext cx="8412480" cy="0"/>
          </a:xfrm>
          <a:prstGeom prst="line">
            <a:avLst/>
          </a:prstGeom>
          <a:noFill/>
          <a:ln w="6350">
            <a:solidFill>
              <a:srgbClr val="CADCFC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84048" y="4270248"/>
            <a:ext cx="8275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2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https://learn.microsoft.com/en-us/agent-framework/concepts/agents/conversations/session?tabs=python  ·  +2 in notes</a:t>
            </a:r>
            <a:endParaRPr lang="en-US" sz="82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0" y="256032"/>
            <a:ext cx="3337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· Module 9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365760" y="310896"/>
            <a:ext cx="65836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Future lab architecture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365760" y="1216152"/>
            <a:ext cx="2633472" cy="1572768"/>
          </a:xfrm>
          <a:prstGeom prst="roundRect">
            <a:avLst>
              <a:gd name="adj" fmla="val 3488"/>
            </a:avLst>
          </a:prstGeom>
          <a:solidFill>
            <a:srgbClr val="CADCFC"/>
          </a:solidFill>
          <a:ln w="10160">
            <a:solidFill>
              <a:srgbClr val="1E2761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75488" y="1335024"/>
            <a:ext cx="320040" cy="32004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7" name="Text 5"/>
          <p:cNvSpPr/>
          <p:nvPr/>
        </p:nvSpPr>
        <p:spPr>
          <a:xfrm>
            <a:off x="475488" y="1385316"/>
            <a:ext cx="3200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896112" y="1335024"/>
            <a:ext cx="197510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· State + response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512064" y="1719072"/>
            <a:ext cx="2340864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Session, serialization, stream, TriageResult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3035808" y="1892808"/>
            <a:ext cx="164592" cy="219456"/>
          </a:xfrm>
          <a:prstGeom prst="chevron">
            <a:avLst/>
          </a:prstGeom>
          <a:solidFill>
            <a:srgbClr val="E8A87C"/>
          </a:solidFill>
          <a:ln/>
        </p:spPr>
      </p:sp>
      <p:sp>
        <p:nvSpPr>
          <p:cNvPr id="11" name="Shape 9"/>
          <p:cNvSpPr/>
          <p:nvPr/>
        </p:nvSpPr>
        <p:spPr>
          <a:xfrm>
            <a:off x="3255264" y="1216152"/>
            <a:ext cx="2633472" cy="1572768"/>
          </a:xfrm>
          <a:prstGeom prst="roundRect">
            <a:avLst>
              <a:gd name="adj" fmla="val 3488"/>
            </a:avLst>
          </a:prstGeom>
          <a:solidFill>
            <a:srgbClr val="F3F4F6"/>
          </a:solidFill>
          <a:ln w="10160">
            <a:solidFill>
              <a:srgbClr val="D1D5DB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3364992" y="1335024"/>
            <a:ext cx="320040" cy="32004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13" name="Text 11"/>
          <p:cNvSpPr/>
          <p:nvPr/>
        </p:nvSpPr>
        <p:spPr>
          <a:xfrm>
            <a:off x="3364992" y="1385316"/>
            <a:ext cx="3200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3785616" y="1335024"/>
            <a:ext cx="197510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 · Robustness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3401568" y="1719072"/>
            <a:ext cx="2340864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Timing, guardrail, exception handling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5925312" y="1892808"/>
            <a:ext cx="164592" cy="219456"/>
          </a:xfrm>
          <a:prstGeom prst="chevron">
            <a:avLst/>
          </a:prstGeom>
          <a:solidFill>
            <a:srgbClr val="E8A87C"/>
          </a:solidFill>
          <a:ln/>
        </p:spPr>
      </p:sp>
      <p:sp>
        <p:nvSpPr>
          <p:cNvPr id="17" name="Shape 15"/>
          <p:cNvSpPr/>
          <p:nvPr/>
        </p:nvSpPr>
        <p:spPr>
          <a:xfrm>
            <a:off x="6144768" y="1216152"/>
            <a:ext cx="2633472" cy="1572768"/>
          </a:xfrm>
          <a:prstGeom prst="roundRect">
            <a:avLst>
              <a:gd name="adj" fmla="val 3488"/>
            </a:avLst>
          </a:prstGeom>
          <a:solidFill>
            <a:srgbClr val="F3F4F6"/>
          </a:solidFill>
          <a:ln w="10160">
            <a:solidFill>
              <a:srgbClr val="D1D5DB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6254496" y="1335024"/>
            <a:ext cx="320040" cy="32004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19" name="Text 17"/>
          <p:cNvSpPr/>
          <p:nvPr/>
        </p:nvSpPr>
        <p:spPr>
          <a:xfrm>
            <a:off x="6254496" y="1385316"/>
            <a:ext cx="3200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6675120" y="1335024"/>
            <a:ext cx="197510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 · Read</a:t>
            </a:r>
            <a:endParaRPr lang="en-US" sz="1500" dirty="0"/>
          </a:p>
        </p:txBody>
      </p:sp>
      <p:sp>
        <p:nvSpPr>
          <p:cNvPr id="21" name="Text 19"/>
          <p:cNvSpPr/>
          <p:nvPr/>
        </p:nvSpPr>
        <p:spPr>
          <a:xfrm>
            <a:off x="6291072" y="1719072"/>
            <a:ext cx="2340864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Read-only Azure DevOps MCP</a:t>
            </a:r>
            <a:endParaRPr lang="en-US" sz="1150" dirty="0"/>
          </a:p>
        </p:txBody>
      </p:sp>
      <p:sp>
        <p:nvSpPr>
          <p:cNvPr id="22" name="Shape 20"/>
          <p:cNvSpPr/>
          <p:nvPr/>
        </p:nvSpPr>
        <p:spPr>
          <a:xfrm>
            <a:off x="365760" y="3044952"/>
            <a:ext cx="2633472" cy="1572768"/>
          </a:xfrm>
          <a:prstGeom prst="roundRect">
            <a:avLst>
              <a:gd name="adj" fmla="val 3488"/>
            </a:avLst>
          </a:prstGeom>
          <a:solidFill>
            <a:srgbClr val="F3F4F6"/>
          </a:solidFill>
          <a:ln w="10160">
            <a:solidFill>
              <a:srgbClr val="D1D5DB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475488" y="3163824"/>
            <a:ext cx="320040" cy="32004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24" name="Text 22"/>
          <p:cNvSpPr/>
          <p:nvPr/>
        </p:nvSpPr>
        <p:spPr>
          <a:xfrm>
            <a:off x="475488" y="3214116"/>
            <a:ext cx="3200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896112" y="3163824"/>
            <a:ext cx="197510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 · Write</a:t>
            </a:r>
            <a:endParaRPr lang="en-US" sz="1500" dirty="0"/>
          </a:p>
        </p:txBody>
      </p:sp>
      <p:sp>
        <p:nvSpPr>
          <p:cNvPr id="26" name="Text 24"/>
          <p:cNvSpPr/>
          <p:nvPr/>
        </p:nvSpPr>
        <p:spPr>
          <a:xfrm>
            <a:off x="512064" y="3547872"/>
            <a:ext cx="2340864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Explicitly approved work-item mutation</a:t>
            </a:r>
            <a:endParaRPr lang="en-US" sz="1150" dirty="0"/>
          </a:p>
        </p:txBody>
      </p:sp>
      <p:sp>
        <p:nvSpPr>
          <p:cNvPr id="27" name="Shape 25"/>
          <p:cNvSpPr/>
          <p:nvPr/>
        </p:nvSpPr>
        <p:spPr>
          <a:xfrm>
            <a:off x="3035808" y="3721608"/>
            <a:ext cx="164592" cy="219456"/>
          </a:xfrm>
          <a:prstGeom prst="chevron">
            <a:avLst/>
          </a:prstGeom>
          <a:solidFill>
            <a:srgbClr val="E8A87C"/>
          </a:solidFill>
          <a:ln/>
        </p:spPr>
      </p:sp>
      <p:sp>
        <p:nvSpPr>
          <p:cNvPr id="28" name="Shape 26"/>
          <p:cNvSpPr/>
          <p:nvPr/>
        </p:nvSpPr>
        <p:spPr>
          <a:xfrm>
            <a:off x="3255264" y="3044952"/>
            <a:ext cx="2633472" cy="1572768"/>
          </a:xfrm>
          <a:prstGeom prst="roundRect">
            <a:avLst>
              <a:gd name="adj" fmla="val 3488"/>
            </a:avLst>
          </a:prstGeom>
          <a:solidFill>
            <a:srgbClr val="CADCFC"/>
          </a:solidFill>
          <a:ln w="10160">
            <a:solidFill>
              <a:srgbClr val="1E2761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3364992" y="3163824"/>
            <a:ext cx="320040" cy="32004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30" name="Text 28"/>
          <p:cNvSpPr/>
          <p:nvPr/>
        </p:nvSpPr>
        <p:spPr>
          <a:xfrm>
            <a:off x="3364992" y="3214116"/>
            <a:ext cx="3200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900" dirty="0"/>
          </a:p>
        </p:txBody>
      </p:sp>
      <p:sp>
        <p:nvSpPr>
          <p:cNvPr id="31" name="Text 29"/>
          <p:cNvSpPr/>
          <p:nvPr/>
        </p:nvSpPr>
        <p:spPr>
          <a:xfrm>
            <a:off x="3785616" y="3163824"/>
            <a:ext cx="197510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 · Evaluate</a:t>
            </a:r>
            <a:endParaRPr lang="en-US" sz="1500" dirty="0"/>
          </a:p>
        </p:txBody>
      </p:sp>
      <p:sp>
        <p:nvSpPr>
          <p:cNvPr id="32" name="Text 30"/>
          <p:cNvSpPr/>
          <p:nvPr/>
        </p:nvSpPr>
        <p:spPr>
          <a:xfrm>
            <a:off x="3401568" y="3547872"/>
            <a:ext cx="2340864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Exact local checks plus selected Foundry evaluators</a:t>
            </a:r>
            <a:endParaRPr lang="en-US" sz="1150" dirty="0"/>
          </a:p>
        </p:txBody>
      </p:sp>
      <p:sp>
        <p:nvSpPr>
          <p:cNvPr id="33" name="Shape 31"/>
          <p:cNvSpPr/>
          <p:nvPr/>
        </p:nvSpPr>
        <p:spPr>
          <a:xfrm>
            <a:off x="365760" y="4773168"/>
            <a:ext cx="8412480" cy="0"/>
          </a:xfrm>
          <a:prstGeom prst="line">
            <a:avLst/>
          </a:prstGeom>
          <a:noFill/>
          <a:ln w="6350">
            <a:solidFill>
              <a:srgbClr val="D1D5DB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84048" y="4818888"/>
            <a:ext cx="8275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2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https://learn.microsoft.com/en-us/agent-framework/concepts/agents/conversations/session?tabs=python  ·  +2 in notes</a:t>
            </a:r>
            <a:endParaRPr lang="en-US" sz="82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0" y="256032"/>
            <a:ext cx="3337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· Module 9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365760" y="310896"/>
            <a:ext cx="65836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A + B: runtime foundation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365760" y="1078992"/>
            <a:ext cx="4114800" cy="3493008"/>
          </a:xfrm>
          <a:prstGeom prst="roundRect">
            <a:avLst/>
          </a:prstGeom>
          <a:solidFill>
            <a:srgbClr val="F3F4F6"/>
          </a:solidFill>
          <a:ln w="11430">
            <a:solidFill>
              <a:srgbClr val="D1D5DB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66928" y="1298448"/>
            <a:ext cx="371246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A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594360" y="1828800"/>
            <a:ext cx="3639312" cy="239572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Create and reuse AgentSession</a:t>
            </a:r>
            <a:endParaRPr lang="en-US" sz="1300" dirty="0"/>
          </a:p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Serialize and restore with to_dict/from_dict</a:t>
            </a:r>
            <a:endParaRPr lang="en-US" sz="1300" dirty="0"/>
          </a:p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Stream display updates</a:t>
            </a:r>
            <a:endParaRPr lang="en-US" sz="1300" dirty="0"/>
          </a:p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Finalize a typed TriageResult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663440" y="1078992"/>
            <a:ext cx="4114800" cy="3493008"/>
          </a:xfrm>
          <a:prstGeom prst="roundRect">
            <a:avLst/>
          </a:prstGeom>
          <a:solidFill>
            <a:srgbClr val="CADCFC"/>
          </a:solidFill>
          <a:ln w="11430">
            <a:solidFill>
              <a:srgbClr val="1E2761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864608" y="1298448"/>
            <a:ext cx="371246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B</a:t>
            </a:r>
            <a:endParaRPr lang="en-US" sz="2000" dirty="0"/>
          </a:p>
        </p:txBody>
      </p:sp>
      <p:sp>
        <p:nvSpPr>
          <p:cNvPr id="10" name="Text 8"/>
          <p:cNvSpPr/>
          <p:nvPr/>
        </p:nvSpPr>
        <p:spPr>
          <a:xfrm>
            <a:off x="4892040" y="1828800"/>
            <a:ext cx="3639312" cy="239572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 logging/timing middleware</a:t>
            </a:r>
            <a:endParaRPr lang="en-US" sz="1300" dirty="0"/>
          </a:p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Short-circuit one blocked request</a:t>
            </a:r>
            <a:endParaRPr lang="en-US" sz="1300" dirty="0"/>
          </a:p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Handle a classified exception</a:t>
            </a:r>
            <a:endParaRPr lang="en-US" sz="1300" dirty="0"/>
          </a:p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Demonstrate a bounded retry policy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4773168"/>
            <a:ext cx="8412480" cy="0"/>
          </a:xfrm>
          <a:prstGeom prst="line">
            <a:avLst/>
          </a:prstGeom>
          <a:noFill/>
          <a:ln w="6350">
            <a:solidFill>
              <a:srgbClr val="D1D5DB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84048" y="4818888"/>
            <a:ext cx="8275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2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https://learn.microsoft.com/en-us/agent-framework/concepts/agents/conversations/session?tabs=python  ·  +2 in notes</a:t>
            </a:r>
            <a:endParaRPr lang="en-US" sz="82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0" y="256032"/>
            <a:ext cx="3337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· Module 9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365760" y="310896"/>
            <a:ext cx="65836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C + D: read before write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365760" y="1078992"/>
            <a:ext cx="4114800" cy="3493008"/>
          </a:xfrm>
          <a:prstGeom prst="roundRect">
            <a:avLst/>
          </a:prstGeom>
          <a:solidFill>
            <a:srgbClr val="F3F4F6"/>
          </a:solidFill>
          <a:ln w="11430">
            <a:solidFill>
              <a:srgbClr val="D1D5DB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66928" y="1298448"/>
            <a:ext cx="371246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C · Read-only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594360" y="1828800"/>
            <a:ext cx="3639312" cy="239572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X-MCP-Toolsets: wit</a:t>
            </a:r>
            <a:endParaRPr lang="en-US" sz="1300" dirty="0"/>
          </a:p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X-MCP-Readonly: true</a:t>
            </a:r>
            <a:endParaRPr lang="en-US" sz="1300" dirty="0"/>
          </a:p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wit_work_item with get or my</a:t>
            </a:r>
            <a:endParaRPr lang="en-US" sz="1300" dirty="0"/>
          </a:p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Verify result against the workshop project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663440" y="1078992"/>
            <a:ext cx="4114800" cy="3493008"/>
          </a:xfrm>
          <a:prstGeom prst="roundRect">
            <a:avLst/>
          </a:prstGeom>
          <a:solidFill>
            <a:srgbClr val="CADCFC"/>
          </a:solidFill>
          <a:ln w="11430">
            <a:solidFill>
              <a:srgbClr val="1E2761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864608" y="1298448"/>
            <a:ext cx="371246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D · Approved write</a:t>
            </a:r>
            <a:endParaRPr lang="en-US" sz="2000" dirty="0"/>
          </a:p>
        </p:txBody>
      </p:sp>
      <p:sp>
        <p:nvSpPr>
          <p:cNvPr id="10" name="Text 8"/>
          <p:cNvSpPr/>
          <p:nvPr/>
        </p:nvSpPr>
        <p:spPr>
          <a:xfrm>
            <a:off x="4892040" y="1828800"/>
            <a:ext cx="3639312" cy="239572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Allow wit_work_item_write</a:t>
            </a:r>
            <a:endParaRPr lang="en-US" sz="1300" dirty="0"/>
          </a:p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create or update</a:t>
            </a:r>
            <a:endParaRPr lang="en-US" sz="1300" dirty="0"/>
          </a:p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Show exact arguments before approval</a:t>
            </a:r>
            <a:endParaRPr lang="en-US" sz="1300" dirty="0"/>
          </a:p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again to verify the mutation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4773168"/>
            <a:ext cx="8412480" cy="0"/>
          </a:xfrm>
          <a:prstGeom prst="line">
            <a:avLst/>
          </a:prstGeom>
          <a:noFill/>
          <a:ln w="6350">
            <a:solidFill>
              <a:srgbClr val="D1D5DB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84048" y="4818888"/>
            <a:ext cx="8275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2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https://learn.microsoft.com/en-us/azure/devops/mcp-server/remote-mcp-server?view=azure-devops  ·  +1 in notes</a:t>
            </a:r>
            <a:endParaRPr lang="en-US" sz="82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0" y="256032"/>
            <a:ext cx="3337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· Module 9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365760" y="310896"/>
            <a:ext cx="65836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E: evaluate the tool contract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365760" y="1216152"/>
            <a:ext cx="2633472" cy="1572768"/>
          </a:xfrm>
          <a:prstGeom prst="roundRect">
            <a:avLst>
              <a:gd name="adj" fmla="val 3488"/>
            </a:avLst>
          </a:prstGeom>
          <a:solidFill>
            <a:srgbClr val="CADCFC"/>
          </a:solidFill>
          <a:ln w="10160">
            <a:solidFill>
              <a:srgbClr val="1E2761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75488" y="1335024"/>
            <a:ext cx="320040" cy="32004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7" name="Text 5"/>
          <p:cNvSpPr/>
          <p:nvPr/>
        </p:nvSpPr>
        <p:spPr>
          <a:xfrm>
            <a:off x="475488" y="1385316"/>
            <a:ext cx="3200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896112" y="1335024"/>
            <a:ext cx="197510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Golden cases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512064" y="1719072"/>
            <a:ext cx="2340864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Read, approved write, rejected write, and no-tool request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3035808" y="1892808"/>
            <a:ext cx="164592" cy="219456"/>
          </a:xfrm>
          <a:prstGeom prst="chevron">
            <a:avLst/>
          </a:prstGeom>
          <a:solidFill>
            <a:srgbClr val="E8A87C"/>
          </a:solidFill>
          <a:ln/>
        </p:spPr>
      </p:sp>
      <p:sp>
        <p:nvSpPr>
          <p:cNvPr id="11" name="Shape 9"/>
          <p:cNvSpPr/>
          <p:nvPr/>
        </p:nvSpPr>
        <p:spPr>
          <a:xfrm>
            <a:off x="3255264" y="1216152"/>
            <a:ext cx="2633472" cy="1572768"/>
          </a:xfrm>
          <a:prstGeom prst="roundRect">
            <a:avLst>
              <a:gd name="adj" fmla="val 3488"/>
            </a:avLst>
          </a:prstGeom>
          <a:solidFill>
            <a:srgbClr val="F3F4F6"/>
          </a:solidFill>
          <a:ln w="10160">
            <a:solidFill>
              <a:srgbClr val="D1D5DB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3364992" y="1335024"/>
            <a:ext cx="320040" cy="32004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13" name="Text 11"/>
          <p:cNvSpPr/>
          <p:nvPr/>
        </p:nvSpPr>
        <p:spPr>
          <a:xfrm>
            <a:off x="3364992" y="1385316"/>
            <a:ext cx="3200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3785616" y="1335024"/>
            <a:ext cx="197510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Expected calls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3401568" y="1719072"/>
            <a:ext cx="2340864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Tool name plus action and key arguments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5925312" y="1892808"/>
            <a:ext cx="164592" cy="219456"/>
          </a:xfrm>
          <a:prstGeom prst="chevron">
            <a:avLst/>
          </a:prstGeom>
          <a:solidFill>
            <a:srgbClr val="E8A87C"/>
          </a:solidFill>
          <a:ln/>
        </p:spPr>
      </p:sp>
      <p:sp>
        <p:nvSpPr>
          <p:cNvPr id="17" name="Shape 15"/>
          <p:cNvSpPr/>
          <p:nvPr/>
        </p:nvSpPr>
        <p:spPr>
          <a:xfrm>
            <a:off x="6144768" y="1216152"/>
            <a:ext cx="2633472" cy="1572768"/>
          </a:xfrm>
          <a:prstGeom prst="roundRect">
            <a:avLst>
              <a:gd name="adj" fmla="val 3488"/>
            </a:avLst>
          </a:prstGeom>
          <a:solidFill>
            <a:srgbClr val="F3F4F6"/>
          </a:solidFill>
          <a:ln w="10160">
            <a:solidFill>
              <a:srgbClr val="D1D5DB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6254496" y="1335024"/>
            <a:ext cx="320040" cy="32004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19" name="Text 17"/>
          <p:cNvSpPr/>
          <p:nvPr/>
        </p:nvSpPr>
        <p:spPr>
          <a:xfrm>
            <a:off x="6254496" y="1385316"/>
            <a:ext cx="3200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6675120" y="1335024"/>
            <a:ext cx="197510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Local checks</a:t>
            </a:r>
            <a:endParaRPr lang="en-US" sz="1500" dirty="0"/>
          </a:p>
        </p:txBody>
      </p:sp>
      <p:sp>
        <p:nvSpPr>
          <p:cNvPr id="21" name="Text 19"/>
          <p:cNvSpPr/>
          <p:nvPr/>
        </p:nvSpPr>
        <p:spPr>
          <a:xfrm>
            <a:off x="6291072" y="1719072"/>
            <a:ext cx="2340864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Presence and argument subset match</a:t>
            </a:r>
            <a:endParaRPr lang="en-US" sz="1150" dirty="0"/>
          </a:p>
        </p:txBody>
      </p:sp>
      <p:sp>
        <p:nvSpPr>
          <p:cNvPr id="22" name="Shape 20"/>
          <p:cNvSpPr/>
          <p:nvPr/>
        </p:nvSpPr>
        <p:spPr>
          <a:xfrm>
            <a:off x="365760" y="3044952"/>
            <a:ext cx="2633472" cy="1572768"/>
          </a:xfrm>
          <a:prstGeom prst="roundRect">
            <a:avLst>
              <a:gd name="adj" fmla="val 3488"/>
            </a:avLst>
          </a:prstGeom>
          <a:solidFill>
            <a:srgbClr val="F3F4F6"/>
          </a:solidFill>
          <a:ln w="10160">
            <a:solidFill>
              <a:srgbClr val="D1D5DB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475488" y="3163824"/>
            <a:ext cx="320040" cy="32004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24" name="Text 22"/>
          <p:cNvSpPr/>
          <p:nvPr/>
        </p:nvSpPr>
        <p:spPr>
          <a:xfrm>
            <a:off x="475488" y="3214116"/>
            <a:ext cx="3200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896112" y="3163824"/>
            <a:ext cx="197510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Repetitions</a:t>
            </a:r>
            <a:endParaRPr lang="en-US" sz="1500" dirty="0"/>
          </a:p>
        </p:txBody>
      </p:sp>
      <p:sp>
        <p:nvSpPr>
          <p:cNvPr id="26" name="Text 24"/>
          <p:cNvSpPr/>
          <p:nvPr/>
        </p:nvSpPr>
        <p:spPr>
          <a:xfrm>
            <a:off x="512064" y="3547872"/>
            <a:ext cx="2340864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Observe consistency across independent runs</a:t>
            </a:r>
            <a:endParaRPr lang="en-US" sz="1150" dirty="0"/>
          </a:p>
        </p:txBody>
      </p:sp>
      <p:sp>
        <p:nvSpPr>
          <p:cNvPr id="27" name="Shape 25"/>
          <p:cNvSpPr/>
          <p:nvPr/>
        </p:nvSpPr>
        <p:spPr>
          <a:xfrm>
            <a:off x="3035808" y="3721608"/>
            <a:ext cx="164592" cy="219456"/>
          </a:xfrm>
          <a:prstGeom prst="chevron">
            <a:avLst/>
          </a:prstGeom>
          <a:solidFill>
            <a:srgbClr val="E8A87C"/>
          </a:solidFill>
          <a:ln/>
        </p:spPr>
      </p:sp>
      <p:sp>
        <p:nvSpPr>
          <p:cNvPr id="28" name="Shape 26"/>
          <p:cNvSpPr/>
          <p:nvPr/>
        </p:nvSpPr>
        <p:spPr>
          <a:xfrm>
            <a:off x="3255264" y="3044952"/>
            <a:ext cx="2633472" cy="1572768"/>
          </a:xfrm>
          <a:prstGeom prst="roundRect">
            <a:avLst>
              <a:gd name="adj" fmla="val 3488"/>
            </a:avLst>
          </a:prstGeom>
          <a:solidFill>
            <a:srgbClr val="CADCFC"/>
          </a:solidFill>
          <a:ln w="10160">
            <a:solidFill>
              <a:srgbClr val="1E2761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3364992" y="3163824"/>
            <a:ext cx="320040" cy="32004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30" name="Text 28"/>
          <p:cNvSpPr/>
          <p:nvPr/>
        </p:nvSpPr>
        <p:spPr>
          <a:xfrm>
            <a:off x="3364992" y="3214116"/>
            <a:ext cx="3200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900" dirty="0"/>
          </a:p>
        </p:txBody>
      </p:sp>
      <p:sp>
        <p:nvSpPr>
          <p:cNvPr id="31" name="Text 29"/>
          <p:cNvSpPr/>
          <p:nvPr/>
        </p:nvSpPr>
        <p:spPr>
          <a:xfrm>
            <a:off x="3785616" y="3163824"/>
            <a:ext cx="197510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FoundryEvals</a:t>
            </a:r>
            <a:endParaRPr lang="en-US" sz="1500" dirty="0"/>
          </a:p>
        </p:txBody>
      </p:sp>
      <p:sp>
        <p:nvSpPr>
          <p:cNvPr id="32" name="Text 30"/>
          <p:cNvSpPr/>
          <p:nvPr/>
        </p:nvSpPr>
        <p:spPr>
          <a:xfrm>
            <a:off x="3401568" y="3547872"/>
            <a:ext cx="2340864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 tool selection/input accuracy where available</a:t>
            </a:r>
            <a:endParaRPr lang="en-US" sz="1150" dirty="0"/>
          </a:p>
        </p:txBody>
      </p:sp>
      <p:sp>
        <p:nvSpPr>
          <p:cNvPr id="33" name="Shape 31"/>
          <p:cNvSpPr/>
          <p:nvPr/>
        </p:nvSpPr>
        <p:spPr>
          <a:xfrm>
            <a:off x="365760" y="4773168"/>
            <a:ext cx="8412480" cy="0"/>
          </a:xfrm>
          <a:prstGeom prst="line">
            <a:avLst/>
          </a:prstGeom>
          <a:noFill/>
          <a:ln w="6350">
            <a:solidFill>
              <a:srgbClr val="D1D5DB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84048" y="4818888"/>
            <a:ext cx="8275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2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https://learn.microsoft.com/en-us/agent-framework/agents/evaluation?tabs=python</a:t>
            </a:r>
            <a:endParaRPr lang="en-US" sz="82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0" y="256032"/>
            <a:ext cx="3337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· Module 9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365760" y="310896"/>
            <a:ext cx="65836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Prerequisites for the future lab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365760" y="1078992"/>
            <a:ext cx="2670048" cy="1655064"/>
          </a:xfrm>
          <a:prstGeom prst="roundRect">
            <a:avLst>
              <a:gd name="adj" fmla="val 3315"/>
            </a:avLst>
          </a:prstGeom>
          <a:solidFill>
            <a:srgbClr val="CADCFC"/>
          </a:solidFill>
          <a:ln w="10160">
            <a:solidFill>
              <a:srgbClr val="1E2761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12064" y="1197864"/>
            <a:ext cx="23774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baseline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512064" y="1581912"/>
            <a:ext cx="2377440" cy="10332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Working docs assistant and FoundryChatClient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3236976" y="1078992"/>
            <a:ext cx="2670048" cy="1655064"/>
          </a:xfrm>
          <a:prstGeom prst="roundRect">
            <a:avLst>
              <a:gd name="adj" fmla="val 3315"/>
            </a:avLst>
          </a:prstGeom>
          <a:solidFill>
            <a:srgbClr val="F3F4F6"/>
          </a:solidFill>
          <a:ln w="10160">
            <a:solidFill>
              <a:srgbClr val="D1D5DB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3383280" y="1197864"/>
            <a:ext cx="23774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Azure DevOps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3383280" y="1581912"/>
            <a:ext cx="2377440" cy="10332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Entra-backed Services org plus dedicated workshop project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6108192" y="1078992"/>
            <a:ext cx="2670048" cy="1655064"/>
          </a:xfrm>
          <a:prstGeom prst="roundRect">
            <a:avLst>
              <a:gd name="adj" fmla="val 3315"/>
            </a:avLst>
          </a:prstGeom>
          <a:solidFill>
            <a:srgbClr val="F3F4F6"/>
          </a:solidFill>
          <a:ln w="10160">
            <a:solidFill>
              <a:srgbClr val="D1D5DB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254496" y="1197864"/>
            <a:ext cx="23774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Permissions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6254496" y="1581912"/>
            <a:ext cx="2377440" cy="10332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access first; separately approved write access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365760" y="2935224"/>
            <a:ext cx="2670048" cy="1655064"/>
          </a:xfrm>
          <a:prstGeom prst="roundRect">
            <a:avLst>
              <a:gd name="adj" fmla="val 3315"/>
            </a:avLst>
          </a:prstGeom>
          <a:solidFill>
            <a:srgbClr val="F3F4F6"/>
          </a:solidFill>
          <a:ln w="10160">
            <a:solidFill>
              <a:srgbClr val="D1D5DB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512064" y="3054096"/>
            <a:ext cx="23774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Foundry evals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512064" y="3438144"/>
            <a:ext cx="2377440" cy="10332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Project client and judge model deployment</a:t>
            </a:r>
            <a:endParaRPr lang="en-US" sz="1150" dirty="0"/>
          </a:p>
        </p:txBody>
      </p:sp>
      <p:sp>
        <p:nvSpPr>
          <p:cNvPr id="17" name="Shape 15"/>
          <p:cNvSpPr/>
          <p:nvPr/>
        </p:nvSpPr>
        <p:spPr>
          <a:xfrm>
            <a:off x="3236976" y="2935224"/>
            <a:ext cx="2670048" cy="1655064"/>
          </a:xfrm>
          <a:prstGeom prst="roundRect">
            <a:avLst>
              <a:gd name="adj" fmla="val 3315"/>
            </a:avLst>
          </a:prstGeom>
          <a:solidFill>
            <a:srgbClr val="F3F4F6"/>
          </a:solidFill>
          <a:ln w="10160">
            <a:solidFill>
              <a:srgbClr val="D1D5DB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383280" y="3054096"/>
            <a:ext cx="23774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Fixtures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3383280" y="3438144"/>
            <a:ext cx="2377440" cy="10332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Known work item IDs and a reset/cleanup plan</a:t>
            </a:r>
            <a:endParaRPr lang="en-US" sz="1150" dirty="0"/>
          </a:p>
        </p:txBody>
      </p:sp>
      <p:sp>
        <p:nvSpPr>
          <p:cNvPr id="20" name="Shape 18"/>
          <p:cNvSpPr/>
          <p:nvPr/>
        </p:nvSpPr>
        <p:spPr>
          <a:xfrm>
            <a:off x="365760" y="4773168"/>
            <a:ext cx="8412480" cy="0"/>
          </a:xfrm>
          <a:prstGeom prst="line">
            <a:avLst/>
          </a:prstGeom>
          <a:noFill/>
          <a:ln w="6350">
            <a:solidFill>
              <a:srgbClr val="D1D5DB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384048" y="4818888"/>
            <a:ext cx="8275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2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https://learn.microsoft.com/en-us/azure/devops/mcp-server/remote-mcp-server?view=azure-devops  ·  +1 in notes</a:t>
            </a:r>
            <a:endParaRPr lang="en-US" sz="82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0" y="256032"/>
            <a:ext cx="3337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· Module 9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365760" y="310896"/>
            <a:ext cx="65836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Definition of done and guardrails</a:t>
            </a:r>
            <a:endParaRPr lang="en-US" sz="28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1078992"/>
          <a:ext cx="8412480" cy="914400"/>
        </p:xfrm>
        <a:graphic>
          <a:graphicData uri="http://schemas.openxmlformats.org/drawingml/2006/table">
            <a:tbl>
              <a:tblPr/>
              <a:tblGrid>
                <a:gridCol w="2804160"/>
                <a:gridCol w="2804160"/>
                <a:gridCol w="2804160"/>
              </a:tblGrid>
              <a:tr h="5867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Area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Done when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Guardrail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5867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Session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Restored turn retains intended state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Ownership mapping verified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867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Structured stream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UI updates, final typed value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 partial JSON actions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</a:tr>
              <a:tr h="5867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Middleware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Guard and failure path are observable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Retry is bounded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867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ADO MCP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Read succeeds; write requires approval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Dedicated project only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</a:tr>
              <a:tr h="5867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Evaluation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Expected tool/action/args are reported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 universal pass threshold claimed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365760" y="4773168"/>
            <a:ext cx="8412480" cy="0"/>
          </a:xfrm>
          <a:prstGeom prst="line">
            <a:avLst/>
          </a:prstGeom>
          <a:noFill/>
          <a:ln w="6350">
            <a:solidFill>
              <a:srgbClr val="D1D5DB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384048" y="4818888"/>
            <a:ext cx="8275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2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https://learn.microsoft.com/en-us/agent-framework/agents/evaluation?tabs=python  ·  +1 in notes</a:t>
            </a:r>
            <a:endParaRPr lang="en-US" sz="82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0" y="256032"/>
            <a:ext cx="3337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· Module 9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365760" y="310896"/>
            <a:ext cx="65836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Takeaways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502920" y="1097280"/>
            <a:ext cx="8138160" cy="585216"/>
          </a:xfrm>
          <a:prstGeom prst="roundRect">
            <a:avLst/>
          </a:prstGeom>
          <a:solidFill>
            <a:srgbClr val="F3F4F6"/>
          </a:solidFill>
          <a:ln w="6350">
            <a:solidFill>
              <a:srgbClr val="D1D5DB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67512" y="1225296"/>
            <a:ext cx="256032" cy="256032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" y="1252728"/>
            <a:ext cx="256032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2416" y="1207008"/>
            <a:ext cx="73152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build read-only behavior before approved writes.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502920" y="1755648"/>
            <a:ext cx="8138160" cy="585216"/>
          </a:xfrm>
          <a:prstGeom prst="roundRect">
            <a:avLst/>
          </a:prstGeom>
          <a:solidFill>
            <a:srgbClr val="F3F4F6"/>
          </a:solidFill>
          <a:ln w="6350">
            <a:solidFill>
              <a:srgbClr val="D1D5DB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67512" y="1883664"/>
            <a:ext cx="256032" cy="256032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11" name="Text 9"/>
          <p:cNvSpPr/>
          <p:nvPr/>
        </p:nvSpPr>
        <p:spPr>
          <a:xfrm>
            <a:off x="667512" y="1911096"/>
            <a:ext cx="256032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1042416" y="1865376"/>
            <a:ext cx="73152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treat the lab sequence as a proposed structure, not a completed lab.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502920" y="2414016"/>
            <a:ext cx="8138160" cy="585216"/>
          </a:xfrm>
          <a:prstGeom prst="roundRect">
            <a:avLst/>
          </a:prstGeom>
          <a:solidFill>
            <a:srgbClr val="F3F4F6"/>
          </a:solidFill>
          <a:ln w="6350">
            <a:solidFill>
              <a:srgbClr val="D1D5DB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67512" y="2542032"/>
            <a:ext cx="256032" cy="256032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15" name="Text 13"/>
          <p:cNvSpPr/>
          <p:nvPr/>
        </p:nvSpPr>
        <p:spPr>
          <a:xfrm>
            <a:off x="667512" y="2569464"/>
            <a:ext cx="256032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1042416" y="2523744"/>
            <a:ext cx="73152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compose Day 3's primitives across five stages: state and response, robustness, read, write, and evaluation.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502920" y="3072384"/>
            <a:ext cx="8138160" cy="585216"/>
          </a:xfrm>
          <a:prstGeom prst="roundRect">
            <a:avLst/>
          </a:prstGeom>
          <a:solidFill>
            <a:srgbClr val="F3F4F6"/>
          </a:solidFill>
          <a:ln w="6350">
            <a:solidFill>
              <a:srgbClr val="D1D5DB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667512" y="3200400"/>
            <a:ext cx="256032" cy="256032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19" name="Text 17"/>
          <p:cNvSpPr/>
          <p:nvPr/>
        </p:nvSpPr>
        <p:spPr>
          <a:xfrm>
            <a:off x="667512" y="3227832"/>
            <a:ext cx="256032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1042416" y="3182112"/>
            <a:ext cx="73152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confirm prerequisites — a dedicated Azure DevOps project, a Foundry evaluation project, and known work-item fixtures — before this proposed lab can be scaffolded.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365760" y="4773168"/>
            <a:ext cx="8412480" cy="0"/>
          </a:xfrm>
          <a:prstGeom prst="line">
            <a:avLst/>
          </a:prstGeom>
          <a:noFill/>
          <a:ln w="6350">
            <a:solidFill>
              <a:srgbClr val="D1D5DB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384048" y="4818888"/>
            <a:ext cx="8275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2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https://learn.microsoft.com/en-us/agent-framework/agents/evaluation?tabs=python  ·  +1 in notes</a:t>
            </a:r>
            <a:endParaRPr lang="en-US" sz="82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</vt:vector>
  </TitlesOfParts>
  <Company>Building AI Apps and Agents Workshop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Day 3 Lab Kickoff</dc:title>
  <dc:subject>Day 3 — Single-Agent Runtime + MCP</dc:subject>
  <dc:creator>Building AI Apps and Agents Workshop</dc:creator>
  <cp:lastModifiedBy>Building AI Apps and Agents Workshop</cp:lastModifiedBy>
  <cp:revision>1</cp:revision>
  <dcterms:created xsi:type="dcterms:W3CDTF">2026-08-29T22:37:37Z</dcterms:created>
  <dcterms:modified xsi:type="dcterms:W3CDTF">2026-08-29T22:37:37Z</dcterms:modified>
</cp:coreProperties>
</file>