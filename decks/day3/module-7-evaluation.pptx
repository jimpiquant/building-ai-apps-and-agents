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module covers the two Agent Framework evaluation providers — LocalEvaluator and FoundryEvals — then how to apply them to check exact tool use.
• GROUNDING SOURCE: https://learn.microsoft.com/en-us/agent-framework/agents/evaluation?pivots=programming-language-python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Local checks are fast and deterministic. FoundryEvals uses the Foundry evaluation service and requires a project plus judge model deployment. A single run can include both providers and returns separate results.
• GROUNDING SOURCE: https://learn.microsoft.com/en-us/agent-framework/agents/evaluation?pivots=programming-language-python
• GROUNDING SOURCE: https://learn.microsoft.com/en-us/agent-framework/integrations/by-component/evaluation/microsoft-foundry?tabs=python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This is the framework's built-in LocalEvaluator check table, reproduced verbatim from the Local evaluators section. The next slide's Azure DevOps example uses tool_calls_present and tool_call_args_match; keyword_check and tool_called_check are shown here for completeness.
• GROUNDING SOURCE: https://learn.microsoft.com/en-us/agent-framework/agents/evaluation?pivots=programming-language-python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tool_calls_present checks expected names. tool_call_args_match checks name and argument subset. The exact Azure DevOps consolidated tool name and action belong in the ground truth.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Placeholder marker slide — the runbook has full narration, setup, and fallback plan. Runs evaluate_with_expected.py as-is, with one seeded query the agent is known to mis-tool on.
• GROUNDING SOURCE: https://github.com/microsoft/agent-framework/blob/main/python/samples/02-agents/evaluation/evaluate_with_expected.py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The @evaluator decorator wraps any function as an evaluator check. The function's parameter names determine what data it receives from the EvalItem — supported names are query, response, expected_output, expected_tool_calls, conversation, tools, and context. Return bool, float (&gt;= 0.5 passes), a dict with a score or passed key, or CheckResult; async functions are handled automatically.
• GROUNDING SOURCE: https://learn.microsoft.com/en-us/agent-framework/agents/evaluation?pivots=programming-language-python#custom-function-evaluators-1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Highlight relevant categories rather than all available evaluators. FoundryEvals automatically adds tool call accuracy when items contain tool definitions; explicit constants are also available.
• GROUNDING SOURCE: https://learn.microsoft.com/en-us/agent-framework/agents/evaluation?pivots=programming-language-python#microsoft-foundry-evaluators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Highlight relevant categories rather than all available evaluators. FoundryEvals automatically adds tool call accuracy when items contain tool definitions; explicit constants are also available.
• GROUNDING SOURCE: https://learn.microsoft.com/en-us/agent-framework/agents/evaluation?pivots=programming-language-python#available-evaluators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num_repetitions runs each query independently multiple times. Do not teach one universal pass percentage; choose acceptance criteria from risk, use case, sample size, and observed variance.
• GROUNDING SOURCE: https://learn.microsoft.com/en-us/agent-framework/agents/evaluation?tabs=python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Ask attendees whether repeated evaluation runs changed their confidence in a single pass/fail number. If time permits, continue to Module 8's optional harness comparison; otherwise proceed to Module 9's lab kickoff.
• GROUNDING SOURCE: https://learn.microsoft.com/en-us/agent-framework/agents/evaluation?pivots=programming-language-python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76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spc="400" kern="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 · 20 MIN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48640" y="1737360"/>
            <a:ext cx="804672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548640" y="301752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 fast local checks with cloud-based Foundry evaluators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Building AI Apps and Agents</a:t>
            </a:r>
            <a:endParaRPr lang="en-US" sz="1000" dirty="0"/>
          </a:p>
        </p:txBody>
      </p:sp>
      <p:sp>
        <p:nvSpPr>
          <p:cNvPr id="6" name="Shape 4"/>
          <p:cNvSpPr/>
          <p:nvPr/>
        </p:nvSpPr>
        <p:spPr>
          <a:xfrm>
            <a:off x="365760" y="4224528"/>
            <a:ext cx="8412480" cy="0"/>
          </a:xfrm>
          <a:prstGeom prst="line">
            <a:avLst/>
          </a:prstGeom>
          <a:noFill/>
          <a:ln w="6350">
            <a:solidFill>
              <a:srgbClr val="CADCF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84048" y="427024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3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checks and Foundry evaluators complement each other</a:t>
            </a:r>
            <a:endParaRPr lang="en-US" sz="23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4114800" cy="3493008"/>
          </a:xfrm>
          <a:prstGeom prst="roundRect">
            <a:avLst/>
          </a:prstGeom>
          <a:solidFill>
            <a:srgbClr val="F3F4F6"/>
          </a:solidFill>
          <a:ln w="11430">
            <a:solidFill>
              <a:srgbClr val="D1D5DB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Evaluators: LocalEvaluator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59436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evaluator API call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tool names and argument subsets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 inner loop and CI smoke tests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663440" y="1078992"/>
            <a:ext cx="4114800" cy="3493008"/>
          </a:xfrm>
          <a:prstGeom prst="roundRect">
            <a:avLst/>
          </a:prstGeom>
          <a:solidFill>
            <a:srgbClr val="CADCFC"/>
          </a:solidFill>
          <a:ln w="11430">
            <a:solidFill>
              <a:srgbClr val="1E2761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864608" y="1298448"/>
            <a:ext cx="371246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Microsoft Foundry Evalutators: FoundryEvals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4892040" y="1828800"/>
            <a:ext cx="3639312" cy="2395728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Cloud-based evaluation service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LLM-as-judge quality and agent behavior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Portal dashboards and comparisons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  ·  +1 in notes</a:t>
            </a:r>
            <a:endParaRPr lang="en-US" sz="8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evaluators: built-in checks</a:t>
            </a:r>
            <a:endParaRPr lang="en-US" sz="2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20624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does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keyword_check(*keywords)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must contain all specified keywords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tool_called_check(*tool_names)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must have called the specified tools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tool_calls_present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All expected_tool_calls names appear in the conversation (unordered, extras OK)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tool_call_args_match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Expected tool calls match on name and arguments (subset match on args)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tool name and arguments locally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3493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expected = ExpectedToolCall(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"wit_work_item"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{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"action"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"get"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 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"id"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: 42},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= LocalEvaluator(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tool_calls_present,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tool_call_args_match,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  <a:p>
            <a:pPr indent="0" marL="0">
              <a:buNone/>
            </a:pP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</a:t>
            </a:r>
            <a:pPr indent="0" marL="0">
              <a:buNone/>
            </a:pPr>
            <a:r>
              <a:rPr lang="en-US" sz="10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await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evaluate_agent(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agent=agent,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queries=[</a:t>
            </a:r>
            <a:pPr indent="0" marL="0">
              <a:buNone/>
            </a:pPr>
            <a:r>
              <a:rPr lang="en-US" sz="10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"Get work item 42."</a:t>
            </a:r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expected_tool_calls=[expected],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evaluators=local,</a:t>
            </a:r>
            <a:endParaRPr lang="en-US" sz="1080" dirty="0"/>
          </a:p>
          <a:p>
            <a:pPr indent="0" marL="0">
              <a:buNone/>
            </a:pPr>
            <a:r>
              <a:rPr lang="en-US" sz="10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08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CADC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4630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0" y="27432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 · Demo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548640" y="1051560"/>
            <a:ext cx="5486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spc="800" kern="0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169164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evaluate_agent catches a wrong tool call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6583680" y="1051560"/>
            <a:ext cx="2194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min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48640" y="2788920"/>
            <a:ext cx="8046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the previous slide's exact evaluate_agent call against a seeded query the agent picks the wrong tool for: tool_calls_present/tool_call_args_match fail the check and print exactly which expectation didn't match — evaluation catching a real regression, not a synthetic pass.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Runbook: demos/day3/module-7-demo-1-eval-catches-wrong-tool.md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https://github.com/microsoft/agent-framework/blob/main/python/samples/02-agents/evaluation/evaluate_with_expected.py</a:t>
            </a:r>
            <a:endParaRPr lang="en-US" sz="82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evaluators wrap any function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3493008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33101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evaluator, LocalEvaluator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@evaluator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is_concise(response: str) -&gt; bool: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"""Check response is under 500 words."""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len(response.split()) &lt; 500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@evaluator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mentions_city(response: str, expected_output: str) -&gt; bool: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"""Check response contains the expected city name."""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expected_output.lower()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response.lower()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@evaluator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used_tools(conversation: list, tools: list) -&gt; float: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"""Score based on tool usage. Returns 0.0–1.0 (&gt;= 0.5 passes)."""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tool_calls = [c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conversation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(m.contents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or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[])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if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c.type == </a:t>
            </a:r>
            <a:pPr indent="0" marL="0">
              <a:buNone/>
            </a:pPr>
            <a:r>
              <a:rPr lang="en-US" sz="95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"function_call"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]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</a:t>
            </a:r>
            <a:pPr indent="0" marL="0">
              <a:buNone/>
            </a:pPr>
            <a:r>
              <a:rPr lang="en-US" sz="95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return</a:t>
            </a:r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min(len(tool_calls) / max(len(tools), 1), 1.0)</a:t>
            </a:r>
            <a:endParaRPr lang="en-US" sz="950" dirty="0"/>
          </a:p>
          <a:p>
            <a:pPr indent="0" marL="0">
              <a:buNone/>
            </a:pP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local = LocalEvaluator(is_concise, mentions_city, used_tools)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https://learn.microsoft.com/en-us/agent-framework/agents/evaluation?pivots=programming-language-python#custom-function-evaluators-1</a:t>
            </a:r>
            <a:endParaRPr lang="en-US" sz="8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 evaluators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365760" y="1115568"/>
            <a:ext cx="8412480" cy="1929384"/>
          </a:xfrm>
          <a:prstGeom prst="rect">
            <a:avLst/>
          </a:prstGeom>
          <a:solidFill>
            <a:srgbClr val="1D1E22"/>
          </a:solidFill>
          <a:ln w="9525">
            <a:solidFill>
              <a:srgbClr val="2A2B2E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1207008"/>
            <a:ext cx="813816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agent_framework.foundry </a:t>
            </a:r>
            <a:pPr indent="0" marL="0">
              <a:buNone/>
            </a:pPr>
            <a:r>
              <a:rPr lang="en-US" sz="1280" dirty="0">
                <a:solidFill>
                  <a:srgbClr val="A996B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import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FoundryEvals</a:t>
            </a:r>
            <a:endParaRPr lang="en-US" sz="1280" dirty="0"/>
          </a:p>
          <a:p>
            <a:pPr indent="0" marL="0">
              <a:buNone/>
            </a:pP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evals = FoundryEvals(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project_client=project_client,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model=</a:t>
            </a:r>
            <a:pPr indent="0" marL="0">
              <a:buNone/>
            </a:pPr>
            <a:r>
              <a:rPr lang="en-US" sz="1280" dirty="0">
                <a:solidFill>
                  <a:srgbClr val="E4C98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"gpt-4o"</a:t>
            </a:r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evaluators=[FoundryEvals.RELEVANCE, FoundryEvals.COHERENCE],</a:t>
            </a:r>
            <a:endParaRPr lang="en-US" sz="1280" dirty="0"/>
          </a:p>
          <a:p>
            <a:pPr indent="0" marL="0">
              <a:buNone/>
            </a:pPr>
            <a:r>
              <a:rPr lang="en-US" sz="128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</a:t>
            </a:r>
            <a:endParaRPr lang="en-US" sz="1280" dirty="0"/>
          </a:p>
        </p:txBody>
      </p:sp>
      <p:sp>
        <p:nvSpPr>
          <p:cNvPr id="7" name="Text 5"/>
          <p:cNvSpPr/>
          <p:nvPr/>
        </p:nvSpPr>
        <p:spPr>
          <a:xfrm>
            <a:off x="365760" y="4131818"/>
            <a:ext cx="8412480" cy="57734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spcAft>
                <a:spcPts val="800"/>
              </a:spcAft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 connects to Microsoft Foundry's evaluation service for cloud-based LLM-as-judge evaluation. Results are viewable in the Foundry portal with dashboards and comparison views.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https://learn.microsoft.com/en-us/agent-framework/agents/evaluation?pivots=programming-language-python#microsoft-foundry-evaluators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Available Foundry evaluators</a:t>
            </a:r>
            <a:endParaRPr lang="en-US" sz="28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78992"/>
          <a:ext cx="841248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420624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Evaluators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Agent behavior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intent_resolution, task_adherence, task_completion, task_navigation_efficiency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tool_call_accuracy, tool_selection, tool_input_accuracy, tool_output_utilization, tool_call_success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coherence, fluency, relevance, groundedness, response_completeness, similarity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Safety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21212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violence, sexual, self_harm, hate_unfairness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1D5DB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3F4F6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https://learn.microsoft.com/en-us/agent-framework/agents/evaluation?pivots=programming-language-python#available-evaluators</a:t>
            </a:r>
            <a:endParaRPr lang="en-US" sz="8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Repetitions to handle nondeterminism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365760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475488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896112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512064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num_repetitions for each query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2313432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1" name="Shape 9"/>
          <p:cNvSpPr/>
          <p:nvPr/>
        </p:nvSpPr>
        <p:spPr>
          <a:xfrm>
            <a:off x="2532888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642616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3" name="Text 11"/>
          <p:cNvSpPr/>
          <p:nvPr/>
        </p:nvSpPr>
        <p:spPr>
          <a:xfrm>
            <a:off x="2642616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063240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679192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Compare tool selection and arguments across runs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480560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17" name="Shape 15"/>
          <p:cNvSpPr/>
          <p:nvPr/>
        </p:nvSpPr>
        <p:spPr>
          <a:xfrm>
            <a:off x="4700016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F3F4F6"/>
          </a:solidFill>
          <a:ln w="1016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809744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4809744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5230368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Diagnose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4846320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descriptions, instructions, and context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647688" y="2180844"/>
            <a:ext cx="164592" cy="219456"/>
          </a:xfrm>
          <a:prstGeom prst="chevron">
            <a:avLst/>
          </a:prstGeom>
          <a:solidFill>
            <a:srgbClr val="E8A87C"/>
          </a:solidFill>
          <a:ln/>
        </p:spPr>
      </p:sp>
      <p:sp>
        <p:nvSpPr>
          <p:cNvPr id="23" name="Shape 21"/>
          <p:cNvSpPr/>
          <p:nvPr/>
        </p:nvSpPr>
        <p:spPr>
          <a:xfrm>
            <a:off x="6867144" y="1216152"/>
            <a:ext cx="1911096" cy="2148840"/>
          </a:xfrm>
          <a:prstGeom prst="roundRect">
            <a:avLst>
              <a:gd name="adj" fmla="val 2871"/>
            </a:avLst>
          </a:prstGeom>
          <a:solidFill>
            <a:srgbClr val="CADCFC"/>
          </a:solidFill>
          <a:ln w="10160">
            <a:solidFill>
              <a:srgbClr val="1E276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976872" y="1335024"/>
            <a:ext cx="320040" cy="320040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5" name="Text 23"/>
          <p:cNvSpPr/>
          <p:nvPr/>
        </p:nvSpPr>
        <p:spPr>
          <a:xfrm>
            <a:off x="6976872" y="1385316"/>
            <a:ext cx="32004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7397496" y="1335024"/>
            <a:ext cx="12527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5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criteria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013448" y="1719072"/>
            <a:ext cx="1618488" cy="15270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your scenario and risk, not an arbitrary universal threshold</a:t>
            </a:r>
            <a:endParaRPr lang="en-US" sz="1150" dirty="0"/>
          </a:p>
        </p:txBody>
      </p:sp>
      <p:sp>
        <p:nvSpPr>
          <p:cNvPr id="28" name="Shape 26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https://learn.microsoft.com/en-us/agent-framework/agents/evaluation?tabs=python</a:t>
            </a:r>
            <a:endParaRPr lang="en-US" sz="8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54864" cy="5143500"/>
          </a:xfrm>
          <a:prstGeom prst="rect">
            <a:avLst/>
          </a:prstGeom>
          <a:solidFill>
            <a:srgbClr val="1E276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0" y="256032"/>
            <a:ext cx="33375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r"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· Module 7</a:t>
            </a:r>
            <a:endParaRPr lang="en-US" sz="950" dirty="0"/>
          </a:p>
        </p:txBody>
      </p:sp>
      <p:sp>
        <p:nvSpPr>
          <p:cNvPr id="4" name="Text 2"/>
          <p:cNvSpPr/>
          <p:nvPr/>
        </p:nvSpPr>
        <p:spPr>
          <a:xfrm>
            <a:off x="365760" y="310896"/>
            <a:ext cx="658368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E276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Takeaways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02920" y="1097280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667512" y="1225296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" y="1252728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042416" y="1207008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choose between LocalEvaluator (fast, deterministic, no API call) and FoundryEvals (cloud-based, LLM-as-judge), or combine both in one evaluate_agent call.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55648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7512" y="1883664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" y="1911096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42416" y="1865376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the built-in local checks (keyword_check, tool_called_check, tool_calls_present, tool_call_args_match), or wrap your own function with the @evaluator decorator.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2414016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67512" y="2542032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5" name="Text 13"/>
          <p:cNvSpPr/>
          <p:nvPr/>
        </p:nvSpPr>
        <p:spPr>
          <a:xfrm>
            <a:off x="667512" y="2569464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042416" y="2523744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ExpectedToolCall with LocalEvaluator to check exact tool names and arguments, as in the Azure DevOps example.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02920" y="3072384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67512" y="3200400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19" name="Text 17"/>
          <p:cNvSpPr/>
          <p:nvPr/>
        </p:nvSpPr>
        <p:spPr>
          <a:xfrm>
            <a:off x="667512" y="3227832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042416" y="3182112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FoundryEvals covers four evaluator categories: Agent behavior, Tool usage, Quality, and Safety.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02920" y="3730752"/>
            <a:ext cx="8138160" cy="585216"/>
          </a:xfrm>
          <a:prstGeom prst="roundRect">
            <a:avLst/>
          </a:prstGeom>
          <a:solidFill>
            <a:srgbClr val="F3F4F6"/>
          </a:solidFill>
          <a:ln w="6350">
            <a:solidFill>
              <a:srgbClr val="D1D5D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667512" y="3858768"/>
            <a:ext cx="256032" cy="256032"/>
          </a:xfrm>
          <a:prstGeom prst="ellipse">
            <a:avLst/>
          </a:prstGeom>
          <a:solidFill>
            <a:srgbClr val="1E276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" y="3886200"/>
            <a:ext cx="256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42416" y="3840480"/>
            <a:ext cx="73152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300" dirty="0">
                <a:solidFill>
                  <a:srgbClr val="21212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use num_repetitions to expose variance across independent runs, not to justify a single universal pass threshold.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65760" y="4773168"/>
            <a:ext cx="8412480" cy="0"/>
          </a:xfrm>
          <a:prstGeom prst="line">
            <a:avLst/>
          </a:prstGeom>
          <a:noFill/>
          <a:ln w="6350">
            <a:solidFill>
              <a:srgbClr val="D1D5DB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384048" y="4818888"/>
            <a:ext cx="827532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82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https://learn.microsoft.com/en-us/agent-framework/agents/evaluation?pivots=programming-language-python</a:t>
            </a:r>
            <a:endParaRPr lang="en-US" sz="8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Building AI Apps and Agents Workshop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Evaluation</dc:title>
  <dc:subject>Day 3 — Single-Agent Runtime + MCP</dc:subject>
  <dc:creator>Building AI Apps and Agents Workshop</dc:creator>
  <cp:lastModifiedBy>Building AI Apps and Agents Workshop</cp:lastModifiedBy>
  <cp:revision>1</cp:revision>
  <dcterms:created xsi:type="dcterms:W3CDTF">2026-08-29T18:47:06Z</dcterms:created>
  <dcterms:modified xsi:type="dcterms:W3CDTF">2026-08-29T18:47:06Z</dcterms:modified>
</cp:coreProperties>
</file>