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Lead with the current status: the Azure DevOps Remote MCP Server became generally available in Sprint 278. The separate Foundry Add Tools catalog integration can still carry a preview label.
• GROUNDING SOURCE: https://learn.microsoft.com/en-us/azure/devops/release-notes/2026/sprint-278-update
• GROUNDING SOURCE: https://learn.microsoft.com/en-us/azure/devops/mcp-server/remote-mcp-server?view=azure-devops
• GROUNDING SOURCE: https://learn.microsoft.com/en-us/azure/foundry/agents/how-to/tools/model-context-protocol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resolves the known documentation discrepancy. GA describes the Azure DevOps hosted service. Preview describes the Azure DevOps entry in Foundry's Add Tools catalog. One does not automatically change the other.
• GROUNDING SOURCE: https://learn.microsoft.com/en-us/azure/devops/release-notes/2026/sprint-278-update
• GROUNDING SOURCE: https://learn.microsoft.com/en-us/azure/foundry/agents/how-to/tools/model-context-protocol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Remote is the official recommendation when the client supports its Entra OAuth flow. Local remains available for clients that cannot authenticate to remote.
• GROUNDING SOURCE: https://learn.microsoft.com/en-us/azure/devops/mcp-server/remote-mcp-server?view=azure-devops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Remote supports Azure DevOps Services organizations backed by a Microsoft Entra tenant. Standalone MSA organizations are unsupported. Azure DevOps Server on-premises is not the remote service target. The signed-in user needs project membership and resource permissions.
• GROUNDING SOURCE: https://learn.microsoft.com/en-us/azure/devops/mcp-server/remote-mcp-server?view=azure-devops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Use the exact documented endpoint. The organization segment can be omitted, but then organization context must be supplied in each tool call; for workshop clarity, keep it in the URL.
• GROUNDING SOURCE: https://learn.microsoft.com/en-us/azure/devops/mcp-server/remote-mcp-server?view=azure-devops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X-MCP-Toolsets enables groups such as wit, repos, wiki, and pipelines. X-MCP-Tools enables exact names. The documentation says not to combine them, so choose one filtering mode.
• GROUNDING SOURCE: https://learn.microsoft.com/en-us/azure/devops/mcp-server/remote-mcp-server?view=azure-devops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X-MCP-Readonly=true restricts the server to read-only operations. Combine it with a toolset filter for the first phase. It is a concrete server control, not merely a prompt instruction.
• GROUNDING SOURCE: https://learn.microsoft.com/en-us/azure/devops/mcp-server/remote-mcp-server?view=azure-devops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Placeholder marker slide — the runbook has full narration, setup, and fallback plan. No SDK sample exists for the GA remote server yet; grounded directly in the Learn doc's documented endpoint, headers, and consolidated tool names. Presenter substitutes their own Entra-backed Azure DevOps org before running.
• GROUNDING SOURCE: https://learn.microsoft.com/en-us/azure/devops/mcp-server/remote-mcp-server?view=azure-devops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Use current exact names. Reads use wit_work_item with an action such as get, get_batch, my, or list_for_iteration. Creates and field updates use wit_work_item_write with create, update, update_batch, or add_child. Comments and links have separate write tools.
• GROUNDING SOURCE: https://learn.microsoft.com/en-us/azure/devops/mcp-server/remote-mcp-server?view=azure-devops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is the lab safety pattern, not a claim that the server automatically approves writes. First retrieve the current item. Then construct the proposed mutation. Show the exact tool and arguments. Execute only after an explicit approval path.
• GROUNDING SOURCE: https://learn.microsoft.com/en-us/azure/devops/mcp-server/remote-mcp-server?view=azure-devops
• GROUNDING SOURCE: https://learn.microsoft.com/en-us/agent-framework/agents/tools/tool-approval?tabs=python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Keep these as separate documented patterns. Foundry documents the Azure DevOps catalog path for Foundry agents. Separately, Toolbox documentation exposes an MCP endpoint that a MAF client can consume. Do not imply one portal wizard automatically produces the full local-MAF path.
• GROUNDING SOURCE: https://learn.microsoft.com/en-us/azure/foundry/agents/how-to/tools/model-context-protocol
• GROUNDING SOURCE: https://learn.microsoft.com/en-us/azure/foundry/agents/how-to/tools/toolbox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Foundry documentation explains project connections and an expected CONSENT_REQUIRED response for OAuth-backed toolbox connections. It does not document a complete direct local MAF OAuth flow to the Azure DevOps endpoint, so do not teach one.
• GROUNDING SOURCE: https://learn.microsoft.com/en-us/azure/foundry/agents/how-to/tools/model-context-protocol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Diagnose in layers. Authentication failures differ from permission failures, discovery filters, and invalid consolidated actions. Avoid widening access until you know which layer failed.
• GROUNDING SOURCE: https://learn.microsoft.com/en-us/azure/devops/mcp-server/remote-mcp-server?view=azure-devops
• GROUNDING SOURCE: https://learn.microsoft.com/en-us/azure/devops/mcp-server/remote-mcp-server-troubleshooting?view=azure-devops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These are the guardrails the future lab will enforce. Use a disposable workshop project, start read-only, minimize tools, require approval for writes, and retain an audit trail.
• GROUNDING SOURCE: https://learn.microsoft.com/en-us/azure/devops/mcp-server/remote-mcp-server?view=azure-devops
• GROUNDING SOURCE: https://learn.microsoft.com/en-us/azure/foundry/agents/how-to/tools/model-context-protocol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Recap the exact facts. Transition to evaluation: the next module checks whether the agent chose wit_work_item or wit_work_item_write with the expected action and arguments.
• GROUNDING SOURCE: https://learn.microsoft.com/en-us/azure/devops/release-notes/2026/sprint-278-update
• GROUNDING SOURCE: https://learn.microsoft.com/en-us/azure/devops/mcp-server/remote-mcp-server?view=azure-devops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457200"/>
            <a:ext cx="8046720" cy="365760"/>
          </a:xfrm>
          <a:prstGeom prst="rect">
            <a:avLst/>
          </a:prstGeom>
          <a:noFill/>
          <a:ln/>
        </p:spPr>
        <p:txBody>
          <a:bodyPr wrap="square" rtlCol="0" anchor="ctr"/>
          <a:lstStyle/>
          <a:p>
            <a:pPr indent="0" marL="0">
              <a:buNone/>
            </a:pPr>
            <a:r>
              <a:rPr lang="en-US" sz="1000" spc="400" kern="0" dirty="0">
                <a:solidFill>
                  <a:srgbClr val="CADCFC"/>
                </a:solidFill>
                <a:latin typeface="Calibri" pitchFamily="34" charset="0"/>
                <a:ea typeface="Calibri" pitchFamily="34" charset="-122"/>
                <a:cs typeface="Calibri" pitchFamily="34" charset="-120"/>
              </a:rPr>
              <a:t>DAY 3 · MODULE 6 · 35 MIN</a:t>
            </a:r>
            <a:endParaRPr lang="en-US" sz="1000" dirty="0"/>
          </a:p>
        </p:txBody>
      </p:sp>
      <p:sp>
        <p:nvSpPr>
          <p:cNvPr id="3" name="Text 1"/>
          <p:cNvSpPr/>
          <p:nvPr/>
        </p:nvSpPr>
        <p:spPr>
          <a:xfrm>
            <a:off x="548640" y="1737360"/>
            <a:ext cx="8046720" cy="128016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Azure DevOps Remote MCP</a:t>
            </a:r>
            <a:endParaRPr lang="en-US" sz="4000" dirty="0"/>
          </a:p>
        </p:txBody>
      </p:sp>
      <p:sp>
        <p:nvSpPr>
          <p:cNvPr id="4" name="Text 2"/>
          <p:cNvSpPr/>
          <p:nvPr/>
        </p:nvSpPr>
        <p:spPr>
          <a:xfrm>
            <a:off x="548640" y="3017520"/>
            <a:ext cx="8046720" cy="640080"/>
          </a:xfrm>
          <a:prstGeom prst="rect">
            <a:avLst/>
          </a:prstGeom>
          <a:noFill/>
          <a:ln/>
        </p:spPr>
        <p:txBody>
          <a:bodyPr wrap="square" rtlCol="0" anchor="ctr"/>
          <a:lstStyle/>
          <a:p>
            <a:pPr indent="0" marL="0">
              <a:buNone/>
            </a:pPr>
            <a:r>
              <a:rPr lang="en-US" sz="1800" dirty="0">
                <a:solidFill>
                  <a:srgbClr val="CADCFC"/>
                </a:solidFill>
                <a:latin typeface="Calibri" pitchFamily="34" charset="0"/>
                <a:ea typeface="Calibri" pitchFamily="34" charset="-122"/>
                <a:cs typeface="Calibri" pitchFamily="34" charset="-120"/>
              </a:rPr>
              <a:t>Use the hosted server with read-first controls and Foundry-managed continuity</a:t>
            </a:r>
            <a:endParaRPr lang="en-US" sz="1800" dirty="0"/>
          </a:p>
        </p:txBody>
      </p:sp>
      <p:sp>
        <p:nvSpPr>
          <p:cNvPr id="5" name="Text 3"/>
          <p:cNvSpPr/>
          <p:nvPr/>
        </p:nvSpPr>
        <p:spPr>
          <a:xfrm>
            <a:off x="548640" y="4572000"/>
            <a:ext cx="8046720" cy="365760"/>
          </a:xfrm>
          <a:prstGeom prst="rect">
            <a:avLst/>
          </a:prstGeom>
          <a:noFill/>
          <a:ln/>
        </p:spPr>
        <p:txBody>
          <a:bodyPr wrap="square" rtlCol="0" anchor="ctr"/>
          <a:lstStyle/>
          <a:p>
            <a:pPr indent="0" marL="0">
              <a:buNone/>
            </a:pPr>
            <a:r>
              <a:rPr lang="en-US" sz="1000" dirty="0">
                <a:solidFill>
                  <a:srgbClr val="CADCFC"/>
                </a:solidFill>
                <a:latin typeface="Calibri" pitchFamily="34" charset="0"/>
                <a:ea typeface="Calibri" pitchFamily="34" charset="-122"/>
                <a:cs typeface="Calibri" pitchFamily="34" charset="-120"/>
              </a:rPr>
              <a:t>Building AI Apps and Agents</a:t>
            </a:r>
            <a:endParaRPr lang="en-US" sz="1000" dirty="0"/>
          </a:p>
        </p:txBody>
      </p:sp>
      <p:sp>
        <p:nvSpPr>
          <p:cNvPr id="6" name="Shape 4"/>
          <p:cNvSpPr/>
          <p:nvPr/>
        </p:nvSpPr>
        <p:spPr>
          <a:xfrm>
            <a:off x="365760" y="4224528"/>
            <a:ext cx="8412480" cy="0"/>
          </a:xfrm>
          <a:prstGeom prst="line">
            <a:avLst/>
          </a:prstGeom>
          <a:noFill/>
          <a:ln w="6350">
            <a:solidFill>
              <a:srgbClr val="CADCFC"/>
            </a:solidFill>
            <a:prstDash val="solid"/>
          </a:ln>
        </p:spPr>
      </p:sp>
      <p:sp>
        <p:nvSpPr>
          <p:cNvPr id="7" name="Text 5"/>
          <p:cNvSpPr/>
          <p:nvPr/>
        </p:nvSpPr>
        <p:spPr>
          <a:xfrm>
            <a:off x="384048" y="4270248"/>
            <a:ext cx="8275320" cy="182880"/>
          </a:xfrm>
          <a:prstGeom prst="rect">
            <a:avLst/>
          </a:prstGeom>
          <a:noFill/>
          <a:ln/>
        </p:spPr>
        <p:txBody>
          <a:bodyPr wrap="square" lIns="0" tIns="0" rIns="0" bIns="0" rtlCol="0" anchor="ctr">
            <a:normAutofit/>
          </a:bodyPr>
          <a:lstStyle/>
          <a:p>
            <a:pPr indent="0" marL="0">
              <a:buNone/>
            </a:pPr>
            <a:r>
              <a:rPr lang="en-US" sz="820" dirty="0">
                <a:solidFill>
                  <a:srgbClr val="CADCFC"/>
                </a:solidFill>
                <a:latin typeface="Calibri" pitchFamily="34" charset="0"/>
                <a:ea typeface="Calibri" pitchFamily="34" charset="-122"/>
                <a:cs typeface="Calibri" pitchFamily="34" charset="-120"/>
              </a:rPr>
              <a:t>Source: https://learn.microsoft.com/en-us/azure/devops/release-notes/2026/sprint-278-update  ·  +2 in notes</a:t>
            </a:r>
            <a:endParaRPr lang="en-US" sz="8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6</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800" b="1" dirty="0">
                <a:solidFill>
                  <a:srgbClr val="1E2761"/>
                </a:solidFill>
                <a:latin typeface="Calibri" pitchFamily="34" charset="0"/>
                <a:ea typeface="Calibri" pitchFamily="34" charset="-122"/>
                <a:cs typeface="Calibri" pitchFamily="34" charset="-120"/>
              </a:rPr>
              <a:t>Wwo status labels</a:t>
            </a:r>
            <a:endParaRPr lang="en-US" sz="2800" dirty="0"/>
          </a:p>
        </p:txBody>
      </p:sp>
      <p:sp>
        <p:nvSpPr>
          <p:cNvPr id="5" name="Shape 3"/>
          <p:cNvSpPr/>
          <p:nvPr/>
        </p:nvSpPr>
        <p:spPr>
          <a:xfrm>
            <a:off x="365760" y="1078992"/>
            <a:ext cx="4114800" cy="3493008"/>
          </a:xfrm>
          <a:prstGeom prst="roundRect">
            <a:avLst/>
          </a:prstGeom>
          <a:solidFill>
            <a:srgbClr val="F3F4F6"/>
          </a:solidFill>
          <a:ln w="11430">
            <a:solidFill>
              <a:srgbClr val="D1D5DB"/>
            </a:solidFill>
            <a:prstDash val="solid"/>
          </a:ln>
        </p:spPr>
      </p:sp>
      <p:sp>
        <p:nvSpPr>
          <p:cNvPr id="6" name="Text 4"/>
          <p:cNvSpPr/>
          <p:nvPr/>
        </p:nvSpPr>
        <p:spPr>
          <a:xfrm>
            <a:off x="566928" y="1298448"/>
            <a:ext cx="3712464" cy="411480"/>
          </a:xfrm>
          <a:prstGeom prst="rect">
            <a:avLst/>
          </a:prstGeom>
          <a:noFill/>
          <a:ln/>
        </p:spPr>
        <p:txBody>
          <a:bodyPr wrap="square" lIns="0" tIns="0" rIns="0" bIns="0" rtlCol="0" anchor="ctr">
            <a:normAutofit/>
          </a:bodyPr>
          <a:lstStyle/>
          <a:p>
            <a:pPr indent="0" marL="0">
              <a:buNone/>
            </a:pPr>
            <a:r>
              <a:rPr lang="en-US" sz="2000" b="1" dirty="0">
                <a:solidFill>
                  <a:srgbClr val="1E2761"/>
                </a:solidFill>
                <a:latin typeface="Calibri" pitchFamily="34" charset="0"/>
                <a:ea typeface="Calibri" pitchFamily="34" charset="-122"/>
                <a:cs typeface="Calibri" pitchFamily="34" charset="-120"/>
              </a:rPr>
              <a:t>Azure DevOps Remote MCP Server</a:t>
            </a:r>
            <a:endParaRPr lang="en-US" sz="2000" dirty="0"/>
          </a:p>
        </p:txBody>
      </p:sp>
      <p:sp>
        <p:nvSpPr>
          <p:cNvPr id="7" name="Text 5"/>
          <p:cNvSpPr/>
          <p:nvPr/>
        </p:nvSpPr>
        <p:spPr>
          <a:xfrm>
            <a:off x="594360" y="1828800"/>
            <a:ext cx="3639312" cy="2395728"/>
          </a:xfrm>
          <a:prstGeom prst="rect">
            <a:avLst/>
          </a:prstGeom>
          <a:noFill/>
          <a:ln/>
        </p:spPr>
        <p:txBody>
          <a:bodyPr wrap="square" lIns="381" tIns="381" rIns="381" bIns="381" rtlCol="0" anchor="ctr">
            <a:normAutofit/>
          </a:bodyPr>
          <a:lstStyle/>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Generally available in Sprint 278</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Azure DevOps hosts and updates it</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Streamable HTTP endpoint</a:t>
            </a:r>
            <a:endParaRPr lang="en-US" sz="1300" dirty="0"/>
          </a:p>
        </p:txBody>
      </p:sp>
      <p:sp>
        <p:nvSpPr>
          <p:cNvPr id="8" name="Shape 6"/>
          <p:cNvSpPr/>
          <p:nvPr/>
        </p:nvSpPr>
        <p:spPr>
          <a:xfrm>
            <a:off x="4663440" y="1078992"/>
            <a:ext cx="4114800" cy="3493008"/>
          </a:xfrm>
          <a:prstGeom prst="roundRect">
            <a:avLst/>
          </a:prstGeom>
          <a:solidFill>
            <a:srgbClr val="CADCFC"/>
          </a:solidFill>
          <a:ln w="11430">
            <a:solidFill>
              <a:srgbClr val="1E2761"/>
            </a:solidFill>
            <a:prstDash val="solid"/>
          </a:ln>
        </p:spPr>
      </p:sp>
      <p:sp>
        <p:nvSpPr>
          <p:cNvPr id="9" name="Text 7"/>
          <p:cNvSpPr/>
          <p:nvPr/>
        </p:nvSpPr>
        <p:spPr>
          <a:xfrm>
            <a:off x="4864608" y="1298448"/>
            <a:ext cx="3712464" cy="411480"/>
          </a:xfrm>
          <a:prstGeom prst="rect">
            <a:avLst/>
          </a:prstGeom>
          <a:noFill/>
          <a:ln/>
        </p:spPr>
        <p:txBody>
          <a:bodyPr wrap="square" lIns="0" tIns="0" rIns="0" bIns="0" rtlCol="0" anchor="ctr">
            <a:normAutofit/>
          </a:bodyPr>
          <a:lstStyle/>
          <a:p>
            <a:pPr indent="0" marL="0">
              <a:buNone/>
            </a:pPr>
            <a:r>
              <a:rPr lang="en-US" sz="2000" b="1" dirty="0">
                <a:solidFill>
                  <a:srgbClr val="1E2761"/>
                </a:solidFill>
                <a:latin typeface="Calibri" pitchFamily="34" charset="0"/>
                <a:ea typeface="Calibri" pitchFamily="34" charset="-122"/>
                <a:cs typeface="Calibri" pitchFamily="34" charset="-120"/>
              </a:rPr>
              <a:t>Foundry Add Tools catalog entry</a:t>
            </a:r>
            <a:endParaRPr lang="en-US" sz="2000" dirty="0"/>
          </a:p>
        </p:txBody>
      </p:sp>
      <p:sp>
        <p:nvSpPr>
          <p:cNvPr id="10" name="Text 8"/>
          <p:cNvSpPr/>
          <p:nvPr/>
        </p:nvSpPr>
        <p:spPr>
          <a:xfrm>
            <a:off x="4892040" y="1828800"/>
            <a:ext cx="3639312" cy="2395728"/>
          </a:xfrm>
          <a:prstGeom prst="rect">
            <a:avLst/>
          </a:prstGeom>
          <a:noFill/>
          <a:ln/>
        </p:spPr>
        <p:txBody>
          <a:bodyPr wrap="square" lIns="381" tIns="381" rIns="381" bIns="381" rtlCol="0" anchor="ctr">
            <a:normAutofit/>
          </a:bodyPr>
          <a:lstStyle/>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Current page says “Azure DevOps MCP Server (preview)”</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Creates a project connection and tool selection</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Track this integration label independently</a:t>
            </a:r>
            <a:endParaRPr lang="en-US" sz="1300" dirty="0"/>
          </a:p>
        </p:txBody>
      </p:sp>
      <p:sp>
        <p:nvSpPr>
          <p:cNvPr id="11" name="Shape 9"/>
          <p:cNvSpPr/>
          <p:nvPr/>
        </p:nvSpPr>
        <p:spPr>
          <a:xfrm>
            <a:off x="365760" y="4773168"/>
            <a:ext cx="8412480" cy="0"/>
          </a:xfrm>
          <a:prstGeom prst="line">
            <a:avLst/>
          </a:prstGeom>
          <a:noFill/>
          <a:ln w="6350">
            <a:solidFill>
              <a:srgbClr val="D1D5DB"/>
            </a:solidFill>
            <a:prstDash val="solid"/>
          </a:ln>
        </p:spPr>
      </p:sp>
      <p:sp>
        <p:nvSpPr>
          <p:cNvPr id="12" name="Text 10"/>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https://learn.microsoft.com/en-us/azure/devops/release-notes/2026/sprint-278-update  ·  +1 in notes</a:t>
            </a:r>
            <a:endParaRPr lang="en-US" sz="8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6</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500" b="1" dirty="0">
                <a:solidFill>
                  <a:srgbClr val="1E2761"/>
                </a:solidFill>
                <a:latin typeface="Calibri" pitchFamily="34" charset="0"/>
                <a:ea typeface="Calibri" pitchFamily="34" charset="-122"/>
                <a:cs typeface="Calibri" pitchFamily="34" charset="-120"/>
              </a:rPr>
              <a:t>Remote first, local when auth blocks you</a:t>
            </a:r>
            <a:endParaRPr lang="en-US" sz="2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65760" y="1078992"/>
          <a:ext cx="8412480" cy="914400"/>
        </p:xfrm>
        <a:graphic>
          <a:graphicData uri="http://schemas.openxmlformats.org/drawingml/2006/table">
            <a:tbl>
              <a:tblPr/>
              <a:tblGrid>
                <a:gridCol w="2804160"/>
                <a:gridCol w="2804160"/>
                <a:gridCol w="2804160"/>
              </a:tblGrid>
              <a:tr h="58674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Feature</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Remote</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Local</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r>
              <a:tr h="586740">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Hosting</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Azure DevOps hosted</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Your machine</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86740">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Transport</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Streamable HTTP</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stdio</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586740">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Installation</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Node.js 20+ and npx</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86740">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Authentication</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Microsoft Entra ID OAuth</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PAT or Microsoft Entra ID</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586740">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Updates</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Managed by Azure DevOps</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Managed by you</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6" name="Shape 3"/>
          <p:cNvSpPr/>
          <p:nvPr/>
        </p:nvSpPr>
        <p:spPr>
          <a:xfrm>
            <a:off x="365760" y="4773168"/>
            <a:ext cx="8412480" cy="0"/>
          </a:xfrm>
          <a:prstGeom prst="line">
            <a:avLst/>
          </a:prstGeom>
          <a:noFill/>
          <a:ln w="6350">
            <a:solidFill>
              <a:srgbClr val="D1D5DB"/>
            </a:solidFill>
            <a:prstDash val="solid"/>
          </a:ln>
        </p:spPr>
      </p:sp>
      <p:sp>
        <p:nvSpPr>
          <p:cNvPr id="7" name="Text 4"/>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https://learn.microsoft.com/en-us/azure/devops/mcp-server/remote-mcp-server?view=azure-devops</a:t>
            </a:r>
            <a:endParaRPr lang="en-US" sz="8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6</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800" b="1" dirty="0">
                <a:solidFill>
                  <a:srgbClr val="1E2761"/>
                </a:solidFill>
                <a:latin typeface="Calibri" pitchFamily="34" charset="0"/>
                <a:ea typeface="Calibri" pitchFamily="34" charset="-122"/>
                <a:cs typeface="Calibri" pitchFamily="34" charset="-120"/>
              </a:rPr>
              <a:t>Prerequisites</a:t>
            </a:r>
            <a:endParaRPr lang="en-US" sz="2800" dirty="0"/>
          </a:p>
        </p:txBody>
      </p:sp>
      <p:sp>
        <p:nvSpPr>
          <p:cNvPr id="5" name="Text 3"/>
          <p:cNvSpPr/>
          <p:nvPr/>
        </p:nvSpPr>
        <p:spPr>
          <a:xfrm>
            <a:off x="502920" y="1170432"/>
            <a:ext cx="7955280" cy="352044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600" b="1" dirty="0">
                <a:solidFill>
                  <a:srgbClr val="1E2761"/>
                </a:solidFill>
                <a:latin typeface="Calibri" pitchFamily="34" charset="0"/>
                <a:ea typeface="Calibri" pitchFamily="34" charset="-122"/>
                <a:cs typeface="Calibri" pitchFamily="34" charset="-120"/>
              </a:rPr>
              <a:t>Azure DevOps Services</a:t>
            </a:r>
            <a:pPr indent="0" marL="0">
              <a:spcAft>
                <a:spcPts val="1000"/>
              </a:spcAft>
              <a:buNone/>
            </a:pPr>
            <a:r>
              <a:rPr lang="en-US" sz="1600" dirty="0">
                <a:solidFill>
                  <a:srgbClr val="212121"/>
                </a:solidFill>
                <a:latin typeface="Calibri" pitchFamily="34" charset="0"/>
                <a:ea typeface="Calibri" pitchFamily="34" charset="-122"/>
                <a:cs typeface="Calibri" pitchFamily="34" charset="-120"/>
              </a:rPr>
              <a:t>  —  Active organization backed by Microsoft Entra</a:t>
            </a:r>
            <a:endParaRPr lang="en-US" sz="1600" dirty="0"/>
          </a:p>
          <a:p>
            <a:pPr marL="342900" indent="-342900">
              <a:spcAft>
                <a:spcPts val="1000"/>
              </a:spcAft>
              <a:buSzPct val="100000"/>
              <a:buChar char="•"/>
            </a:pPr>
            <a:r>
              <a:rPr lang="en-US" sz="1600" b="1" dirty="0">
                <a:solidFill>
                  <a:srgbClr val="1E2761"/>
                </a:solidFill>
                <a:latin typeface="Calibri" pitchFamily="34" charset="0"/>
                <a:ea typeface="Calibri" pitchFamily="34" charset="-122"/>
                <a:cs typeface="Calibri" pitchFamily="34" charset="-120"/>
              </a:rPr>
              <a:t>Not supported</a:t>
            </a:r>
            <a:pPr indent="0" marL="0">
              <a:spcAft>
                <a:spcPts val="1000"/>
              </a:spcAft>
              <a:buNone/>
            </a:pPr>
            <a:r>
              <a:rPr lang="en-US" sz="1600" dirty="0">
                <a:solidFill>
                  <a:srgbClr val="212121"/>
                </a:solidFill>
                <a:latin typeface="Calibri" pitchFamily="34" charset="0"/>
                <a:ea typeface="Calibri" pitchFamily="34" charset="-122"/>
                <a:cs typeface="Calibri" pitchFamily="34" charset="-120"/>
              </a:rPr>
              <a:t>  —  Standalone MSA organizations</a:t>
            </a:r>
            <a:endParaRPr lang="en-US" sz="1600" dirty="0"/>
          </a:p>
          <a:p>
            <a:pPr marL="342900" indent="-342900">
              <a:spcAft>
                <a:spcPts val="1000"/>
              </a:spcAft>
              <a:buSzPct val="100000"/>
              <a:buChar char="•"/>
            </a:pPr>
            <a:r>
              <a:rPr lang="en-US" sz="1600" b="1" dirty="0">
                <a:solidFill>
                  <a:srgbClr val="1E2761"/>
                </a:solidFill>
                <a:latin typeface="Calibri" pitchFamily="34" charset="0"/>
                <a:ea typeface="Calibri" pitchFamily="34" charset="-122"/>
                <a:cs typeface="Calibri" pitchFamily="34" charset="-120"/>
              </a:rPr>
              <a:t>Not the target</a:t>
            </a:r>
            <a:pPr indent="0" marL="0">
              <a:spcAft>
                <a:spcPts val="1000"/>
              </a:spcAft>
              <a:buNone/>
            </a:pPr>
            <a:r>
              <a:rPr lang="en-US" sz="1600" dirty="0">
                <a:solidFill>
                  <a:srgbClr val="212121"/>
                </a:solidFill>
                <a:latin typeface="Calibri" pitchFamily="34" charset="0"/>
                <a:ea typeface="Calibri" pitchFamily="34" charset="-122"/>
                <a:cs typeface="Calibri" pitchFamily="34" charset="-120"/>
              </a:rPr>
              <a:t>  —  On-premises Azure DevOps Server</a:t>
            </a:r>
            <a:endParaRPr lang="en-US" sz="1600" dirty="0"/>
          </a:p>
          <a:p>
            <a:pPr marL="342900" indent="-342900">
              <a:spcAft>
                <a:spcPts val="1000"/>
              </a:spcAft>
              <a:buSzPct val="100000"/>
              <a:buChar char="•"/>
            </a:pPr>
            <a:r>
              <a:rPr lang="en-US" sz="1600" b="1" dirty="0">
                <a:solidFill>
                  <a:srgbClr val="1E2761"/>
                </a:solidFill>
                <a:latin typeface="Calibri" pitchFamily="34" charset="0"/>
                <a:ea typeface="Calibri" pitchFamily="34" charset="-122"/>
                <a:cs typeface="Calibri" pitchFamily="34" charset="-120"/>
              </a:rPr>
              <a:t>Permissions</a:t>
            </a:r>
            <a:pPr indent="0" marL="0">
              <a:spcAft>
                <a:spcPts val="1000"/>
              </a:spcAft>
              <a:buNone/>
            </a:pPr>
            <a:r>
              <a:rPr lang="en-US" sz="1600" dirty="0">
                <a:solidFill>
                  <a:srgbClr val="212121"/>
                </a:solidFill>
                <a:latin typeface="Calibri" pitchFamily="34" charset="0"/>
                <a:ea typeface="Calibri" pitchFamily="34" charset="-122"/>
                <a:cs typeface="Calibri" pitchFamily="34" charset="-120"/>
              </a:rPr>
              <a:t>  —  Membership and access to every queried or changed resource</a:t>
            </a:r>
            <a:endParaRPr lang="en-US" sz="1600" dirty="0"/>
          </a:p>
        </p:txBody>
      </p:sp>
      <p:sp>
        <p:nvSpPr>
          <p:cNvPr id="6" name="Shape 4"/>
          <p:cNvSpPr/>
          <p:nvPr/>
        </p:nvSpPr>
        <p:spPr>
          <a:xfrm>
            <a:off x="365760" y="4773168"/>
            <a:ext cx="8412480" cy="0"/>
          </a:xfrm>
          <a:prstGeom prst="line">
            <a:avLst/>
          </a:prstGeom>
          <a:noFill/>
          <a:ln w="6350">
            <a:solidFill>
              <a:srgbClr val="D1D5DB"/>
            </a:solidFill>
            <a:prstDash val="solid"/>
          </a:ln>
        </p:spPr>
      </p:sp>
      <p:sp>
        <p:nvSpPr>
          <p:cNvPr id="7" name="Text 5"/>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https://learn.microsoft.com/en-us/azure/devops/mcp-server/remote-mcp-server?view=azure-devops</a:t>
            </a:r>
            <a:endParaRPr lang="en-US" sz="8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6</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500" b="1" dirty="0">
                <a:solidFill>
                  <a:srgbClr val="1E2761"/>
                </a:solidFill>
                <a:latin typeface="Calibri" pitchFamily="34" charset="0"/>
                <a:ea typeface="Calibri" pitchFamily="34" charset="-122"/>
                <a:cs typeface="Calibri" pitchFamily="34" charset="-120"/>
              </a:rPr>
              <a:t>The endpoint is organization-scoped</a:t>
            </a:r>
            <a:endParaRPr lang="en-US" sz="2500" dirty="0"/>
          </a:p>
        </p:txBody>
      </p:sp>
      <p:sp>
        <p:nvSpPr>
          <p:cNvPr id="5" name="Shape 3"/>
          <p:cNvSpPr/>
          <p:nvPr/>
        </p:nvSpPr>
        <p:spPr>
          <a:xfrm>
            <a:off x="365760" y="1115568"/>
            <a:ext cx="8412480" cy="1371600"/>
          </a:xfrm>
          <a:prstGeom prst="rect">
            <a:avLst/>
          </a:prstGeom>
          <a:solidFill>
            <a:srgbClr val="1D1E22"/>
          </a:solidFill>
          <a:ln w="9525">
            <a:solidFill>
              <a:srgbClr val="2A2B2E"/>
            </a:solidFill>
            <a:prstDash val="solid"/>
          </a:ln>
        </p:spPr>
      </p:sp>
      <p:sp>
        <p:nvSpPr>
          <p:cNvPr id="6" name="Text 4"/>
          <p:cNvSpPr/>
          <p:nvPr/>
        </p:nvSpPr>
        <p:spPr>
          <a:xfrm>
            <a:off x="502920" y="1207008"/>
            <a:ext cx="8138160" cy="1188720"/>
          </a:xfrm>
          <a:prstGeom prst="rect">
            <a:avLst/>
          </a:prstGeom>
          <a:noFill/>
          <a:ln/>
        </p:spPr>
        <p:txBody>
          <a:bodyPr wrap="square" lIns="0" tIns="0" rIns="0" bIns="0" rtlCol="0" anchor="t">
            <a:normAutofit/>
          </a:bodyPr>
          <a:lstStyle/>
          <a:p>
            <a:pPr indent="0" marL="0">
              <a:buNone/>
            </a:pPr>
            <a:r>
              <a:rPr lang="en-US" sz="1280" dirty="0">
                <a:solidFill>
                  <a:srgbClr val="FFFFFF"/>
                </a:solidFill>
                <a:latin typeface="Consolas" pitchFamily="34" charset="0"/>
                <a:ea typeface="Consolas" pitchFamily="34" charset="-122"/>
                <a:cs typeface="Consolas" pitchFamily="34" charset="-120"/>
              </a:rPr>
              <a:t>https://mcp.dev.azure.com/{organization}</a:t>
            </a:r>
            <a:endParaRPr lang="en-US" sz="1280" dirty="0"/>
          </a:p>
        </p:txBody>
      </p:sp>
      <p:sp>
        <p:nvSpPr>
          <p:cNvPr id="7" name="Shape 5"/>
          <p:cNvSpPr/>
          <p:nvPr/>
        </p:nvSpPr>
        <p:spPr>
          <a:xfrm>
            <a:off x="365760" y="4773168"/>
            <a:ext cx="8412480" cy="0"/>
          </a:xfrm>
          <a:prstGeom prst="line">
            <a:avLst/>
          </a:prstGeom>
          <a:noFill/>
          <a:ln w="6350">
            <a:solidFill>
              <a:srgbClr val="D1D5DB"/>
            </a:solidFill>
            <a:prstDash val="solid"/>
          </a:ln>
        </p:spPr>
      </p:sp>
      <p:sp>
        <p:nvSpPr>
          <p:cNvPr id="8" name="Text 6"/>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https://learn.microsoft.com/en-us/azure/devops/mcp-server/remote-mcp-server?view=azure-devops</a:t>
            </a:r>
            <a:endParaRPr lang="en-US" sz="8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6</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800" b="1" dirty="0">
                <a:solidFill>
                  <a:srgbClr val="1E2761"/>
                </a:solidFill>
                <a:latin typeface="Calibri" pitchFamily="34" charset="0"/>
                <a:ea typeface="Calibri" pitchFamily="34" charset="-122"/>
                <a:cs typeface="Calibri" pitchFamily="34" charset="-120"/>
              </a:rPr>
              <a:t>Filter by toolsets or exact tools</a:t>
            </a:r>
            <a:endParaRPr lang="en-US" sz="2800" dirty="0"/>
          </a:p>
        </p:txBody>
      </p:sp>
      <p:sp>
        <p:nvSpPr>
          <p:cNvPr id="5" name="Shape 3"/>
          <p:cNvSpPr/>
          <p:nvPr/>
        </p:nvSpPr>
        <p:spPr>
          <a:xfrm>
            <a:off x="365760" y="1078992"/>
            <a:ext cx="4114800" cy="3493008"/>
          </a:xfrm>
          <a:prstGeom prst="roundRect">
            <a:avLst/>
          </a:prstGeom>
          <a:solidFill>
            <a:srgbClr val="F3F4F6"/>
          </a:solidFill>
          <a:ln w="11430">
            <a:solidFill>
              <a:srgbClr val="D1D5DB"/>
            </a:solidFill>
            <a:prstDash val="solid"/>
          </a:ln>
        </p:spPr>
      </p:sp>
      <p:sp>
        <p:nvSpPr>
          <p:cNvPr id="6" name="Text 4"/>
          <p:cNvSpPr/>
          <p:nvPr/>
        </p:nvSpPr>
        <p:spPr>
          <a:xfrm>
            <a:off x="566928" y="1298448"/>
            <a:ext cx="3712464" cy="411480"/>
          </a:xfrm>
          <a:prstGeom prst="rect">
            <a:avLst/>
          </a:prstGeom>
          <a:noFill/>
          <a:ln/>
        </p:spPr>
        <p:txBody>
          <a:bodyPr wrap="square" lIns="0" tIns="0" rIns="0" bIns="0" rtlCol="0" anchor="ctr">
            <a:normAutofit/>
          </a:bodyPr>
          <a:lstStyle/>
          <a:p>
            <a:pPr indent="0" marL="0">
              <a:buNone/>
            </a:pPr>
            <a:r>
              <a:rPr lang="en-US" sz="2000" b="1" dirty="0">
                <a:solidFill>
                  <a:srgbClr val="1E2761"/>
                </a:solidFill>
                <a:latin typeface="Calibri" pitchFamily="34" charset="0"/>
                <a:ea typeface="Calibri" pitchFamily="34" charset="-122"/>
                <a:cs typeface="Calibri" pitchFamily="34" charset="-120"/>
              </a:rPr>
              <a:t>X-MCP-Toolsets</a:t>
            </a:r>
            <a:endParaRPr lang="en-US" sz="2000" dirty="0"/>
          </a:p>
        </p:txBody>
      </p:sp>
      <p:sp>
        <p:nvSpPr>
          <p:cNvPr id="7" name="Text 5"/>
          <p:cNvSpPr/>
          <p:nvPr/>
        </p:nvSpPr>
        <p:spPr>
          <a:xfrm>
            <a:off x="594360" y="1828800"/>
            <a:ext cx="3639312" cy="2395728"/>
          </a:xfrm>
          <a:prstGeom prst="rect">
            <a:avLst/>
          </a:prstGeom>
          <a:noFill/>
          <a:ln/>
        </p:spPr>
        <p:txBody>
          <a:bodyPr wrap="square" lIns="381" tIns="381" rIns="381" bIns="381" rtlCol="0" anchor="ctr">
            <a:normAutofit/>
          </a:bodyPr>
          <a:lstStyle/>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Group filter: wit, repos, wiki, pipelines, and others</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Good for a bounded domain</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Do not combine with X-MCP-Tools</a:t>
            </a:r>
            <a:endParaRPr lang="en-US" sz="1300" dirty="0"/>
          </a:p>
        </p:txBody>
      </p:sp>
      <p:sp>
        <p:nvSpPr>
          <p:cNvPr id="8" name="Shape 6"/>
          <p:cNvSpPr/>
          <p:nvPr/>
        </p:nvSpPr>
        <p:spPr>
          <a:xfrm>
            <a:off x="4663440" y="1078992"/>
            <a:ext cx="4114800" cy="3493008"/>
          </a:xfrm>
          <a:prstGeom prst="roundRect">
            <a:avLst/>
          </a:prstGeom>
          <a:solidFill>
            <a:srgbClr val="CADCFC"/>
          </a:solidFill>
          <a:ln w="11430">
            <a:solidFill>
              <a:srgbClr val="1E2761"/>
            </a:solidFill>
            <a:prstDash val="solid"/>
          </a:ln>
        </p:spPr>
      </p:sp>
      <p:sp>
        <p:nvSpPr>
          <p:cNvPr id="9" name="Text 7"/>
          <p:cNvSpPr/>
          <p:nvPr/>
        </p:nvSpPr>
        <p:spPr>
          <a:xfrm>
            <a:off x="4864608" y="1298448"/>
            <a:ext cx="3712464" cy="411480"/>
          </a:xfrm>
          <a:prstGeom prst="rect">
            <a:avLst/>
          </a:prstGeom>
          <a:noFill/>
          <a:ln/>
        </p:spPr>
        <p:txBody>
          <a:bodyPr wrap="square" lIns="0" tIns="0" rIns="0" bIns="0" rtlCol="0" anchor="ctr">
            <a:normAutofit/>
          </a:bodyPr>
          <a:lstStyle/>
          <a:p>
            <a:pPr indent="0" marL="0">
              <a:buNone/>
            </a:pPr>
            <a:r>
              <a:rPr lang="en-US" sz="2000" b="1" dirty="0">
                <a:solidFill>
                  <a:srgbClr val="1E2761"/>
                </a:solidFill>
                <a:latin typeface="Calibri" pitchFamily="34" charset="0"/>
                <a:ea typeface="Calibri" pitchFamily="34" charset="-122"/>
                <a:cs typeface="Calibri" pitchFamily="34" charset="-120"/>
              </a:rPr>
              <a:t>X-MCP-Tools</a:t>
            </a:r>
            <a:endParaRPr lang="en-US" sz="2000" dirty="0"/>
          </a:p>
        </p:txBody>
      </p:sp>
      <p:sp>
        <p:nvSpPr>
          <p:cNvPr id="10" name="Text 8"/>
          <p:cNvSpPr/>
          <p:nvPr/>
        </p:nvSpPr>
        <p:spPr>
          <a:xfrm>
            <a:off x="4892040" y="1828800"/>
            <a:ext cx="3639312" cy="2395728"/>
          </a:xfrm>
          <a:prstGeom prst="rect">
            <a:avLst/>
          </a:prstGeom>
          <a:noFill/>
          <a:ln/>
        </p:spPr>
        <p:txBody>
          <a:bodyPr wrap="square" lIns="381" tIns="381" rIns="381" bIns="381" rtlCol="0" anchor="ctr">
            <a:normAutofit/>
          </a:bodyPr>
          <a:lstStyle/>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Exact tool-name allow-list</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Good for least-privilege scenarios</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Do not combine with X-MCP-Toolsets</a:t>
            </a:r>
            <a:endParaRPr lang="en-US" sz="1300" dirty="0"/>
          </a:p>
        </p:txBody>
      </p:sp>
      <p:sp>
        <p:nvSpPr>
          <p:cNvPr id="11" name="Shape 9"/>
          <p:cNvSpPr/>
          <p:nvPr/>
        </p:nvSpPr>
        <p:spPr>
          <a:xfrm>
            <a:off x="365760" y="4773168"/>
            <a:ext cx="8412480" cy="0"/>
          </a:xfrm>
          <a:prstGeom prst="line">
            <a:avLst/>
          </a:prstGeom>
          <a:noFill/>
          <a:ln w="6350">
            <a:solidFill>
              <a:srgbClr val="D1D5DB"/>
            </a:solidFill>
            <a:prstDash val="solid"/>
          </a:ln>
        </p:spPr>
      </p:sp>
      <p:sp>
        <p:nvSpPr>
          <p:cNvPr id="12" name="Text 10"/>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https://learn.microsoft.com/en-us/azure/devops/mcp-server/remote-mcp-server?view=azure-devops</a:t>
            </a:r>
            <a:endParaRPr lang="en-US" sz="8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6</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800" b="1" dirty="0">
                <a:solidFill>
                  <a:srgbClr val="1E2761"/>
                </a:solidFill>
                <a:latin typeface="Calibri" pitchFamily="34" charset="0"/>
                <a:ea typeface="Calibri" pitchFamily="34" charset="-122"/>
                <a:cs typeface="Calibri" pitchFamily="34" charset="-120"/>
              </a:rPr>
              <a:t>Read-only is a server-side filter</a:t>
            </a:r>
            <a:endParaRPr lang="en-US" sz="2800" dirty="0"/>
          </a:p>
        </p:txBody>
      </p:sp>
      <p:sp>
        <p:nvSpPr>
          <p:cNvPr id="5" name="Shape 3"/>
          <p:cNvSpPr/>
          <p:nvPr/>
        </p:nvSpPr>
        <p:spPr>
          <a:xfrm>
            <a:off x="365760" y="1115568"/>
            <a:ext cx="8412480" cy="1719072"/>
          </a:xfrm>
          <a:prstGeom prst="rect">
            <a:avLst/>
          </a:prstGeom>
          <a:solidFill>
            <a:srgbClr val="1D1E22"/>
          </a:solidFill>
          <a:ln w="9525">
            <a:solidFill>
              <a:srgbClr val="2A2B2E"/>
            </a:solidFill>
            <a:prstDash val="solid"/>
          </a:ln>
        </p:spPr>
      </p:sp>
      <p:sp>
        <p:nvSpPr>
          <p:cNvPr id="6" name="Text 4"/>
          <p:cNvSpPr/>
          <p:nvPr/>
        </p:nvSpPr>
        <p:spPr>
          <a:xfrm>
            <a:off x="502920" y="1207008"/>
            <a:ext cx="8138160" cy="1536192"/>
          </a:xfrm>
          <a:prstGeom prst="rect">
            <a:avLst/>
          </a:prstGeom>
          <a:noFill/>
          <a:ln/>
        </p:spPr>
        <p:txBody>
          <a:bodyPr wrap="square" lIns="0" tIns="0" rIns="0" bIns="0" rtlCol="0" anchor="t">
            <a:normAutofit/>
          </a:bodyPr>
          <a:lstStyle/>
          <a:p>
            <a:pPr indent="0" marL="0">
              <a:buNone/>
            </a:pPr>
            <a:r>
              <a:rPr lang="en-US" sz="1280" dirty="0">
                <a:solidFill>
                  <a:srgbClr val="FFFFFF"/>
                </a:solidFill>
                <a:latin typeface="Consolas" pitchFamily="34" charset="0"/>
                <a:ea typeface="Consolas" pitchFamily="34" charset="-122"/>
                <a:cs typeface="Consolas" pitchFamily="34" charset="-120"/>
              </a:rPr>
              <a:t>{</a:t>
            </a:r>
            <a:endParaRPr lang="en-US" sz="1280" dirty="0"/>
          </a:p>
          <a:p>
            <a:pPr indent="0" marL="0">
              <a:buNone/>
            </a:pPr>
            <a:r>
              <a:rPr lang="en-US" sz="1280" dirty="0">
                <a:solidFill>
                  <a:srgbClr val="FFFFFF"/>
                </a:solidFill>
                <a:latin typeface="Consolas" pitchFamily="34" charset="0"/>
                <a:ea typeface="Consolas" pitchFamily="34" charset="-122"/>
                <a:cs typeface="Consolas" pitchFamily="34" charset="-120"/>
              </a:rPr>
              <a:t>  </a:t>
            </a:r>
            <a:pPr indent="0" marL="0">
              <a:buNone/>
            </a:pPr>
            <a:r>
              <a:rPr lang="en-US" sz="1280" dirty="0">
                <a:solidFill>
                  <a:srgbClr val="E4C98A"/>
                </a:solidFill>
                <a:latin typeface="Consolas" pitchFamily="34" charset="0"/>
                <a:ea typeface="Consolas" pitchFamily="34" charset="-122"/>
                <a:cs typeface="Consolas" pitchFamily="34" charset="-120"/>
              </a:rPr>
              <a:t>"headers"</a:t>
            </a:r>
            <a:pPr indent="0" marL="0">
              <a:buNone/>
            </a:pPr>
            <a:r>
              <a:rPr lang="en-US" sz="1280" dirty="0">
                <a:solidFill>
                  <a:srgbClr val="FFFFFF"/>
                </a:solidFill>
                <a:latin typeface="Consolas" pitchFamily="34" charset="0"/>
                <a:ea typeface="Consolas" pitchFamily="34" charset="-122"/>
                <a:cs typeface="Consolas" pitchFamily="34" charset="-120"/>
              </a:rPr>
              <a:t>: {</a:t>
            </a:r>
            <a:endParaRPr lang="en-US" sz="1280" dirty="0"/>
          </a:p>
          <a:p>
            <a:pPr indent="0" marL="0">
              <a:buNone/>
            </a:pPr>
            <a:r>
              <a:rPr lang="en-US" sz="1280" dirty="0">
                <a:solidFill>
                  <a:srgbClr val="FFFFFF"/>
                </a:solidFill>
                <a:latin typeface="Consolas" pitchFamily="34" charset="0"/>
                <a:ea typeface="Consolas" pitchFamily="34" charset="-122"/>
                <a:cs typeface="Consolas" pitchFamily="34" charset="-120"/>
              </a:rPr>
              <a:t>    </a:t>
            </a:r>
            <a:pPr indent="0" marL="0">
              <a:buNone/>
            </a:pPr>
            <a:r>
              <a:rPr lang="en-US" sz="1280" dirty="0">
                <a:solidFill>
                  <a:srgbClr val="E4C98A"/>
                </a:solidFill>
                <a:latin typeface="Consolas" pitchFamily="34" charset="0"/>
                <a:ea typeface="Consolas" pitchFamily="34" charset="-122"/>
                <a:cs typeface="Consolas" pitchFamily="34" charset="-120"/>
              </a:rPr>
              <a:t>"X-MCP-Toolsets"</a:t>
            </a:r>
            <a:pPr indent="0" marL="0">
              <a:buNone/>
            </a:pPr>
            <a:r>
              <a:rPr lang="en-US" sz="1280" dirty="0">
                <a:solidFill>
                  <a:srgbClr val="FFFFFF"/>
                </a:solidFill>
                <a:latin typeface="Consolas" pitchFamily="34" charset="0"/>
                <a:ea typeface="Consolas" pitchFamily="34" charset="-122"/>
                <a:cs typeface="Consolas" pitchFamily="34" charset="-120"/>
              </a:rPr>
              <a:t>: </a:t>
            </a:r>
            <a:pPr indent="0" marL="0">
              <a:buNone/>
            </a:pPr>
            <a:r>
              <a:rPr lang="en-US" sz="1280" dirty="0">
                <a:solidFill>
                  <a:srgbClr val="E4C98A"/>
                </a:solidFill>
                <a:latin typeface="Consolas" pitchFamily="34" charset="0"/>
                <a:ea typeface="Consolas" pitchFamily="34" charset="-122"/>
                <a:cs typeface="Consolas" pitchFamily="34" charset="-120"/>
              </a:rPr>
              <a:t>"wit"</a:t>
            </a:r>
            <a:pPr indent="0" marL="0">
              <a:buNone/>
            </a:pPr>
            <a:r>
              <a:rPr lang="en-US" sz="1280" dirty="0">
                <a:solidFill>
                  <a:srgbClr val="FFFFFF"/>
                </a:solidFill>
                <a:latin typeface="Consolas" pitchFamily="34" charset="0"/>
                <a:ea typeface="Consolas" pitchFamily="34" charset="-122"/>
                <a:cs typeface="Consolas" pitchFamily="34" charset="-120"/>
              </a:rPr>
              <a:t>,</a:t>
            </a:r>
            <a:endParaRPr lang="en-US" sz="1280" dirty="0"/>
          </a:p>
          <a:p>
            <a:pPr indent="0" marL="0">
              <a:buNone/>
            </a:pPr>
            <a:r>
              <a:rPr lang="en-US" sz="1280" dirty="0">
                <a:solidFill>
                  <a:srgbClr val="FFFFFF"/>
                </a:solidFill>
                <a:latin typeface="Consolas" pitchFamily="34" charset="0"/>
                <a:ea typeface="Consolas" pitchFamily="34" charset="-122"/>
                <a:cs typeface="Consolas" pitchFamily="34" charset="-120"/>
              </a:rPr>
              <a:t>    </a:t>
            </a:r>
            <a:pPr indent="0" marL="0">
              <a:buNone/>
            </a:pPr>
            <a:r>
              <a:rPr lang="en-US" sz="1280" dirty="0">
                <a:solidFill>
                  <a:srgbClr val="E4C98A"/>
                </a:solidFill>
                <a:latin typeface="Consolas" pitchFamily="34" charset="0"/>
                <a:ea typeface="Consolas" pitchFamily="34" charset="-122"/>
                <a:cs typeface="Consolas" pitchFamily="34" charset="-120"/>
              </a:rPr>
              <a:t>"X-MCP-Readonly"</a:t>
            </a:r>
            <a:pPr indent="0" marL="0">
              <a:buNone/>
            </a:pPr>
            <a:r>
              <a:rPr lang="en-US" sz="1280" dirty="0">
                <a:solidFill>
                  <a:srgbClr val="FFFFFF"/>
                </a:solidFill>
                <a:latin typeface="Consolas" pitchFamily="34" charset="0"/>
                <a:ea typeface="Consolas" pitchFamily="34" charset="-122"/>
                <a:cs typeface="Consolas" pitchFamily="34" charset="-120"/>
              </a:rPr>
              <a:t>: </a:t>
            </a:r>
            <a:pPr indent="0" marL="0">
              <a:buNone/>
            </a:pPr>
            <a:r>
              <a:rPr lang="en-US" sz="1280" dirty="0">
                <a:solidFill>
                  <a:srgbClr val="E4C98A"/>
                </a:solidFill>
                <a:latin typeface="Consolas" pitchFamily="34" charset="0"/>
                <a:ea typeface="Consolas" pitchFamily="34" charset="-122"/>
                <a:cs typeface="Consolas" pitchFamily="34" charset="-120"/>
              </a:rPr>
              <a:t>"true"</a:t>
            </a:r>
            <a:endParaRPr lang="en-US" sz="1280" dirty="0"/>
          </a:p>
          <a:p>
            <a:pPr indent="0" marL="0">
              <a:buNone/>
            </a:pPr>
            <a:r>
              <a:rPr lang="en-US" sz="1280" dirty="0">
                <a:solidFill>
                  <a:srgbClr val="FFFFFF"/>
                </a:solidFill>
                <a:latin typeface="Consolas" pitchFamily="34" charset="0"/>
                <a:ea typeface="Consolas" pitchFamily="34" charset="-122"/>
                <a:cs typeface="Consolas" pitchFamily="34" charset="-120"/>
              </a:rPr>
              <a:t>  }</a:t>
            </a:r>
            <a:endParaRPr lang="en-US" sz="1280" dirty="0"/>
          </a:p>
          <a:p>
            <a:pPr indent="0" marL="0">
              <a:buNone/>
            </a:pPr>
            <a:r>
              <a:rPr lang="en-US" sz="1280" dirty="0">
                <a:solidFill>
                  <a:srgbClr val="FFFFFF"/>
                </a:solidFill>
                <a:latin typeface="Consolas" pitchFamily="34" charset="0"/>
                <a:ea typeface="Consolas" pitchFamily="34" charset="-122"/>
                <a:cs typeface="Consolas" pitchFamily="34" charset="-120"/>
              </a:rPr>
              <a:t>}</a:t>
            </a:r>
            <a:endParaRPr lang="en-US" sz="1280" dirty="0"/>
          </a:p>
        </p:txBody>
      </p:sp>
      <p:sp>
        <p:nvSpPr>
          <p:cNvPr id="7" name="Shape 5"/>
          <p:cNvSpPr/>
          <p:nvPr/>
        </p:nvSpPr>
        <p:spPr>
          <a:xfrm>
            <a:off x="365760" y="4773168"/>
            <a:ext cx="8412480" cy="0"/>
          </a:xfrm>
          <a:prstGeom prst="line">
            <a:avLst/>
          </a:prstGeom>
          <a:noFill/>
          <a:ln w="6350">
            <a:solidFill>
              <a:srgbClr val="D1D5DB"/>
            </a:solidFill>
            <a:prstDash val="solid"/>
          </a:ln>
        </p:spPr>
      </p:sp>
      <p:sp>
        <p:nvSpPr>
          <p:cNvPr id="8" name="Text 6"/>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https://learn.microsoft.com/en-us/azure/devops/mcp-server/remote-mcp-server?view=azure-devops</a:t>
            </a:r>
            <a:endParaRPr lang="en-US" sz="8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CADCFC"/>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1E2761"/>
          </a:solidFill>
          <a:ln/>
        </p:spPr>
      </p:sp>
      <p:sp>
        <p:nvSpPr>
          <p:cNvPr id="3" name="Text 1"/>
          <p:cNvSpPr/>
          <p:nvPr/>
        </p:nvSpPr>
        <p:spPr>
          <a:xfrm>
            <a:off x="5669280" y="274320"/>
            <a:ext cx="32918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Day 3 · Module 6 · Demo</a:t>
            </a:r>
            <a:endParaRPr lang="en-US" sz="1000" dirty="0"/>
          </a:p>
        </p:txBody>
      </p:sp>
      <p:sp>
        <p:nvSpPr>
          <p:cNvPr id="4" name="Text 2"/>
          <p:cNvSpPr/>
          <p:nvPr/>
        </p:nvSpPr>
        <p:spPr>
          <a:xfrm>
            <a:off x="548640" y="1051560"/>
            <a:ext cx="5486400" cy="502920"/>
          </a:xfrm>
          <a:prstGeom prst="rect">
            <a:avLst/>
          </a:prstGeom>
          <a:noFill/>
          <a:ln/>
        </p:spPr>
        <p:txBody>
          <a:bodyPr wrap="square" lIns="0" tIns="0" rIns="0" bIns="0" rtlCol="0" anchor="ctr"/>
          <a:lstStyle/>
          <a:p>
            <a:pPr indent="0" marL="0">
              <a:buNone/>
            </a:pPr>
            <a:r>
              <a:rPr lang="en-US" sz="3200" b="1" spc="800" kern="0" dirty="0">
                <a:solidFill>
                  <a:srgbClr val="1E2761"/>
                </a:solidFill>
                <a:latin typeface="Calibri" pitchFamily="34" charset="0"/>
                <a:ea typeface="Calibri" pitchFamily="34" charset="-122"/>
                <a:cs typeface="Calibri" pitchFamily="34" charset="-120"/>
              </a:rPr>
              <a:t>DEMO</a:t>
            </a:r>
            <a:endParaRPr lang="en-US" sz="3200" dirty="0"/>
          </a:p>
        </p:txBody>
      </p:sp>
      <p:sp>
        <p:nvSpPr>
          <p:cNvPr id="5" name="Text 3"/>
          <p:cNvSpPr/>
          <p:nvPr/>
        </p:nvSpPr>
        <p:spPr>
          <a:xfrm>
            <a:off x="548640" y="1691640"/>
            <a:ext cx="8046720" cy="91440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Read-only ADO MCP in action</a:t>
            </a:r>
            <a:endParaRPr lang="en-US" sz="3000" dirty="0"/>
          </a:p>
        </p:txBody>
      </p:sp>
      <p:sp>
        <p:nvSpPr>
          <p:cNvPr id="6" name="Text 4"/>
          <p:cNvSpPr/>
          <p:nvPr/>
        </p:nvSpPr>
        <p:spPr>
          <a:xfrm>
            <a:off x="6583680" y="1051560"/>
            <a:ext cx="2194560" cy="502920"/>
          </a:xfrm>
          <a:prstGeom prst="rect">
            <a:avLst/>
          </a:prstGeom>
          <a:noFill/>
          <a:ln/>
        </p:spPr>
        <p:txBody>
          <a:bodyPr wrap="square" lIns="0" tIns="0" rIns="0" bIns="0" rtlCol="0" anchor="ctr"/>
          <a:lstStyle/>
          <a:p>
            <a:pPr algn="r" indent="0" marL="0">
              <a:buNone/>
            </a:pPr>
            <a:r>
              <a:rPr lang="en-US" sz="1800" i="1" dirty="0">
                <a:solidFill>
                  <a:srgbClr val="6B7280"/>
                </a:solidFill>
                <a:latin typeface="Calibri" pitchFamily="34" charset="0"/>
                <a:ea typeface="Calibri" pitchFamily="34" charset="-122"/>
                <a:cs typeface="Calibri" pitchFamily="34" charset="-120"/>
              </a:rPr>
              <a:t>~5 min</a:t>
            </a:r>
            <a:endParaRPr lang="en-US" sz="1800" dirty="0"/>
          </a:p>
        </p:txBody>
      </p:sp>
      <p:sp>
        <p:nvSpPr>
          <p:cNvPr id="7" name="Text 5"/>
          <p:cNvSpPr/>
          <p:nvPr/>
        </p:nvSpPr>
        <p:spPr>
          <a:xfrm>
            <a:off x="548640" y="2788920"/>
            <a:ext cx="8046720" cy="1371600"/>
          </a:xfrm>
          <a:prstGeom prst="rect">
            <a:avLst/>
          </a:prstGeom>
          <a:noFill/>
          <a:ln/>
        </p:spPr>
        <p:txBody>
          <a:bodyPr wrap="square" lIns="0" tIns="0" rIns="0" bIns="0" rtlCol="0" anchor="ctr"/>
          <a:lstStyle/>
          <a:p>
            <a:pPr indent="0" marL="0">
              <a:spcAft>
                <a:spcPts val="600"/>
              </a:spcAft>
              <a:buNone/>
            </a:pPr>
            <a:r>
              <a:rPr lang="en-US" sz="1600" dirty="0">
                <a:solidFill>
                  <a:srgbClr val="212121"/>
                </a:solidFill>
                <a:latin typeface="Calibri" pitchFamily="34" charset="0"/>
                <a:ea typeface="Calibri" pitchFamily="34" charset="-122"/>
                <a:cs typeface="Calibri" pitchFamily="34" charset="-120"/>
              </a:rPr>
              <a:t>Connect to the presenter's own Azure DevOps organization with X-MCP-Toolsets: wit and X-MCP-Readonly: true: a wit_work_item(action="get") read succeeds, and an attempted write is rejected by the server — the filter is enforced server-side, not by convention.</a:t>
            </a:r>
            <a:endParaRPr lang="en-US" sz="1600" dirty="0"/>
          </a:p>
        </p:txBody>
      </p:sp>
      <p:sp>
        <p:nvSpPr>
          <p:cNvPr id="8" name="Text 6"/>
          <p:cNvSpPr/>
          <p:nvPr/>
        </p:nvSpPr>
        <p:spPr>
          <a:xfrm>
            <a:off x="548640" y="4434840"/>
            <a:ext cx="8046720" cy="32004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Runbook: demos/day3/module-6-demo-1-read-only-ado.md</a:t>
            </a:r>
            <a:endParaRPr lang="en-US" sz="1100" dirty="0"/>
          </a:p>
        </p:txBody>
      </p:sp>
      <p:sp>
        <p:nvSpPr>
          <p:cNvPr id="9" name="Shape 7"/>
          <p:cNvSpPr/>
          <p:nvPr/>
        </p:nvSpPr>
        <p:spPr>
          <a:xfrm>
            <a:off x="365760" y="4773168"/>
            <a:ext cx="8412480" cy="0"/>
          </a:xfrm>
          <a:prstGeom prst="line">
            <a:avLst/>
          </a:prstGeom>
          <a:noFill/>
          <a:ln w="6350">
            <a:solidFill>
              <a:srgbClr val="D1D5DB"/>
            </a:solidFill>
            <a:prstDash val="solid"/>
          </a:ln>
        </p:spPr>
      </p:sp>
      <p:sp>
        <p:nvSpPr>
          <p:cNvPr id="10" name="Text 8"/>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https://learn.microsoft.com/en-us/azure/devops/mcp-server/remote-mcp-server?view=azure-devops</a:t>
            </a:r>
            <a:endParaRPr lang="en-US" sz="8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6</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800" b="1" dirty="0">
                <a:solidFill>
                  <a:srgbClr val="1E2761"/>
                </a:solidFill>
                <a:latin typeface="Calibri" pitchFamily="34" charset="0"/>
                <a:ea typeface="Calibri" pitchFamily="34" charset="-122"/>
                <a:cs typeface="Calibri" pitchFamily="34" charset="-120"/>
              </a:rPr>
              <a:t>Work item tools (wit)</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1078992"/>
          <a:ext cx="8412480" cy="914400"/>
        </p:xfrm>
        <a:graphic>
          <a:graphicData uri="http://schemas.openxmlformats.org/drawingml/2006/table">
            <a:tbl>
              <a:tblPr/>
              <a:tblGrid>
                <a:gridCol w="2804160"/>
                <a:gridCol w="2804160"/>
                <a:gridCol w="2804160"/>
              </a:tblGrid>
              <a:tr h="65836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Tool</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Example actions</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Risk</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r>
              <a:tr h="658368">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wit_work_item</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get, get_batch, my, list_for_iteration</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Read-only</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658368">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wit_work_item_write</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create, update, update_batch, add_child</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Write</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658368">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wit_work_item_comment_write</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add, update</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Write</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658368">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wit_work_item_link_write</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link, unlink, link_to_pull_request</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Write</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bl>
          </a:graphicData>
        </a:graphic>
      </p:graphicFrame>
      <p:sp>
        <p:nvSpPr>
          <p:cNvPr id="6" name="Shape 3"/>
          <p:cNvSpPr/>
          <p:nvPr/>
        </p:nvSpPr>
        <p:spPr>
          <a:xfrm>
            <a:off x="365760" y="4773168"/>
            <a:ext cx="8412480" cy="0"/>
          </a:xfrm>
          <a:prstGeom prst="line">
            <a:avLst/>
          </a:prstGeom>
          <a:noFill/>
          <a:ln w="6350">
            <a:solidFill>
              <a:srgbClr val="D1D5DB"/>
            </a:solidFill>
            <a:prstDash val="solid"/>
          </a:ln>
        </p:spPr>
      </p:sp>
      <p:sp>
        <p:nvSpPr>
          <p:cNvPr id="7" name="Text 4"/>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https://learn.microsoft.com/en-us/azure/devops/mcp-server/remote-mcp-server?view=azure-devops</a:t>
            </a:r>
            <a:endParaRPr lang="en-US" sz="8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6</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500" b="1" dirty="0">
                <a:solidFill>
                  <a:srgbClr val="1E2761"/>
                </a:solidFill>
                <a:latin typeface="Calibri" pitchFamily="34" charset="0"/>
                <a:ea typeface="Calibri" pitchFamily="34" charset="-122"/>
                <a:cs typeface="Calibri" pitchFamily="34" charset="-120"/>
              </a:rPr>
              <a:t>Use a read-first, approved-write sequence</a:t>
            </a:r>
            <a:endParaRPr lang="en-US" sz="2500" dirty="0"/>
          </a:p>
        </p:txBody>
      </p:sp>
      <p:sp>
        <p:nvSpPr>
          <p:cNvPr id="5" name="Shape 3"/>
          <p:cNvSpPr/>
          <p:nvPr/>
        </p:nvSpPr>
        <p:spPr>
          <a:xfrm>
            <a:off x="365760" y="1216152"/>
            <a:ext cx="2633472" cy="1572768"/>
          </a:xfrm>
          <a:prstGeom prst="roundRect">
            <a:avLst>
              <a:gd name="adj" fmla="val 3488"/>
            </a:avLst>
          </a:prstGeom>
          <a:solidFill>
            <a:srgbClr val="CADCFC"/>
          </a:solidFill>
          <a:ln w="10160">
            <a:solidFill>
              <a:srgbClr val="1E2761"/>
            </a:solidFill>
            <a:prstDash val="solid"/>
          </a:ln>
        </p:spPr>
      </p:sp>
      <p:sp>
        <p:nvSpPr>
          <p:cNvPr id="6" name="Shape 4"/>
          <p:cNvSpPr/>
          <p:nvPr/>
        </p:nvSpPr>
        <p:spPr>
          <a:xfrm>
            <a:off x="475488" y="1335024"/>
            <a:ext cx="320040" cy="320040"/>
          </a:xfrm>
          <a:prstGeom prst="ellipse">
            <a:avLst/>
          </a:prstGeom>
          <a:solidFill>
            <a:srgbClr val="1E2761"/>
          </a:solidFill>
          <a:ln/>
        </p:spPr>
      </p:sp>
      <p:sp>
        <p:nvSpPr>
          <p:cNvPr id="7" name="Text 5"/>
          <p:cNvSpPr/>
          <p:nvPr/>
        </p:nvSpPr>
        <p:spPr>
          <a:xfrm>
            <a:off x="475488" y="1385316"/>
            <a:ext cx="32004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8" name="Text 6"/>
          <p:cNvSpPr/>
          <p:nvPr/>
        </p:nvSpPr>
        <p:spPr>
          <a:xfrm>
            <a:off x="896112" y="1335024"/>
            <a:ext cx="1975104"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Read</a:t>
            </a:r>
            <a:endParaRPr lang="en-US" sz="1500" dirty="0"/>
          </a:p>
        </p:txBody>
      </p:sp>
      <p:sp>
        <p:nvSpPr>
          <p:cNvPr id="9" name="Text 7"/>
          <p:cNvSpPr/>
          <p:nvPr/>
        </p:nvSpPr>
        <p:spPr>
          <a:xfrm>
            <a:off x="512064" y="1719072"/>
            <a:ext cx="2340864" cy="950976"/>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wit_work_item(action="get", ...)</a:t>
            </a:r>
            <a:endParaRPr lang="en-US" sz="1150" dirty="0"/>
          </a:p>
        </p:txBody>
      </p:sp>
      <p:sp>
        <p:nvSpPr>
          <p:cNvPr id="10" name="Shape 8"/>
          <p:cNvSpPr/>
          <p:nvPr/>
        </p:nvSpPr>
        <p:spPr>
          <a:xfrm>
            <a:off x="3035808" y="1892808"/>
            <a:ext cx="164592" cy="219456"/>
          </a:xfrm>
          <a:prstGeom prst="chevron">
            <a:avLst/>
          </a:prstGeom>
          <a:solidFill>
            <a:srgbClr val="E8A87C"/>
          </a:solidFill>
          <a:ln/>
        </p:spPr>
      </p:sp>
      <p:sp>
        <p:nvSpPr>
          <p:cNvPr id="11" name="Shape 9"/>
          <p:cNvSpPr/>
          <p:nvPr/>
        </p:nvSpPr>
        <p:spPr>
          <a:xfrm>
            <a:off x="3255264" y="1216152"/>
            <a:ext cx="2633472" cy="1572768"/>
          </a:xfrm>
          <a:prstGeom prst="roundRect">
            <a:avLst>
              <a:gd name="adj" fmla="val 3488"/>
            </a:avLst>
          </a:prstGeom>
          <a:solidFill>
            <a:srgbClr val="F3F4F6"/>
          </a:solidFill>
          <a:ln w="10160">
            <a:solidFill>
              <a:srgbClr val="D1D5DB"/>
            </a:solidFill>
            <a:prstDash val="solid"/>
          </a:ln>
        </p:spPr>
      </p:sp>
      <p:sp>
        <p:nvSpPr>
          <p:cNvPr id="12" name="Shape 10"/>
          <p:cNvSpPr/>
          <p:nvPr/>
        </p:nvSpPr>
        <p:spPr>
          <a:xfrm>
            <a:off x="3364992" y="1335024"/>
            <a:ext cx="320040" cy="320040"/>
          </a:xfrm>
          <a:prstGeom prst="ellipse">
            <a:avLst/>
          </a:prstGeom>
          <a:solidFill>
            <a:srgbClr val="1E2761"/>
          </a:solidFill>
          <a:ln/>
        </p:spPr>
      </p:sp>
      <p:sp>
        <p:nvSpPr>
          <p:cNvPr id="13" name="Text 11"/>
          <p:cNvSpPr/>
          <p:nvPr/>
        </p:nvSpPr>
        <p:spPr>
          <a:xfrm>
            <a:off x="3364992" y="1385316"/>
            <a:ext cx="32004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Text 12"/>
          <p:cNvSpPr/>
          <p:nvPr/>
        </p:nvSpPr>
        <p:spPr>
          <a:xfrm>
            <a:off x="3785616" y="1335024"/>
            <a:ext cx="1975104"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Compare</a:t>
            </a:r>
            <a:endParaRPr lang="en-US" sz="1500" dirty="0"/>
          </a:p>
        </p:txBody>
      </p:sp>
      <p:sp>
        <p:nvSpPr>
          <p:cNvPr id="15" name="Text 13"/>
          <p:cNvSpPr/>
          <p:nvPr/>
        </p:nvSpPr>
        <p:spPr>
          <a:xfrm>
            <a:off x="3401568" y="1719072"/>
            <a:ext cx="2340864" cy="950976"/>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Show current values and proposed change</a:t>
            </a:r>
            <a:endParaRPr lang="en-US" sz="1150" dirty="0"/>
          </a:p>
        </p:txBody>
      </p:sp>
      <p:sp>
        <p:nvSpPr>
          <p:cNvPr id="16" name="Shape 14"/>
          <p:cNvSpPr/>
          <p:nvPr/>
        </p:nvSpPr>
        <p:spPr>
          <a:xfrm>
            <a:off x="5925312" y="1892808"/>
            <a:ext cx="164592" cy="219456"/>
          </a:xfrm>
          <a:prstGeom prst="chevron">
            <a:avLst/>
          </a:prstGeom>
          <a:solidFill>
            <a:srgbClr val="E8A87C"/>
          </a:solidFill>
          <a:ln/>
        </p:spPr>
      </p:sp>
      <p:sp>
        <p:nvSpPr>
          <p:cNvPr id="17" name="Shape 15"/>
          <p:cNvSpPr/>
          <p:nvPr/>
        </p:nvSpPr>
        <p:spPr>
          <a:xfrm>
            <a:off x="6144768" y="1216152"/>
            <a:ext cx="2633472" cy="1572768"/>
          </a:xfrm>
          <a:prstGeom prst="roundRect">
            <a:avLst>
              <a:gd name="adj" fmla="val 3488"/>
            </a:avLst>
          </a:prstGeom>
          <a:solidFill>
            <a:srgbClr val="F3F4F6"/>
          </a:solidFill>
          <a:ln w="10160">
            <a:solidFill>
              <a:srgbClr val="D1D5DB"/>
            </a:solidFill>
            <a:prstDash val="solid"/>
          </a:ln>
        </p:spPr>
      </p:sp>
      <p:sp>
        <p:nvSpPr>
          <p:cNvPr id="18" name="Shape 16"/>
          <p:cNvSpPr/>
          <p:nvPr/>
        </p:nvSpPr>
        <p:spPr>
          <a:xfrm>
            <a:off x="6254496" y="1335024"/>
            <a:ext cx="320040" cy="320040"/>
          </a:xfrm>
          <a:prstGeom prst="ellipse">
            <a:avLst/>
          </a:prstGeom>
          <a:solidFill>
            <a:srgbClr val="1E2761"/>
          </a:solidFill>
          <a:ln/>
        </p:spPr>
      </p:sp>
      <p:sp>
        <p:nvSpPr>
          <p:cNvPr id="19" name="Text 17"/>
          <p:cNvSpPr/>
          <p:nvPr/>
        </p:nvSpPr>
        <p:spPr>
          <a:xfrm>
            <a:off x="6254496" y="1385316"/>
            <a:ext cx="32004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0" name="Text 18"/>
          <p:cNvSpPr/>
          <p:nvPr/>
        </p:nvSpPr>
        <p:spPr>
          <a:xfrm>
            <a:off x="6675120" y="1335024"/>
            <a:ext cx="1975104"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Approve</a:t>
            </a:r>
            <a:endParaRPr lang="en-US" sz="1500" dirty="0"/>
          </a:p>
        </p:txBody>
      </p:sp>
      <p:sp>
        <p:nvSpPr>
          <p:cNvPr id="21" name="Text 19"/>
          <p:cNvSpPr/>
          <p:nvPr/>
        </p:nvSpPr>
        <p:spPr>
          <a:xfrm>
            <a:off x="6291072" y="1719072"/>
            <a:ext cx="2340864" cy="950976"/>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Caller reviews tool name and arguments</a:t>
            </a:r>
            <a:endParaRPr lang="en-US" sz="1150" dirty="0"/>
          </a:p>
        </p:txBody>
      </p:sp>
      <p:sp>
        <p:nvSpPr>
          <p:cNvPr id="22" name="Shape 20"/>
          <p:cNvSpPr/>
          <p:nvPr/>
        </p:nvSpPr>
        <p:spPr>
          <a:xfrm>
            <a:off x="365760" y="3044952"/>
            <a:ext cx="2633472" cy="1572768"/>
          </a:xfrm>
          <a:prstGeom prst="roundRect">
            <a:avLst>
              <a:gd name="adj" fmla="val 3488"/>
            </a:avLst>
          </a:prstGeom>
          <a:solidFill>
            <a:srgbClr val="F3F4F6"/>
          </a:solidFill>
          <a:ln w="10160">
            <a:solidFill>
              <a:srgbClr val="D1D5DB"/>
            </a:solidFill>
            <a:prstDash val="solid"/>
          </a:ln>
        </p:spPr>
      </p:sp>
      <p:sp>
        <p:nvSpPr>
          <p:cNvPr id="23" name="Shape 21"/>
          <p:cNvSpPr/>
          <p:nvPr/>
        </p:nvSpPr>
        <p:spPr>
          <a:xfrm>
            <a:off x="475488" y="3163824"/>
            <a:ext cx="320040" cy="320040"/>
          </a:xfrm>
          <a:prstGeom prst="ellipse">
            <a:avLst/>
          </a:prstGeom>
          <a:solidFill>
            <a:srgbClr val="1E2761"/>
          </a:solidFill>
          <a:ln/>
        </p:spPr>
      </p:sp>
      <p:sp>
        <p:nvSpPr>
          <p:cNvPr id="24" name="Text 22"/>
          <p:cNvSpPr/>
          <p:nvPr/>
        </p:nvSpPr>
        <p:spPr>
          <a:xfrm>
            <a:off x="475488" y="3214116"/>
            <a:ext cx="32004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5" name="Text 23"/>
          <p:cNvSpPr/>
          <p:nvPr/>
        </p:nvSpPr>
        <p:spPr>
          <a:xfrm>
            <a:off x="896112" y="3163824"/>
            <a:ext cx="1975104"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Write</a:t>
            </a:r>
            <a:endParaRPr lang="en-US" sz="1500" dirty="0"/>
          </a:p>
        </p:txBody>
      </p:sp>
      <p:sp>
        <p:nvSpPr>
          <p:cNvPr id="26" name="Text 24"/>
          <p:cNvSpPr/>
          <p:nvPr/>
        </p:nvSpPr>
        <p:spPr>
          <a:xfrm>
            <a:off x="512064" y="3547872"/>
            <a:ext cx="2340864" cy="950976"/>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wit_work_item_write(action="update", ...)</a:t>
            </a:r>
            <a:endParaRPr lang="en-US" sz="1150" dirty="0"/>
          </a:p>
        </p:txBody>
      </p:sp>
      <p:sp>
        <p:nvSpPr>
          <p:cNvPr id="27" name="Shape 25"/>
          <p:cNvSpPr/>
          <p:nvPr/>
        </p:nvSpPr>
        <p:spPr>
          <a:xfrm>
            <a:off x="3035808" y="3721608"/>
            <a:ext cx="164592" cy="219456"/>
          </a:xfrm>
          <a:prstGeom prst="chevron">
            <a:avLst/>
          </a:prstGeom>
          <a:solidFill>
            <a:srgbClr val="E8A87C"/>
          </a:solidFill>
          <a:ln/>
        </p:spPr>
      </p:sp>
      <p:sp>
        <p:nvSpPr>
          <p:cNvPr id="28" name="Shape 26"/>
          <p:cNvSpPr/>
          <p:nvPr/>
        </p:nvSpPr>
        <p:spPr>
          <a:xfrm>
            <a:off x="3255264" y="3044952"/>
            <a:ext cx="2633472" cy="1572768"/>
          </a:xfrm>
          <a:prstGeom prst="roundRect">
            <a:avLst>
              <a:gd name="adj" fmla="val 3488"/>
            </a:avLst>
          </a:prstGeom>
          <a:solidFill>
            <a:srgbClr val="CADCFC"/>
          </a:solidFill>
          <a:ln w="10160">
            <a:solidFill>
              <a:srgbClr val="1E2761"/>
            </a:solidFill>
            <a:prstDash val="solid"/>
          </a:ln>
        </p:spPr>
      </p:sp>
      <p:sp>
        <p:nvSpPr>
          <p:cNvPr id="29" name="Shape 27"/>
          <p:cNvSpPr/>
          <p:nvPr/>
        </p:nvSpPr>
        <p:spPr>
          <a:xfrm>
            <a:off x="3364992" y="3163824"/>
            <a:ext cx="320040" cy="320040"/>
          </a:xfrm>
          <a:prstGeom prst="ellipse">
            <a:avLst/>
          </a:prstGeom>
          <a:solidFill>
            <a:srgbClr val="1E2761"/>
          </a:solidFill>
          <a:ln/>
        </p:spPr>
      </p:sp>
      <p:sp>
        <p:nvSpPr>
          <p:cNvPr id="30" name="Text 28"/>
          <p:cNvSpPr/>
          <p:nvPr/>
        </p:nvSpPr>
        <p:spPr>
          <a:xfrm>
            <a:off x="3364992" y="3214116"/>
            <a:ext cx="32004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31" name="Text 29"/>
          <p:cNvSpPr/>
          <p:nvPr/>
        </p:nvSpPr>
        <p:spPr>
          <a:xfrm>
            <a:off x="3785616" y="3163824"/>
            <a:ext cx="1975104"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Verify</a:t>
            </a:r>
            <a:endParaRPr lang="en-US" sz="1500" dirty="0"/>
          </a:p>
        </p:txBody>
      </p:sp>
      <p:sp>
        <p:nvSpPr>
          <p:cNvPr id="32" name="Text 30"/>
          <p:cNvSpPr/>
          <p:nvPr/>
        </p:nvSpPr>
        <p:spPr>
          <a:xfrm>
            <a:off x="3401568" y="3547872"/>
            <a:ext cx="2340864" cy="950976"/>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Read the item again and record the result</a:t>
            </a:r>
            <a:endParaRPr lang="en-US" sz="1150" dirty="0"/>
          </a:p>
        </p:txBody>
      </p:sp>
      <p:sp>
        <p:nvSpPr>
          <p:cNvPr id="33" name="Shape 31"/>
          <p:cNvSpPr/>
          <p:nvPr/>
        </p:nvSpPr>
        <p:spPr>
          <a:xfrm>
            <a:off x="365760" y="4773168"/>
            <a:ext cx="8412480" cy="0"/>
          </a:xfrm>
          <a:prstGeom prst="line">
            <a:avLst/>
          </a:prstGeom>
          <a:noFill/>
          <a:ln w="6350">
            <a:solidFill>
              <a:srgbClr val="D1D5DB"/>
            </a:solidFill>
            <a:prstDash val="solid"/>
          </a:ln>
        </p:spPr>
      </p:sp>
      <p:sp>
        <p:nvSpPr>
          <p:cNvPr id="34" name="Text 32"/>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https://learn.microsoft.com/en-us/azure/devops/mcp-server/remote-mcp-server?view=azure-devops  ·  +1 in notes</a:t>
            </a:r>
            <a:endParaRPr lang="en-US" sz="8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6</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500" b="1" dirty="0">
                <a:solidFill>
                  <a:srgbClr val="1E2761"/>
                </a:solidFill>
                <a:latin typeface="Calibri" pitchFamily="34" charset="0"/>
                <a:ea typeface="Calibri" pitchFamily="34" charset="-122"/>
                <a:cs typeface="Calibri" pitchFamily="34" charset="-120"/>
              </a:rPr>
              <a:t>Two supported paths — not one wizard</a:t>
            </a:r>
            <a:endParaRPr lang="en-US" sz="2500" dirty="0"/>
          </a:p>
        </p:txBody>
      </p:sp>
      <p:sp>
        <p:nvSpPr>
          <p:cNvPr id="5" name="Shape 3"/>
          <p:cNvSpPr/>
          <p:nvPr/>
        </p:nvSpPr>
        <p:spPr>
          <a:xfrm>
            <a:off x="365760" y="1078992"/>
            <a:ext cx="4114800" cy="3493008"/>
          </a:xfrm>
          <a:prstGeom prst="roundRect">
            <a:avLst/>
          </a:prstGeom>
          <a:solidFill>
            <a:srgbClr val="F3F4F6"/>
          </a:solidFill>
          <a:ln w="11430">
            <a:solidFill>
              <a:srgbClr val="D1D5DB"/>
            </a:solidFill>
            <a:prstDash val="solid"/>
          </a:ln>
        </p:spPr>
      </p:sp>
      <p:sp>
        <p:nvSpPr>
          <p:cNvPr id="6" name="Text 4"/>
          <p:cNvSpPr/>
          <p:nvPr/>
        </p:nvSpPr>
        <p:spPr>
          <a:xfrm>
            <a:off x="566928" y="1298448"/>
            <a:ext cx="3712464" cy="411480"/>
          </a:xfrm>
          <a:prstGeom prst="rect">
            <a:avLst/>
          </a:prstGeom>
          <a:noFill/>
          <a:ln/>
        </p:spPr>
        <p:txBody>
          <a:bodyPr wrap="square" lIns="0" tIns="0" rIns="0" bIns="0" rtlCol="0" anchor="ctr">
            <a:normAutofit/>
          </a:bodyPr>
          <a:lstStyle/>
          <a:p>
            <a:pPr indent="0" marL="0">
              <a:buNone/>
            </a:pPr>
            <a:r>
              <a:rPr lang="en-US" sz="2000" b="1" dirty="0">
                <a:solidFill>
                  <a:srgbClr val="1E2761"/>
                </a:solidFill>
                <a:latin typeface="Calibri" pitchFamily="34" charset="0"/>
                <a:ea typeface="Calibri" pitchFamily="34" charset="-122"/>
                <a:cs typeface="Calibri" pitchFamily="34" charset="-120"/>
              </a:rPr>
              <a:t>Foundry agent path</a:t>
            </a:r>
            <a:endParaRPr lang="en-US" sz="2000" dirty="0"/>
          </a:p>
        </p:txBody>
      </p:sp>
      <p:sp>
        <p:nvSpPr>
          <p:cNvPr id="7" name="Text 5"/>
          <p:cNvSpPr/>
          <p:nvPr/>
        </p:nvSpPr>
        <p:spPr>
          <a:xfrm>
            <a:off x="594360" y="1828800"/>
            <a:ext cx="3639312" cy="2395728"/>
          </a:xfrm>
          <a:prstGeom prst="rect">
            <a:avLst/>
          </a:prstGeom>
          <a:noFill/>
          <a:ln/>
        </p:spPr>
        <p:txBody>
          <a:bodyPr wrap="square" lIns="381" tIns="381" rIns="381" bIns="381" rtlCol="0" anchor="ctr">
            <a:normAutofit/>
          </a:bodyPr>
          <a:lstStyle/>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Add Tools → Catalog → Azure DevOps</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Authenticate through a project connection</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Select the smallest required tool subset</a:t>
            </a:r>
            <a:endParaRPr lang="en-US" sz="1300" dirty="0"/>
          </a:p>
        </p:txBody>
      </p:sp>
      <p:sp>
        <p:nvSpPr>
          <p:cNvPr id="8" name="Shape 6"/>
          <p:cNvSpPr/>
          <p:nvPr/>
        </p:nvSpPr>
        <p:spPr>
          <a:xfrm>
            <a:off x="4663440" y="1078992"/>
            <a:ext cx="4114800" cy="3493008"/>
          </a:xfrm>
          <a:prstGeom prst="roundRect">
            <a:avLst/>
          </a:prstGeom>
          <a:solidFill>
            <a:srgbClr val="CADCFC"/>
          </a:solidFill>
          <a:ln w="11430">
            <a:solidFill>
              <a:srgbClr val="1E2761"/>
            </a:solidFill>
            <a:prstDash val="solid"/>
          </a:ln>
        </p:spPr>
      </p:sp>
      <p:sp>
        <p:nvSpPr>
          <p:cNvPr id="9" name="Text 7"/>
          <p:cNvSpPr/>
          <p:nvPr/>
        </p:nvSpPr>
        <p:spPr>
          <a:xfrm>
            <a:off x="4864608" y="1298448"/>
            <a:ext cx="3712464" cy="411480"/>
          </a:xfrm>
          <a:prstGeom prst="rect">
            <a:avLst/>
          </a:prstGeom>
          <a:noFill/>
          <a:ln/>
        </p:spPr>
        <p:txBody>
          <a:bodyPr wrap="square" lIns="0" tIns="0" rIns="0" bIns="0" rtlCol="0" anchor="ctr">
            <a:normAutofit/>
          </a:bodyPr>
          <a:lstStyle/>
          <a:p>
            <a:pPr indent="0" marL="0">
              <a:buNone/>
            </a:pPr>
            <a:r>
              <a:rPr lang="en-US" sz="2000" b="1" dirty="0">
                <a:solidFill>
                  <a:srgbClr val="1E2761"/>
                </a:solidFill>
                <a:latin typeface="Calibri" pitchFamily="34" charset="0"/>
                <a:ea typeface="Calibri" pitchFamily="34" charset="-122"/>
                <a:cs typeface="Calibri" pitchFamily="34" charset="-120"/>
              </a:rPr>
              <a:t>Local MAF path</a:t>
            </a:r>
            <a:endParaRPr lang="en-US" sz="2000" dirty="0"/>
          </a:p>
        </p:txBody>
      </p:sp>
      <p:sp>
        <p:nvSpPr>
          <p:cNvPr id="10" name="Text 8"/>
          <p:cNvSpPr/>
          <p:nvPr/>
        </p:nvSpPr>
        <p:spPr>
          <a:xfrm>
            <a:off x="4892040" y="1828800"/>
            <a:ext cx="3639312" cy="2395728"/>
          </a:xfrm>
          <a:prstGeom prst="rect">
            <a:avLst/>
          </a:prstGeom>
          <a:noFill/>
          <a:ln/>
        </p:spPr>
        <p:txBody>
          <a:bodyPr wrap="square" lIns="381" tIns="381" rIns="381" bIns="381" rtlCol="0" anchor="ctr">
            <a:normAutofit/>
          </a:bodyPr>
          <a:lstStyle/>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Consume an existing Toolbox MCP endpoint</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Authenticate to the Toolbox with supported Entra auth</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Treat upstream MCP credentials as Toolbox-managed</a:t>
            </a:r>
            <a:endParaRPr lang="en-US" sz="1300" dirty="0"/>
          </a:p>
        </p:txBody>
      </p:sp>
      <p:sp>
        <p:nvSpPr>
          <p:cNvPr id="11" name="Shape 9"/>
          <p:cNvSpPr/>
          <p:nvPr/>
        </p:nvSpPr>
        <p:spPr>
          <a:xfrm>
            <a:off x="365760" y="4773168"/>
            <a:ext cx="8412480" cy="0"/>
          </a:xfrm>
          <a:prstGeom prst="line">
            <a:avLst/>
          </a:prstGeom>
          <a:noFill/>
          <a:ln w="6350">
            <a:solidFill>
              <a:srgbClr val="D1D5DB"/>
            </a:solidFill>
            <a:prstDash val="solid"/>
          </a:ln>
        </p:spPr>
      </p:sp>
      <p:sp>
        <p:nvSpPr>
          <p:cNvPr id="12" name="Text 10"/>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https://learn.microsoft.com/en-us/azure/foundry/agents/how-to/tools/model-context-protocol  ·  +1 in notes</a:t>
            </a:r>
            <a:endParaRPr lang="en-US" sz="8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6</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500" b="1" dirty="0">
                <a:solidFill>
                  <a:srgbClr val="1E2761"/>
                </a:solidFill>
                <a:latin typeface="Calibri" pitchFamily="34" charset="0"/>
                <a:ea typeface="Calibri" pitchFamily="34" charset="-122"/>
                <a:cs typeface="Calibri" pitchFamily="34" charset="-120"/>
              </a:rPr>
              <a:t>OAuth consent belongs to the connection path</a:t>
            </a:r>
            <a:endParaRPr lang="en-US" sz="2500" dirty="0"/>
          </a:p>
        </p:txBody>
      </p:sp>
      <p:sp>
        <p:nvSpPr>
          <p:cNvPr id="5" name="Shape 3"/>
          <p:cNvSpPr/>
          <p:nvPr/>
        </p:nvSpPr>
        <p:spPr>
          <a:xfrm>
            <a:off x="365760" y="1078992"/>
            <a:ext cx="4105656" cy="1655064"/>
          </a:xfrm>
          <a:prstGeom prst="roundRect">
            <a:avLst>
              <a:gd name="adj" fmla="val 3315"/>
            </a:avLst>
          </a:prstGeom>
          <a:solidFill>
            <a:srgbClr val="CADCFC"/>
          </a:solidFill>
          <a:ln w="10160">
            <a:solidFill>
              <a:srgbClr val="1E2761"/>
            </a:solidFill>
            <a:prstDash val="solid"/>
          </a:ln>
        </p:spPr>
      </p:sp>
      <p:sp>
        <p:nvSpPr>
          <p:cNvPr id="6" name="Text 4"/>
          <p:cNvSpPr/>
          <p:nvPr/>
        </p:nvSpPr>
        <p:spPr>
          <a:xfrm>
            <a:off x="512064" y="1197864"/>
            <a:ext cx="3813048"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Project connection</a:t>
            </a:r>
            <a:endParaRPr lang="en-US" sz="1500" dirty="0"/>
          </a:p>
        </p:txBody>
      </p:sp>
      <p:sp>
        <p:nvSpPr>
          <p:cNvPr id="7" name="Text 5"/>
          <p:cNvSpPr/>
          <p:nvPr/>
        </p:nvSpPr>
        <p:spPr>
          <a:xfrm>
            <a:off x="512064" y="1581912"/>
            <a:ext cx="3813048" cy="103327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Stores authentication details instead of app code</a:t>
            </a:r>
            <a:endParaRPr lang="en-US" sz="1150" dirty="0"/>
          </a:p>
        </p:txBody>
      </p:sp>
      <p:sp>
        <p:nvSpPr>
          <p:cNvPr id="8" name="Shape 6"/>
          <p:cNvSpPr/>
          <p:nvPr/>
        </p:nvSpPr>
        <p:spPr>
          <a:xfrm>
            <a:off x="4672584" y="1078992"/>
            <a:ext cx="4105656" cy="1655064"/>
          </a:xfrm>
          <a:prstGeom prst="roundRect">
            <a:avLst>
              <a:gd name="adj" fmla="val 3315"/>
            </a:avLst>
          </a:prstGeom>
          <a:solidFill>
            <a:srgbClr val="F3F4F6"/>
          </a:solidFill>
          <a:ln w="10160">
            <a:solidFill>
              <a:srgbClr val="D1D5DB"/>
            </a:solidFill>
            <a:prstDash val="solid"/>
          </a:ln>
        </p:spPr>
      </p:sp>
      <p:sp>
        <p:nvSpPr>
          <p:cNvPr id="9" name="Text 7"/>
          <p:cNvSpPr/>
          <p:nvPr/>
        </p:nvSpPr>
        <p:spPr>
          <a:xfrm>
            <a:off x="4818888" y="1197864"/>
            <a:ext cx="3813048"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Consent</a:t>
            </a:r>
            <a:endParaRPr lang="en-US" sz="1500" dirty="0"/>
          </a:p>
        </p:txBody>
      </p:sp>
      <p:sp>
        <p:nvSpPr>
          <p:cNvPr id="10" name="Text 8"/>
          <p:cNvSpPr/>
          <p:nvPr/>
        </p:nvSpPr>
        <p:spPr>
          <a:xfrm>
            <a:off x="4818888" y="1581912"/>
            <a:ext cx="3813048" cy="103327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First OAuth-backed toolbox call can return CONSENT_REQUIRED</a:t>
            </a:r>
            <a:endParaRPr lang="en-US" sz="1150" dirty="0"/>
          </a:p>
        </p:txBody>
      </p:sp>
      <p:sp>
        <p:nvSpPr>
          <p:cNvPr id="11" name="Shape 9"/>
          <p:cNvSpPr/>
          <p:nvPr/>
        </p:nvSpPr>
        <p:spPr>
          <a:xfrm>
            <a:off x="365760" y="2935224"/>
            <a:ext cx="4105656" cy="1655064"/>
          </a:xfrm>
          <a:prstGeom prst="roundRect">
            <a:avLst>
              <a:gd name="adj" fmla="val 3315"/>
            </a:avLst>
          </a:prstGeom>
          <a:solidFill>
            <a:srgbClr val="F3F4F6"/>
          </a:solidFill>
          <a:ln w="10160">
            <a:solidFill>
              <a:srgbClr val="D1D5DB"/>
            </a:solidFill>
            <a:prstDash val="solid"/>
          </a:ln>
        </p:spPr>
      </p:sp>
      <p:sp>
        <p:nvSpPr>
          <p:cNvPr id="12" name="Text 10"/>
          <p:cNvSpPr/>
          <p:nvPr/>
        </p:nvSpPr>
        <p:spPr>
          <a:xfrm>
            <a:off x="512064" y="3054096"/>
            <a:ext cx="3813048"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Retry</a:t>
            </a:r>
            <a:endParaRPr lang="en-US" sz="1500" dirty="0"/>
          </a:p>
        </p:txBody>
      </p:sp>
      <p:sp>
        <p:nvSpPr>
          <p:cNvPr id="13" name="Text 11"/>
          <p:cNvSpPr/>
          <p:nvPr/>
        </p:nvSpPr>
        <p:spPr>
          <a:xfrm>
            <a:off x="512064" y="3438144"/>
            <a:ext cx="3813048" cy="103327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Complete the consent URL, then retry the call</a:t>
            </a:r>
            <a:endParaRPr lang="en-US" sz="1150" dirty="0"/>
          </a:p>
        </p:txBody>
      </p:sp>
      <p:sp>
        <p:nvSpPr>
          <p:cNvPr id="14" name="Shape 12"/>
          <p:cNvSpPr/>
          <p:nvPr/>
        </p:nvSpPr>
        <p:spPr>
          <a:xfrm>
            <a:off x="4672584" y="2935224"/>
            <a:ext cx="4105656" cy="1655064"/>
          </a:xfrm>
          <a:prstGeom prst="roundRect">
            <a:avLst>
              <a:gd name="adj" fmla="val 3315"/>
            </a:avLst>
          </a:prstGeom>
          <a:solidFill>
            <a:srgbClr val="F3F4F6"/>
          </a:solidFill>
          <a:ln w="10160">
            <a:solidFill>
              <a:srgbClr val="D1D5DB"/>
            </a:solidFill>
            <a:prstDash val="solid"/>
          </a:ln>
        </p:spPr>
      </p:sp>
      <p:sp>
        <p:nvSpPr>
          <p:cNvPr id="15" name="Text 13"/>
          <p:cNvSpPr/>
          <p:nvPr/>
        </p:nvSpPr>
        <p:spPr>
          <a:xfrm>
            <a:off x="4818888" y="3054096"/>
            <a:ext cx="3813048"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Boundary</a:t>
            </a:r>
            <a:endParaRPr lang="en-US" sz="1500" dirty="0"/>
          </a:p>
        </p:txBody>
      </p:sp>
      <p:sp>
        <p:nvSpPr>
          <p:cNvPr id="16" name="Text 14"/>
          <p:cNvSpPr/>
          <p:nvPr/>
        </p:nvSpPr>
        <p:spPr>
          <a:xfrm>
            <a:off x="4818888" y="3438144"/>
            <a:ext cx="3813048" cy="103327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Do not claim an undocumented direct local MAF-to-ADO OAuth recipe</a:t>
            </a:r>
            <a:endParaRPr lang="en-US" sz="1150" dirty="0"/>
          </a:p>
        </p:txBody>
      </p:sp>
      <p:sp>
        <p:nvSpPr>
          <p:cNvPr id="17" name="Shape 15"/>
          <p:cNvSpPr/>
          <p:nvPr/>
        </p:nvSpPr>
        <p:spPr>
          <a:xfrm>
            <a:off x="365760" y="4773168"/>
            <a:ext cx="8412480" cy="0"/>
          </a:xfrm>
          <a:prstGeom prst="line">
            <a:avLst/>
          </a:prstGeom>
          <a:noFill/>
          <a:ln w="6350">
            <a:solidFill>
              <a:srgbClr val="D1D5DB"/>
            </a:solidFill>
            <a:prstDash val="solid"/>
          </a:ln>
        </p:spPr>
      </p:sp>
      <p:sp>
        <p:nvSpPr>
          <p:cNvPr id="18" name="Text 16"/>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https://learn.microsoft.com/en-us/azure/foundry/agents/how-to/tools/model-context-protocol</a:t>
            </a:r>
            <a:endParaRPr lang="en-US" sz="8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6</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500" b="1" dirty="0">
                <a:solidFill>
                  <a:srgbClr val="1E2761"/>
                </a:solidFill>
                <a:latin typeface="Calibri" pitchFamily="34" charset="0"/>
                <a:ea typeface="Calibri" pitchFamily="34" charset="-122"/>
                <a:cs typeface="Calibri" pitchFamily="34" charset="-120"/>
              </a:rPr>
              <a:t>Failure modes tell you where to look</a:t>
            </a:r>
            <a:endParaRPr lang="en-US" sz="2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65760" y="1078992"/>
          <a:ext cx="8412480" cy="914400"/>
        </p:xfrm>
        <a:graphic>
          <a:graphicData uri="http://schemas.openxmlformats.org/drawingml/2006/table">
            <a:tbl>
              <a:tblPr/>
              <a:tblGrid>
                <a:gridCol w="4206240"/>
                <a:gridCol w="4206240"/>
              </a:tblGrid>
              <a:tr h="58674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Symptom</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Check first</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r>
              <a:tr h="586740">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Sign-in or consent fails</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Entra-backed org, tenant policy, enterprise app consent</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86740">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Tool is missing</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X-MCP-Toolsets / X-MCP-Tools / read-only filters</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586740">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Tool returns forbidden</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Signed-in user's project and resource permissions</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86740">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Write tool unavailable</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X-MCP-Readonly and exact tool allow-list</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586740">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Invalid operation</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Current tool name plus documented action</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6" name="Shape 3"/>
          <p:cNvSpPr/>
          <p:nvPr/>
        </p:nvSpPr>
        <p:spPr>
          <a:xfrm>
            <a:off x="365760" y="4773168"/>
            <a:ext cx="8412480" cy="0"/>
          </a:xfrm>
          <a:prstGeom prst="line">
            <a:avLst/>
          </a:prstGeom>
          <a:noFill/>
          <a:ln w="6350">
            <a:solidFill>
              <a:srgbClr val="D1D5DB"/>
            </a:solidFill>
            <a:prstDash val="solid"/>
          </a:ln>
        </p:spPr>
      </p:sp>
      <p:sp>
        <p:nvSpPr>
          <p:cNvPr id="7" name="Text 4"/>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https://learn.microsoft.com/en-us/azure/devops/mcp-server/remote-mcp-server?view=azure-devops  ·  +1 in notes</a:t>
            </a:r>
            <a:endParaRPr lang="en-US" sz="8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6</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800" b="1" dirty="0">
                <a:solidFill>
                  <a:srgbClr val="1E2761"/>
                </a:solidFill>
                <a:latin typeface="Calibri" pitchFamily="34" charset="0"/>
                <a:ea typeface="Calibri" pitchFamily="34" charset="-122"/>
                <a:cs typeface="Calibri" pitchFamily="34" charset="-120"/>
              </a:rPr>
              <a:t>Workshop guardrails</a:t>
            </a:r>
            <a:endParaRPr lang="en-US" sz="2800" dirty="0"/>
          </a:p>
        </p:txBody>
      </p:sp>
      <p:sp>
        <p:nvSpPr>
          <p:cNvPr id="5" name="Shape 3"/>
          <p:cNvSpPr/>
          <p:nvPr/>
        </p:nvSpPr>
        <p:spPr>
          <a:xfrm>
            <a:off x="365760" y="1078992"/>
            <a:ext cx="4105656" cy="1655064"/>
          </a:xfrm>
          <a:prstGeom prst="roundRect">
            <a:avLst>
              <a:gd name="adj" fmla="val 3315"/>
            </a:avLst>
          </a:prstGeom>
          <a:solidFill>
            <a:srgbClr val="CADCFC"/>
          </a:solidFill>
          <a:ln w="10160">
            <a:solidFill>
              <a:srgbClr val="1E2761"/>
            </a:solidFill>
            <a:prstDash val="solid"/>
          </a:ln>
        </p:spPr>
      </p:sp>
      <p:sp>
        <p:nvSpPr>
          <p:cNvPr id="6" name="Text 4"/>
          <p:cNvSpPr/>
          <p:nvPr/>
        </p:nvSpPr>
        <p:spPr>
          <a:xfrm>
            <a:off x="512064" y="1197864"/>
            <a:ext cx="3813048"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Scope</a:t>
            </a:r>
            <a:endParaRPr lang="en-US" sz="1500" dirty="0"/>
          </a:p>
        </p:txBody>
      </p:sp>
      <p:sp>
        <p:nvSpPr>
          <p:cNvPr id="7" name="Text 5"/>
          <p:cNvSpPr/>
          <p:nvPr/>
        </p:nvSpPr>
        <p:spPr>
          <a:xfrm>
            <a:off x="512064" y="1581912"/>
            <a:ext cx="3813048" cy="103327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Dedicated workshop project and least-privilege user</a:t>
            </a:r>
            <a:endParaRPr lang="en-US" sz="1150" dirty="0"/>
          </a:p>
        </p:txBody>
      </p:sp>
      <p:sp>
        <p:nvSpPr>
          <p:cNvPr id="8" name="Shape 6"/>
          <p:cNvSpPr/>
          <p:nvPr/>
        </p:nvSpPr>
        <p:spPr>
          <a:xfrm>
            <a:off x="4672584" y="1078992"/>
            <a:ext cx="4105656" cy="1655064"/>
          </a:xfrm>
          <a:prstGeom prst="roundRect">
            <a:avLst>
              <a:gd name="adj" fmla="val 3315"/>
            </a:avLst>
          </a:prstGeom>
          <a:solidFill>
            <a:srgbClr val="F3F4F6"/>
          </a:solidFill>
          <a:ln w="10160">
            <a:solidFill>
              <a:srgbClr val="D1D5DB"/>
            </a:solidFill>
            <a:prstDash val="solid"/>
          </a:ln>
        </p:spPr>
      </p:sp>
      <p:sp>
        <p:nvSpPr>
          <p:cNvPr id="9" name="Text 7"/>
          <p:cNvSpPr/>
          <p:nvPr/>
        </p:nvSpPr>
        <p:spPr>
          <a:xfrm>
            <a:off x="4818888" y="1197864"/>
            <a:ext cx="3813048"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Discover</a:t>
            </a:r>
            <a:endParaRPr lang="en-US" sz="1500" dirty="0"/>
          </a:p>
        </p:txBody>
      </p:sp>
      <p:sp>
        <p:nvSpPr>
          <p:cNvPr id="10" name="Text 8"/>
          <p:cNvSpPr/>
          <p:nvPr/>
        </p:nvSpPr>
        <p:spPr>
          <a:xfrm>
            <a:off x="4818888" y="1581912"/>
            <a:ext cx="3813048" cy="103327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wit only, read-only first</a:t>
            </a:r>
            <a:endParaRPr lang="en-US" sz="1150" dirty="0"/>
          </a:p>
        </p:txBody>
      </p:sp>
      <p:sp>
        <p:nvSpPr>
          <p:cNvPr id="11" name="Shape 9"/>
          <p:cNvSpPr/>
          <p:nvPr/>
        </p:nvSpPr>
        <p:spPr>
          <a:xfrm>
            <a:off x="365760" y="2935224"/>
            <a:ext cx="4105656" cy="1655064"/>
          </a:xfrm>
          <a:prstGeom prst="roundRect">
            <a:avLst>
              <a:gd name="adj" fmla="val 3315"/>
            </a:avLst>
          </a:prstGeom>
          <a:solidFill>
            <a:srgbClr val="F3F4F6"/>
          </a:solidFill>
          <a:ln w="10160">
            <a:solidFill>
              <a:srgbClr val="D1D5DB"/>
            </a:solidFill>
            <a:prstDash val="solid"/>
          </a:ln>
        </p:spPr>
      </p:sp>
      <p:sp>
        <p:nvSpPr>
          <p:cNvPr id="12" name="Text 10"/>
          <p:cNvSpPr/>
          <p:nvPr/>
        </p:nvSpPr>
        <p:spPr>
          <a:xfrm>
            <a:off x="512064" y="3054096"/>
            <a:ext cx="3813048"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Approve</a:t>
            </a:r>
            <a:endParaRPr lang="en-US" sz="1500" dirty="0"/>
          </a:p>
        </p:txBody>
      </p:sp>
      <p:sp>
        <p:nvSpPr>
          <p:cNvPr id="13" name="Text 11"/>
          <p:cNvSpPr/>
          <p:nvPr/>
        </p:nvSpPr>
        <p:spPr>
          <a:xfrm>
            <a:off x="512064" y="3438144"/>
            <a:ext cx="3813048" cy="103327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Explicit review before every write</a:t>
            </a:r>
            <a:endParaRPr lang="en-US" sz="1150" dirty="0"/>
          </a:p>
        </p:txBody>
      </p:sp>
      <p:sp>
        <p:nvSpPr>
          <p:cNvPr id="14" name="Shape 12"/>
          <p:cNvSpPr/>
          <p:nvPr/>
        </p:nvSpPr>
        <p:spPr>
          <a:xfrm>
            <a:off x="4672584" y="2935224"/>
            <a:ext cx="4105656" cy="1655064"/>
          </a:xfrm>
          <a:prstGeom prst="roundRect">
            <a:avLst>
              <a:gd name="adj" fmla="val 3315"/>
            </a:avLst>
          </a:prstGeom>
          <a:solidFill>
            <a:srgbClr val="F3F4F6"/>
          </a:solidFill>
          <a:ln w="10160">
            <a:solidFill>
              <a:srgbClr val="D1D5DB"/>
            </a:solidFill>
            <a:prstDash val="solid"/>
          </a:ln>
        </p:spPr>
      </p:sp>
      <p:sp>
        <p:nvSpPr>
          <p:cNvPr id="15" name="Text 13"/>
          <p:cNvSpPr/>
          <p:nvPr/>
        </p:nvSpPr>
        <p:spPr>
          <a:xfrm>
            <a:off x="4818888" y="3054096"/>
            <a:ext cx="3813048"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Audit</a:t>
            </a:r>
            <a:endParaRPr lang="en-US" sz="1500" dirty="0"/>
          </a:p>
        </p:txBody>
      </p:sp>
      <p:sp>
        <p:nvSpPr>
          <p:cNvPr id="16" name="Text 14"/>
          <p:cNvSpPr/>
          <p:nvPr/>
        </p:nvSpPr>
        <p:spPr>
          <a:xfrm>
            <a:off x="4818888" y="3438144"/>
            <a:ext cx="3813048" cy="103327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Caller, tool, action, arguments, decision, and verification result</a:t>
            </a:r>
            <a:endParaRPr lang="en-US" sz="1150" dirty="0"/>
          </a:p>
        </p:txBody>
      </p:sp>
      <p:sp>
        <p:nvSpPr>
          <p:cNvPr id="17" name="Shape 15"/>
          <p:cNvSpPr/>
          <p:nvPr/>
        </p:nvSpPr>
        <p:spPr>
          <a:xfrm>
            <a:off x="365760" y="4773168"/>
            <a:ext cx="8412480" cy="0"/>
          </a:xfrm>
          <a:prstGeom prst="line">
            <a:avLst/>
          </a:prstGeom>
          <a:noFill/>
          <a:ln w="6350">
            <a:solidFill>
              <a:srgbClr val="D1D5DB"/>
            </a:solidFill>
            <a:prstDash val="solid"/>
          </a:ln>
        </p:spPr>
      </p:sp>
      <p:sp>
        <p:nvSpPr>
          <p:cNvPr id="18" name="Text 16"/>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https://learn.microsoft.com/en-us/azure/devops/mcp-server/remote-mcp-server?view=azure-devops  ·  +1 in notes</a:t>
            </a:r>
            <a:endParaRPr lang="en-US" sz="8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6</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800" b="1" dirty="0">
                <a:solidFill>
                  <a:srgbClr val="1E2761"/>
                </a:solidFill>
                <a:latin typeface="Calibri" pitchFamily="34" charset="0"/>
                <a:ea typeface="Calibri" pitchFamily="34" charset="-122"/>
                <a:cs typeface="Calibri" pitchFamily="34" charset="-120"/>
              </a:rPr>
              <a:t>Takeaways</a:t>
            </a:r>
            <a:endParaRPr lang="en-US" sz="2800" dirty="0"/>
          </a:p>
        </p:txBody>
      </p:sp>
      <p:sp>
        <p:nvSpPr>
          <p:cNvPr id="5" name="Shape 3"/>
          <p:cNvSpPr/>
          <p:nvPr/>
        </p:nvSpPr>
        <p:spPr>
          <a:xfrm>
            <a:off x="502920" y="1097280"/>
            <a:ext cx="8138160" cy="585216"/>
          </a:xfrm>
          <a:prstGeom prst="roundRect">
            <a:avLst/>
          </a:prstGeom>
          <a:solidFill>
            <a:srgbClr val="F3F4F6"/>
          </a:solidFill>
          <a:ln w="6350">
            <a:solidFill>
              <a:srgbClr val="D1D5DB"/>
            </a:solidFill>
            <a:prstDash val="solid"/>
          </a:ln>
        </p:spPr>
      </p:sp>
      <p:sp>
        <p:nvSpPr>
          <p:cNvPr id="6" name="Shape 4"/>
          <p:cNvSpPr/>
          <p:nvPr/>
        </p:nvSpPr>
        <p:spPr>
          <a:xfrm>
            <a:off x="667512" y="1225296"/>
            <a:ext cx="256032" cy="256032"/>
          </a:xfrm>
          <a:prstGeom prst="ellipse">
            <a:avLst/>
          </a:prstGeom>
          <a:solidFill>
            <a:srgbClr val="1E2761"/>
          </a:solidFill>
          <a:ln/>
        </p:spPr>
      </p:sp>
      <p:sp>
        <p:nvSpPr>
          <p:cNvPr id="7" name="Text 5"/>
          <p:cNvSpPr/>
          <p:nvPr/>
        </p:nvSpPr>
        <p:spPr>
          <a:xfrm>
            <a:off x="667512" y="1252728"/>
            <a:ext cx="256032" cy="1371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8" name="Text 6"/>
          <p:cNvSpPr/>
          <p:nvPr/>
        </p:nvSpPr>
        <p:spPr>
          <a:xfrm>
            <a:off x="1042416" y="1207008"/>
            <a:ext cx="7315200" cy="402336"/>
          </a:xfrm>
          <a:prstGeom prst="rect">
            <a:avLst/>
          </a:prstGeom>
          <a:noFill/>
          <a:ln/>
        </p:spPr>
        <p:txBody>
          <a:bodyPr wrap="square" lIns="0" tIns="0" rIns="0" bIns="0" rtlCol="0" anchor="ctr">
            <a:normAutofit/>
          </a:bodyPr>
          <a:lstStyle/>
          <a:p>
            <a:pPr indent="0" marL="0">
              <a:buNone/>
            </a:pPr>
            <a:r>
              <a:rPr lang="en-US" sz="1300" dirty="0">
                <a:solidFill>
                  <a:srgbClr val="212121"/>
                </a:solidFill>
                <a:latin typeface="Calibri" pitchFamily="34" charset="0"/>
                <a:ea typeface="Calibri" pitchFamily="34" charset="-122"/>
                <a:cs typeface="Calibri" pitchFamily="34" charset="-120"/>
              </a:rPr>
              <a:t>You treat the remote server GA status separately from the Foundry catalog preview label.</a:t>
            </a:r>
            <a:endParaRPr lang="en-US" sz="1300" dirty="0"/>
          </a:p>
        </p:txBody>
      </p:sp>
      <p:sp>
        <p:nvSpPr>
          <p:cNvPr id="9" name="Shape 7"/>
          <p:cNvSpPr/>
          <p:nvPr/>
        </p:nvSpPr>
        <p:spPr>
          <a:xfrm>
            <a:off x="502920" y="1755648"/>
            <a:ext cx="8138160" cy="585216"/>
          </a:xfrm>
          <a:prstGeom prst="roundRect">
            <a:avLst/>
          </a:prstGeom>
          <a:solidFill>
            <a:srgbClr val="F3F4F6"/>
          </a:solidFill>
          <a:ln w="6350">
            <a:solidFill>
              <a:srgbClr val="D1D5DB"/>
            </a:solidFill>
            <a:prstDash val="solid"/>
          </a:ln>
        </p:spPr>
      </p:sp>
      <p:sp>
        <p:nvSpPr>
          <p:cNvPr id="10" name="Shape 8"/>
          <p:cNvSpPr/>
          <p:nvPr/>
        </p:nvSpPr>
        <p:spPr>
          <a:xfrm>
            <a:off x="667512" y="1883664"/>
            <a:ext cx="256032" cy="256032"/>
          </a:xfrm>
          <a:prstGeom prst="ellipse">
            <a:avLst/>
          </a:prstGeom>
          <a:solidFill>
            <a:srgbClr val="1E2761"/>
          </a:solidFill>
          <a:ln/>
        </p:spPr>
      </p:sp>
      <p:sp>
        <p:nvSpPr>
          <p:cNvPr id="11" name="Text 9"/>
          <p:cNvSpPr/>
          <p:nvPr/>
        </p:nvSpPr>
        <p:spPr>
          <a:xfrm>
            <a:off x="667512" y="1911096"/>
            <a:ext cx="256032" cy="1371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12" name="Text 10"/>
          <p:cNvSpPr/>
          <p:nvPr/>
        </p:nvSpPr>
        <p:spPr>
          <a:xfrm>
            <a:off x="1042416" y="1865376"/>
            <a:ext cx="7315200" cy="402336"/>
          </a:xfrm>
          <a:prstGeom prst="rect">
            <a:avLst/>
          </a:prstGeom>
          <a:noFill/>
          <a:ln/>
        </p:spPr>
        <p:txBody>
          <a:bodyPr wrap="square" lIns="0" tIns="0" rIns="0" bIns="0" rtlCol="0" anchor="ctr">
            <a:normAutofit/>
          </a:bodyPr>
          <a:lstStyle/>
          <a:p>
            <a:pPr indent="0" marL="0">
              <a:buNone/>
            </a:pPr>
            <a:r>
              <a:rPr lang="en-US" sz="1300" dirty="0">
                <a:solidFill>
                  <a:srgbClr val="212121"/>
                </a:solidFill>
                <a:latin typeface="Calibri" pitchFamily="34" charset="0"/>
                <a:ea typeface="Calibri" pitchFamily="34" charset="-122"/>
                <a:cs typeface="Calibri" pitchFamily="34" charset="-120"/>
              </a:rPr>
              <a:t>You choose remote first when your client supports Entra OAuth.</a:t>
            </a:r>
            <a:endParaRPr lang="en-US" sz="1300" dirty="0"/>
          </a:p>
        </p:txBody>
      </p:sp>
      <p:sp>
        <p:nvSpPr>
          <p:cNvPr id="13" name="Shape 11"/>
          <p:cNvSpPr/>
          <p:nvPr/>
        </p:nvSpPr>
        <p:spPr>
          <a:xfrm>
            <a:off x="502920" y="2414016"/>
            <a:ext cx="8138160" cy="585216"/>
          </a:xfrm>
          <a:prstGeom prst="roundRect">
            <a:avLst/>
          </a:prstGeom>
          <a:solidFill>
            <a:srgbClr val="F3F4F6"/>
          </a:solidFill>
          <a:ln w="6350">
            <a:solidFill>
              <a:srgbClr val="D1D5DB"/>
            </a:solidFill>
            <a:prstDash val="solid"/>
          </a:ln>
        </p:spPr>
      </p:sp>
      <p:sp>
        <p:nvSpPr>
          <p:cNvPr id="14" name="Shape 12"/>
          <p:cNvSpPr/>
          <p:nvPr/>
        </p:nvSpPr>
        <p:spPr>
          <a:xfrm>
            <a:off x="667512" y="2542032"/>
            <a:ext cx="256032" cy="256032"/>
          </a:xfrm>
          <a:prstGeom prst="ellipse">
            <a:avLst/>
          </a:prstGeom>
          <a:solidFill>
            <a:srgbClr val="1E2761"/>
          </a:solidFill>
          <a:ln/>
        </p:spPr>
      </p:sp>
      <p:sp>
        <p:nvSpPr>
          <p:cNvPr id="15" name="Text 13"/>
          <p:cNvSpPr/>
          <p:nvPr/>
        </p:nvSpPr>
        <p:spPr>
          <a:xfrm>
            <a:off x="667512" y="2569464"/>
            <a:ext cx="256032" cy="1371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16" name="Text 14"/>
          <p:cNvSpPr/>
          <p:nvPr/>
        </p:nvSpPr>
        <p:spPr>
          <a:xfrm>
            <a:off x="1042416" y="2523744"/>
            <a:ext cx="7315200" cy="402336"/>
          </a:xfrm>
          <a:prstGeom prst="rect">
            <a:avLst/>
          </a:prstGeom>
          <a:noFill/>
          <a:ln/>
        </p:spPr>
        <p:txBody>
          <a:bodyPr wrap="square" lIns="0" tIns="0" rIns="0" bIns="0" rtlCol="0" anchor="ctr">
            <a:normAutofit/>
          </a:bodyPr>
          <a:lstStyle/>
          <a:p>
            <a:pPr indent="0" marL="0">
              <a:buNone/>
            </a:pPr>
            <a:r>
              <a:rPr lang="en-US" sz="1300" dirty="0">
                <a:solidFill>
                  <a:srgbClr val="212121"/>
                </a:solidFill>
                <a:latin typeface="Calibri" pitchFamily="34" charset="0"/>
                <a:ea typeface="Calibri" pitchFamily="34" charset="-122"/>
                <a:cs typeface="Calibri" pitchFamily="34" charset="-120"/>
              </a:rPr>
              <a:t>You filter with Toolsets or exact Tools, never both.</a:t>
            </a:r>
            <a:endParaRPr lang="en-US" sz="1300" dirty="0"/>
          </a:p>
        </p:txBody>
      </p:sp>
      <p:sp>
        <p:nvSpPr>
          <p:cNvPr id="17" name="Shape 15"/>
          <p:cNvSpPr/>
          <p:nvPr/>
        </p:nvSpPr>
        <p:spPr>
          <a:xfrm>
            <a:off x="502920" y="3072384"/>
            <a:ext cx="8138160" cy="585216"/>
          </a:xfrm>
          <a:prstGeom prst="roundRect">
            <a:avLst/>
          </a:prstGeom>
          <a:solidFill>
            <a:srgbClr val="F3F4F6"/>
          </a:solidFill>
          <a:ln w="6350">
            <a:solidFill>
              <a:srgbClr val="D1D5DB"/>
            </a:solidFill>
            <a:prstDash val="solid"/>
          </a:ln>
        </p:spPr>
      </p:sp>
      <p:sp>
        <p:nvSpPr>
          <p:cNvPr id="18" name="Shape 16"/>
          <p:cNvSpPr/>
          <p:nvPr/>
        </p:nvSpPr>
        <p:spPr>
          <a:xfrm>
            <a:off x="667512" y="3200400"/>
            <a:ext cx="256032" cy="256032"/>
          </a:xfrm>
          <a:prstGeom prst="ellipse">
            <a:avLst/>
          </a:prstGeom>
          <a:solidFill>
            <a:srgbClr val="1E2761"/>
          </a:solidFill>
          <a:ln/>
        </p:spPr>
      </p:sp>
      <p:sp>
        <p:nvSpPr>
          <p:cNvPr id="19" name="Text 17"/>
          <p:cNvSpPr/>
          <p:nvPr/>
        </p:nvSpPr>
        <p:spPr>
          <a:xfrm>
            <a:off x="667512" y="3227832"/>
            <a:ext cx="256032" cy="1371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20" name="Text 18"/>
          <p:cNvSpPr/>
          <p:nvPr/>
        </p:nvSpPr>
        <p:spPr>
          <a:xfrm>
            <a:off x="1042416" y="3182112"/>
            <a:ext cx="7315200" cy="402336"/>
          </a:xfrm>
          <a:prstGeom prst="rect">
            <a:avLst/>
          </a:prstGeom>
          <a:noFill/>
          <a:ln/>
        </p:spPr>
        <p:txBody>
          <a:bodyPr wrap="square" lIns="0" tIns="0" rIns="0" bIns="0" rtlCol="0" anchor="ctr">
            <a:normAutofit/>
          </a:bodyPr>
          <a:lstStyle/>
          <a:p>
            <a:pPr indent="0" marL="0">
              <a:buNone/>
            </a:pPr>
            <a:r>
              <a:rPr lang="en-US" sz="1300" dirty="0">
                <a:solidFill>
                  <a:srgbClr val="212121"/>
                </a:solidFill>
                <a:latin typeface="Calibri" pitchFamily="34" charset="0"/>
                <a:ea typeface="Calibri" pitchFamily="34" charset="-122"/>
                <a:cs typeface="Calibri" pitchFamily="34" charset="-120"/>
              </a:rPr>
              <a:t>You start with X-MCP-Readonly: true.</a:t>
            </a:r>
            <a:endParaRPr lang="en-US" sz="1300" dirty="0"/>
          </a:p>
        </p:txBody>
      </p:sp>
      <p:sp>
        <p:nvSpPr>
          <p:cNvPr id="21" name="Shape 19"/>
          <p:cNvSpPr/>
          <p:nvPr/>
        </p:nvSpPr>
        <p:spPr>
          <a:xfrm>
            <a:off x="502920" y="3730752"/>
            <a:ext cx="8138160" cy="585216"/>
          </a:xfrm>
          <a:prstGeom prst="roundRect">
            <a:avLst/>
          </a:prstGeom>
          <a:solidFill>
            <a:srgbClr val="F3F4F6"/>
          </a:solidFill>
          <a:ln w="6350">
            <a:solidFill>
              <a:srgbClr val="D1D5DB"/>
            </a:solidFill>
            <a:prstDash val="solid"/>
          </a:ln>
        </p:spPr>
      </p:sp>
      <p:sp>
        <p:nvSpPr>
          <p:cNvPr id="22" name="Shape 20"/>
          <p:cNvSpPr/>
          <p:nvPr/>
        </p:nvSpPr>
        <p:spPr>
          <a:xfrm>
            <a:off x="667512" y="3858768"/>
            <a:ext cx="256032" cy="256032"/>
          </a:xfrm>
          <a:prstGeom prst="ellipse">
            <a:avLst/>
          </a:prstGeom>
          <a:solidFill>
            <a:srgbClr val="1E2761"/>
          </a:solidFill>
          <a:ln/>
        </p:spPr>
      </p:sp>
      <p:sp>
        <p:nvSpPr>
          <p:cNvPr id="23" name="Text 21"/>
          <p:cNvSpPr/>
          <p:nvPr/>
        </p:nvSpPr>
        <p:spPr>
          <a:xfrm>
            <a:off x="667512" y="3886200"/>
            <a:ext cx="256032" cy="1371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24" name="Text 22"/>
          <p:cNvSpPr/>
          <p:nvPr/>
        </p:nvSpPr>
        <p:spPr>
          <a:xfrm>
            <a:off x="1042416" y="3840480"/>
            <a:ext cx="7315200" cy="402336"/>
          </a:xfrm>
          <a:prstGeom prst="rect">
            <a:avLst/>
          </a:prstGeom>
          <a:noFill/>
          <a:ln/>
        </p:spPr>
        <p:txBody>
          <a:bodyPr wrap="square" lIns="0" tIns="0" rIns="0" bIns="0" rtlCol="0" anchor="ctr">
            <a:normAutofit/>
          </a:bodyPr>
          <a:lstStyle/>
          <a:p>
            <a:pPr indent="0" marL="0">
              <a:buNone/>
            </a:pPr>
            <a:r>
              <a:rPr lang="en-US" sz="1300" dirty="0">
                <a:solidFill>
                  <a:srgbClr val="212121"/>
                </a:solidFill>
                <a:latin typeface="Calibri" pitchFamily="34" charset="0"/>
                <a:ea typeface="Calibri" pitchFamily="34" charset="-122"/>
                <a:cs typeface="Calibri" pitchFamily="34" charset="-120"/>
              </a:rPr>
              <a:t>You use consolidated tool names and inspect each action.</a:t>
            </a:r>
            <a:endParaRPr lang="en-US" sz="1300" dirty="0"/>
          </a:p>
        </p:txBody>
      </p:sp>
      <p:sp>
        <p:nvSpPr>
          <p:cNvPr id="25" name="Shape 23"/>
          <p:cNvSpPr/>
          <p:nvPr/>
        </p:nvSpPr>
        <p:spPr>
          <a:xfrm>
            <a:off x="365760" y="4773168"/>
            <a:ext cx="8412480" cy="0"/>
          </a:xfrm>
          <a:prstGeom prst="line">
            <a:avLst/>
          </a:prstGeom>
          <a:noFill/>
          <a:ln w="6350">
            <a:solidFill>
              <a:srgbClr val="D1D5DB"/>
            </a:solidFill>
            <a:prstDash val="solid"/>
          </a:ln>
        </p:spPr>
      </p:sp>
      <p:sp>
        <p:nvSpPr>
          <p:cNvPr id="26" name="Text 24"/>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https://learn.microsoft.com/en-us/azure/devops/release-notes/2026/sprint-278-update  ·  +1 in notes</a:t>
            </a:r>
            <a:endParaRPr lang="en-US" sz="8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Building AI Apps and Agents Workshop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DevOps Remote MCP</dc:title>
  <dc:subject>Day 3 — Single-Agent Runtime + MCP</dc:subject>
  <dc:creator>Building AI Apps and Agents Workshop</dc:creator>
  <cp:lastModifiedBy>Building AI Apps and Agents Workshop</cp:lastModifiedBy>
  <cp:revision>1</cp:revision>
  <dcterms:created xsi:type="dcterms:W3CDTF">2026-08-29T18:47:06Z</dcterms:created>
  <dcterms:modified xsi:type="dcterms:W3CDTF">2026-08-29T18:47:06Z</dcterms:modified>
</cp:coreProperties>
</file>