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Lead with the current status: the Azure DevOps Remote MCP Server became generally available in Sprint 278. The separate Foundry Add Tools catalog integration can still carry a preview label.
• GROUNDING SOURCE: https://learn.microsoft.com/en-us/azure/devops/release-notes/2026/sprint-278-update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resolves the known documentation discrepancy. GA describes the Azure DevOps hosted service. Preview describes the Azure DevOps entry in Foundry's Add Tools catalog. One does not automatically change the other.
• GROUNDING SOURCE: https://learn.microsoft.com/en-us/azure/devops/release-notes/2026/sprint-278-update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is the official recommendation when the client supports its Entra OAuth flow. Local remains available for clients that cannot authenticate to remote.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supports Azure DevOps Services organizations backed by a Microsoft Entra tenant. Standalone MSA organizations are unsupported. Azure DevOps Server on-premises is not the remote service target. The signed-in user needs project membership and resource permissions.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the exact documented endpoint. The organization segment can be omitted, but then organization context must be supplied in each tool call; for workshop clarity, keep it in the URL.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X-MCP-Toolsets enables groups such as wit, repos, wiki, and pipelines. X-MCP-Tools enables exact names. The documentation says not to combine them, so choose one filtering mode.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X-MCP-Readonly=true restricts the server to read-only operations. Combine it with a toolset filter for the first phase. It is a concrete server control, not merely a prompt instruction.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No SDK sample exists for the GA remote server yet; grounded directly in the Learn doc's documented endpoint, headers, and consolidated tool names. Presenter substitutes their own Entra-backed Azure DevOps org before running.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current exact names. Reads use wit_work_item with an action such as get, get_batch, my, or list_for_iteration. Creates and field updates use wit_work_item_write with create, update, update_batch, or add_child. Comments and links have separate write tools.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lab safety pattern, not a claim that the server automatically approves writes. First retrieve the current item. Then construct the proposed mutation. Show the exact tool and arguments. Execute only after an explicit approval path.
• GROUNDING SOURCE: https://learn.microsoft.com/en-us/azure/devops/mcp-server/remote-mcp-server?view=azure-devops
• GROUNDING SOURCE: https://learn.microsoft.com/en-us/agent-framework/agents/tools/tool-approval?tabs=python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these as separate documented patterns. Foundry documents the Azure DevOps catalog path for Foundry agents. Separately, Toolbox documentation exposes an MCP endpoint that a MAF client can consume. Do not imply one portal wizard automatically produces the full local-MAF path.
• GROUNDING SOURCE: https://learn.microsoft.com/en-us/azure/foundry/agents/how-to/tools/model-context-protocol
• GROUNDING SOURCE: https://learn.microsoft.com/en-us/azure/foundry/agents/how-to/tools/toolbox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Foundry documentation explains project connections and an expected CONSENT_REQUIRED response for OAuth-backed toolbox connections. It does not document a complete direct local MAF OAuth flow to the Azure DevOps endpoint, so do not teach one.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Diagnose in layers. Authentication failures differ from permission failures, discovery filters, and invalid consolidated actions. Avoid widening access until you know which layer failed.
• GROUNDING SOURCE: https://learn.microsoft.com/en-us/azure/devops/mcp-server/remote-mcp-server?view=azure-devops
• GROUNDING SOURCE: https://learn.microsoft.com/en-us/azure/devops/mcp-server/remote-mcp-server-troubleshooting?view=azure-devops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guardrails the future lab will enforce. Use a disposable workshop project, start read-only, minimize tools, require approval for writes, and retain an audit trail.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Recap the exact facts. Transition to evaluation: the next module checks whether the agent chose wit_work_item or wit_work_item_write with the expected action and arguments.
• GROUNDING SOURCE: https://learn.microsoft.com/en-us/azure/devops/release-notes/2026/sprint-278-update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6 · 35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Azure DevOps Remote MCP</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Use the GA hosted server with read-first controls and Foundry-managed continuity</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https://learn.microsoft.com/en-us/azure/devops/release-notes/2026/sprint-278-update  ·  +2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Keep the two status labels separate</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Azure DevOps Remote MCP Server</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Generally available in Sprint 278</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Azure DevOps hosts and updates it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Streamable HTTP endpoint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Add Tools catalog entry</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Current page says “Azure DevOps MCP Server (preview)”</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Creates a project connection and tool selection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Track this integration label independently</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Remote first, local when auth blocks you</a:t>
            </a:r>
            <a:endParaRPr lang="en-US" sz="2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Remote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Hosting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Azure DevOps hosted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Your machine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Transport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Streamable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stdio</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Installation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Node.js 20+ and npx</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Authentication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Microsoft Entra ID OAuth</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PAT or Microsoft Entra ID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Updates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Azure DevOps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you</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Prerequisites are specific</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Azure DevOps Services</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Active organization backed by Microsoft Entra</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Not supported</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Standalone MSA organizations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Not the target</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On-premises Azure DevOps Server</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Permissions</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Membership and access to every queried or changed resource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The endpoint is organization-scoped</a:t>
            </a:r>
            <a:endParaRPr lang="en-US" sz="2500" dirty="0"/>
          </a:p>
        </p:txBody>
      </p:sp>
      <p:sp>
        <p:nvSpPr>
          <p:cNvPr id="5" name="Shape 3"/>
          <p:cNvSpPr/>
          <p:nvPr/>
        </p:nvSpPr>
        <p:spPr>
          <a:xfrm>
            <a:off x="365760" y="1115568"/>
            <a:ext cx="8412480" cy="1371600"/>
          </a:xfrm>
          <a:prstGeom prst="rect">
            <a:avLst/>
          </a:prstGeom>
          <a:solidFill>
            <a:srgbClr val="F3F4F6"/>
          </a:solidFill>
          <a:ln w="6350">
            <a:solidFill>
              <a:srgbClr val="D1D5DB"/>
            </a:solidFill>
            <a:prstDash val="solid"/>
          </a:ln>
        </p:spPr>
      </p:sp>
      <p:sp>
        <p:nvSpPr>
          <p:cNvPr id="6" name="Text 4"/>
          <p:cNvSpPr/>
          <p:nvPr/>
        </p:nvSpPr>
        <p:spPr>
          <a:xfrm>
            <a:off x="502920" y="1207008"/>
            <a:ext cx="8138160" cy="1188720"/>
          </a:xfrm>
          <a:prstGeom prst="rect">
            <a:avLst/>
          </a:prstGeom>
          <a:noFill/>
          <a:ln/>
        </p:spPr>
        <p:txBody>
          <a:bodyPr wrap="square" lIns="0" tIns="0" rIns="0" bIns="0" rtlCol="0" anchor="t"/>
          <a:lstStyle/>
          <a:p>
            <a:pPr indent="0" marL="0">
              <a:buNone/>
            </a:pPr>
            <a:r>
              <a:rPr lang="en-US" sz="1280" dirty="0">
                <a:solidFill>
                  <a:srgbClr val="212121"/>
                </a:solidFill>
                <a:latin typeface="Consolas" pitchFamily="34" charset="0"/>
                <a:ea typeface="Consolas" pitchFamily="34" charset="-122"/>
                <a:cs typeface="Consolas" pitchFamily="34" charset="-120"/>
              </a:rPr>
              <a:t>https://mcp.dev.azure.com/{organization}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Filter broad toolsets or exact tools</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X-MCP-Toolsets</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Group filter: wit, repos, wiki, pipelines, and others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a bounded domain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Exact tool-name allow-list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least-privilege scenarios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X-MCP-Toolsets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Read-only is a server-side filter</a:t>
            </a:r>
            <a:endParaRPr lang="en-US" sz="2800" dirty="0"/>
          </a:p>
        </p:txBody>
      </p:sp>
      <p:sp>
        <p:nvSpPr>
          <p:cNvPr id="5" name="Shape 3"/>
          <p:cNvSpPr/>
          <p:nvPr/>
        </p:nvSpPr>
        <p:spPr>
          <a:xfrm>
            <a:off x="365760" y="1115568"/>
            <a:ext cx="8412480" cy="1719072"/>
          </a:xfrm>
          <a:prstGeom prst="rect">
            <a:avLst/>
          </a:prstGeom>
          <a:solidFill>
            <a:srgbClr val="F3F4F6"/>
          </a:solidFill>
          <a:ln w="6350">
            <a:solidFill>
              <a:srgbClr val="D1D5DB"/>
            </a:solidFill>
            <a:prstDash val="solid"/>
          </a:ln>
        </p:spPr>
      </p:sp>
      <p:sp>
        <p:nvSpPr>
          <p:cNvPr id="6" name="Text 4"/>
          <p:cNvSpPr/>
          <p:nvPr/>
        </p:nvSpPr>
        <p:spPr>
          <a:xfrm>
            <a:off x="502920" y="1207008"/>
            <a:ext cx="8138160" cy="1536192"/>
          </a:xfrm>
          <a:prstGeom prst="rect">
            <a:avLst/>
          </a:prstGeom>
          <a:noFill/>
          <a:ln/>
        </p:spPr>
        <p:txBody>
          <a:bodyPr wrap="square" lIns="0" tIns="0" rIns="0" bIns="0" rtlCol="0" anchor="t"/>
          <a:lstStyle/>
          <a:p>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1F7A4D"/>
                </a:solidFill>
                <a:latin typeface="Consolas" pitchFamily="34" charset="0"/>
                <a:ea typeface="Consolas" pitchFamily="34" charset="-122"/>
                <a:cs typeface="Consolas" pitchFamily="34" charset="-120"/>
              </a:rPr>
              <a:t>"headers"</a:t>
            </a:r>
            <a:pPr indent="0" marL="0">
              <a:buNone/>
            </a:pPr>
            <a:r>
              <a:rPr lang="en-US" sz="1280" dirty="0">
                <a:solidFill>
                  <a:srgbClr val="212121"/>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1F7A4D"/>
                </a:solidFill>
                <a:latin typeface="Consolas" pitchFamily="34" charset="0"/>
                <a:ea typeface="Consolas" pitchFamily="34" charset="-122"/>
                <a:cs typeface="Consolas" pitchFamily="34" charset="-120"/>
              </a:rPr>
              <a:t>"X-MCP-Toolsets"</a:t>
            </a:r>
            <a:pPr indent="0" marL="0">
              <a:buNone/>
            </a:pPr>
            <a:r>
              <a:rPr lang="en-US" sz="1280" dirty="0">
                <a:solidFill>
                  <a:srgbClr val="212121"/>
                </a:solidFill>
                <a:latin typeface="Consolas" pitchFamily="34" charset="0"/>
                <a:ea typeface="Consolas" pitchFamily="34" charset="-122"/>
                <a:cs typeface="Consolas" pitchFamily="34" charset="-120"/>
              </a:rPr>
              <a:t>: </a:t>
            </a:r>
            <a:pPr indent="0" marL="0">
              <a:buNone/>
            </a:pPr>
            <a:r>
              <a:rPr lang="en-US" sz="1280" dirty="0">
                <a:solidFill>
                  <a:srgbClr val="1F7A4D"/>
                </a:solidFill>
                <a:latin typeface="Consolas" pitchFamily="34" charset="0"/>
                <a:ea typeface="Consolas" pitchFamily="34" charset="-122"/>
                <a:cs typeface="Consolas" pitchFamily="34" charset="-120"/>
              </a:rPr>
              <a:t>"wit"</a:t>
            </a:r>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1F7A4D"/>
                </a:solidFill>
                <a:latin typeface="Consolas" pitchFamily="34" charset="0"/>
                <a:ea typeface="Consolas" pitchFamily="34" charset="-122"/>
                <a:cs typeface="Consolas" pitchFamily="34" charset="-120"/>
              </a:rPr>
              <a:t>"X-MCP-Readonly"</a:t>
            </a:r>
            <a:pPr indent="0" marL="0">
              <a:buNone/>
            </a:pPr>
            <a:r>
              <a:rPr lang="en-US" sz="1280" dirty="0">
                <a:solidFill>
                  <a:srgbClr val="212121"/>
                </a:solidFill>
                <a:latin typeface="Consolas" pitchFamily="34" charset="0"/>
                <a:ea typeface="Consolas" pitchFamily="34" charset="-122"/>
                <a:cs typeface="Consolas" pitchFamily="34" charset="-120"/>
              </a:rPr>
              <a:t>: </a:t>
            </a:r>
            <a:pPr indent="0" marL="0">
              <a:buNone/>
            </a:pPr>
            <a:r>
              <a:rPr lang="en-US" sz="1280" dirty="0">
                <a:solidFill>
                  <a:srgbClr val="1F7A4D"/>
                </a:solidFill>
                <a:latin typeface="Consolas" pitchFamily="34" charset="0"/>
                <a:ea typeface="Consolas" pitchFamily="34" charset="-122"/>
                <a:cs typeface="Consolas" pitchFamily="34" charset="-120"/>
              </a:rPr>
              <a:t>"true"</a:t>
            </a:r>
            <a:pPr indent="0" marL="0">
              <a:buNone/>
            </a:pP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6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Read-only ADO MCP in action</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Connect to the presenter's own Azure DevOps organization with X-MCP-Toolsets: wit and X-MCP-Readonly: true: a wit_work_item(action="get") read succeeds, and an attempted write is rejected by the server — the filter is enforced server-side, not by convention.</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demos/day3/module-6-demo-1-read-only-ado.md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 item tools are consolidated</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Example actions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get, get_batch, my, list_for_iteration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Read-only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create, update, update_batch, add_child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wit_work_item_comment_write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add, update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wit_work_item_link_write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link, unlink, link_to_pull_request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Use a read-first, approved-write sequence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Read</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wit_work_item(action="get", ...)</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Compare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Show current values and proposed change</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reviews tool name and arguments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Write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wit_work_item_write(action="update", ...)</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Verify</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Read the item again and record the result</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Two supported paths — not one wizard</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agent path</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Add Tools → Catalog → Azure DevOps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through a project connection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Select the smallest required tool subset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Local MAF path</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Consume an existing Toolbox MCP endpoint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to the Toolbox with supported Entra auth</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Treat upstream MCP credentials as Toolbox-managed</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OAuth consent belongs to the connection path</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Project connection</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Stores authentication details instead of app code</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Consent</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First OAuth-backed toolbox call can return CONSENT_REQUIRED</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Retry</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Complete the consent URL, then retry the call</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Boundary</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Do not claim an undocumented direct local MAF-to-ADO OAuth recipe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Failure modes tell you where to look</a:t>
            </a:r>
            <a:endParaRPr lang="en-US" sz="2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Symptom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Check first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Sign-in or consent fails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Entra-backed org, tenant policy, enterprise app consent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is missing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X-MCP-Toolsets / X-MCP-Tools / read-only filters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returns forbidden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Signed-in user's project and resource permissions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 tool unavailable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X-MCP-Readonly and exact tool allow-list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Invalid operation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Current tool name plus documented action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Workshop guardrails</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Scope</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Dedicated workshop project and least-privilege user</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Discover</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 only, read-only first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Explicit review before every write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tool, action, arguments, decision, and verification result</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the remote server GA status separately from the Foundry catalog preview label.</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choose remote first when your client supports Entra OAuth.</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filter with Toolsets or exact Tools, never both.</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start with X-MCP-Readonly: true.</a:t>
            </a:r>
            <a:endParaRPr lang="en-US" sz="1300" dirty="0"/>
          </a:p>
        </p:txBody>
      </p:sp>
      <p:sp>
        <p:nvSpPr>
          <p:cNvPr id="21" name="Shape 19"/>
          <p:cNvSpPr/>
          <p:nvPr/>
        </p:nvSpPr>
        <p:spPr>
          <a:xfrm>
            <a:off x="502920" y="3730752"/>
            <a:ext cx="8138160" cy="585216"/>
          </a:xfrm>
          <a:prstGeom prst="roundRect">
            <a:avLst/>
          </a:prstGeom>
          <a:solidFill>
            <a:srgbClr val="CADCFC"/>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consolidated tool names and inspect each action.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Remote MCP</dc:title>
  <dc:subject>Day 3 — Single-Agent Runtime + MCP</dc:subject>
  <dc:creator>Building AI Apps and Agents Workshop</dc:creator>
  <cp:lastModifiedBy>Building AI Apps and Agents Workshop</cp:lastModifiedBy>
  <cp:revision>1</cp:revision>
  <dcterms:created xsi:type="dcterms:W3CDTF">2026-08-25T20:27:48Z</dcterms:created>
  <dcterms:modified xsi:type="dcterms:W3CDTF">2026-08-25T20:27:48Z</dcterms:modified>
</cp:coreProperties>
</file>